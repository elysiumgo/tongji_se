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5" r:id="rId2"/>
    <p:sldId id="286" r:id="rId3"/>
    <p:sldId id="279" r:id="rId4"/>
    <p:sldId id="281" r:id="rId5"/>
    <p:sldId id="277" r:id="rId6"/>
    <p:sldId id="282" r:id="rId7"/>
    <p:sldId id="283" r:id="rId8"/>
    <p:sldId id="274" r:id="rId9"/>
    <p:sldId id="260" r:id="rId10"/>
    <p:sldId id="267" r:id="rId11"/>
    <p:sldId id="258" r:id="rId12"/>
    <p:sldId id="259" r:id="rId13"/>
    <p:sldId id="287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8C73"/>
    <a:srgbClr val="FFD09C"/>
    <a:srgbClr val="74CEC4"/>
    <a:srgbClr val="485766"/>
    <a:srgbClr val="E47456"/>
    <a:srgbClr val="E05D38"/>
    <a:srgbClr val="F2F2F2"/>
    <a:srgbClr val="143350"/>
    <a:srgbClr val="FFC17D"/>
    <a:srgbClr val="FFB2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196F2F-BCCD-4534-9EB4-BF8482BF3D6F}" v="8" dt="2026-03-12T09:13:28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4" autoAdjust="0"/>
    <p:restoredTop sz="94660"/>
  </p:normalViewPr>
  <p:slideViewPr>
    <p:cSldViewPr snapToGrid="0">
      <p:cViewPr>
        <p:scale>
          <a:sx n="100" d="100"/>
          <a:sy n="100" d="100"/>
        </p:scale>
        <p:origin x="804" y="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0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ysium go" userId="d7ffe14bd36031da" providerId="LiveId" clId="{D59505B8-3510-47E1-A4BF-D0A12BD37084}"/>
    <pc:docChg chg="undo redo custSel addSld modSld">
      <pc:chgData name="Elysium go" userId="d7ffe14bd36031da" providerId="LiveId" clId="{D59505B8-3510-47E1-A4BF-D0A12BD37084}" dt="2026-03-12T09:13:28.205" v="63"/>
      <pc:docMkLst>
        <pc:docMk/>
      </pc:docMkLst>
      <pc:sldChg chg="modSp mod">
        <pc:chgData name="Elysium go" userId="d7ffe14bd36031da" providerId="LiveId" clId="{D59505B8-3510-47E1-A4BF-D0A12BD37084}" dt="2026-03-12T09:12:32.731" v="44" actId="403"/>
        <pc:sldMkLst>
          <pc:docMk/>
          <pc:sldMk cId="1811793876" sldId="258"/>
        </pc:sldMkLst>
        <pc:spChg chg="mod">
          <ac:chgData name="Elysium go" userId="d7ffe14bd36031da" providerId="LiveId" clId="{D59505B8-3510-47E1-A4BF-D0A12BD37084}" dt="2026-03-12T09:11:57.887" v="38" actId="14100"/>
          <ac:spMkLst>
            <pc:docMk/>
            <pc:sldMk cId="1811793876" sldId="258"/>
            <ac:spMk id="5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1:57.887" v="38" actId="14100"/>
          <ac:spMkLst>
            <pc:docMk/>
            <pc:sldMk cId="1811793876" sldId="258"/>
            <ac:spMk id="11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2:30.102" v="42" actId="1076"/>
          <ac:spMkLst>
            <pc:docMk/>
            <pc:sldMk cId="1811793876" sldId="258"/>
            <ac:spMk id="13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2:30.102" v="42" actId="1076"/>
          <ac:spMkLst>
            <pc:docMk/>
            <pc:sldMk cId="1811793876" sldId="258"/>
            <ac:spMk id="14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2:30.102" v="42" actId="1076"/>
          <ac:spMkLst>
            <pc:docMk/>
            <pc:sldMk cId="1811793876" sldId="258"/>
            <ac:spMk id="17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2:30.102" v="42" actId="1076"/>
          <ac:spMkLst>
            <pc:docMk/>
            <pc:sldMk cId="1811793876" sldId="258"/>
            <ac:spMk id="18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2:30.102" v="42" actId="1076"/>
          <ac:spMkLst>
            <pc:docMk/>
            <pc:sldMk cId="1811793876" sldId="258"/>
            <ac:spMk id="19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2:30.102" v="42" actId="1076"/>
          <ac:spMkLst>
            <pc:docMk/>
            <pc:sldMk cId="1811793876" sldId="258"/>
            <ac:spMk id="20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2:32.731" v="44" actId="403"/>
          <ac:spMkLst>
            <pc:docMk/>
            <pc:sldMk cId="1811793876" sldId="258"/>
            <ac:spMk id="23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1:57.887" v="38" actId="14100"/>
          <ac:spMkLst>
            <pc:docMk/>
            <pc:sldMk cId="1811793876" sldId="258"/>
            <ac:spMk id="25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2:30.102" v="42" actId="1076"/>
          <ac:spMkLst>
            <pc:docMk/>
            <pc:sldMk cId="1811793876" sldId="258"/>
            <ac:spMk id="27" creationId="{00000000-0000-0000-0000-000000000000}"/>
          </ac:spMkLst>
        </pc:spChg>
      </pc:sldChg>
      <pc:sldChg chg="modSp mod">
        <pc:chgData name="Elysium go" userId="d7ffe14bd36031da" providerId="LiveId" clId="{D59505B8-3510-47E1-A4BF-D0A12BD37084}" dt="2026-03-12T09:12:59.032" v="55" actId="113"/>
        <pc:sldMkLst>
          <pc:docMk/>
          <pc:sldMk cId="1712292484" sldId="259"/>
        </pc:sldMkLst>
        <pc:spChg chg="mod">
          <ac:chgData name="Elysium go" userId="d7ffe14bd36031da" providerId="LiveId" clId="{D59505B8-3510-47E1-A4BF-D0A12BD37084}" dt="2026-03-12T09:12:59.032" v="55" actId="113"/>
          <ac:spMkLst>
            <pc:docMk/>
            <pc:sldMk cId="1712292484" sldId="259"/>
            <ac:spMk id="2" creationId="{4FFF5F11-CE74-31AC-5154-723DA21522CA}"/>
          </ac:spMkLst>
        </pc:spChg>
        <pc:spChg chg="mod">
          <ac:chgData name="Elysium go" userId="d7ffe14bd36031da" providerId="LiveId" clId="{D59505B8-3510-47E1-A4BF-D0A12BD37084}" dt="2026-03-12T09:12:42.710" v="48" actId="403"/>
          <ac:spMkLst>
            <pc:docMk/>
            <pc:sldMk cId="1712292484" sldId="259"/>
            <ac:spMk id="3" creationId="{5C4A9846-7854-F17C-1FA9-DEC334CC8999}"/>
          </ac:spMkLst>
        </pc:spChg>
        <pc:spChg chg="mod">
          <ac:chgData name="Elysium go" userId="d7ffe14bd36031da" providerId="LiveId" clId="{D59505B8-3510-47E1-A4BF-D0A12BD37084}" dt="2026-03-12T09:12:59.032" v="55" actId="113"/>
          <ac:spMkLst>
            <pc:docMk/>
            <pc:sldMk cId="1712292484" sldId="259"/>
            <ac:spMk id="5" creationId="{834B852B-74B5-9134-AE66-3A76C79C3D42}"/>
          </ac:spMkLst>
        </pc:spChg>
        <pc:spChg chg="mod">
          <ac:chgData name="Elysium go" userId="d7ffe14bd36031da" providerId="LiveId" clId="{D59505B8-3510-47E1-A4BF-D0A12BD37084}" dt="2026-03-12T09:12:51.853" v="53" actId="1076"/>
          <ac:spMkLst>
            <pc:docMk/>
            <pc:sldMk cId="1712292484" sldId="259"/>
            <ac:spMk id="13" creationId="{5B36BB81-7284-3313-5C72-8324D895A36C}"/>
          </ac:spMkLst>
        </pc:spChg>
        <pc:spChg chg="mod">
          <ac:chgData name="Elysium go" userId="d7ffe14bd36031da" providerId="LiveId" clId="{D59505B8-3510-47E1-A4BF-D0A12BD37084}" dt="2026-03-12T09:12:59.032" v="55" actId="113"/>
          <ac:spMkLst>
            <pc:docMk/>
            <pc:sldMk cId="1712292484" sldId="259"/>
            <ac:spMk id="91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2:45.285" v="50" actId="403"/>
          <ac:spMkLst>
            <pc:docMk/>
            <pc:sldMk cId="1712292484" sldId="259"/>
            <ac:spMk id="92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2:59.032" v="55" actId="113"/>
          <ac:spMkLst>
            <pc:docMk/>
            <pc:sldMk cId="1712292484" sldId="259"/>
            <ac:spMk id="93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2:39.127" v="46" actId="403"/>
          <ac:spMkLst>
            <pc:docMk/>
            <pc:sldMk cId="1712292484" sldId="259"/>
            <ac:spMk id="94" creationId="{00000000-0000-0000-0000-000000000000}"/>
          </ac:spMkLst>
        </pc:spChg>
      </pc:sldChg>
      <pc:sldChg chg="modSp mod">
        <pc:chgData name="Elysium go" userId="d7ffe14bd36031da" providerId="LiveId" clId="{D59505B8-3510-47E1-A4BF-D0A12BD37084}" dt="2026-03-12T09:11:07.007" v="27" actId="20577"/>
        <pc:sldMkLst>
          <pc:docMk/>
          <pc:sldMk cId="2336029537" sldId="260"/>
        </pc:sldMkLst>
        <pc:spChg chg="mod">
          <ac:chgData name="Elysium go" userId="d7ffe14bd36031da" providerId="LiveId" clId="{D59505B8-3510-47E1-A4BF-D0A12BD37084}" dt="2026-03-12T09:10:53.660" v="23" actId="108"/>
          <ac:spMkLst>
            <pc:docMk/>
            <pc:sldMk cId="2336029537" sldId="260"/>
            <ac:spMk id="42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0:41.971" v="20" actId="404"/>
          <ac:spMkLst>
            <pc:docMk/>
            <pc:sldMk cId="2336029537" sldId="260"/>
            <ac:spMk id="43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0:50.067" v="21" actId="108"/>
          <ac:spMkLst>
            <pc:docMk/>
            <pc:sldMk cId="2336029537" sldId="260"/>
            <ac:spMk id="63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0:51.460" v="22" actId="108"/>
          <ac:spMkLst>
            <pc:docMk/>
            <pc:sldMk cId="2336029537" sldId="260"/>
            <ac:spMk id="81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0:55.267" v="24" actId="108"/>
          <ac:spMkLst>
            <pc:docMk/>
            <pc:sldMk cId="2336029537" sldId="260"/>
            <ac:spMk id="89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0:36.149" v="19"/>
          <ac:spMkLst>
            <pc:docMk/>
            <pc:sldMk cId="2336029537" sldId="260"/>
            <ac:spMk id="109" creationId="{CE1E35A5-C722-F633-F0EF-C17242BDF723}"/>
          </ac:spMkLst>
        </pc:spChg>
        <pc:spChg chg="mod">
          <ac:chgData name="Elysium go" userId="d7ffe14bd36031da" providerId="LiveId" clId="{D59505B8-3510-47E1-A4BF-D0A12BD37084}" dt="2026-03-12T09:10:23.054" v="13" actId="113"/>
          <ac:spMkLst>
            <pc:docMk/>
            <pc:sldMk cId="2336029537" sldId="260"/>
            <ac:spMk id="111" creationId="{E461FADB-AB4C-F399-134A-F88292218118}"/>
          </ac:spMkLst>
        </pc:spChg>
        <pc:spChg chg="mod">
          <ac:chgData name="Elysium go" userId="d7ffe14bd36031da" providerId="LiveId" clId="{D59505B8-3510-47E1-A4BF-D0A12BD37084}" dt="2026-03-12T09:11:07.007" v="27" actId="20577"/>
          <ac:spMkLst>
            <pc:docMk/>
            <pc:sldMk cId="2336029537" sldId="260"/>
            <ac:spMk id="112" creationId="{42380FBB-ED44-E4AC-EFBD-5404AF33A056}"/>
          </ac:spMkLst>
        </pc:spChg>
      </pc:sldChg>
      <pc:sldChg chg="delSp modSp mod">
        <pc:chgData name="Elysium go" userId="d7ffe14bd36031da" providerId="LiveId" clId="{D59505B8-3510-47E1-A4BF-D0A12BD37084}" dt="2026-03-12T09:11:38.749" v="36" actId="113"/>
        <pc:sldMkLst>
          <pc:docMk/>
          <pc:sldMk cId="3347254593" sldId="267"/>
        </pc:sldMkLst>
        <pc:spChg chg="mod">
          <ac:chgData name="Elysium go" userId="d7ffe14bd36031da" providerId="LiveId" clId="{D59505B8-3510-47E1-A4BF-D0A12BD37084}" dt="2026-03-12T09:11:27.203" v="32" actId="404"/>
          <ac:spMkLst>
            <pc:docMk/>
            <pc:sldMk cId="3347254593" sldId="267"/>
            <ac:spMk id="4" creationId="{5DE10BB0-A0BF-5539-4D89-BB0A9C2838CB}"/>
          </ac:spMkLst>
        </pc:spChg>
        <pc:spChg chg="mod">
          <ac:chgData name="Elysium go" userId="d7ffe14bd36031da" providerId="LiveId" clId="{D59505B8-3510-47E1-A4BF-D0A12BD37084}" dt="2026-03-12T09:11:29.356" v="33" actId="404"/>
          <ac:spMkLst>
            <pc:docMk/>
            <pc:sldMk cId="3347254593" sldId="267"/>
            <ac:spMk id="19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1:14.409" v="29" actId="113"/>
          <ac:spMkLst>
            <pc:docMk/>
            <pc:sldMk cId="3347254593" sldId="267"/>
            <ac:spMk id="22" creationId="{CD027017-9D3C-D1D2-28C8-BCFEE88B5074}"/>
          </ac:spMkLst>
        </pc:spChg>
        <pc:spChg chg="mod">
          <ac:chgData name="Elysium go" userId="d7ffe14bd36031da" providerId="LiveId" clId="{D59505B8-3510-47E1-A4BF-D0A12BD37084}" dt="2026-03-12T09:11:24.254" v="31" actId="404"/>
          <ac:spMkLst>
            <pc:docMk/>
            <pc:sldMk cId="3347254593" sldId="267"/>
            <ac:spMk id="33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1:38.749" v="36" actId="113"/>
          <ac:spMkLst>
            <pc:docMk/>
            <pc:sldMk cId="3347254593" sldId="267"/>
            <ac:spMk id="56" creationId="{00000000-0000-0000-0000-000000000000}"/>
          </ac:spMkLst>
        </pc:spChg>
        <pc:spChg chg="del">
          <ac:chgData name="Elysium go" userId="d7ffe14bd36031da" providerId="LiveId" clId="{D59505B8-3510-47E1-A4BF-D0A12BD37084}" dt="2026-03-12T09:11:32.389" v="34" actId="478"/>
          <ac:spMkLst>
            <pc:docMk/>
            <pc:sldMk cId="3347254593" sldId="267"/>
            <ac:spMk id="58" creationId="{00000000-0000-0000-0000-000000000000}"/>
          </ac:spMkLst>
        </pc:spChg>
      </pc:sldChg>
      <pc:sldChg chg="modSp mod">
        <pc:chgData name="Elysium go" userId="d7ffe14bd36031da" providerId="LiveId" clId="{D59505B8-3510-47E1-A4BF-D0A12BD37084}" dt="2026-03-12T09:10:19.211" v="12" actId="113"/>
        <pc:sldMkLst>
          <pc:docMk/>
          <pc:sldMk cId="585552902" sldId="274"/>
        </pc:sldMkLst>
        <pc:spChg chg="mod">
          <ac:chgData name="Elysium go" userId="d7ffe14bd36031da" providerId="LiveId" clId="{D59505B8-3510-47E1-A4BF-D0A12BD37084}" dt="2026-03-12T09:09:56.273" v="5" actId="108"/>
          <ac:spMkLst>
            <pc:docMk/>
            <pc:sldMk cId="585552902" sldId="274"/>
            <ac:spMk id="4" creationId="{1EE0A624-5E7A-2470-58D0-3ECB8CBABE0B}"/>
          </ac:spMkLst>
        </pc:spChg>
        <pc:spChg chg="mod">
          <ac:chgData name="Elysium go" userId="d7ffe14bd36031da" providerId="LiveId" clId="{D59505B8-3510-47E1-A4BF-D0A12BD37084}" dt="2026-03-12T09:10:02.947" v="7" actId="404"/>
          <ac:spMkLst>
            <pc:docMk/>
            <pc:sldMk cId="585552902" sldId="274"/>
            <ac:spMk id="27" creationId="{00000000-0000-0000-0000-000000000000}"/>
          </ac:spMkLst>
        </pc:spChg>
        <pc:spChg chg="mod">
          <ac:chgData name="Elysium go" userId="d7ffe14bd36031da" providerId="LiveId" clId="{D59505B8-3510-47E1-A4BF-D0A12BD37084}" dt="2026-03-12T09:10:19.211" v="12" actId="113"/>
          <ac:spMkLst>
            <pc:docMk/>
            <pc:sldMk cId="585552902" sldId="274"/>
            <ac:spMk id="1434" creationId="{00000000-0000-0000-0000-000000000000}"/>
          </ac:spMkLst>
        </pc:spChg>
      </pc:sldChg>
      <pc:sldChg chg="addSp modSp new mod modAnim">
        <pc:chgData name="Elysium go" userId="d7ffe14bd36031da" providerId="LiveId" clId="{D59505B8-3510-47E1-A4BF-D0A12BD37084}" dt="2026-03-12T09:13:28.205" v="63"/>
        <pc:sldMkLst>
          <pc:docMk/>
          <pc:sldMk cId="2755459287" sldId="287"/>
        </pc:sldMkLst>
        <pc:spChg chg="add mod">
          <ac:chgData name="Elysium go" userId="d7ffe14bd36031da" providerId="LiveId" clId="{D59505B8-3510-47E1-A4BF-D0A12BD37084}" dt="2026-03-12T09:13:28.205" v="63"/>
          <ac:spMkLst>
            <pc:docMk/>
            <pc:sldMk cId="2755459287" sldId="287"/>
            <ac:spMk id="4" creationId="{889B928A-E154-DFEA-B3F5-31A7AC8EA92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74CEC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EE8-4417-9605-0E954865868B}"/>
              </c:ext>
            </c:extLst>
          </c:dPt>
          <c:dPt>
            <c:idx val="1"/>
            <c:bubble3D val="0"/>
            <c:spPr>
              <a:solidFill>
                <a:srgbClr val="E05D3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EE8-4417-9605-0E954865868B}"/>
              </c:ext>
            </c:extLst>
          </c:dPt>
          <c:dPt>
            <c:idx val="2"/>
            <c:bubble3D val="0"/>
            <c:spPr>
              <a:solidFill>
                <a:srgbClr val="FFD09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EE8-4417-9605-0E954865868B}"/>
              </c:ext>
            </c:extLst>
          </c:dPt>
          <c:cat>
            <c:strRef>
              <c:f>Sheet1!$A$2:$A$4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EE8-4417-9605-0E95486586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9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华文细黑" panose="02010600040101010101" pitchFamily="2" charset="-122"/>
          <a:ea typeface="华文细黑" panose="02010600040101010101" pitchFamily="2" charset="-122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E5ED9-7685-441E-A9BE-2EFCC2A6563E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C809F-1E79-4BED-867A-1772EFF8EB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448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C809F-1E79-4BED-867A-1772EFF8EBF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88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C809F-1E79-4BED-867A-1772EFF8EBF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262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C809F-1E79-4BED-867A-1772EFF8EB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709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C809F-1E79-4BED-867A-1772EFF8EB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746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40003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62744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8791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56673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82020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41706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69561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558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88393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67316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2008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7EC18-3A38-4849-A87D-7E08E7F38A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B25FF-FF6C-4FBE-9073-3757659D2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41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png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6471286-E864-B156-FDAF-B710946A8983}"/>
              </a:ext>
            </a:extLst>
          </p:cNvPr>
          <p:cNvGrpSpPr/>
          <p:nvPr/>
        </p:nvGrpSpPr>
        <p:grpSpPr>
          <a:xfrm>
            <a:off x="2014444" y="3133008"/>
            <a:ext cx="8163112" cy="117680"/>
            <a:chOff x="2445258" y="3544488"/>
            <a:chExt cx="8163112" cy="117680"/>
          </a:xfrm>
        </p:grpSpPr>
        <p:cxnSp>
          <p:nvCxnSpPr>
            <p:cNvPr id="5" name="直接连接符 4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E49BF818-35DB-8F37-19F2-72CCE575465B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2562938" y="3603328"/>
              <a:ext cx="80454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B3DDA0D9-45F4-00C4-AE9E-739B5105138B}"/>
                </a:ext>
              </a:extLst>
            </p:cNvPr>
            <p:cNvSpPr/>
            <p:nvPr/>
          </p:nvSpPr>
          <p:spPr>
            <a:xfrm>
              <a:off x="2445258" y="3544488"/>
              <a:ext cx="117680" cy="1176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rgbClr val="1135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13556"/>
                </a:solidFill>
                <a:latin typeface="Times New Roman"/>
                <a:ea typeface="微软雅黑"/>
                <a:cs typeface="+mn-ea"/>
                <a:sym typeface="Times New Roman"/>
              </a:endParaRPr>
            </a:p>
          </p:txBody>
        </p:sp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9A99275-F91E-82CC-91E3-0B28B5FD48BA}"/>
              </a:ext>
            </a:extLst>
          </p:cNvPr>
          <p:cNvCxnSpPr/>
          <p:nvPr/>
        </p:nvCxnSpPr>
        <p:spPr>
          <a:xfrm>
            <a:off x="9357360" y="1828800"/>
            <a:ext cx="0" cy="3535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5A9B6E1-A46E-3A64-99D4-A6C0E0CA897B}"/>
              </a:ext>
            </a:extLst>
          </p:cNvPr>
          <p:cNvSpPr txBox="1"/>
          <p:nvPr/>
        </p:nvSpPr>
        <p:spPr>
          <a:xfrm>
            <a:off x="1749483" y="1416993"/>
            <a:ext cx="7454919" cy="175432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sz="5400" dirty="0">
                <a:latin typeface="阿里巴巴普惠体 Light" pitchFamily="18" charset="-122"/>
                <a:ea typeface="阿里巴巴普惠体 Light" pitchFamily="18" charset="-122"/>
                <a:cs typeface="阿里巴巴普惠体 Light" pitchFamily="18" charset="-122"/>
                <a:sym typeface="Times New Roman"/>
              </a:rPr>
              <a:t>创意工具中的用户交互体验与设计反思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9E9C05E6-C155-939E-581D-E82E97328D73}"/>
              </a:ext>
            </a:extLst>
          </p:cNvPr>
          <p:cNvSpPr txBox="1"/>
          <p:nvPr/>
        </p:nvSpPr>
        <p:spPr>
          <a:xfrm>
            <a:off x="4575101" y="3522147"/>
            <a:ext cx="4006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微软雅黑"/>
                <a:cs typeface="+mn-ea"/>
                <a:sym typeface="Times New Roman"/>
              </a:rPr>
              <a:t>——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微软雅黑"/>
                <a:cs typeface="+mn-ea"/>
                <a:sym typeface="Times New Roman"/>
              </a:rPr>
              <a:t>从剪映跨平台设计到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微软雅黑"/>
                <a:cs typeface="+mn-ea"/>
                <a:sym typeface="Times New Roman"/>
              </a:rPr>
              <a:t>AI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微软雅黑"/>
                <a:cs typeface="+mn-ea"/>
                <a:sym typeface="Times New Roman"/>
              </a:rPr>
              <a:t>辅助设计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4A53FD-5059-E871-22A9-C710D7279B83}"/>
              </a:ext>
            </a:extLst>
          </p:cNvPr>
          <p:cNvSpPr/>
          <p:nvPr/>
        </p:nvSpPr>
        <p:spPr>
          <a:xfrm>
            <a:off x="4323185" y="3932538"/>
            <a:ext cx="4265404" cy="831005"/>
          </a:xfrm>
          <a:prstGeom prst="rect">
            <a:avLst/>
          </a:prstGeom>
        </p:spPr>
        <p:txBody>
          <a:bodyPr wrap="square" lIns="91448" tIns="45724" rIns="91448" bIns="45724">
            <a:spAutoFit/>
          </a:bodyPr>
          <a:lstStyle/>
          <a:p>
            <a:pPr algn="r"/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latin typeface="Times New Roman"/>
                <a:ea typeface="微软雅黑"/>
                <a:cs typeface="+mn-ea"/>
                <a:sym typeface="Times New Roman"/>
              </a:rPr>
              <a:t>2452545 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Times New Roman"/>
                <a:ea typeface="微软雅黑"/>
                <a:cs typeface="+mn-ea"/>
                <a:sym typeface="Times New Roman"/>
              </a:rPr>
              <a:t>刘晴语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Times New Roman"/>
              <a:ea typeface="微软雅黑"/>
              <a:cs typeface="+mn-ea"/>
              <a:sym typeface="Times New Roman"/>
            </a:endParaRPr>
          </a:p>
          <a:p>
            <a:pPr algn="r"/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latin typeface="Times New Roman"/>
                <a:ea typeface="微软雅黑"/>
                <a:cs typeface="+mn-ea"/>
                <a:sym typeface="Times New Roman"/>
              </a:rPr>
              <a:t>2450857 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Times New Roman"/>
                <a:ea typeface="微软雅黑"/>
                <a:cs typeface="+mn-ea"/>
                <a:sym typeface="Times New Roman"/>
              </a:rPr>
              <a:t>郑文希</a:t>
            </a:r>
          </a:p>
          <a:p>
            <a:pPr algn="r"/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15377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8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316F838-5F58-CAC9-1718-DA934454A4BF}"/>
              </a:ext>
            </a:extLst>
          </p:cNvPr>
          <p:cNvCxnSpPr>
            <a:cxnSpLocks/>
          </p:cNvCxnSpPr>
          <p:nvPr/>
        </p:nvCxnSpPr>
        <p:spPr>
          <a:xfrm>
            <a:off x="5740620" y="1180869"/>
            <a:ext cx="0" cy="5091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<a:extLst>
              <a:ext uri="{FF2B5EF4-FFF2-40B4-BE49-F238E27FC236}">
                <a16:creationId xmlns:a16="http://schemas.microsoft.com/office/drawing/2014/main" id="{95521DE4-F116-ABEB-D6FC-3FDFAA2DAC49}"/>
              </a:ext>
            </a:extLst>
          </p:cNvPr>
          <p:cNvSpPr/>
          <p:nvPr/>
        </p:nvSpPr>
        <p:spPr>
          <a:xfrm>
            <a:off x="5681780" y="4229561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56CE17-FD4E-5B3E-DD48-FCFAA5F8A72C}"/>
              </a:ext>
            </a:extLst>
          </p:cNvPr>
          <p:cNvSpPr txBox="1"/>
          <p:nvPr/>
        </p:nvSpPr>
        <p:spPr>
          <a:xfrm>
            <a:off x="3189318" y="218058"/>
            <a:ext cx="4860320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0" b="1" dirty="0">
                <a:solidFill>
                  <a:prstClr val="black"/>
                </a:solidFill>
                <a:latin typeface="阿里巴巴普惠体 Light" pitchFamily="18" charset="-122"/>
                <a:ea typeface="阿里巴巴普惠体 Light" pitchFamily="18" charset="-122"/>
                <a:cs typeface="阿里巴巴普惠体 Light" pitchFamily="18" charset="-122"/>
                <a:sym typeface="Times New Roman"/>
              </a:rPr>
              <a:t>CONTENTS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47DFCE4-F4BC-9FBD-E546-5696880B3D7D}"/>
              </a:ext>
            </a:extLst>
          </p:cNvPr>
          <p:cNvGrpSpPr/>
          <p:nvPr/>
        </p:nvGrpSpPr>
        <p:grpSpPr>
          <a:xfrm>
            <a:off x="6902767" y="1899709"/>
            <a:ext cx="3386125" cy="923330"/>
            <a:chOff x="6885007" y="2303608"/>
            <a:chExt cx="3386125" cy="923330"/>
          </a:xfrm>
        </p:grpSpPr>
        <p:sp>
          <p:nvSpPr>
  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00A88ADA-4797-06C9-67A8-60BB13CA9337}"/>
                </a:ext>
              </a:extLst>
            </p:cNvPr>
            <p:cNvSpPr txBox="1"/>
            <p:nvPr/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/>
                  <a:ea typeface="微软雅黑"/>
                  <a:cs typeface="Calibri Light" panose="020F0302020204030204" pitchFamily="34" charset="0"/>
                  <a:sym typeface="Times New Roman"/>
                </a:rPr>
                <a:t>1</a:t>
              </a:r>
              <a:endParaRPr lang="zh-CN" altLang="en-US" sz="5400" dirty="0">
                <a:latin typeface="Times New Roman"/>
                <a:ea typeface="微软雅黑"/>
                <a:cs typeface="Calibri Light" panose="020F0302020204030204" pitchFamily="34" charset="0"/>
                <a:sym typeface="Times New Roman"/>
              </a:endParaRP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5C3C728D-8D26-5DE8-9ABE-85610708055C}"/>
                </a:ext>
              </a:extLst>
            </p:cNvPr>
            <p:cNvSpPr/>
            <p:nvPr/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0" name="文本框 9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C2027389-7D03-E7B7-E37C-FC8324B1D501}"/>
                </a:ext>
              </a:extLst>
            </p:cNvPr>
            <p:cNvSpPr txBox="1"/>
            <p:nvPr/>
          </p:nvSpPr>
          <p:spPr>
            <a:xfrm>
              <a:off x="7431315" y="2505926"/>
              <a:ext cx="25027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/>
                  <a:ea typeface="微软雅黑"/>
                  <a:sym typeface="Times New Roman"/>
                </a:rPr>
                <a:t>研究背景</a:t>
              </a:r>
              <a:r>
                <a:rPr lang="en-US" altLang="zh-CN" sz="2000" dirty="0">
                  <a:latin typeface="Times New Roman"/>
                  <a:ea typeface="微软雅黑"/>
                  <a:sym typeface="Times New Roman"/>
                </a:rPr>
                <a:t>&amp;</a:t>
              </a:r>
              <a:r>
                <a:rPr lang="zh-CN" altLang="en-US" sz="2000" dirty="0">
                  <a:latin typeface="Times New Roman"/>
                  <a:ea typeface="微软雅黑"/>
                  <a:sym typeface="Times New Roman"/>
                </a:rPr>
                <a:t>相关工作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8EFD643-11E3-0F5C-2909-DCAA60D19DF3}"/>
              </a:ext>
            </a:extLst>
          </p:cNvPr>
          <p:cNvGrpSpPr/>
          <p:nvPr/>
        </p:nvGrpSpPr>
        <p:grpSpPr>
          <a:xfrm>
            <a:off x="6902767" y="3049636"/>
            <a:ext cx="3386125" cy="923330"/>
            <a:chOff x="6885007" y="2303608"/>
            <a:chExt cx="3386125" cy="923330"/>
          </a:xfrm>
        </p:grpSpPr>
        <p:sp>
          <p:nvSpPr>
            <p:cNvPr id="12" name="文本框 11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19A3E316-1891-9582-2462-CBF0278BCC3E}"/>
                </a:ext>
              </a:extLst>
            </p:cNvPr>
            <p:cNvSpPr txBox="1"/>
            <p:nvPr/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/>
                  <a:ea typeface="微软雅黑"/>
                  <a:cs typeface="Calibri Light" panose="020F0302020204030204" pitchFamily="34" charset="0"/>
                  <a:sym typeface="Times New Roman"/>
                </a:rPr>
                <a:t>2</a:t>
              </a:r>
              <a:endParaRPr lang="zh-CN" altLang="en-US" sz="5400" dirty="0">
                <a:latin typeface="Times New Roman"/>
                <a:ea typeface="微软雅黑"/>
                <a:cs typeface="Calibri Light" panose="020F0302020204030204" pitchFamily="34" charset="0"/>
                <a:sym typeface="Times New Roman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58519533-0E3D-7C75-D80E-575AF460077C}"/>
                </a:ext>
              </a:extLst>
            </p:cNvPr>
            <p:cNvSpPr/>
            <p:nvPr/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4" name="文本框 13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0EF397FE-B980-E660-4DFA-4A775159704F}"/>
                </a:ext>
              </a:extLst>
            </p:cNvPr>
            <p:cNvSpPr txBox="1"/>
            <p:nvPr/>
          </p:nvSpPr>
          <p:spPr>
            <a:xfrm>
              <a:off x="7431315" y="2505926"/>
              <a:ext cx="25027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/>
                  <a:ea typeface="微软雅黑"/>
                  <a:sym typeface="Times New Roman"/>
                </a:rPr>
                <a:t>研究设计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6523A60-28DA-35F8-CB9D-44291B4424B5}"/>
              </a:ext>
            </a:extLst>
          </p:cNvPr>
          <p:cNvGrpSpPr/>
          <p:nvPr/>
        </p:nvGrpSpPr>
        <p:grpSpPr>
          <a:xfrm>
            <a:off x="6902767" y="4199563"/>
            <a:ext cx="3386125" cy="923330"/>
            <a:chOff x="6885007" y="2303608"/>
            <a:chExt cx="3386125" cy="923330"/>
          </a:xfrm>
        </p:grpSpPr>
        <p:sp>
          <p:nvSpPr>
            <p:cNvPr id="16" name="文本框 15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364445F1-1533-431C-A469-218E529D72BE}"/>
                </a:ext>
              </a:extLst>
            </p:cNvPr>
            <p:cNvSpPr txBox="1"/>
            <p:nvPr/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/>
                  <a:ea typeface="微软雅黑"/>
                  <a:cs typeface="Calibri Light" panose="020F0302020204030204" pitchFamily="34" charset="0"/>
                  <a:sym typeface="Times New Roman"/>
                </a:rPr>
                <a:t>3</a:t>
              </a:r>
              <a:endParaRPr lang="zh-CN" altLang="en-US" sz="5400" dirty="0">
                <a:latin typeface="Times New Roman"/>
                <a:ea typeface="微软雅黑"/>
                <a:cs typeface="Calibri Light" panose="020F0302020204030204" pitchFamily="34" charset="0"/>
                <a:sym typeface="Times New Roman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EEE62104-8442-8DE1-7D0C-30C7136B3BCB}"/>
                </a:ext>
              </a:extLst>
            </p:cNvPr>
            <p:cNvSpPr/>
            <p:nvPr/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8" name="文本框 1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A6CB7865-9AF8-8253-A65C-D4EFC57CC4F3}"/>
                </a:ext>
              </a:extLst>
            </p:cNvPr>
            <p:cNvSpPr txBox="1"/>
            <p:nvPr/>
          </p:nvSpPr>
          <p:spPr>
            <a:xfrm>
              <a:off x="7431315" y="2505926"/>
              <a:ext cx="25027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/>
                  <a:ea typeface="微软雅黑"/>
                  <a:sym typeface="Times New Roman"/>
                </a:rPr>
                <a:t>实验成果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0FB6D44-9093-E23C-37F4-435E4EB36FFA}"/>
              </a:ext>
            </a:extLst>
          </p:cNvPr>
          <p:cNvGrpSpPr/>
          <p:nvPr/>
        </p:nvGrpSpPr>
        <p:grpSpPr>
          <a:xfrm>
            <a:off x="6902767" y="5349491"/>
            <a:ext cx="3386125" cy="923330"/>
            <a:chOff x="6885007" y="2303608"/>
            <a:chExt cx="3386125" cy="923330"/>
          </a:xfrm>
        </p:grpSpPr>
        <p:sp>
          <p:nvSpPr>
            <p:cNvPr id="20" name="文本框 19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E6CAF4CF-6F04-C41A-FACB-E4498F9F23BC}"/>
                </a:ext>
              </a:extLst>
            </p:cNvPr>
            <p:cNvSpPr txBox="1"/>
            <p:nvPr/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/>
                  <a:ea typeface="微软雅黑"/>
                  <a:cs typeface="Calibri Light" panose="020F0302020204030204" pitchFamily="34" charset="0"/>
                  <a:sym typeface="Times New Roman"/>
                </a:rPr>
                <a:t>4</a:t>
              </a:r>
              <a:endParaRPr lang="zh-CN" altLang="en-US" sz="5400" dirty="0">
                <a:latin typeface="Times New Roman"/>
                <a:ea typeface="微软雅黑"/>
                <a:cs typeface="Calibri Light" panose="020F0302020204030204" pitchFamily="34" charset="0"/>
                <a:sym typeface="Times New Roman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EEC5A905-4418-4AEC-7F57-EB0771EC0970}"/>
                </a:ext>
              </a:extLst>
            </p:cNvPr>
            <p:cNvSpPr/>
            <p:nvPr/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2" name="文本框 21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8C831CEB-A73F-6FF6-985A-B35398CEBA11}"/>
                </a:ext>
              </a:extLst>
            </p:cNvPr>
            <p:cNvSpPr txBox="1"/>
            <p:nvPr/>
          </p:nvSpPr>
          <p:spPr>
            <a:xfrm>
              <a:off x="7431315" y="2505926"/>
              <a:ext cx="25027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/>
                  <a:ea typeface="微软雅黑"/>
                  <a:sym typeface="Times New Roman"/>
                </a:rPr>
                <a:t>未来发展方向</a:t>
              </a:r>
            </a:p>
          </p:txBody>
        </p:sp>
      </p:grpSp>
      <p:sp>
        <p:nvSpPr>
          <p:cNvPr id="23" name="TextBox 3">
            <a:extLst>
              <a:ext uri="{FF2B5EF4-FFF2-40B4-BE49-F238E27FC236}">
                <a16:creationId xmlns:a16="http://schemas.microsoft.com/office/drawing/2014/main" id="{9D19A9A5-80B7-4603-FE61-DB7FCBCB6D62}"/>
              </a:ext>
            </a:extLst>
          </p:cNvPr>
          <p:cNvSpPr txBox="1"/>
          <p:nvPr/>
        </p:nvSpPr>
        <p:spPr>
          <a:xfrm>
            <a:off x="0" y="14955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A31AD1B-37BE-9B2B-F5C6-7BE7A718473C}"/>
              </a:ext>
            </a:extLst>
          </p:cNvPr>
          <p:cNvGrpSpPr/>
          <p:nvPr/>
        </p:nvGrpSpPr>
        <p:grpSpPr>
          <a:xfrm>
            <a:off x="888826" y="2028582"/>
            <a:ext cx="3386125" cy="923330"/>
            <a:chOff x="6885007" y="2303608"/>
            <a:chExt cx="3386125" cy="923330"/>
          </a:xfrm>
        </p:grpSpPr>
        <p:sp>
          <p:nvSpPr>
            <p:cNvPr id="25" name="文本框 24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DC083775-DDDE-7284-3E21-4CD4A677FA8B}"/>
                </a:ext>
              </a:extLst>
            </p:cNvPr>
            <p:cNvSpPr txBox="1"/>
            <p:nvPr/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/>
                  <a:ea typeface="微软雅黑"/>
                  <a:cs typeface="Calibri Light" panose="020F0302020204030204" pitchFamily="34" charset="0"/>
                  <a:sym typeface="Times New Roman"/>
                </a:rPr>
                <a:t>1</a:t>
              </a:r>
              <a:endParaRPr lang="zh-CN" altLang="en-US" sz="5400" dirty="0">
                <a:latin typeface="Times New Roman"/>
                <a:ea typeface="微软雅黑"/>
                <a:cs typeface="Calibri Light" panose="020F0302020204030204" pitchFamily="34" charset="0"/>
                <a:sym typeface="Times New Roman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834DA8F9-9ED1-4090-5840-3F5EA17EC1C1}"/>
                </a:ext>
              </a:extLst>
            </p:cNvPr>
            <p:cNvSpPr/>
            <p:nvPr/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7" name="文本框 26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CFAFAC7A-5169-E0EB-FF6C-C79D4C16EFA5}"/>
                </a:ext>
              </a:extLst>
            </p:cNvPr>
            <p:cNvSpPr txBox="1"/>
            <p:nvPr/>
          </p:nvSpPr>
          <p:spPr>
            <a:xfrm>
              <a:off x="7431315" y="2505926"/>
              <a:ext cx="25027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/>
                  <a:ea typeface="微软雅黑"/>
                  <a:sym typeface="Times New Roman"/>
                </a:rPr>
                <a:t>研究背景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11ACC6C-2082-69C3-3634-414624F90EE3}"/>
              </a:ext>
            </a:extLst>
          </p:cNvPr>
          <p:cNvGrpSpPr/>
          <p:nvPr/>
        </p:nvGrpSpPr>
        <p:grpSpPr>
          <a:xfrm>
            <a:off x="888826" y="3178509"/>
            <a:ext cx="3386125" cy="923330"/>
            <a:chOff x="6885007" y="2303608"/>
            <a:chExt cx="3386125" cy="923330"/>
          </a:xfrm>
        </p:grpSpPr>
        <p:sp>
          <p:nvSpPr>
            <p:cNvPr id="29" name="文本框 28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11874104-8DB3-7554-282E-5ED84C7E007D}"/>
                </a:ext>
              </a:extLst>
            </p:cNvPr>
            <p:cNvSpPr txBox="1"/>
            <p:nvPr/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/>
                  <a:ea typeface="微软雅黑"/>
                  <a:cs typeface="Calibri Light" panose="020F0302020204030204" pitchFamily="34" charset="0"/>
                  <a:sym typeface="Times New Roman"/>
                </a:rPr>
                <a:t>2</a:t>
              </a:r>
              <a:endParaRPr lang="zh-CN" altLang="en-US" sz="5400" dirty="0">
                <a:latin typeface="Times New Roman"/>
                <a:ea typeface="微软雅黑"/>
                <a:cs typeface="Calibri Light" panose="020F0302020204030204" pitchFamily="34" charset="0"/>
                <a:sym typeface="Times New Roman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1DB1861-9E15-D284-CA61-451080B9B8D0}"/>
                </a:ext>
              </a:extLst>
            </p:cNvPr>
            <p:cNvSpPr/>
            <p:nvPr/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31" name="文本框 3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F3488177-428B-A10F-7DCE-B88A57F0C0D4}"/>
                </a:ext>
              </a:extLst>
            </p:cNvPr>
            <p:cNvSpPr txBox="1"/>
            <p:nvPr/>
          </p:nvSpPr>
          <p:spPr>
            <a:xfrm>
              <a:off x="7431315" y="2505926"/>
              <a:ext cx="25027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/>
                  <a:ea typeface="微软雅黑"/>
                  <a:sym typeface="Times New Roman"/>
                </a:rPr>
                <a:t>研究问题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E421AEC-5ADC-0E5C-497F-069E04D5E9B5}"/>
              </a:ext>
            </a:extLst>
          </p:cNvPr>
          <p:cNvGrpSpPr/>
          <p:nvPr/>
        </p:nvGrpSpPr>
        <p:grpSpPr>
          <a:xfrm>
            <a:off x="888826" y="4328436"/>
            <a:ext cx="3386125" cy="923330"/>
            <a:chOff x="6885007" y="2303608"/>
            <a:chExt cx="3386125" cy="923330"/>
          </a:xfrm>
        </p:grpSpPr>
        <p:sp>
          <p:nvSpPr>
            <p:cNvPr id="33" name="文本框 32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F09781A9-CBCD-FC5B-8124-53E723EB1D35}"/>
                </a:ext>
              </a:extLst>
            </p:cNvPr>
            <p:cNvSpPr txBox="1"/>
            <p:nvPr/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/>
                  <a:ea typeface="微软雅黑"/>
                  <a:cs typeface="Calibri Light" panose="020F0302020204030204" pitchFamily="34" charset="0"/>
                  <a:sym typeface="Times New Roman"/>
                </a:rPr>
                <a:t>3</a:t>
              </a:r>
              <a:endParaRPr lang="zh-CN" altLang="en-US" sz="5400" dirty="0">
                <a:latin typeface="Times New Roman"/>
                <a:ea typeface="微软雅黑"/>
                <a:cs typeface="Calibri Light" panose="020F0302020204030204" pitchFamily="34" charset="0"/>
                <a:sym typeface="Times New Roman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F4363806-9BFB-3BF5-17F3-1FA0BAF81D8B}"/>
                </a:ext>
              </a:extLst>
            </p:cNvPr>
            <p:cNvSpPr/>
            <p:nvPr/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35" name="文本框 34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C04567F1-93AB-9DC1-F536-D372B7869E4D}"/>
                </a:ext>
              </a:extLst>
            </p:cNvPr>
            <p:cNvSpPr txBox="1"/>
            <p:nvPr/>
          </p:nvSpPr>
          <p:spPr>
            <a:xfrm>
              <a:off x="7431315" y="2505926"/>
              <a:ext cx="25027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/>
                  <a:ea typeface="微软雅黑"/>
                  <a:sym typeface="Times New Roman"/>
                </a:rPr>
                <a:t>调研方法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DE15055-D5BC-7E04-7EF3-86625ADE1E1B}"/>
              </a:ext>
            </a:extLst>
          </p:cNvPr>
          <p:cNvGrpSpPr/>
          <p:nvPr/>
        </p:nvGrpSpPr>
        <p:grpSpPr>
          <a:xfrm>
            <a:off x="888826" y="5478364"/>
            <a:ext cx="3386125" cy="923330"/>
            <a:chOff x="6885007" y="2303608"/>
            <a:chExt cx="3386125" cy="923330"/>
          </a:xfrm>
        </p:grpSpPr>
        <p:sp>
          <p:nvSpPr>
            <p:cNvPr id="37" name="文本框 36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216FCD31-0A54-AD66-19FB-1FBD42B00B82}"/>
                </a:ext>
              </a:extLst>
            </p:cNvPr>
            <p:cNvSpPr txBox="1"/>
            <p:nvPr/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/>
                  <a:ea typeface="微软雅黑"/>
                  <a:cs typeface="Calibri Light" panose="020F0302020204030204" pitchFamily="34" charset="0"/>
                  <a:sym typeface="Times New Roman"/>
                </a:rPr>
                <a:t>4</a:t>
              </a:r>
              <a:endParaRPr lang="zh-CN" altLang="en-US" sz="5400" dirty="0">
                <a:latin typeface="Times New Roman"/>
                <a:ea typeface="微软雅黑"/>
                <a:cs typeface="Calibri Light" panose="020F0302020204030204" pitchFamily="34" charset="0"/>
                <a:sym typeface="Times New Roman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D389DF0B-AAE8-3745-2447-364D332F5087}"/>
                </a:ext>
              </a:extLst>
            </p:cNvPr>
            <p:cNvSpPr/>
            <p:nvPr/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39" name="文本框 38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  <a:extLst>
                <a:ext uri="{FF2B5EF4-FFF2-40B4-BE49-F238E27FC236}">
                  <a16:creationId xmlns:a16="http://schemas.microsoft.com/office/drawing/2014/main" id="{E6E1264C-4613-5437-1DC2-54B3FA36CE6F}"/>
                </a:ext>
              </a:extLst>
            </p:cNvPr>
            <p:cNvSpPr txBox="1"/>
            <p:nvPr/>
          </p:nvSpPr>
          <p:spPr>
            <a:xfrm>
              <a:off x="7431315" y="2505926"/>
              <a:ext cx="25027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/>
                  <a:ea typeface="微软雅黑"/>
                  <a:sym typeface="Times New Roman"/>
                </a:rPr>
                <a:t>调研结论</a:t>
              </a:r>
            </a:p>
          </p:txBody>
        </p:sp>
      </p:grpSp>
      <p:sp>
        <p:nvSpPr>
          <p:cNvPr id="40" name="文本框 39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<a:extLst>
              <a:ext uri="{FF2B5EF4-FFF2-40B4-BE49-F238E27FC236}">
                <a16:creationId xmlns:a16="http://schemas.microsoft.com/office/drawing/2014/main" id="{0607C758-40C1-FBBF-4C27-DA2C89BFD6D0}"/>
              </a:ext>
            </a:extLst>
          </p:cNvPr>
          <p:cNvSpPr txBox="1"/>
          <p:nvPr/>
        </p:nvSpPr>
        <p:spPr>
          <a:xfrm>
            <a:off x="1435134" y="1322557"/>
            <a:ext cx="2502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Times New Roman"/>
                <a:ea typeface="微软雅黑"/>
                <a:sym typeface="Times New Roman"/>
              </a:rPr>
              <a:t>调研分析部分</a:t>
            </a:r>
          </a:p>
        </p:txBody>
      </p:sp>
      <p:sp>
        <p:nvSpPr>
          <p:cNvPr id="41" name="文本框 4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>
            <a:extLst>
              <a:ext uri="{FF2B5EF4-FFF2-40B4-BE49-F238E27FC236}">
                <a16:creationId xmlns:a16="http://schemas.microsoft.com/office/drawing/2014/main" id="{02E59671-AB75-FC6F-ACE1-B9ED0749FFDB}"/>
              </a:ext>
            </a:extLst>
          </p:cNvPr>
          <p:cNvSpPr txBox="1"/>
          <p:nvPr/>
        </p:nvSpPr>
        <p:spPr>
          <a:xfrm>
            <a:off x="7449075" y="1196459"/>
            <a:ext cx="2502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Times New Roman"/>
                <a:ea typeface="微软雅黑"/>
                <a:sym typeface="Times New Roman"/>
              </a:rPr>
              <a:t>论文阅读部分</a:t>
            </a:r>
          </a:p>
        </p:txBody>
      </p:sp>
    </p:spTree>
    <p:extLst>
      <p:ext uri="{BB962C8B-B14F-4D97-AF65-F5344CB8AC3E}">
        <p14:creationId xmlns:p14="http://schemas.microsoft.com/office/powerpoint/2010/main" val="37994642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786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8/9)*(#ppt_y-(#ppt_y+0.1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 fmla="1+(8/9)*(1-0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88"/>
                            </p:stCondLst>
                            <p:childTnLst>
                              <p:par>
                                <p:cTn id="18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88"/>
                            </p:stCondLst>
                            <p:childTnLst>
                              <p:par>
                                <p:cTn id="3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6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F098D-E1B2-F302-0BFE-A9ECF9732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163" y="0"/>
            <a:ext cx="10515600" cy="1325563"/>
          </a:xfrm>
        </p:spPr>
        <p:txBody>
          <a:bodyPr/>
          <a:lstStyle/>
          <a:p>
            <a:r>
              <a:rPr lang="zh-CN" altLang="en-US" b="1" dirty="0"/>
              <a:t>研究背景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6FA40B-9020-651F-98F0-0CD798D6C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62" y="1072082"/>
            <a:ext cx="10846699" cy="42848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latin typeface="+mn-ea"/>
              </a:rPr>
              <a:t>随着短视频平台的发展，越来越多的普通用户开始使用视频剪辑工具进行内容创作。在这一过程中，软件的用户界面（</a:t>
            </a:r>
            <a:r>
              <a:rPr lang="en-US" altLang="zh-CN" sz="1800" dirty="0">
                <a:latin typeface="+mn-ea"/>
              </a:rPr>
              <a:t>UI</a:t>
            </a:r>
            <a:r>
              <a:rPr lang="zh-CN" altLang="en-US" sz="1800" dirty="0">
                <a:latin typeface="+mn-ea"/>
              </a:rPr>
              <a:t>）和交互设计直接影响用户的学习成本、操作效率以及整体使用体验。</a:t>
            </a:r>
            <a:endParaRPr lang="en-US" altLang="zh-CN" sz="1800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+mn-ea"/>
              </a:rPr>
              <a:t>不同平台在操作方式、界面布局和功能组织上存在明显差异，因此有必要从用户体验角度进行比较分析。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2CD5F52-E38F-5990-CE56-B76D0539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3" y="2558608"/>
            <a:ext cx="6324260" cy="377340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EBCA907-A742-5BA3-ADBF-E7187D4B4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842" y="2558608"/>
            <a:ext cx="2606129" cy="377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55242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594C-8559-8D1D-5472-F7B0B749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">
            <a:extLst>
              <a:ext uri="{FF2B5EF4-FFF2-40B4-BE49-F238E27FC236}">
                <a16:creationId xmlns:a16="http://schemas.microsoft.com/office/drawing/2014/main" id="{B975C4BC-4548-D04E-B6B3-4690113889EB}"/>
              </a:ext>
            </a:extLst>
          </p:cNvPr>
          <p:cNvGrpSpPr/>
          <p:nvPr/>
        </p:nvGrpSpPr>
        <p:grpSpPr>
          <a:xfrm>
            <a:off x="4321175" y="328613"/>
            <a:ext cx="3549650" cy="6200775"/>
            <a:chOff x="2722" y="207"/>
            <a:chExt cx="2236" cy="3906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4CC502C3-2E43-B93A-FBA4-0E9ADBB0CD26}"/>
                </a:ext>
              </a:extLst>
            </p:cNvPr>
            <p:cNvSpPr>
              <a:spLocks noChangeAspect="1" noChangeArrowheads="1" noTextEdit="1"/>
            </p:cNvSpPr>
            <p:nvPr/>
          </p:nvSpPr>
          <p:spPr>
            <a:xfrm>
              <a:off x="2722" y="207"/>
              <a:ext cx="2236" cy="3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7684035-3D25-9113-F722-3DF86377EF40}"/>
                </a:ext>
              </a:extLst>
            </p:cNvPr>
            <p:cNvSpPr/>
            <p:nvPr/>
          </p:nvSpPr>
          <p:spPr>
            <a:xfrm>
              <a:off x="3373" y="3255"/>
              <a:ext cx="960" cy="858"/>
            </a:xfrm>
            <a:custGeom>
              <a:avLst/>
              <a:gdLst>
                <a:gd name="T0" fmla="*/ 224 w 447"/>
                <a:gd name="T1" fmla="*/ 5 h 400"/>
                <a:gd name="T2" fmla="*/ 39 w 447"/>
                <a:gd name="T3" fmla="*/ 0 h 400"/>
                <a:gd name="T4" fmla="*/ 3 w 447"/>
                <a:gd name="T5" fmla="*/ 0 h 400"/>
                <a:gd name="T6" fmla="*/ 3 w 447"/>
                <a:gd name="T7" fmla="*/ 43 h 400"/>
                <a:gd name="T8" fmla="*/ 17 w 447"/>
                <a:gd name="T9" fmla="*/ 61 h 400"/>
                <a:gd name="T10" fmla="*/ 3 w 447"/>
                <a:gd name="T11" fmla="*/ 88 h 400"/>
                <a:gd name="T12" fmla="*/ 3 w 447"/>
                <a:gd name="T13" fmla="*/ 105 h 400"/>
                <a:gd name="T14" fmla="*/ 17 w 447"/>
                <a:gd name="T15" fmla="*/ 122 h 400"/>
                <a:gd name="T16" fmla="*/ 0 w 447"/>
                <a:gd name="T17" fmla="*/ 150 h 400"/>
                <a:gd name="T18" fmla="*/ 0 w 447"/>
                <a:gd name="T19" fmla="*/ 166 h 400"/>
                <a:gd name="T20" fmla="*/ 17 w 447"/>
                <a:gd name="T21" fmla="*/ 180 h 400"/>
                <a:gd name="T22" fmla="*/ 3 w 447"/>
                <a:gd name="T23" fmla="*/ 214 h 400"/>
                <a:gd name="T24" fmla="*/ 3 w 447"/>
                <a:gd name="T25" fmla="*/ 225 h 400"/>
                <a:gd name="T26" fmla="*/ 17 w 447"/>
                <a:gd name="T27" fmla="*/ 258 h 400"/>
                <a:gd name="T28" fmla="*/ 28 w 447"/>
                <a:gd name="T29" fmla="*/ 275 h 400"/>
                <a:gd name="T30" fmla="*/ 41 w 447"/>
                <a:gd name="T31" fmla="*/ 293 h 400"/>
                <a:gd name="T32" fmla="*/ 80 w 447"/>
                <a:gd name="T33" fmla="*/ 330 h 400"/>
                <a:gd name="T34" fmla="*/ 92 w 447"/>
                <a:gd name="T35" fmla="*/ 330 h 400"/>
                <a:gd name="T36" fmla="*/ 142 w 447"/>
                <a:gd name="T37" fmla="*/ 387 h 400"/>
                <a:gd name="T38" fmla="*/ 197 w 447"/>
                <a:gd name="T39" fmla="*/ 399 h 400"/>
                <a:gd name="T40" fmla="*/ 223 w 447"/>
                <a:gd name="T41" fmla="*/ 394 h 400"/>
                <a:gd name="T42" fmla="*/ 250 w 447"/>
                <a:gd name="T43" fmla="*/ 399 h 400"/>
                <a:gd name="T44" fmla="*/ 304 w 447"/>
                <a:gd name="T45" fmla="*/ 387 h 400"/>
                <a:gd name="T46" fmla="*/ 355 w 447"/>
                <a:gd name="T47" fmla="*/ 330 h 400"/>
                <a:gd name="T48" fmla="*/ 366 w 447"/>
                <a:gd name="T49" fmla="*/ 330 h 400"/>
                <a:gd name="T50" fmla="*/ 405 w 447"/>
                <a:gd name="T51" fmla="*/ 293 h 400"/>
                <a:gd name="T52" fmla="*/ 418 w 447"/>
                <a:gd name="T53" fmla="*/ 275 h 400"/>
                <a:gd name="T54" fmla="*/ 430 w 447"/>
                <a:gd name="T55" fmla="*/ 258 h 400"/>
                <a:gd name="T56" fmla="*/ 444 w 447"/>
                <a:gd name="T57" fmla="*/ 225 h 400"/>
                <a:gd name="T58" fmla="*/ 444 w 447"/>
                <a:gd name="T59" fmla="*/ 214 h 400"/>
                <a:gd name="T60" fmla="*/ 430 w 447"/>
                <a:gd name="T61" fmla="*/ 180 h 400"/>
                <a:gd name="T62" fmla="*/ 447 w 447"/>
                <a:gd name="T63" fmla="*/ 166 h 400"/>
                <a:gd name="T64" fmla="*/ 447 w 447"/>
                <a:gd name="T65" fmla="*/ 150 h 400"/>
                <a:gd name="T66" fmla="*/ 430 w 447"/>
                <a:gd name="T67" fmla="*/ 122 h 400"/>
                <a:gd name="T68" fmla="*/ 444 w 447"/>
                <a:gd name="T69" fmla="*/ 105 h 400"/>
                <a:gd name="T70" fmla="*/ 444 w 447"/>
                <a:gd name="T71" fmla="*/ 88 h 400"/>
                <a:gd name="T72" fmla="*/ 430 w 447"/>
                <a:gd name="T73" fmla="*/ 61 h 400"/>
                <a:gd name="T74" fmla="*/ 444 w 447"/>
                <a:gd name="T75" fmla="*/ 43 h 400"/>
                <a:gd name="T76" fmla="*/ 444 w 447"/>
                <a:gd name="T77" fmla="*/ 0 h 400"/>
                <a:gd name="T78" fmla="*/ 224 w 447"/>
                <a:gd name="T79" fmla="*/ 5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47" h="400">
                  <a:moveTo>
                    <a:pt x="224" y="5"/>
                  </a:moveTo>
                  <a:cubicBezTo>
                    <a:pt x="224" y="5"/>
                    <a:pt x="112" y="3"/>
                    <a:pt x="3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3"/>
                    <a:pt x="5" y="56"/>
                    <a:pt x="17" y="61"/>
                  </a:cubicBezTo>
                  <a:cubicBezTo>
                    <a:pt x="17" y="61"/>
                    <a:pt x="19" y="79"/>
                    <a:pt x="3" y="88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14" y="114"/>
                    <a:pt x="17" y="122"/>
                  </a:cubicBezTo>
                  <a:cubicBezTo>
                    <a:pt x="19" y="130"/>
                    <a:pt x="5" y="148"/>
                    <a:pt x="0" y="150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66"/>
                    <a:pt x="13" y="168"/>
                    <a:pt x="17" y="180"/>
                  </a:cubicBezTo>
                  <a:cubicBezTo>
                    <a:pt x="21" y="192"/>
                    <a:pt x="10" y="210"/>
                    <a:pt x="3" y="214"/>
                  </a:cubicBezTo>
                  <a:cubicBezTo>
                    <a:pt x="3" y="225"/>
                    <a:pt x="3" y="225"/>
                    <a:pt x="3" y="225"/>
                  </a:cubicBezTo>
                  <a:cubicBezTo>
                    <a:pt x="3" y="225"/>
                    <a:pt x="25" y="238"/>
                    <a:pt x="17" y="258"/>
                  </a:cubicBezTo>
                  <a:cubicBezTo>
                    <a:pt x="17" y="258"/>
                    <a:pt x="10" y="268"/>
                    <a:pt x="28" y="275"/>
                  </a:cubicBezTo>
                  <a:cubicBezTo>
                    <a:pt x="28" y="275"/>
                    <a:pt x="38" y="285"/>
                    <a:pt x="41" y="293"/>
                  </a:cubicBezTo>
                  <a:cubicBezTo>
                    <a:pt x="45" y="301"/>
                    <a:pt x="72" y="329"/>
                    <a:pt x="80" y="330"/>
                  </a:cubicBezTo>
                  <a:cubicBezTo>
                    <a:pt x="92" y="330"/>
                    <a:pt x="92" y="330"/>
                    <a:pt x="92" y="330"/>
                  </a:cubicBezTo>
                  <a:cubicBezTo>
                    <a:pt x="92" y="330"/>
                    <a:pt x="129" y="369"/>
                    <a:pt x="142" y="387"/>
                  </a:cubicBezTo>
                  <a:cubicBezTo>
                    <a:pt x="142" y="387"/>
                    <a:pt x="172" y="400"/>
                    <a:pt x="197" y="399"/>
                  </a:cubicBezTo>
                  <a:cubicBezTo>
                    <a:pt x="197" y="399"/>
                    <a:pt x="213" y="394"/>
                    <a:pt x="223" y="394"/>
                  </a:cubicBezTo>
                  <a:cubicBezTo>
                    <a:pt x="234" y="394"/>
                    <a:pt x="250" y="399"/>
                    <a:pt x="250" y="399"/>
                  </a:cubicBezTo>
                  <a:cubicBezTo>
                    <a:pt x="275" y="400"/>
                    <a:pt x="304" y="387"/>
                    <a:pt x="304" y="387"/>
                  </a:cubicBezTo>
                  <a:cubicBezTo>
                    <a:pt x="317" y="369"/>
                    <a:pt x="355" y="330"/>
                    <a:pt x="355" y="330"/>
                  </a:cubicBezTo>
                  <a:cubicBezTo>
                    <a:pt x="366" y="330"/>
                    <a:pt x="366" y="330"/>
                    <a:pt x="366" y="330"/>
                  </a:cubicBezTo>
                  <a:cubicBezTo>
                    <a:pt x="374" y="329"/>
                    <a:pt x="401" y="301"/>
                    <a:pt x="405" y="293"/>
                  </a:cubicBezTo>
                  <a:cubicBezTo>
                    <a:pt x="409" y="285"/>
                    <a:pt x="418" y="275"/>
                    <a:pt x="418" y="275"/>
                  </a:cubicBezTo>
                  <a:cubicBezTo>
                    <a:pt x="436" y="268"/>
                    <a:pt x="430" y="258"/>
                    <a:pt x="430" y="258"/>
                  </a:cubicBezTo>
                  <a:cubicBezTo>
                    <a:pt x="422" y="238"/>
                    <a:pt x="444" y="225"/>
                    <a:pt x="444" y="225"/>
                  </a:cubicBezTo>
                  <a:cubicBezTo>
                    <a:pt x="444" y="214"/>
                    <a:pt x="444" y="214"/>
                    <a:pt x="444" y="214"/>
                  </a:cubicBezTo>
                  <a:cubicBezTo>
                    <a:pt x="436" y="210"/>
                    <a:pt x="426" y="192"/>
                    <a:pt x="430" y="180"/>
                  </a:cubicBezTo>
                  <a:cubicBezTo>
                    <a:pt x="434" y="168"/>
                    <a:pt x="447" y="166"/>
                    <a:pt x="447" y="166"/>
                  </a:cubicBezTo>
                  <a:cubicBezTo>
                    <a:pt x="447" y="150"/>
                    <a:pt x="447" y="150"/>
                    <a:pt x="447" y="150"/>
                  </a:cubicBezTo>
                  <a:cubicBezTo>
                    <a:pt x="442" y="148"/>
                    <a:pt x="427" y="130"/>
                    <a:pt x="430" y="122"/>
                  </a:cubicBezTo>
                  <a:cubicBezTo>
                    <a:pt x="433" y="114"/>
                    <a:pt x="444" y="105"/>
                    <a:pt x="444" y="105"/>
                  </a:cubicBezTo>
                  <a:cubicBezTo>
                    <a:pt x="444" y="88"/>
                    <a:pt x="444" y="88"/>
                    <a:pt x="444" y="88"/>
                  </a:cubicBezTo>
                  <a:cubicBezTo>
                    <a:pt x="427" y="79"/>
                    <a:pt x="430" y="61"/>
                    <a:pt x="430" y="61"/>
                  </a:cubicBezTo>
                  <a:cubicBezTo>
                    <a:pt x="442" y="56"/>
                    <a:pt x="444" y="43"/>
                    <a:pt x="444" y="43"/>
                  </a:cubicBezTo>
                  <a:cubicBezTo>
                    <a:pt x="444" y="0"/>
                    <a:pt x="444" y="0"/>
                    <a:pt x="444" y="0"/>
                  </a:cubicBezTo>
                  <a:cubicBezTo>
                    <a:pt x="383" y="3"/>
                    <a:pt x="224" y="5"/>
                    <a:pt x="224" y="5"/>
                  </a:cubicBezTo>
                  <a:close/>
                </a:path>
              </a:pathLst>
            </a:custGeom>
            <a:solidFill>
              <a:srgbClr val="2F32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CB426B3-50E9-2B2A-8A0D-BF8FDF4D4077}"/>
                </a:ext>
              </a:extLst>
            </p:cNvPr>
            <p:cNvSpPr/>
            <p:nvPr/>
          </p:nvSpPr>
          <p:spPr>
            <a:xfrm>
              <a:off x="3596" y="3285"/>
              <a:ext cx="728" cy="75"/>
            </a:xfrm>
            <a:custGeom>
              <a:avLst/>
              <a:gdLst>
                <a:gd name="T0" fmla="*/ 0 w 339"/>
                <a:gd name="T1" fmla="*/ 2 h 35"/>
                <a:gd name="T2" fmla="*/ 321 w 339"/>
                <a:gd name="T3" fmla="*/ 0 h 35"/>
                <a:gd name="T4" fmla="*/ 314 w 339"/>
                <a:gd name="T5" fmla="*/ 35 h 35"/>
                <a:gd name="T6" fmla="*/ 7 w 339"/>
                <a:gd name="T7" fmla="*/ 31 h 35"/>
                <a:gd name="T8" fmla="*/ 278 w 339"/>
                <a:gd name="T9" fmla="*/ 17 h 35"/>
                <a:gd name="T10" fmla="*/ 0 w 339"/>
                <a:gd name="T11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9" h="35">
                  <a:moveTo>
                    <a:pt x="0" y="2"/>
                  </a:moveTo>
                  <a:cubicBezTo>
                    <a:pt x="0" y="2"/>
                    <a:pt x="238" y="11"/>
                    <a:pt x="321" y="0"/>
                  </a:cubicBezTo>
                  <a:cubicBezTo>
                    <a:pt x="321" y="0"/>
                    <a:pt x="339" y="21"/>
                    <a:pt x="314" y="35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31"/>
                    <a:pt x="264" y="26"/>
                    <a:pt x="278" y="17"/>
                  </a:cubicBezTo>
                  <a:cubicBezTo>
                    <a:pt x="278" y="17"/>
                    <a:pt x="69" y="4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29238398-8891-F0B4-2DAB-372506FEAE6B}"/>
                </a:ext>
              </a:extLst>
            </p:cNvPr>
            <p:cNvSpPr/>
            <p:nvPr/>
          </p:nvSpPr>
          <p:spPr>
            <a:xfrm>
              <a:off x="3446" y="3399"/>
              <a:ext cx="792" cy="70"/>
            </a:xfrm>
            <a:custGeom>
              <a:avLst/>
              <a:gdLst>
                <a:gd name="T0" fmla="*/ 0 w 369"/>
                <a:gd name="T1" fmla="*/ 0 h 33"/>
                <a:gd name="T2" fmla="*/ 369 w 369"/>
                <a:gd name="T3" fmla="*/ 0 h 33"/>
                <a:gd name="T4" fmla="*/ 0 w 369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9" h="33">
                  <a:moveTo>
                    <a:pt x="0" y="0"/>
                  </a:moveTo>
                  <a:cubicBezTo>
                    <a:pt x="0" y="0"/>
                    <a:pt x="203" y="20"/>
                    <a:pt x="369" y="0"/>
                  </a:cubicBezTo>
                  <a:cubicBezTo>
                    <a:pt x="369" y="0"/>
                    <a:pt x="143" y="3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D0E9A50-85D2-26AC-564B-B75F30C1525F}"/>
                </a:ext>
              </a:extLst>
            </p:cNvPr>
            <p:cNvSpPr/>
            <p:nvPr/>
          </p:nvSpPr>
          <p:spPr>
            <a:xfrm>
              <a:off x="3450" y="3502"/>
              <a:ext cx="793" cy="70"/>
            </a:xfrm>
            <a:custGeom>
              <a:avLst/>
              <a:gdLst>
                <a:gd name="T0" fmla="*/ 0 w 369"/>
                <a:gd name="T1" fmla="*/ 0 h 33"/>
                <a:gd name="T2" fmla="*/ 369 w 369"/>
                <a:gd name="T3" fmla="*/ 0 h 33"/>
                <a:gd name="T4" fmla="*/ 0 w 369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9" h="33">
                  <a:moveTo>
                    <a:pt x="0" y="0"/>
                  </a:moveTo>
                  <a:cubicBezTo>
                    <a:pt x="0" y="0"/>
                    <a:pt x="204" y="20"/>
                    <a:pt x="369" y="0"/>
                  </a:cubicBezTo>
                  <a:cubicBezTo>
                    <a:pt x="369" y="0"/>
                    <a:pt x="144" y="3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7CC5A7E2-C2B8-2D7C-9480-7586D9586B64}"/>
                </a:ext>
              </a:extLst>
            </p:cNvPr>
            <p:cNvSpPr/>
            <p:nvPr/>
          </p:nvSpPr>
          <p:spPr>
            <a:xfrm>
              <a:off x="3450" y="3622"/>
              <a:ext cx="793" cy="68"/>
            </a:xfrm>
            <a:custGeom>
              <a:avLst/>
              <a:gdLst>
                <a:gd name="T0" fmla="*/ 0 w 369"/>
                <a:gd name="T1" fmla="*/ 0 h 32"/>
                <a:gd name="T2" fmla="*/ 369 w 369"/>
                <a:gd name="T3" fmla="*/ 0 h 32"/>
                <a:gd name="T4" fmla="*/ 0 w 369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9" h="32">
                  <a:moveTo>
                    <a:pt x="0" y="0"/>
                  </a:moveTo>
                  <a:cubicBezTo>
                    <a:pt x="0" y="0"/>
                    <a:pt x="204" y="19"/>
                    <a:pt x="369" y="0"/>
                  </a:cubicBezTo>
                  <a:cubicBezTo>
                    <a:pt x="369" y="0"/>
                    <a:pt x="144" y="3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42F3B05-E20D-2CDB-90B0-CAA8289D01D5}"/>
                </a:ext>
              </a:extLst>
            </p:cNvPr>
            <p:cNvSpPr/>
            <p:nvPr/>
          </p:nvSpPr>
          <p:spPr>
            <a:xfrm>
              <a:off x="3459" y="3725"/>
              <a:ext cx="792" cy="68"/>
            </a:xfrm>
            <a:custGeom>
              <a:avLst/>
              <a:gdLst>
                <a:gd name="T0" fmla="*/ 0 w 369"/>
                <a:gd name="T1" fmla="*/ 0 h 32"/>
                <a:gd name="T2" fmla="*/ 369 w 369"/>
                <a:gd name="T3" fmla="*/ 0 h 32"/>
                <a:gd name="T4" fmla="*/ 0 w 369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9" h="32">
                  <a:moveTo>
                    <a:pt x="0" y="0"/>
                  </a:moveTo>
                  <a:cubicBezTo>
                    <a:pt x="0" y="0"/>
                    <a:pt x="203" y="19"/>
                    <a:pt x="369" y="0"/>
                  </a:cubicBezTo>
                  <a:cubicBezTo>
                    <a:pt x="369" y="0"/>
                    <a:pt x="144" y="3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9325C195-D969-26CA-00A4-8C0F516A4D5E}"/>
                </a:ext>
              </a:extLst>
            </p:cNvPr>
            <p:cNvSpPr/>
            <p:nvPr/>
          </p:nvSpPr>
          <p:spPr>
            <a:xfrm>
              <a:off x="3457" y="3826"/>
              <a:ext cx="792" cy="68"/>
            </a:xfrm>
            <a:custGeom>
              <a:avLst/>
              <a:gdLst>
                <a:gd name="T0" fmla="*/ 0 w 369"/>
                <a:gd name="T1" fmla="*/ 0 h 32"/>
                <a:gd name="T2" fmla="*/ 369 w 369"/>
                <a:gd name="T3" fmla="*/ 0 h 32"/>
                <a:gd name="T4" fmla="*/ 0 w 369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9" h="32">
                  <a:moveTo>
                    <a:pt x="0" y="0"/>
                  </a:moveTo>
                  <a:cubicBezTo>
                    <a:pt x="0" y="0"/>
                    <a:pt x="203" y="19"/>
                    <a:pt x="369" y="0"/>
                  </a:cubicBezTo>
                  <a:cubicBezTo>
                    <a:pt x="369" y="0"/>
                    <a:pt x="144" y="3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0D1ADBB-A9C3-39D3-E866-ACAC2B9865CA}"/>
                </a:ext>
              </a:extLst>
            </p:cNvPr>
            <p:cNvSpPr/>
            <p:nvPr/>
          </p:nvSpPr>
          <p:spPr>
            <a:xfrm>
              <a:off x="3841" y="3941"/>
              <a:ext cx="275" cy="140"/>
            </a:xfrm>
            <a:custGeom>
              <a:avLst/>
              <a:gdLst>
                <a:gd name="T0" fmla="*/ 0 w 128"/>
                <a:gd name="T1" fmla="*/ 0 h 65"/>
                <a:gd name="T2" fmla="*/ 128 w 128"/>
                <a:gd name="T3" fmla="*/ 0 h 65"/>
                <a:gd name="T4" fmla="*/ 71 w 128"/>
                <a:gd name="T5" fmla="*/ 65 h 65"/>
                <a:gd name="T6" fmla="*/ 69 w 128"/>
                <a:gd name="T7" fmla="*/ 18 h 65"/>
                <a:gd name="T8" fmla="*/ 0 w 12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5">
                  <a:moveTo>
                    <a:pt x="0" y="0"/>
                  </a:moveTo>
                  <a:cubicBezTo>
                    <a:pt x="0" y="0"/>
                    <a:pt x="95" y="6"/>
                    <a:pt x="128" y="0"/>
                  </a:cubicBezTo>
                  <a:cubicBezTo>
                    <a:pt x="71" y="65"/>
                    <a:pt x="71" y="65"/>
                    <a:pt x="71" y="65"/>
                  </a:cubicBezTo>
                  <a:cubicBezTo>
                    <a:pt x="71" y="65"/>
                    <a:pt x="94" y="19"/>
                    <a:pt x="69" y="18"/>
                  </a:cubicBezTo>
                  <a:cubicBezTo>
                    <a:pt x="45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99E1CF5D-99E9-04E0-F383-996133127773}"/>
                </a:ext>
              </a:extLst>
            </p:cNvPr>
            <p:cNvSpPr/>
            <p:nvPr/>
          </p:nvSpPr>
          <p:spPr>
            <a:xfrm>
              <a:off x="3650" y="3422"/>
              <a:ext cx="281" cy="103"/>
            </a:xfrm>
            <a:custGeom>
              <a:avLst/>
              <a:gdLst>
                <a:gd name="T0" fmla="*/ 65 w 131"/>
                <a:gd name="T1" fmla="*/ 1 h 48"/>
                <a:gd name="T2" fmla="*/ 0 w 131"/>
                <a:gd name="T3" fmla="*/ 1 h 48"/>
                <a:gd name="T4" fmla="*/ 91 w 131"/>
                <a:gd name="T5" fmla="*/ 45 h 48"/>
                <a:gd name="T6" fmla="*/ 131 w 131"/>
                <a:gd name="T7" fmla="*/ 48 h 48"/>
                <a:gd name="T8" fmla="*/ 90 w 131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48">
                  <a:moveTo>
                    <a:pt x="65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23" y="34"/>
                    <a:pt x="91" y="45"/>
                  </a:cubicBezTo>
                  <a:cubicBezTo>
                    <a:pt x="83" y="48"/>
                    <a:pt x="131" y="48"/>
                    <a:pt x="131" y="48"/>
                  </a:cubicBezTo>
                  <a:cubicBezTo>
                    <a:pt x="131" y="48"/>
                    <a:pt x="83" y="10"/>
                    <a:pt x="9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DD1D23A8-E5E8-069E-6B91-CFEDA7940328}"/>
                </a:ext>
              </a:extLst>
            </p:cNvPr>
            <p:cNvSpPr/>
            <p:nvPr/>
          </p:nvSpPr>
          <p:spPr>
            <a:xfrm>
              <a:off x="3656" y="3519"/>
              <a:ext cx="282" cy="129"/>
            </a:xfrm>
            <a:custGeom>
              <a:avLst/>
              <a:gdLst>
                <a:gd name="T0" fmla="*/ 65 w 131"/>
                <a:gd name="T1" fmla="*/ 2 h 60"/>
                <a:gd name="T2" fmla="*/ 0 w 131"/>
                <a:gd name="T3" fmla="*/ 2 h 60"/>
                <a:gd name="T4" fmla="*/ 91 w 131"/>
                <a:gd name="T5" fmla="*/ 56 h 60"/>
                <a:gd name="T6" fmla="*/ 131 w 131"/>
                <a:gd name="T7" fmla="*/ 60 h 60"/>
                <a:gd name="T8" fmla="*/ 89 w 131"/>
                <a:gd name="T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60">
                  <a:moveTo>
                    <a:pt x="6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23" y="43"/>
                    <a:pt x="91" y="56"/>
                  </a:cubicBezTo>
                  <a:cubicBezTo>
                    <a:pt x="83" y="60"/>
                    <a:pt x="131" y="60"/>
                    <a:pt x="131" y="60"/>
                  </a:cubicBezTo>
                  <a:cubicBezTo>
                    <a:pt x="131" y="60"/>
                    <a:pt x="83" y="13"/>
                    <a:pt x="8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69C9135D-A3E3-555E-5E76-9B2744349146}"/>
                </a:ext>
              </a:extLst>
            </p:cNvPr>
            <p:cNvSpPr/>
            <p:nvPr/>
          </p:nvSpPr>
          <p:spPr>
            <a:xfrm>
              <a:off x="3759" y="3641"/>
              <a:ext cx="282" cy="109"/>
            </a:xfrm>
            <a:custGeom>
              <a:avLst/>
              <a:gdLst>
                <a:gd name="T0" fmla="*/ 65 w 131"/>
                <a:gd name="T1" fmla="*/ 1 h 51"/>
                <a:gd name="T2" fmla="*/ 0 w 131"/>
                <a:gd name="T3" fmla="*/ 1 h 51"/>
                <a:gd name="T4" fmla="*/ 91 w 131"/>
                <a:gd name="T5" fmla="*/ 48 h 51"/>
                <a:gd name="T6" fmla="*/ 131 w 131"/>
                <a:gd name="T7" fmla="*/ 51 h 51"/>
                <a:gd name="T8" fmla="*/ 89 w 131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51">
                  <a:moveTo>
                    <a:pt x="65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23" y="37"/>
                    <a:pt x="91" y="48"/>
                  </a:cubicBezTo>
                  <a:cubicBezTo>
                    <a:pt x="83" y="51"/>
                    <a:pt x="131" y="51"/>
                    <a:pt x="131" y="51"/>
                  </a:cubicBezTo>
                  <a:cubicBezTo>
                    <a:pt x="131" y="51"/>
                    <a:pt x="83" y="11"/>
                    <a:pt x="8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394C758-94A9-DD95-447C-A1251861C212}"/>
                </a:ext>
              </a:extLst>
            </p:cNvPr>
            <p:cNvSpPr/>
            <p:nvPr/>
          </p:nvSpPr>
          <p:spPr>
            <a:xfrm>
              <a:off x="3588" y="3746"/>
              <a:ext cx="279" cy="110"/>
            </a:xfrm>
            <a:custGeom>
              <a:avLst/>
              <a:gdLst>
                <a:gd name="T0" fmla="*/ 64 w 130"/>
                <a:gd name="T1" fmla="*/ 1 h 51"/>
                <a:gd name="T2" fmla="*/ 0 w 130"/>
                <a:gd name="T3" fmla="*/ 1 h 51"/>
                <a:gd name="T4" fmla="*/ 90 w 130"/>
                <a:gd name="T5" fmla="*/ 48 h 51"/>
                <a:gd name="T6" fmla="*/ 130 w 130"/>
                <a:gd name="T7" fmla="*/ 51 h 51"/>
                <a:gd name="T8" fmla="*/ 89 w 130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51">
                  <a:moveTo>
                    <a:pt x="64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22" y="37"/>
                    <a:pt x="90" y="48"/>
                  </a:cubicBezTo>
                  <a:cubicBezTo>
                    <a:pt x="83" y="51"/>
                    <a:pt x="130" y="51"/>
                    <a:pt x="130" y="51"/>
                  </a:cubicBezTo>
                  <a:cubicBezTo>
                    <a:pt x="130" y="51"/>
                    <a:pt x="83" y="11"/>
                    <a:pt x="8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9B52F708-5844-ACCC-2B07-BF8158763787}"/>
                </a:ext>
              </a:extLst>
            </p:cNvPr>
            <p:cNvSpPr/>
            <p:nvPr/>
          </p:nvSpPr>
          <p:spPr>
            <a:xfrm>
              <a:off x="2831" y="355"/>
              <a:ext cx="2073" cy="2894"/>
            </a:xfrm>
            <a:custGeom>
              <a:avLst/>
              <a:gdLst>
                <a:gd name="T0" fmla="*/ 1178 w 2073"/>
                <a:gd name="T1" fmla="*/ 2465 h 2894"/>
                <a:gd name="T2" fmla="*/ 1487 w 2073"/>
                <a:gd name="T3" fmla="*/ 2894 h 2894"/>
                <a:gd name="T4" fmla="*/ 1803 w 2073"/>
                <a:gd name="T5" fmla="*/ 2226 h 2894"/>
                <a:gd name="T6" fmla="*/ 2073 w 2073"/>
                <a:gd name="T7" fmla="*/ 1446 h 2894"/>
                <a:gd name="T8" fmla="*/ 0 w 2073"/>
                <a:gd name="T9" fmla="*/ 581 h 2894"/>
                <a:gd name="T10" fmla="*/ 653 w 2073"/>
                <a:gd name="T11" fmla="*/ 0 h 2894"/>
                <a:gd name="T12" fmla="*/ 1874 w 2073"/>
                <a:gd name="T13" fmla="*/ 667 h 2894"/>
                <a:gd name="T14" fmla="*/ 95 w 2073"/>
                <a:gd name="T15" fmla="*/ 1731 h 2894"/>
                <a:gd name="T16" fmla="*/ 1420 w 2073"/>
                <a:gd name="T17" fmla="*/ 1742 h 2894"/>
                <a:gd name="T18" fmla="*/ 1803 w 2073"/>
                <a:gd name="T19" fmla="*/ 2226 h 2894"/>
                <a:gd name="T20" fmla="*/ 535 w 2073"/>
                <a:gd name="T21" fmla="*/ 2825 h 2894"/>
                <a:gd name="T22" fmla="*/ 303 w 2073"/>
                <a:gd name="T23" fmla="*/ 2437 h 2894"/>
                <a:gd name="T24" fmla="*/ 230 w 2073"/>
                <a:gd name="T25" fmla="*/ 2100 h 2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73" h="2894">
                  <a:moveTo>
                    <a:pt x="1178" y="2465"/>
                  </a:moveTo>
                  <a:lnTo>
                    <a:pt x="1487" y="2894"/>
                  </a:lnTo>
                  <a:lnTo>
                    <a:pt x="1803" y="2226"/>
                  </a:lnTo>
                  <a:lnTo>
                    <a:pt x="2073" y="1446"/>
                  </a:lnTo>
                  <a:lnTo>
                    <a:pt x="0" y="581"/>
                  </a:lnTo>
                  <a:lnTo>
                    <a:pt x="653" y="0"/>
                  </a:lnTo>
                  <a:lnTo>
                    <a:pt x="1874" y="667"/>
                  </a:lnTo>
                  <a:lnTo>
                    <a:pt x="95" y="1731"/>
                  </a:lnTo>
                  <a:lnTo>
                    <a:pt x="1420" y="1742"/>
                  </a:lnTo>
                  <a:lnTo>
                    <a:pt x="1803" y="2226"/>
                  </a:lnTo>
                  <a:lnTo>
                    <a:pt x="535" y="2825"/>
                  </a:lnTo>
                  <a:lnTo>
                    <a:pt x="303" y="2437"/>
                  </a:lnTo>
                  <a:lnTo>
                    <a:pt x="230" y="2100"/>
                  </a:lnTo>
                </a:path>
              </a:pathLst>
            </a:custGeom>
            <a:noFill/>
            <a:ln w="26988" cap="flat">
              <a:solidFill>
                <a:srgbClr val="00A79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FA4FB7D4-FAC3-687B-D9E3-05E7E9772356}"/>
                </a:ext>
              </a:extLst>
            </p:cNvPr>
            <p:cNvSpPr/>
            <p:nvPr/>
          </p:nvSpPr>
          <p:spPr>
            <a:xfrm>
              <a:off x="3822" y="409"/>
              <a:ext cx="1082" cy="1392"/>
            </a:xfrm>
            <a:custGeom>
              <a:avLst/>
              <a:gdLst>
                <a:gd name="T0" fmla="*/ 328 w 1082"/>
                <a:gd name="T1" fmla="*/ 311 h 1392"/>
                <a:gd name="T2" fmla="*/ 541 w 1082"/>
                <a:gd name="T3" fmla="*/ 0 h 1392"/>
                <a:gd name="T4" fmla="*/ 883 w 1082"/>
                <a:gd name="T5" fmla="*/ 613 h 1392"/>
                <a:gd name="T6" fmla="*/ 1044 w 1082"/>
                <a:gd name="T7" fmla="*/ 532 h 1392"/>
                <a:gd name="T8" fmla="*/ 1082 w 1082"/>
                <a:gd name="T9" fmla="*/ 1392 h 1392"/>
                <a:gd name="T10" fmla="*/ 883 w 1082"/>
                <a:gd name="T11" fmla="*/ 613 h 1392"/>
                <a:gd name="T12" fmla="*/ 0 w 1082"/>
                <a:gd name="T13" fmla="*/ 392 h 1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2" h="1392">
                  <a:moveTo>
                    <a:pt x="328" y="311"/>
                  </a:moveTo>
                  <a:lnTo>
                    <a:pt x="541" y="0"/>
                  </a:lnTo>
                  <a:lnTo>
                    <a:pt x="883" y="613"/>
                  </a:lnTo>
                  <a:lnTo>
                    <a:pt x="1044" y="532"/>
                  </a:lnTo>
                  <a:lnTo>
                    <a:pt x="1082" y="1392"/>
                  </a:lnTo>
                  <a:lnTo>
                    <a:pt x="883" y="613"/>
                  </a:lnTo>
                  <a:lnTo>
                    <a:pt x="0" y="392"/>
                  </a:lnTo>
                </a:path>
              </a:pathLst>
            </a:custGeom>
            <a:noFill/>
            <a:ln w="26988" cap="flat">
              <a:solidFill>
                <a:srgbClr val="00A79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89FCDFFB-846E-A4E7-3567-35FE568E6391}"/>
                </a:ext>
              </a:extLst>
            </p:cNvPr>
            <p:cNvSpPr/>
            <p:nvPr/>
          </p:nvSpPr>
          <p:spPr>
            <a:xfrm>
              <a:off x="2782" y="666"/>
              <a:ext cx="1259" cy="2154"/>
            </a:xfrm>
            <a:custGeom>
              <a:avLst/>
              <a:gdLst>
                <a:gd name="T0" fmla="*/ 1023 w 1259"/>
                <a:gd name="T1" fmla="*/ 684 h 2154"/>
                <a:gd name="T2" fmla="*/ 1040 w 1259"/>
                <a:gd name="T3" fmla="*/ 135 h 2154"/>
                <a:gd name="T4" fmla="*/ 352 w 1259"/>
                <a:gd name="T5" fmla="*/ 0 h 2154"/>
                <a:gd name="T6" fmla="*/ 629 w 1259"/>
                <a:gd name="T7" fmla="*/ 517 h 2154"/>
                <a:gd name="T8" fmla="*/ 0 w 1259"/>
                <a:gd name="T9" fmla="*/ 849 h 2154"/>
                <a:gd name="T10" fmla="*/ 144 w 1259"/>
                <a:gd name="T11" fmla="*/ 1420 h 2154"/>
                <a:gd name="T12" fmla="*/ 279 w 1259"/>
                <a:gd name="T13" fmla="*/ 1789 h 2154"/>
                <a:gd name="T14" fmla="*/ 883 w 1259"/>
                <a:gd name="T15" fmla="*/ 1426 h 2154"/>
                <a:gd name="T16" fmla="*/ 352 w 1259"/>
                <a:gd name="T17" fmla="*/ 2126 h 2154"/>
                <a:gd name="T18" fmla="*/ 1259 w 1259"/>
                <a:gd name="T19" fmla="*/ 2154 h 2154"/>
                <a:gd name="T20" fmla="*/ 960 w 1259"/>
                <a:gd name="T21" fmla="*/ 931 h 2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9" h="2154">
                  <a:moveTo>
                    <a:pt x="1023" y="684"/>
                  </a:moveTo>
                  <a:lnTo>
                    <a:pt x="1040" y="135"/>
                  </a:lnTo>
                  <a:lnTo>
                    <a:pt x="352" y="0"/>
                  </a:lnTo>
                  <a:lnTo>
                    <a:pt x="629" y="517"/>
                  </a:lnTo>
                  <a:lnTo>
                    <a:pt x="0" y="849"/>
                  </a:lnTo>
                  <a:lnTo>
                    <a:pt x="144" y="1420"/>
                  </a:lnTo>
                  <a:lnTo>
                    <a:pt x="279" y="1789"/>
                  </a:lnTo>
                  <a:lnTo>
                    <a:pt x="883" y="1426"/>
                  </a:lnTo>
                  <a:lnTo>
                    <a:pt x="352" y="2126"/>
                  </a:lnTo>
                  <a:lnTo>
                    <a:pt x="1259" y="2154"/>
                  </a:lnTo>
                  <a:lnTo>
                    <a:pt x="960" y="931"/>
                  </a:lnTo>
                </a:path>
              </a:pathLst>
            </a:custGeom>
            <a:noFill/>
            <a:ln w="26988" cap="flat">
              <a:solidFill>
                <a:srgbClr val="00A79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0F16106B-5439-7D40-DCD6-DED12A4BCF00}"/>
                </a:ext>
              </a:extLst>
            </p:cNvPr>
            <p:cNvSpPr>
              <a:spLocks noChangeShapeType="1"/>
            </p:cNvSpPr>
            <p:nvPr/>
          </p:nvSpPr>
          <p:spPr>
            <a:xfrm flipH="1">
              <a:off x="2782" y="936"/>
              <a:ext cx="49" cy="579"/>
            </a:xfrm>
            <a:prstGeom prst="line">
              <a:avLst/>
            </a:prstGeom>
            <a:noFill/>
            <a:ln w="26988" cap="flat">
              <a:solidFill>
                <a:srgbClr val="00A79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0AB1E805-C773-04C2-FCDB-973122E2EC65}"/>
                </a:ext>
              </a:extLst>
            </p:cNvPr>
            <p:cNvSpPr/>
            <p:nvPr/>
          </p:nvSpPr>
          <p:spPr>
            <a:xfrm>
              <a:off x="3484" y="276"/>
              <a:ext cx="1382" cy="665"/>
            </a:xfrm>
            <a:custGeom>
              <a:avLst/>
              <a:gdLst>
                <a:gd name="T0" fmla="*/ 1382 w 1382"/>
                <a:gd name="T1" fmla="*/ 665 h 665"/>
                <a:gd name="T2" fmla="*/ 879 w 1382"/>
                <a:gd name="T3" fmla="*/ 133 h 665"/>
                <a:gd name="T4" fmla="*/ 430 w 1382"/>
                <a:gd name="T5" fmla="*/ 0 h 665"/>
                <a:gd name="T6" fmla="*/ 0 w 1382"/>
                <a:gd name="T7" fmla="*/ 79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2" h="665">
                  <a:moveTo>
                    <a:pt x="1382" y="665"/>
                  </a:moveTo>
                  <a:lnTo>
                    <a:pt x="879" y="133"/>
                  </a:lnTo>
                  <a:lnTo>
                    <a:pt x="430" y="0"/>
                  </a:lnTo>
                  <a:lnTo>
                    <a:pt x="0" y="79"/>
                  </a:lnTo>
                </a:path>
              </a:pathLst>
            </a:custGeom>
            <a:noFill/>
            <a:ln w="26988" cap="flat">
              <a:solidFill>
                <a:srgbClr val="00A79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5DD3EB56-8A98-6E62-9A1E-9DF8B1F6CF8D}"/>
                </a:ext>
              </a:extLst>
            </p:cNvPr>
            <p:cNvSpPr>
              <a:spLocks noChangeShapeType="1"/>
            </p:cNvSpPr>
            <p:nvPr/>
          </p:nvSpPr>
          <p:spPr>
            <a:xfrm flipV="1">
              <a:off x="3326" y="1183"/>
              <a:ext cx="85" cy="665"/>
            </a:xfrm>
            <a:prstGeom prst="line">
              <a:avLst/>
            </a:prstGeom>
            <a:noFill/>
            <a:ln w="26988" cap="flat">
              <a:solidFill>
                <a:srgbClr val="00A79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0046FFA2-464C-5BF9-68DA-5A7637D73BAF}"/>
                </a:ext>
              </a:extLst>
            </p:cNvPr>
            <p:cNvSpPr/>
            <p:nvPr/>
          </p:nvSpPr>
          <p:spPr>
            <a:xfrm>
              <a:off x="4002" y="1443"/>
              <a:ext cx="797" cy="654"/>
            </a:xfrm>
            <a:custGeom>
              <a:avLst/>
              <a:gdLst>
                <a:gd name="T0" fmla="*/ 797 w 797"/>
                <a:gd name="T1" fmla="*/ 366 h 654"/>
                <a:gd name="T2" fmla="*/ 249 w 797"/>
                <a:gd name="T3" fmla="*/ 654 h 654"/>
                <a:gd name="T4" fmla="*/ 0 w 797"/>
                <a:gd name="T5" fmla="*/ 0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97" h="654">
                  <a:moveTo>
                    <a:pt x="797" y="366"/>
                  </a:moveTo>
                  <a:lnTo>
                    <a:pt x="249" y="654"/>
                  </a:lnTo>
                  <a:lnTo>
                    <a:pt x="0" y="0"/>
                  </a:lnTo>
                </a:path>
              </a:pathLst>
            </a:custGeom>
            <a:noFill/>
            <a:ln w="26988" cap="flat">
              <a:solidFill>
                <a:srgbClr val="00A79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698DE3AC-0271-533F-4EC0-1DC306CE65D8}"/>
                </a:ext>
              </a:extLst>
            </p:cNvPr>
            <p:cNvSpPr>
              <a:spLocks noChangeShapeType="1"/>
            </p:cNvSpPr>
            <p:nvPr/>
          </p:nvSpPr>
          <p:spPr>
            <a:xfrm>
              <a:off x="3457" y="2378"/>
              <a:ext cx="584" cy="442"/>
            </a:xfrm>
            <a:prstGeom prst="line">
              <a:avLst/>
            </a:prstGeom>
            <a:noFill/>
            <a:ln w="26988" cap="flat">
              <a:solidFill>
                <a:srgbClr val="00A79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EC8EBB3D-8BDE-934D-6D8B-7263AE1B9FE3}"/>
                </a:ext>
              </a:extLst>
            </p:cNvPr>
            <p:cNvSpPr>
              <a:spLocks noChangeShapeType="1"/>
            </p:cNvSpPr>
            <p:nvPr/>
          </p:nvSpPr>
          <p:spPr>
            <a:xfrm flipH="1">
              <a:off x="4049" y="2311"/>
              <a:ext cx="355" cy="498"/>
            </a:xfrm>
            <a:prstGeom prst="line">
              <a:avLst/>
            </a:prstGeom>
            <a:noFill/>
            <a:ln w="26988" cap="flat">
              <a:solidFill>
                <a:srgbClr val="00A79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A7B8E4E1-806D-E22C-C263-49C19625FCFE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068" y="2708"/>
              <a:ext cx="159" cy="161"/>
            </a:xfrm>
            <a:prstGeom prst="ellipse">
              <a:avLst/>
            </a:prstGeom>
            <a:solidFill>
              <a:srgbClr val="62A0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B2BB8A54-7C13-67C1-725C-3D151B729B43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946" y="2708"/>
              <a:ext cx="204" cy="202"/>
            </a:xfrm>
            <a:prstGeom prst="ellipse">
              <a:avLst/>
            </a:prstGeom>
            <a:solidFill>
              <a:srgbClr val="9B00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29C17CE0-61A2-C93A-2DC3-277A2CD18EDC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4554" y="2513"/>
              <a:ext cx="131" cy="131"/>
            </a:xfrm>
            <a:prstGeom prst="ellipse">
              <a:avLst/>
            </a:prstGeom>
            <a:solidFill>
              <a:srgbClr val="6194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Oval 29">
              <a:extLst>
                <a:ext uri="{FF2B5EF4-FFF2-40B4-BE49-F238E27FC236}">
                  <a16:creationId xmlns:a16="http://schemas.microsoft.com/office/drawing/2014/main" id="{68A42E79-1C0F-C5DD-A867-2AD02A431EBF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4189" y="2024"/>
              <a:ext cx="127" cy="126"/>
            </a:xfrm>
            <a:prstGeom prst="ellipse">
              <a:avLst/>
            </a:prstGeom>
            <a:solidFill>
              <a:srgbClr val="FF83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Oval 30">
              <a:extLst>
                <a:ext uri="{FF2B5EF4-FFF2-40B4-BE49-F238E27FC236}">
                  <a16:creationId xmlns:a16="http://schemas.microsoft.com/office/drawing/2014/main" id="{771558A8-8977-F070-00FC-79F3F8CF4D68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822" y="2043"/>
              <a:ext cx="124" cy="127"/>
            </a:xfrm>
            <a:prstGeom prst="ellipse">
              <a:avLst/>
            </a:prstGeom>
            <a:solidFill>
              <a:srgbClr val="F7AF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Oval 31">
              <a:extLst>
                <a:ext uri="{FF2B5EF4-FFF2-40B4-BE49-F238E27FC236}">
                  <a16:creationId xmlns:a16="http://schemas.microsoft.com/office/drawing/2014/main" id="{40F03DB6-8CC8-49D5-D0FD-5AB50597B2DE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936" y="1352"/>
              <a:ext cx="219" cy="219"/>
            </a:xfrm>
            <a:prstGeom prst="ellipse">
              <a:avLst/>
            </a:prstGeom>
            <a:solidFill>
              <a:srgbClr val="86C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Oval 32">
              <a:extLst>
                <a:ext uri="{FF2B5EF4-FFF2-40B4-BE49-F238E27FC236}">
                  <a16:creationId xmlns:a16="http://schemas.microsoft.com/office/drawing/2014/main" id="{DE1252A7-8F01-9EEA-FFDD-E07CC91D9B39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4778" y="1713"/>
              <a:ext cx="178" cy="178"/>
            </a:xfrm>
            <a:prstGeom prst="ellipse">
              <a:avLst/>
            </a:prstGeom>
            <a:solidFill>
              <a:srgbClr val="62A0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Oval 33">
              <a:extLst>
                <a:ext uri="{FF2B5EF4-FFF2-40B4-BE49-F238E27FC236}">
                  <a16:creationId xmlns:a16="http://schemas.microsoft.com/office/drawing/2014/main" id="{6BFB1831-7C94-6062-09EA-302B7B55B582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4601" y="960"/>
              <a:ext cx="140" cy="137"/>
            </a:xfrm>
            <a:prstGeom prst="ellipse">
              <a:avLst/>
            </a:prstGeom>
            <a:solidFill>
              <a:srgbClr val="B40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Oval 34">
              <a:extLst>
                <a:ext uri="{FF2B5EF4-FFF2-40B4-BE49-F238E27FC236}">
                  <a16:creationId xmlns:a16="http://schemas.microsoft.com/office/drawing/2014/main" id="{F0D60F67-3BD7-2DDC-D04C-22B27949B642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4299" y="355"/>
              <a:ext cx="105" cy="103"/>
            </a:xfrm>
            <a:prstGeom prst="ellipse">
              <a:avLst/>
            </a:prstGeom>
            <a:solidFill>
              <a:srgbClr val="62A0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Oval 35">
              <a:extLst>
                <a:ext uri="{FF2B5EF4-FFF2-40B4-BE49-F238E27FC236}">
                  <a16:creationId xmlns:a16="http://schemas.microsoft.com/office/drawing/2014/main" id="{FC537968-79A9-5061-C955-3273B59ACDDC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4103" y="666"/>
              <a:ext cx="112" cy="109"/>
            </a:xfrm>
            <a:prstGeom prst="ellipse">
              <a:avLst/>
            </a:prstGeom>
            <a:solidFill>
              <a:srgbClr val="CB8F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Oval 36">
              <a:extLst>
                <a:ext uri="{FF2B5EF4-FFF2-40B4-BE49-F238E27FC236}">
                  <a16:creationId xmlns:a16="http://schemas.microsoft.com/office/drawing/2014/main" id="{A498D789-83E4-F246-B0D1-863013D17725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431" y="310"/>
              <a:ext cx="139" cy="139"/>
            </a:xfrm>
            <a:prstGeom prst="ellipse">
              <a:avLst/>
            </a:prstGeom>
            <a:solidFill>
              <a:srgbClr val="CB8F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Oval 37">
              <a:extLst>
                <a:ext uri="{FF2B5EF4-FFF2-40B4-BE49-F238E27FC236}">
                  <a16:creationId xmlns:a16="http://schemas.microsoft.com/office/drawing/2014/main" id="{C6591C33-9FB4-A56F-AAD5-DD83218FB788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852" y="205"/>
              <a:ext cx="150" cy="150"/>
            </a:xfrm>
            <a:prstGeom prst="ellipse">
              <a:avLst/>
            </a:prstGeom>
            <a:solidFill>
              <a:srgbClr val="B40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Oval 38">
              <a:extLst>
                <a:ext uri="{FF2B5EF4-FFF2-40B4-BE49-F238E27FC236}">
                  <a16:creationId xmlns:a16="http://schemas.microsoft.com/office/drawing/2014/main" id="{99939524-191B-017C-C4C1-65A13C41C9B8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742" y="722"/>
              <a:ext cx="142" cy="141"/>
            </a:xfrm>
            <a:prstGeom prst="ellipse">
              <a:avLst/>
            </a:prstGeom>
            <a:solidFill>
              <a:srgbClr val="FF83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Oval 39">
              <a:extLst>
                <a:ext uri="{FF2B5EF4-FFF2-40B4-BE49-F238E27FC236}">
                  <a16:creationId xmlns:a16="http://schemas.microsoft.com/office/drawing/2014/main" id="{036AA7B9-A9B6-9DA8-20AC-405533775260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326" y="1121"/>
              <a:ext cx="150" cy="150"/>
            </a:xfrm>
            <a:prstGeom prst="ellipse">
              <a:avLst/>
            </a:prstGeom>
            <a:solidFill>
              <a:srgbClr val="62A0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Oval 40">
              <a:extLst>
                <a:ext uri="{FF2B5EF4-FFF2-40B4-BE49-F238E27FC236}">
                  <a16:creationId xmlns:a16="http://schemas.microsoft.com/office/drawing/2014/main" id="{22E5650A-D04C-17EE-4C64-15C6B8145E0B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742" y="1299"/>
              <a:ext cx="103" cy="103"/>
            </a:xfrm>
            <a:prstGeom prst="ellipse">
              <a:avLst/>
            </a:prstGeom>
            <a:solidFill>
              <a:srgbClr val="F7AF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Oval 41">
              <a:extLst>
                <a:ext uri="{FF2B5EF4-FFF2-40B4-BE49-F238E27FC236}">
                  <a16:creationId xmlns:a16="http://schemas.microsoft.com/office/drawing/2014/main" id="{4EB503E4-B2F6-1DC9-C7A6-7D1D1563CE62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697" y="1556"/>
              <a:ext cx="97" cy="99"/>
            </a:xfrm>
            <a:prstGeom prst="ellipse">
              <a:avLst/>
            </a:prstGeom>
            <a:solidFill>
              <a:srgbClr val="CB8F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Oval 42">
              <a:extLst>
                <a:ext uri="{FF2B5EF4-FFF2-40B4-BE49-F238E27FC236}">
                  <a16:creationId xmlns:a16="http://schemas.microsoft.com/office/drawing/2014/main" id="{C0A0FC9A-BACC-028A-B4F0-3D5258671B78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596" y="2026"/>
              <a:ext cx="146" cy="148"/>
            </a:xfrm>
            <a:prstGeom prst="ellipse">
              <a:avLst/>
            </a:prstGeom>
            <a:solidFill>
              <a:srgbClr val="B40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97830F53-2B15-B1CA-C437-1A0A64508596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2993" y="2408"/>
              <a:ext cx="113" cy="116"/>
            </a:xfrm>
            <a:prstGeom prst="ellipse">
              <a:avLst/>
            </a:prstGeom>
            <a:solidFill>
              <a:srgbClr val="F7AF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D350D0AC-3E4D-01A0-60DA-B6627B99C0DE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2881" y="2043"/>
              <a:ext cx="112" cy="112"/>
            </a:xfrm>
            <a:prstGeom prst="ellipse">
              <a:avLst/>
            </a:prstGeom>
            <a:solidFill>
              <a:srgbClr val="B40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D82ABB91-C5D0-8C30-E14A-DD1720F7E92D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291" y="1779"/>
              <a:ext cx="110" cy="110"/>
            </a:xfrm>
            <a:prstGeom prst="ellipse">
              <a:avLst/>
            </a:prstGeom>
            <a:solidFill>
              <a:srgbClr val="F7AF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90E8E04F-8C22-473D-68F7-0A512DF45412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2724" y="1432"/>
              <a:ext cx="170" cy="169"/>
            </a:xfrm>
            <a:prstGeom prst="ellipse">
              <a:avLst/>
            </a:prstGeom>
            <a:solidFill>
              <a:srgbClr val="62A0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Oval 47">
              <a:extLst>
                <a:ext uri="{FF2B5EF4-FFF2-40B4-BE49-F238E27FC236}">
                  <a16:creationId xmlns:a16="http://schemas.microsoft.com/office/drawing/2014/main" id="{37A2DEB2-EDAE-4866-0BE8-6C8A8994DE6B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2780" y="878"/>
              <a:ext cx="122" cy="123"/>
            </a:xfrm>
            <a:prstGeom prst="ellipse">
              <a:avLst/>
            </a:prstGeom>
            <a:solidFill>
              <a:srgbClr val="F7AF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Oval 48">
              <a:extLst>
                <a:ext uri="{FF2B5EF4-FFF2-40B4-BE49-F238E27FC236}">
                  <a16:creationId xmlns:a16="http://schemas.microsoft.com/office/drawing/2014/main" id="{2F396891-B44E-D80F-5FFB-16D0C5D35877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089" y="617"/>
              <a:ext cx="105" cy="105"/>
            </a:xfrm>
            <a:prstGeom prst="ellipse">
              <a:avLst/>
            </a:prstGeom>
            <a:solidFill>
              <a:srgbClr val="B40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Oval 49">
              <a:extLst>
                <a:ext uri="{FF2B5EF4-FFF2-40B4-BE49-F238E27FC236}">
                  <a16:creationId xmlns:a16="http://schemas.microsoft.com/office/drawing/2014/main" id="{F06D1A23-0A49-C2FB-C0B7-DF320B15D9E7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4810" y="881"/>
              <a:ext cx="94" cy="94"/>
            </a:xfrm>
            <a:prstGeom prst="ellipse">
              <a:avLst/>
            </a:prstGeom>
            <a:solidFill>
              <a:srgbClr val="CB8F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Oval 50">
              <a:extLst>
                <a:ext uri="{FF2B5EF4-FFF2-40B4-BE49-F238E27FC236}">
                  <a16:creationId xmlns:a16="http://schemas.microsoft.com/office/drawing/2014/main" id="{FE976038-CC4B-024E-0E25-37A6CDF1B7C6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326" y="3126"/>
              <a:ext cx="85" cy="86"/>
            </a:xfrm>
            <a:prstGeom prst="ellipse">
              <a:avLst/>
            </a:prstGeom>
            <a:solidFill>
              <a:srgbClr val="F7AF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Oval 51">
              <a:extLst>
                <a:ext uri="{FF2B5EF4-FFF2-40B4-BE49-F238E27FC236}">
                  <a16:creationId xmlns:a16="http://schemas.microsoft.com/office/drawing/2014/main" id="{5D4D345B-3B99-ECDF-5148-F475CCFE7AA9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4266" y="3178"/>
              <a:ext cx="95" cy="94"/>
            </a:xfrm>
            <a:prstGeom prst="ellipse">
              <a:avLst/>
            </a:prstGeom>
            <a:solidFill>
              <a:srgbClr val="FF83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4" name="Freeform 20">
            <a:extLst>
              <a:ext uri="{FF2B5EF4-FFF2-40B4-BE49-F238E27FC236}">
                <a16:creationId xmlns:a16="http://schemas.microsoft.com/office/drawing/2014/main" id="{FA5EAED9-9B49-A6DA-E143-5FF9B5FDBD38}"/>
              </a:ext>
            </a:extLst>
          </p:cNvPr>
          <p:cNvSpPr>
            <a:spLocks noEditPoints="1"/>
          </p:cNvSpPr>
          <p:nvPr/>
        </p:nvSpPr>
        <p:spPr>
          <a:xfrm>
            <a:off x="4395788" y="4379914"/>
            <a:ext cx="355600" cy="349250"/>
          </a:xfrm>
          <a:custGeom>
            <a:avLst/>
            <a:gdLst>
              <a:gd name="T0" fmla="*/ 28 w 56"/>
              <a:gd name="T1" fmla="*/ 0 h 55"/>
              <a:gd name="T2" fmla="*/ 0 w 56"/>
              <a:gd name="T3" fmla="*/ 28 h 55"/>
              <a:gd name="T4" fmla="*/ 28 w 56"/>
              <a:gd name="T5" fmla="*/ 55 h 55"/>
              <a:gd name="T6" fmla="*/ 56 w 56"/>
              <a:gd name="T7" fmla="*/ 28 h 55"/>
              <a:gd name="T8" fmla="*/ 28 w 56"/>
              <a:gd name="T9" fmla="*/ 0 h 55"/>
              <a:gd name="T10" fmla="*/ 46 w 56"/>
              <a:gd name="T11" fmla="*/ 32 h 55"/>
              <a:gd name="T12" fmla="*/ 32 w 56"/>
              <a:gd name="T13" fmla="*/ 32 h 55"/>
              <a:gd name="T14" fmla="*/ 32 w 56"/>
              <a:gd name="T15" fmla="*/ 46 h 55"/>
              <a:gd name="T16" fmla="*/ 24 w 56"/>
              <a:gd name="T17" fmla="*/ 46 h 55"/>
              <a:gd name="T18" fmla="*/ 24 w 56"/>
              <a:gd name="T19" fmla="*/ 32 h 55"/>
              <a:gd name="T20" fmla="*/ 9 w 56"/>
              <a:gd name="T21" fmla="*/ 32 h 55"/>
              <a:gd name="T22" fmla="*/ 9 w 56"/>
              <a:gd name="T23" fmla="*/ 24 h 55"/>
              <a:gd name="T24" fmla="*/ 24 w 56"/>
              <a:gd name="T25" fmla="*/ 24 h 55"/>
              <a:gd name="T26" fmla="*/ 24 w 56"/>
              <a:gd name="T27" fmla="*/ 9 h 55"/>
              <a:gd name="T28" fmla="*/ 32 w 56"/>
              <a:gd name="T29" fmla="*/ 9 h 55"/>
              <a:gd name="T30" fmla="*/ 32 w 56"/>
              <a:gd name="T31" fmla="*/ 24 h 55"/>
              <a:gd name="T32" fmla="*/ 46 w 56"/>
              <a:gd name="T33" fmla="*/ 24 h 55"/>
              <a:gd name="T34" fmla="*/ 46 w 56"/>
              <a:gd name="T35" fmla="*/ 32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6" h="55">
                <a:moveTo>
                  <a:pt x="28" y="0"/>
                </a:moveTo>
                <a:cubicBezTo>
                  <a:pt x="12" y="0"/>
                  <a:pt x="0" y="12"/>
                  <a:pt x="0" y="28"/>
                </a:cubicBezTo>
                <a:cubicBezTo>
                  <a:pt x="0" y="43"/>
                  <a:pt x="12" y="55"/>
                  <a:pt x="28" y="55"/>
                </a:cubicBezTo>
                <a:cubicBezTo>
                  <a:pt x="43" y="55"/>
                  <a:pt x="56" y="43"/>
                  <a:pt x="56" y="28"/>
                </a:cubicBezTo>
                <a:cubicBezTo>
                  <a:pt x="56" y="12"/>
                  <a:pt x="43" y="0"/>
                  <a:pt x="28" y="0"/>
                </a:cubicBezTo>
                <a:close/>
                <a:moveTo>
                  <a:pt x="46" y="32"/>
                </a:moveTo>
                <a:cubicBezTo>
                  <a:pt x="32" y="32"/>
                  <a:pt x="32" y="32"/>
                  <a:pt x="32" y="32"/>
                </a:cubicBezTo>
                <a:cubicBezTo>
                  <a:pt x="32" y="46"/>
                  <a:pt x="32" y="46"/>
                  <a:pt x="32" y="46"/>
                </a:cubicBezTo>
                <a:cubicBezTo>
                  <a:pt x="24" y="46"/>
                  <a:pt x="24" y="46"/>
                  <a:pt x="24" y="46"/>
                </a:cubicBezTo>
                <a:cubicBezTo>
                  <a:pt x="24" y="32"/>
                  <a:pt x="24" y="32"/>
                  <a:pt x="24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24"/>
                  <a:pt x="9" y="24"/>
                  <a:pt x="9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"/>
                  <a:pt x="24" y="9"/>
                  <a:pt x="24" y="9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24"/>
                  <a:pt x="32" y="24"/>
                  <a:pt x="32" y="24"/>
                </a:cubicBezTo>
                <a:cubicBezTo>
                  <a:pt x="46" y="24"/>
                  <a:pt x="46" y="24"/>
                  <a:pt x="46" y="24"/>
                </a:cubicBezTo>
                <a:lnTo>
                  <a:pt x="46" y="32"/>
                </a:lnTo>
                <a:close/>
              </a:path>
            </a:pathLst>
          </a:custGeom>
          <a:solidFill>
            <a:srgbClr val="4245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20">
            <a:extLst>
              <a:ext uri="{FF2B5EF4-FFF2-40B4-BE49-F238E27FC236}">
                <a16:creationId xmlns:a16="http://schemas.microsoft.com/office/drawing/2014/main" id="{C05A9F2A-1FAE-270C-8647-18A55CA9511D}"/>
              </a:ext>
            </a:extLst>
          </p:cNvPr>
          <p:cNvSpPr>
            <a:spLocks noEditPoints="1"/>
          </p:cNvSpPr>
          <p:nvPr/>
        </p:nvSpPr>
        <p:spPr>
          <a:xfrm>
            <a:off x="3986213" y="2421810"/>
            <a:ext cx="355600" cy="349250"/>
          </a:xfrm>
          <a:custGeom>
            <a:avLst/>
            <a:gdLst>
              <a:gd name="T0" fmla="*/ 28 w 56"/>
              <a:gd name="T1" fmla="*/ 0 h 55"/>
              <a:gd name="T2" fmla="*/ 0 w 56"/>
              <a:gd name="T3" fmla="*/ 28 h 55"/>
              <a:gd name="T4" fmla="*/ 28 w 56"/>
              <a:gd name="T5" fmla="*/ 55 h 55"/>
              <a:gd name="T6" fmla="*/ 56 w 56"/>
              <a:gd name="T7" fmla="*/ 28 h 55"/>
              <a:gd name="T8" fmla="*/ 28 w 56"/>
              <a:gd name="T9" fmla="*/ 0 h 55"/>
              <a:gd name="T10" fmla="*/ 46 w 56"/>
              <a:gd name="T11" fmla="*/ 32 h 55"/>
              <a:gd name="T12" fmla="*/ 32 w 56"/>
              <a:gd name="T13" fmla="*/ 32 h 55"/>
              <a:gd name="T14" fmla="*/ 32 w 56"/>
              <a:gd name="T15" fmla="*/ 46 h 55"/>
              <a:gd name="T16" fmla="*/ 24 w 56"/>
              <a:gd name="T17" fmla="*/ 46 h 55"/>
              <a:gd name="T18" fmla="*/ 24 w 56"/>
              <a:gd name="T19" fmla="*/ 32 h 55"/>
              <a:gd name="T20" fmla="*/ 9 w 56"/>
              <a:gd name="T21" fmla="*/ 32 h 55"/>
              <a:gd name="T22" fmla="*/ 9 w 56"/>
              <a:gd name="T23" fmla="*/ 24 h 55"/>
              <a:gd name="T24" fmla="*/ 24 w 56"/>
              <a:gd name="T25" fmla="*/ 24 h 55"/>
              <a:gd name="T26" fmla="*/ 24 w 56"/>
              <a:gd name="T27" fmla="*/ 9 h 55"/>
              <a:gd name="T28" fmla="*/ 32 w 56"/>
              <a:gd name="T29" fmla="*/ 9 h 55"/>
              <a:gd name="T30" fmla="*/ 32 w 56"/>
              <a:gd name="T31" fmla="*/ 24 h 55"/>
              <a:gd name="T32" fmla="*/ 46 w 56"/>
              <a:gd name="T33" fmla="*/ 24 h 55"/>
              <a:gd name="T34" fmla="*/ 46 w 56"/>
              <a:gd name="T35" fmla="*/ 32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6" h="55">
                <a:moveTo>
                  <a:pt x="28" y="0"/>
                </a:moveTo>
                <a:cubicBezTo>
                  <a:pt x="12" y="0"/>
                  <a:pt x="0" y="12"/>
                  <a:pt x="0" y="28"/>
                </a:cubicBezTo>
                <a:cubicBezTo>
                  <a:pt x="0" y="43"/>
                  <a:pt x="12" y="55"/>
                  <a:pt x="28" y="55"/>
                </a:cubicBezTo>
                <a:cubicBezTo>
                  <a:pt x="43" y="55"/>
                  <a:pt x="56" y="43"/>
                  <a:pt x="56" y="28"/>
                </a:cubicBezTo>
                <a:cubicBezTo>
                  <a:pt x="56" y="12"/>
                  <a:pt x="43" y="0"/>
                  <a:pt x="28" y="0"/>
                </a:cubicBezTo>
                <a:close/>
                <a:moveTo>
                  <a:pt x="46" y="32"/>
                </a:moveTo>
                <a:cubicBezTo>
                  <a:pt x="32" y="32"/>
                  <a:pt x="32" y="32"/>
                  <a:pt x="32" y="32"/>
                </a:cubicBezTo>
                <a:cubicBezTo>
                  <a:pt x="32" y="46"/>
                  <a:pt x="32" y="46"/>
                  <a:pt x="32" y="46"/>
                </a:cubicBezTo>
                <a:cubicBezTo>
                  <a:pt x="24" y="46"/>
                  <a:pt x="24" y="46"/>
                  <a:pt x="24" y="46"/>
                </a:cubicBezTo>
                <a:cubicBezTo>
                  <a:pt x="24" y="32"/>
                  <a:pt x="24" y="32"/>
                  <a:pt x="24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24"/>
                  <a:pt x="9" y="24"/>
                  <a:pt x="9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"/>
                  <a:pt x="24" y="9"/>
                  <a:pt x="24" y="9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24"/>
                  <a:pt x="32" y="24"/>
                  <a:pt x="32" y="24"/>
                </a:cubicBezTo>
                <a:cubicBezTo>
                  <a:pt x="46" y="24"/>
                  <a:pt x="46" y="24"/>
                  <a:pt x="46" y="24"/>
                </a:cubicBezTo>
                <a:lnTo>
                  <a:pt x="46" y="32"/>
                </a:lnTo>
                <a:close/>
              </a:path>
            </a:pathLst>
          </a:custGeom>
          <a:solidFill>
            <a:srgbClr val="4245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Freeform 20">
            <a:extLst>
              <a:ext uri="{FF2B5EF4-FFF2-40B4-BE49-F238E27FC236}">
                <a16:creationId xmlns:a16="http://schemas.microsoft.com/office/drawing/2014/main" id="{F3A571C0-3A71-02A5-5C05-06F6A96A3989}"/>
              </a:ext>
            </a:extLst>
          </p:cNvPr>
          <p:cNvSpPr>
            <a:spLocks noEditPoints="1"/>
          </p:cNvSpPr>
          <p:nvPr/>
        </p:nvSpPr>
        <p:spPr>
          <a:xfrm>
            <a:off x="7896048" y="2968575"/>
            <a:ext cx="355600" cy="349250"/>
          </a:xfrm>
          <a:custGeom>
            <a:avLst/>
            <a:gdLst>
              <a:gd name="T0" fmla="*/ 28 w 56"/>
              <a:gd name="T1" fmla="*/ 0 h 55"/>
              <a:gd name="T2" fmla="*/ 0 w 56"/>
              <a:gd name="T3" fmla="*/ 28 h 55"/>
              <a:gd name="T4" fmla="*/ 28 w 56"/>
              <a:gd name="T5" fmla="*/ 55 h 55"/>
              <a:gd name="T6" fmla="*/ 56 w 56"/>
              <a:gd name="T7" fmla="*/ 28 h 55"/>
              <a:gd name="T8" fmla="*/ 28 w 56"/>
              <a:gd name="T9" fmla="*/ 0 h 55"/>
              <a:gd name="T10" fmla="*/ 46 w 56"/>
              <a:gd name="T11" fmla="*/ 32 h 55"/>
              <a:gd name="T12" fmla="*/ 32 w 56"/>
              <a:gd name="T13" fmla="*/ 32 h 55"/>
              <a:gd name="T14" fmla="*/ 32 w 56"/>
              <a:gd name="T15" fmla="*/ 46 h 55"/>
              <a:gd name="T16" fmla="*/ 24 w 56"/>
              <a:gd name="T17" fmla="*/ 46 h 55"/>
              <a:gd name="T18" fmla="*/ 24 w 56"/>
              <a:gd name="T19" fmla="*/ 32 h 55"/>
              <a:gd name="T20" fmla="*/ 9 w 56"/>
              <a:gd name="T21" fmla="*/ 32 h 55"/>
              <a:gd name="T22" fmla="*/ 9 w 56"/>
              <a:gd name="T23" fmla="*/ 24 h 55"/>
              <a:gd name="T24" fmla="*/ 24 w 56"/>
              <a:gd name="T25" fmla="*/ 24 h 55"/>
              <a:gd name="T26" fmla="*/ 24 w 56"/>
              <a:gd name="T27" fmla="*/ 9 h 55"/>
              <a:gd name="T28" fmla="*/ 32 w 56"/>
              <a:gd name="T29" fmla="*/ 9 h 55"/>
              <a:gd name="T30" fmla="*/ 32 w 56"/>
              <a:gd name="T31" fmla="*/ 24 h 55"/>
              <a:gd name="T32" fmla="*/ 46 w 56"/>
              <a:gd name="T33" fmla="*/ 24 h 55"/>
              <a:gd name="T34" fmla="*/ 46 w 56"/>
              <a:gd name="T35" fmla="*/ 32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6" h="55">
                <a:moveTo>
                  <a:pt x="28" y="0"/>
                </a:moveTo>
                <a:cubicBezTo>
                  <a:pt x="12" y="0"/>
                  <a:pt x="0" y="12"/>
                  <a:pt x="0" y="28"/>
                </a:cubicBezTo>
                <a:cubicBezTo>
                  <a:pt x="0" y="43"/>
                  <a:pt x="12" y="55"/>
                  <a:pt x="28" y="55"/>
                </a:cubicBezTo>
                <a:cubicBezTo>
                  <a:pt x="43" y="55"/>
                  <a:pt x="56" y="43"/>
                  <a:pt x="56" y="28"/>
                </a:cubicBezTo>
                <a:cubicBezTo>
                  <a:pt x="56" y="12"/>
                  <a:pt x="43" y="0"/>
                  <a:pt x="28" y="0"/>
                </a:cubicBezTo>
                <a:close/>
                <a:moveTo>
                  <a:pt x="46" y="32"/>
                </a:moveTo>
                <a:cubicBezTo>
                  <a:pt x="32" y="32"/>
                  <a:pt x="32" y="32"/>
                  <a:pt x="32" y="32"/>
                </a:cubicBezTo>
                <a:cubicBezTo>
                  <a:pt x="32" y="46"/>
                  <a:pt x="32" y="46"/>
                  <a:pt x="32" y="46"/>
                </a:cubicBezTo>
                <a:cubicBezTo>
                  <a:pt x="24" y="46"/>
                  <a:pt x="24" y="46"/>
                  <a:pt x="24" y="46"/>
                </a:cubicBezTo>
                <a:cubicBezTo>
                  <a:pt x="24" y="32"/>
                  <a:pt x="24" y="32"/>
                  <a:pt x="24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24"/>
                  <a:pt x="9" y="24"/>
                  <a:pt x="9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"/>
                  <a:pt x="24" y="9"/>
                  <a:pt x="24" y="9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24"/>
                  <a:pt x="32" y="24"/>
                  <a:pt x="32" y="24"/>
                </a:cubicBezTo>
                <a:cubicBezTo>
                  <a:pt x="46" y="24"/>
                  <a:pt x="46" y="24"/>
                  <a:pt x="46" y="24"/>
                </a:cubicBezTo>
                <a:lnTo>
                  <a:pt x="46" y="32"/>
                </a:lnTo>
                <a:close/>
              </a:path>
            </a:pathLst>
          </a:custGeom>
          <a:solidFill>
            <a:srgbClr val="4245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4DC091C-C415-A293-1EDF-0FE27C1745FB}"/>
              </a:ext>
            </a:extLst>
          </p:cNvPr>
          <p:cNvSpPr txBox="1"/>
          <p:nvPr/>
        </p:nvSpPr>
        <p:spPr>
          <a:xfrm>
            <a:off x="8350803" y="2859088"/>
            <a:ext cx="2507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485766"/>
                </a:solidFill>
              </a:rPr>
              <a:t>两个平台在易上手程度、界面清晰度和剪辑效率上是否存在明显差异？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FF65845-8631-1BF4-B078-055D3ACF4A8B}"/>
              </a:ext>
            </a:extLst>
          </p:cNvPr>
          <p:cNvSpPr txBox="1"/>
          <p:nvPr/>
        </p:nvSpPr>
        <p:spPr>
          <a:xfrm>
            <a:off x="1501965" y="2535377"/>
            <a:ext cx="2521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485766"/>
                </a:solidFill>
              </a:rPr>
              <a:t>用户更常使用剪映的移动端还是电脑端？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DF270A0-DF0D-6A1D-FEE5-1A8E8BA351DC}"/>
              </a:ext>
            </a:extLst>
          </p:cNvPr>
          <p:cNvSpPr txBox="1"/>
          <p:nvPr/>
        </p:nvSpPr>
        <p:spPr>
          <a:xfrm>
            <a:off x="1810046" y="4554539"/>
            <a:ext cx="24896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485766"/>
                </a:solidFill>
              </a:rPr>
              <a:t>不同的使用场景（如日常记录、</a:t>
            </a:r>
            <a:r>
              <a:rPr lang="en-US" altLang="zh-CN" sz="1600" dirty="0">
                <a:solidFill>
                  <a:srgbClr val="485766"/>
                </a:solidFill>
              </a:rPr>
              <a:t>Vlog</a:t>
            </a:r>
            <a:r>
              <a:rPr lang="zh-CN" altLang="en-US" sz="1600" dirty="0">
                <a:solidFill>
                  <a:srgbClr val="485766"/>
                </a:solidFill>
              </a:rPr>
              <a:t>、卡点视频、学习作业等）是否会影响用户的平台选择？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2E8FF2-A665-A2B2-EF17-4B46A353A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82" y="146755"/>
            <a:ext cx="6797674" cy="1325563"/>
          </a:xfrm>
        </p:spPr>
        <p:txBody>
          <a:bodyPr/>
          <a:lstStyle/>
          <a:p>
            <a:r>
              <a:rPr lang="zh-CN" altLang="en-US" b="1" dirty="0"/>
              <a:t>研究问题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E00D93-8E64-1E46-0691-85FA6D557232}"/>
              </a:ext>
            </a:extLst>
          </p:cNvPr>
          <p:cNvSpPr txBox="1"/>
          <p:nvPr/>
        </p:nvSpPr>
        <p:spPr>
          <a:xfrm>
            <a:off x="505065" y="1352312"/>
            <a:ext cx="60973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000" b="1" dirty="0"/>
              <a:t>本研究主要关注以下几个问题：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13D2B2E-DDE4-6F1E-F3AB-467B92EED565}"/>
              </a:ext>
            </a:extLst>
          </p:cNvPr>
          <p:cNvSpPr txBox="1"/>
          <p:nvPr/>
        </p:nvSpPr>
        <p:spPr>
          <a:xfrm>
            <a:off x="7710487" y="5162719"/>
            <a:ext cx="38659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通过对这些问题的分析，可以更好地理解不同平台在用户交互设计上的优势与不足。</a:t>
            </a:r>
          </a:p>
        </p:txBody>
      </p:sp>
    </p:spTree>
    <p:extLst>
      <p:ext uri="{BB962C8B-B14F-4D97-AF65-F5344CB8AC3E}">
        <p14:creationId xmlns:p14="http://schemas.microsoft.com/office/powerpoint/2010/main" val="397915979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椭圆 190"/>
          <p:cNvSpPr/>
          <p:nvPr/>
        </p:nvSpPr>
        <p:spPr>
          <a:xfrm>
            <a:off x="11423933" y="6069754"/>
            <a:ext cx="666737" cy="64149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/>
          </a:p>
        </p:txBody>
      </p:sp>
      <p:pic>
        <p:nvPicPr>
          <p:cNvPr id="190" name="图片 18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390525" y="6001260"/>
            <a:ext cx="666961" cy="666961"/>
          </a:xfrm>
          <a:prstGeom prst="rect">
            <a:avLst/>
          </a:prstGeom>
        </p:spPr>
      </p:pic>
      <p:grpSp>
        <p:nvGrpSpPr>
          <p:cNvPr id="396" name="组合"/>
          <p:cNvGrpSpPr/>
          <p:nvPr/>
        </p:nvGrpSpPr>
        <p:grpSpPr>
          <a:xfrm>
            <a:off x="6169898" y="816762"/>
            <a:ext cx="5864612" cy="5896469"/>
            <a:chOff x="4313838" y="-1037702"/>
            <a:chExt cx="6824356" cy="6861426"/>
          </a:xfrm>
        </p:grpSpPr>
        <p:sp>
          <p:nvSpPr>
            <p:cNvPr id="204" name="任意多边形 203"/>
            <p:cNvSpPr/>
            <p:nvPr/>
          </p:nvSpPr>
          <p:spPr>
            <a:xfrm>
              <a:off x="9226117" y="3869726"/>
              <a:ext cx="1910550" cy="1921107"/>
            </a:xfrm>
            <a:custGeom>
              <a:avLst/>
              <a:gdLst>
                <a:gd name="connsiteX0" fmla="*/ 2498424 w 2498424"/>
                <a:gd name="connsiteY0" fmla="*/ 0 h 2512229"/>
                <a:gd name="connsiteX1" fmla="*/ 2498424 w 2498424"/>
                <a:gd name="connsiteY1" fmla="*/ 1048901 h 2512229"/>
                <a:gd name="connsiteX2" fmla="*/ 2428258 w 2498424"/>
                <a:gd name="connsiteY2" fmla="*/ 1076567 h 2512229"/>
                <a:gd name="connsiteX3" fmla="*/ 2412217 w 2498424"/>
                <a:gd name="connsiteY3" fmla="*/ 1084295 h 2512229"/>
                <a:gd name="connsiteX4" fmla="*/ 2290557 w 2498424"/>
                <a:gd name="connsiteY4" fmla="*/ 1102862 h 2512229"/>
                <a:gd name="connsiteX5" fmla="*/ 1137683 w 2498424"/>
                <a:gd name="connsiteY5" fmla="*/ 2255736 h 2512229"/>
                <a:gd name="connsiteX6" fmla="*/ 1124792 w 2498424"/>
                <a:gd name="connsiteY6" fmla="*/ 2340205 h 2512229"/>
                <a:gd name="connsiteX7" fmla="*/ 1087772 w 2498424"/>
                <a:gd name="connsiteY7" fmla="*/ 2417053 h 2512229"/>
                <a:gd name="connsiteX8" fmla="*/ 1050245 w 2498424"/>
                <a:gd name="connsiteY8" fmla="*/ 2512229 h 2512229"/>
                <a:gd name="connsiteX9" fmla="*/ 0 w 2498424"/>
                <a:gd name="connsiteY9" fmla="*/ 2512229 h 2512229"/>
                <a:gd name="connsiteX10" fmla="*/ 3126 w 2498424"/>
                <a:gd name="connsiteY10" fmla="*/ 2388616 h 2512229"/>
                <a:gd name="connsiteX11" fmla="*/ 2388973 w 2498424"/>
                <a:gd name="connsiteY11" fmla="*/ 2767 h 251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98424" h="2512229">
                  <a:moveTo>
                    <a:pt x="2498424" y="0"/>
                  </a:moveTo>
                  <a:lnTo>
                    <a:pt x="2498424" y="1048901"/>
                  </a:lnTo>
                  <a:lnTo>
                    <a:pt x="2428258" y="1076567"/>
                  </a:lnTo>
                  <a:lnTo>
                    <a:pt x="2412217" y="1084295"/>
                  </a:lnTo>
                  <a:lnTo>
                    <a:pt x="2290557" y="1102862"/>
                  </a:lnTo>
                  <a:cubicBezTo>
                    <a:pt x="1711881" y="1221277"/>
                    <a:pt x="1256097" y="1677060"/>
                    <a:pt x="1137683" y="2255736"/>
                  </a:cubicBezTo>
                  <a:lnTo>
                    <a:pt x="1124792" y="2340205"/>
                  </a:lnTo>
                  <a:lnTo>
                    <a:pt x="1087772" y="2417053"/>
                  </a:lnTo>
                  <a:lnTo>
                    <a:pt x="1050245" y="2512229"/>
                  </a:lnTo>
                  <a:lnTo>
                    <a:pt x="0" y="2512229"/>
                  </a:lnTo>
                  <a:lnTo>
                    <a:pt x="3126" y="2388616"/>
                  </a:lnTo>
                  <a:cubicBezTo>
                    <a:pt x="68409" y="1100719"/>
                    <a:pt x="1101077" y="68051"/>
                    <a:pt x="2388973" y="2767"/>
                  </a:cubicBezTo>
                  <a:close/>
                </a:path>
              </a:pathLst>
            </a:custGeom>
            <a:solidFill>
              <a:srgbClr val="E98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任意多边形 206"/>
            <p:cNvSpPr/>
            <p:nvPr/>
          </p:nvSpPr>
          <p:spPr>
            <a:xfrm>
              <a:off x="4313838" y="-1037702"/>
              <a:ext cx="6823723" cy="6861426"/>
            </a:xfrm>
            <a:custGeom>
              <a:avLst/>
              <a:gdLst>
                <a:gd name="connsiteX0" fmla="*/ 6823723 w 6823723"/>
                <a:gd name="connsiteY0" fmla="*/ 0 h 6861426"/>
                <a:gd name="connsiteX1" fmla="*/ 6823723 w 6823723"/>
                <a:gd name="connsiteY1" fmla="*/ 2032745 h 6861426"/>
                <a:gd name="connsiteX2" fmla="*/ 6613592 w 6823723"/>
                <a:gd name="connsiteY2" fmla="*/ 2038058 h 6861426"/>
                <a:gd name="connsiteX3" fmla="*/ 2033083 w 6823723"/>
                <a:gd name="connsiteY3" fmla="*/ 6618569 h 6861426"/>
                <a:gd name="connsiteX4" fmla="*/ 2027082 w 6823723"/>
                <a:gd name="connsiteY4" fmla="*/ 6855889 h 6861426"/>
                <a:gd name="connsiteX5" fmla="*/ 2870624 w 6823723"/>
                <a:gd name="connsiteY5" fmla="*/ 6855889 h 6861426"/>
                <a:gd name="connsiteX6" fmla="*/ 2868441 w 6823723"/>
                <a:gd name="connsiteY6" fmla="*/ 6861426 h 6861426"/>
                <a:gd name="connsiteX7" fmla="*/ 0 w 6823723"/>
                <a:gd name="connsiteY7" fmla="*/ 6861426 h 6861426"/>
                <a:gd name="connsiteX8" fmla="*/ 8537 w 6823723"/>
                <a:gd name="connsiteY8" fmla="*/ 6523813 h 6861426"/>
                <a:gd name="connsiteX9" fmla="*/ 6524790 w 6823723"/>
                <a:gd name="connsiteY9" fmla="*/ 7558 h 686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23723" h="6861426">
                  <a:moveTo>
                    <a:pt x="6823723" y="0"/>
                  </a:moveTo>
                  <a:lnTo>
                    <a:pt x="6823723" y="2032745"/>
                  </a:lnTo>
                  <a:lnTo>
                    <a:pt x="6613592" y="2038058"/>
                  </a:lnTo>
                  <a:cubicBezTo>
                    <a:pt x="4141003" y="2163394"/>
                    <a:pt x="2158419" y="4145979"/>
                    <a:pt x="2033083" y="6618569"/>
                  </a:cubicBezTo>
                  <a:lnTo>
                    <a:pt x="2027082" y="6855889"/>
                  </a:lnTo>
                  <a:lnTo>
                    <a:pt x="2870624" y="6855889"/>
                  </a:lnTo>
                  <a:lnTo>
                    <a:pt x="2868441" y="6861426"/>
                  </a:lnTo>
                  <a:lnTo>
                    <a:pt x="0" y="6861426"/>
                  </a:lnTo>
                  <a:lnTo>
                    <a:pt x="8537" y="6523813"/>
                  </a:lnTo>
                  <a:cubicBezTo>
                    <a:pt x="186840" y="3006296"/>
                    <a:pt x="3007273" y="185862"/>
                    <a:pt x="6524790" y="7558"/>
                  </a:cubicBezTo>
                  <a:close/>
                </a:path>
              </a:pathLst>
            </a:custGeom>
            <a:solidFill>
              <a:srgbClr val="4857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任意多边形 207"/>
            <p:cNvSpPr/>
            <p:nvPr/>
          </p:nvSpPr>
          <p:spPr>
            <a:xfrm>
              <a:off x="6340920" y="995044"/>
              <a:ext cx="4796641" cy="4823145"/>
            </a:xfrm>
            <a:custGeom>
              <a:avLst/>
              <a:gdLst>
                <a:gd name="connsiteX0" fmla="*/ 4796641 w 4796641"/>
                <a:gd name="connsiteY0" fmla="*/ 0 h 4823144"/>
                <a:gd name="connsiteX1" fmla="*/ 4796641 w 4796641"/>
                <a:gd name="connsiteY1" fmla="*/ 1514232 h 4823144"/>
                <a:gd name="connsiteX2" fmla="*/ 4652647 w 4796641"/>
                <a:gd name="connsiteY2" fmla="*/ 1517873 h 4823144"/>
                <a:gd name="connsiteX3" fmla="*/ 1500020 w 4796641"/>
                <a:gd name="connsiteY3" fmla="*/ 4670501 h 4823144"/>
                <a:gd name="connsiteX4" fmla="*/ 1496160 w 4796641"/>
                <a:gd name="connsiteY4" fmla="*/ 4823144 h 4823144"/>
                <a:gd name="connsiteX5" fmla="*/ 0 w 4796641"/>
                <a:gd name="connsiteY5" fmla="*/ 4823144 h 4823144"/>
                <a:gd name="connsiteX6" fmla="*/ 6001 w 4796641"/>
                <a:gd name="connsiteY6" fmla="*/ 4585824 h 4823144"/>
                <a:gd name="connsiteX7" fmla="*/ 4586510 w 4796641"/>
                <a:gd name="connsiteY7" fmla="*/ 5313 h 4823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96641" h="4823144">
                  <a:moveTo>
                    <a:pt x="4796641" y="0"/>
                  </a:moveTo>
                  <a:lnTo>
                    <a:pt x="4796641" y="1514232"/>
                  </a:lnTo>
                  <a:lnTo>
                    <a:pt x="4652647" y="1517873"/>
                  </a:lnTo>
                  <a:cubicBezTo>
                    <a:pt x="2950838" y="1604138"/>
                    <a:pt x="1586284" y="2968692"/>
                    <a:pt x="1500020" y="4670501"/>
                  </a:cubicBezTo>
                  <a:lnTo>
                    <a:pt x="1496160" y="4823144"/>
                  </a:lnTo>
                  <a:lnTo>
                    <a:pt x="0" y="4823144"/>
                  </a:lnTo>
                  <a:lnTo>
                    <a:pt x="6001" y="4585824"/>
                  </a:lnTo>
                  <a:cubicBezTo>
                    <a:pt x="131337" y="2113234"/>
                    <a:pt x="2113921" y="130649"/>
                    <a:pt x="4586510" y="5313"/>
                  </a:cubicBezTo>
                  <a:close/>
                </a:path>
              </a:pathLst>
            </a:custGeom>
            <a:solidFill>
              <a:srgbClr val="74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任意多边形 208"/>
            <p:cNvSpPr/>
            <p:nvPr/>
          </p:nvSpPr>
          <p:spPr>
            <a:xfrm>
              <a:off x="7836809" y="2492098"/>
              <a:ext cx="3301385" cy="3319626"/>
            </a:xfrm>
            <a:custGeom>
              <a:avLst/>
              <a:gdLst>
                <a:gd name="connsiteX0" fmla="*/ 3301385 w 3301385"/>
                <a:gd name="connsiteY0" fmla="*/ 0 h 3319626"/>
                <a:gd name="connsiteX1" fmla="*/ 3301385 w 3301385"/>
                <a:gd name="connsiteY1" fmla="*/ 1386004 h 3319626"/>
                <a:gd name="connsiteX2" fmla="*/ 3284219 w 3301385"/>
                <a:gd name="connsiteY2" fmla="*/ 1392773 h 3319626"/>
                <a:gd name="connsiteX3" fmla="*/ 3216162 w 3301385"/>
                <a:gd name="connsiteY3" fmla="*/ 1394493 h 3319626"/>
                <a:gd name="connsiteX4" fmla="*/ 1391699 w 3301385"/>
                <a:gd name="connsiteY4" fmla="*/ 3218957 h 3319626"/>
                <a:gd name="connsiteX5" fmla="*/ 1389309 w 3301385"/>
                <a:gd name="connsiteY5" fmla="*/ 3313484 h 3319626"/>
                <a:gd name="connsiteX6" fmla="*/ 1390202 w 3301385"/>
                <a:gd name="connsiteY6" fmla="*/ 3313484 h 3319626"/>
                <a:gd name="connsiteX7" fmla="*/ 1387780 w 3301385"/>
                <a:gd name="connsiteY7" fmla="*/ 3319626 h 3319626"/>
                <a:gd name="connsiteX8" fmla="*/ 0 w 3301385"/>
                <a:gd name="connsiteY8" fmla="*/ 3319626 h 3319626"/>
                <a:gd name="connsiteX9" fmla="*/ 4131 w 3301385"/>
                <a:gd name="connsiteY9" fmla="*/ 3156285 h 3319626"/>
                <a:gd name="connsiteX10" fmla="*/ 3156758 w 3301385"/>
                <a:gd name="connsiteY10" fmla="*/ 3657 h 331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01385" h="3319626">
                  <a:moveTo>
                    <a:pt x="3301385" y="0"/>
                  </a:moveTo>
                  <a:lnTo>
                    <a:pt x="3301385" y="1386004"/>
                  </a:lnTo>
                  <a:lnTo>
                    <a:pt x="3284219" y="1392773"/>
                  </a:lnTo>
                  <a:lnTo>
                    <a:pt x="3216162" y="1394493"/>
                  </a:lnTo>
                  <a:cubicBezTo>
                    <a:pt x="2231305" y="1444416"/>
                    <a:pt x="1441622" y="2234099"/>
                    <a:pt x="1391699" y="3218957"/>
                  </a:cubicBezTo>
                  <a:lnTo>
                    <a:pt x="1389309" y="3313484"/>
                  </a:lnTo>
                  <a:lnTo>
                    <a:pt x="1390202" y="3313484"/>
                  </a:lnTo>
                  <a:lnTo>
                    <a:pt x="1387780" y="3319626"/>
                  </a:lnTo>
                  <a:lnTo>
                    <a:pt x="0" y="3319626"/>
                  </a:lnTo>
                  <a:lnTo>
                    <a:pt x="4131" y="3156285"/>
                  </a:lnTo>
                  <a:cubicBezTo>
                    <a:pt x="90395" y="1454476"/>
                    <a:pt x="1454949" y="89922"/>
                    <a:pt x="3156758" y="3657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97" name="图片 39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42293" y="6145572"/>
            <a:ext cx="517789" cy="579725"/>
          </a:xfrm>
          <a:prstGeom prst="rect">
            <a:avLst/>
          </a:prstGeom>
        </p:spPr>
      </p:pic>
      <p:pic>
        <p:nvPicPr>
          <p:cNvPr id="399" name="图片 39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30309" y="6145573"/>
            <a:ext cx="643853" cy="546764"/>
          </a:xfrm>
          <a:prstGeom prst="rect">
            <a:avLst/>
          </a:prstGeom>
        </p:spPr>
      </p:pic>
      <p:pic>
        <p:nvPicPr>
          <p:cNvPr id="400" name="图片 39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337348" y="6286067"/>
            <a:ext cx="999330" cy="418523"/>
          </a:xfrm>
          <a:prstGeom prst="rect">
            <a:avLst/>
          </a:prstGeom>
        </p:spPr>
      </p:pic>
      <p:grpSp>
        <p:nvGrpSpPr>
          <p:cNvPr id="403" name="组合"/>
          <p:cNvGrpSpPr/>
          <p:nvPr/>
        </p:nvGrpSpPr>
        <p:grpSpPr>
          <a:xfrm>
            <a:off x="10530617" y="6145573"/>
            <a:ext cx="527614" cy="552029"/>
            <a:chOff x="5289950" y="2184555"/>
            <a:chExt cx="1608750" cy="1683195"/>
          </a:xfrm>
        </p:grpSpPr>
        <p:pic>
          <p:nvPicPr>
            <p:cNvPr id="401" name="图片 400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5376000" y="2990250"/>
              <a:ext cx="1440000" cy="877500"/>
            </a:xfrm>
            <a:prstGeom prst="rect">
              <a:avLst/>
            </a:prstGeom>
          </p:spPr>
        </p:pic>
        <p:pic>
          <p:nvPicPr>
            <p:cNvPr id="402" name="图片 401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5289950" y="2184555"/>
              <a:ext cx="1608750" cy="720000"/>
            </a:xfrm>
            <a:prstGeom prst="rect">
              <a:avLst/>
            </a:prstGeom>
          </p:spPr>
        </p:pic>
      </p:grpSp>
      <p:cxnSp>
        <p:nvCxnSpPr>
          <p:cNvPr id="433" name="直接连接符 432"/>
          <p:cNvCxnSpPr/>
          <p:nvPr/>
        </p:nvCxnSpPr>
        <p:spPr>
          <a:xfrm>
            <a:off x="5721451" y="5152333"/>
            <a:ext cx="4203292" cy="0"/>
          </a:xfrm>
          <a:prstGeom prst="line">
            <a:avLst/>
          </a:prstGeom>
          <a:ln>
            <a:solidFill>
              <a:srgbClr val="516D82"/>
            </a:solidFill>
            <a:prstDash val="sys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接连接符 433"/>
          <p:cNvCxnSpPr/>
          <p:nvPr/>
        </p:nvCxnSpPr>
        <p:spPr>
          <a:xfrm flipH="1" flipV="1">
            <a:off x="4616398" y="4442751"/>
            <a:ext cx="1104975" cy="709582"/>
          </a:xfrm>
          <a:prstGeom prst="line">
            <a:avLst/>
          </a:prstGeom>
          <a:ln>
            <a:solidFill>
              <a:srgbClr val="516D82"/>
            </a:solidFill>
            <a:prstDash val="sys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直接连接符 435"/>
          <p:cNvCxnSpPr/>
          <p:nvPr/>
        </p:nvCxnSpPr>
        <p:spPr>
          <a:xfrm>
            <a:off x="5764758" y="4203826"/>
            <a:ext cx="3557842" cy="0"/>
          </a:xfrm>
          <a:prstGeom prst="line">
            <a:avLst/>
          </a:prstGeom>
          <a:ln>
            <a:solidFill>
              <a:srgbClr val="516D82"/>
            </a:solidFill>
            <a:prstDash val="sys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直接连接符 436"/>
          <p:cNvCxnSpPr/>
          <p:nvPr/>
        </p:nvCxnSpPr>
        <p:spPr>
          <a:xfrm flipH="1" flipV="1">
            <a:off x="4629730" y="3494244"/>
            <a:ext cx="1104976" cy="709582"/>
          </a:xfrm>
          <a:prstGeom prst="line">
            <a:avLst/>
          </a:prstGeom>
          <a:ln>
            <a:solidFill>
              <a:srgbClr val="516D82"/>
            </a:solidFill>
            <a:prstDash val="sys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直接连接符 439"/>
          <p:cNvCxnSpPr/>
          <p:nvPr/>
        </p:nvCxnSpPr>
        <p:spPr>
          <a:xfrm>
            <a:off x="5736199" y="6097892"/>
            <a:ext cx="5002507" cy="0"/>
          </a:xfrm>
          <a:prstGeom prst="line">
            <a:avLst/>
          </a:prstGeom>
          <a:ln>
            <a:solidFill>
              <a:srgbClr val="516D82"/>
            </a:solidFill>
            <a:prstDash val="sys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直接连接符 440"/>
          <p:cNvCxnSpPr/>
          <p:nvPr/>
        </p:nvCxnSpPr>
        <p:spPr>
          <a:xfrm flipH="1" flipV="1">
            <a:off x="4631224" y="5388310"/>
            <a:ext cx="1104976" cy="709582"/>
          </a:xfrm>
          <a:prstGeom prst="line">
            <a:avLst/>
          </a:prstGeom>
          <a:ln>
            <a:solidFill>
              <a:srgbClr val="516D82"/>
            </a:solidFill>
            <a:prstDash val="sys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直接连接符 444"/>
          <p:cNvCxnSpPr/>
          <p:nvPr/>
        </p:nvCxnSpPr>
        <p:spPr>
          <a:xfrm>
            <a:off x="5779506" y="3354234"/>
            <a:ext cx="1742003" cy="0"/>
          </a:xfrm>
          <a:prstGeom prst="line">
            <a:avLst/>
          </a:prstGeom>
          <a:ln>
            <a:solidFill>
              <a:srgbClr val="516D82"/>
            </a:solidFill>
            <a:prstDash val="sys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直接连接符 445"/>
          <p:cNvCxnSpPr/>
          <p:nvPr/>
        </p:nvCxnSpPr>
        <p:spPr>
          <a:xfrm flipH="1" flipV="1">
            <a:off x="4674530" y="2644652"/>
            <a:ext cx="1104976" cy="709582"/>
          </a:xfrm>
          <a:prstGeom prst="line">
            <a:avLst/>
          </a:prstGeom>
          <a:ln>
            <a:solidFill>
              <a:srgbClr val="516D82"/>
            </a:solidFill>
            <a:prstDash val="sys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6" name="组合"/>
          <p:cNvGrpSpPr/>
          <p:nvPr/>
        </p:nvGrpSpPr>
        <p:grpSpPr>
          <a:xfrm>
            <a:off x="4043376" y="2314649"/>
            <a:ext cx="576064" cy="576064"/>
            <a:chOff x="2915816" y="1254410"/>
            <a:chExt cx="576064" cy="576064"/>
          </a:xfrm>
        </p:grpSpPr>
        <p:sp>
          <p:nvSpPr>
            <p:cNvPr id="457" name="椭圆 456"/>
            <p:cNvSpPr/>
            <p:nvPr/>
          </p:nvSpPr>
          <p:spPr>
            <a:xfrm>
              <a:off x="2915816" y="1254410"/>
              <a:ext cx="576064" cy="576064"/>
            </a:xfrm>
            <a:prstGeom prst="ellipse">
              <a:avLst/>
            </a:prstGeom>
            <a:solidFill>
              <a:srgbClr val="74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yriad Pro Light" panose="020B0403030403020204" pitchFamily="34" charset="0"/>
              </a:endParaRPr>
            </a:p>
          </p:txBody>
        </p:sp>
        <p:sp>
          <p:nvSpPr>
            <p:cNvPr id="458" name="TextBox 6"/>
            <p:cNvSpPr txBox="1"/>
            <p:nvPr/>
          </p:nvSpPr>
          <p:spPr>
            <a:xfrm>
              <a:off x="3037880" y="1275606"/>
              <a:ext cx="288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>
                  <a:solidFill>
                    <a:schemeClr val="bg1"/>
                  </a:solidFill>
                  <a:latin typeface="Myriad Pro Light" panose="020B0403030403020204" pitchFamily="34" charset="0"/>
                </a:rPr>
                <a:t>1</a:t>
              </a:r>
              <a:endParaRPr lang="zh-CN" altLang="en-US" sz="2800" b="1">
                <a:solidFill>
                  <a:schemeClr val="bg1"/>
                </a:solidFill>
                <a:latin typeface="Myriad Pro Light" panose="020B0403030403020204" pitchFamily="34" charset="0"/>
              </a:endParaRPr>
            </a:p>
          </p:txBody>
        </p:sp>
      </p:grpSp>
      <p:grpSp>
        <p:nvGrpSpPr>
          <p:cNvPr id="459" name="组合"/>
          <p:cNvGrpSpPr/>
          <p:nvPr/>
        </p:nvGrpSpPr>
        <p:grpSpPr>
          <a:xfrm>
            <a:off x="996234" y="2199880"/>
            <a:ext cx="2975294" cy="643323"/>
            <a:chOff x="1392630" y="1347614"/>
            <a:chExt cx="2975294" cy="643323"/>
          </a:xfrm>
        </p:grpSpPr>
        <p:sp>
          <p:nvSpPr>
            <p:cNvPr id="460" name="TextBox 29"/>
            <p:cNvSpPr txBox="1"/>
            <p:nvPr/>
          </p:nvSpPr>
          <p:spPr>
            <a:xfrm>
              <a:off x="1392630" y="1652383"/>
              <a:ext cx="29752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常用平台（移动端</a:t>
              </a:r>
              <a:r>
                <a:rPr lang="en-US" altLang="zh-CN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/</a:t>
              </a:r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电脑端</a:t>
              </a:r>
              <a:r>
                <a:rPr lang="en-US" altLang="zh-CN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/</a:t>
              </a:r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两者）</a:t>
              </a:r>
            </a:p>
          </p:txBody>
        </p:sp>
        <p:sp>
          <p:nvSpPr>
            <p:cNvPr id="461" name="TextBox 30"/>
            <p:cNvSpPr txBox="1"/>
            <p:nvPr/>
          </p:nvSpPr>
          <p:spPr>
            <a:xfrm>
              <a:off x="2270533" y="1347614"/>
              <a:ext cx="2088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b="1" dirty="0">
                  <a:solidFill>
                    <a:srgbClr val="74CEC4"/>
                  </a:solidFill>
                  <a:latin typeface="Myriad Pro Light" panose="020B0403030403020204" pitchFamily="34" charset="0"/>
                  <a:ea typeface="微软雅黑" pitchFamily="34" charset="-122"/>
                </a:rPr>
                <a:t>用户使用偏好</a:t>
              </a:r>
            </a:p>
          </p:txBody>
        </p:sp>
      </p:grpSp>
      <p:grpSp>
        <p:nvGrpSpPr>
          <p:cNvPr id="462" name="组合"/>
          <p:cNvGrpSpPr/>
          <p:nvPr/>
        </p:nvGrpSpPr>
        <p:grpSpPr>
          <a:xfrm>
            <a:off x="1119696" y="3089424"/>
            <a:ext cx="2892268" cy="889544"/>
            <a:chOff x="1516092" y="1347614"/>
            <a:chExt cx="2892268" cy="889544"/>
          </a:xfrm>
        </p:grpSpPr>
        <p:sp>
          <p:nvSpPr>
            <p:cNvPr id="463" name="TextBox 29"/>
            <p:cNvSpPr txBox="1"/>
            <p:nvPr/>
          </p:nvSpPr>
          <p:spPr>
            <a:xfrm>
              <a:off x="1516092" y="1652383"/>
              <a:ext cx="28922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日常记录</a:t>
              </a:r>
              <a:r>
                <a:rPr lang="en-US" altLang="zh-CN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/vlog/</a:t>
              </a:r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卡点视频</a:t>
              </a:r>
              <a:r>
                <a:rPr lang="en-US" altLang="zh-CN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/</a:t>
              </a:r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游戏视频</a:t>
              </a:r>
              <a:r>
                <a:rPr lang="en-US" altLang="zh-CN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/</a:t>
              </a:r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学习或作业</a:t>
              </a:r>
              <a:r>
                <a:rPr lang="en-US" altLang="zh-CN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/……</a:t>
              </a:r>
              <a:endParaRPr lang="zh-CN" altLang="en-US" sz="1600" dirty="0">
                <a:solidFill>
                  <a:srgbClr val="485766"/>
                </a:solidFill>
                <a:latin typeface="Myriad Pro Light" panose="020B0403030403020204" pitchFamily="34" charset="0"/>
              </a:endParaRPr>
            </a:p>
          </p:txBody>
        </p:sp>
        <p:sp>
          <p:nvSpPr>
            <p:cNvPr id="464" name="TextBox 30"/>
            <p:cNvSpPr txBox="1"/>
            <p:nvPr/>
          </p:nvSpPr>
          <p:spPr>
            <a:xfrm>
              <a:off x="2270533" y="1347614"/>
              <a:ext cx="2088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b="1" dirty="0">
                  <a:solidFill>
                    <a:srgbClr val="74CEC4"/>
                  </a:solidFill>
                  <a:latin typeface="Myriad Pro Light" panose="020B0403030403020204" pitchFamily="34" charset="0"/>
                  <a:ea typeface="微软雅黑" pitchFamily="34" charset="-122"/>
                </a:rPr>
                <a:t>使用场景</a:t>
              </a:r>
            </a:p>
          </p:txBody>
        </p:sp>
      </p:grpSp>
      <p:grpSp>
        <p:nvGrpSpPr>
          <p:cNvPr id="465" name="组合"/>
          <p:cNvGrpSpPr/>
          <p:nvPr/>
        </p:nvGrpSpPr>
        <p:grpSpPr>
          <a:xfrm>
            <a:off x="866775" y="3929717"/>
            <a:ext cx="3095595" cy="889544"/>
            <a:chOff x="1272329" y="1347614"/>
            <a:chExt cx="3095595" cy="889544"/>
          </a:xfrm>
        </p:grpSpPr>
        <p:sp>
          <p:nvSpPr>
            <p:cNvPr id="466" name="TextBox 29"/>
            <p:cNvSpPr txBox="1"/>
            <p:nvPr/>
          </p:nvSpPr>
          <p:spPr>
            <a:xfrm>
              <a:off x="1272329" y="1652383"/>
              <a:ext cx="30955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易上手程度</a:t>
              </a:r>
              <a:r>
                <a:rPr lang="en-US" altLang="zh-CN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/</a:t>
              </a:r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界面清晰度</a:t>
              </a:r>
              <a:r>
                <a:rPr lang="en-US" altLang="zh-CN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/</a:t>
              </a:r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剪辑效率比</a:t>
              </a:r>
              <a:r>
                <a:rPr lang="en-US" altLang="zh-CN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/</a:t>
              </a:r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功能查找难度</a:t>
              </a:r>
              <a:r>
                <a:rPr lang="en-US" altLang="zh-CN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/</a:t>
              </a:r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用户满意度</a:t>
              </a:r>
            </a:p>
          </p:txBody>
        </p:sp>
        <p:sp>
          <p:nvSpPr>
            <p:cNvPr id="467" name="TextBox 30"/>
            <p:cNvSpPr txBox="1"/>
            <p:nvPr/>
          </p:nvSpPr>
          <p:spPr>
            <a:xfrm>
              <a:off x="2270533" y="1347614"/>
              <a:ext cx="2088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b="1" dirty="0">
                  <a:solidFill>
                    <a:srgbClr val="74CEC4"/>
                  </a:solidFill>
                  <a:latin typeface="Myriad Pro Light" panose="020B0403030403020204" pitchFamily="34" charset="0"/>
                  <a:ea typeface="微软雅黑" pitchFamily="34" charset="-122"/>
                </a:rPr>
                <a:t>用户体验评价</a:t>
              </a:r>
            </a:p>
          </p:txBody>
        </p:sp>
      </p:grpSp>
      <p:grpSp>
        <p:nvGrpSpPr>
          <p:cNvPr id="468" name="组合"/>
          <p:cNvGrpSpPr/>
          <p:nvPr/>
        </p:nvGrpSpPr>
        <p:grpSpPr>
          <a:xfrm>
            <a:off x="1076658" y="4770010"/>
            <a:ext cx="2892268" cy="643323"/>
            <a:chOff x="1475656" y="1347614"/>
            <a:chExt cx="2892268" cy="643323"/>
          </a:xfrm>
        </p:grpSpPr>
        <p:sp>
          <p:nvSpPr>
            <p:cNvPr id="469" name="TextBox 29"/>
            <p:cNvSpPr txBox="1"/>
            <p:nvPr/>
          </p:nvSpPr>
          <p:spPr>
            <a:xfrm>
              <a:off x="1475656" y="1652383"/>
              <a:ext cx="28922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开放性问题</a:t>
              </a:r>
            </a:p>
          </p:txBody>
        </p:sp>
        <p:sp>
          <p:nvSpPr>
            <p:cNvPr id="470" name="TextBox 30"/>
            <p:cNvSpPr txBox="1"/>
            <p:nvPr/>
          </p:nvSpPr>
          <p:spPr>
            <a:xfrm>
              <a:off x="2270533" y="1347614"/>
              <a:ext cx="2088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b="1" dirty="0">
                  <a:solidFill>
                    <a:srgbClr val="74CEC4"/>
                  </a:solidFill>
                  <a:latin typeface="Myriad Pro Light" panose="020B0403030403020204" pitchFamily="34" charset="0"/>
                  <a:ea typeface="微软雅黑" pitchFamily="34" charset="-122"/>
                </a:rPr>
                <a:t>用户改进需求</a:t>
              </a:r>
            </a:p>
          </p:txBody>
        </p:sp>
      </p:grpSp>
      <p:grpSp>
        <p:nvGrpSpPr>
          <p:cNvPr id="471" name="组合"/>
          <p:cNvGrpSpPr/>
          <p:nvPr/>
        </p:nvGrpSpPr>
        <p:grpSpPr>
          <a:xfrm>
            <a:off x="4012508" y="3206253"/>
            <a:ext cx="576064" cy="576064"/>
            <a:chOff x="2893864" y="2355726"/>
            <a:chExt cx="576064" cy="576064"/>
          </a:xfrm>
        </p:grpSpPr>
        <p:sp>
          <p:nvSpPr>
            <p:cNvPr id="472" name="椭圆 471"/>
            <p:cNvSpPr/>
            <p:nvPr/>
          </p:nvSpPr>
          <p:spPr>
            <a:xfrm>
              <a:off x="2893864" y="2355726"/>
              <a:ext cx="576064" cy="576064"/>
            </a:xfrm>
            <a:prstGeom prst="ellipse">
              <a:avLst/>
            </a:prstGeom>
            <a:solidFill>
              <a:srgbClr val="74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yriad Pro Light" panose="020B0403030403020204" pitchFamily="34" charset="0"/>
              </a:endParaRPr>
            </a:p>
          </p:txBody>
        </p:sp>
        <p:sp>
          <p:nvSpPr>
            <p:cNvPr id="473" name="TextBox 8"/>
            <p:cNvSpPr txBox="1"/>
            <p:nvPr/>
          </p:nvSpPr>
          <p:spPr>
            <a:xfrm>
              <a:off x="3015928" y="2376922"/>
              <a:ext cx="288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>
                  <a:solidFill>
                    <a:schemeClr val="bg1"/>
                  </a:solidFill>
                  <a:latin typeface="Myriad Pro Light" panose="020B0403030403020204" pitchFamily="34" charset="0"/>
                </a:rPr>
                <a:t>2</a:t>
              </a:r>
              <a:endParaRPr lang="zh-CN" altLang="en-US" sz="2800" b="1">
                <a:solidFill>
                  <a:schemeClr val="bg1"/>
                </a:solidFill>
                <a:latin typeface="Myriad Pro Light" panose="020B0403030403020204" pitchFamily="34" charset="0"/>
              </a:endParaRPr>
            </a:p>
          </p:txBody>
        </p:sp>
      </p:grpSp>
      <p:grpSp>
        <p:nvGrpSpPr>
          <p:cNvPr id="474" name="组合"/>
          <p:cNvGrpSpPr/>
          <p:nvPr/>
        </p:nvGrpSpPr>
        <p:grpSpPr>
          <a:xfrm>
            <a:off x="3998012" y="4057708"/>
            <a:ext cx="576064" cy="576064"/>
            <a:chOff x="3015928" y="3723878"/>
            <a:chExt cx="576064" cy="576064"/>
          </a:xfrm>
        </p:grpSpPr>
        <p:sp>
          <p:nvSpPr>
            <p:cNvPr id="475" name="椭圆 474"/>
            <p:cNvSpPr/>
            <p:nvPr/>
          </p:nvSpPr>
          <p:spPr>
            <a:xfrm>
              <a:off x="3015928" y="3723878"/>
              <a:ext cx="576064" cy="576064"/>
            </a:xfrm>
            <a:prstGeom prst="ellipse">
              <a:avLst/>
            </a:prstGeom>
            <a:solidFill>
              <a:srgbClr val="74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yriad Pro Light" panose="020B0403030403020204" pitchFamily="34" charset="0"/>
              </a:endParaRPr>
            </a:p>
          </p:txBody>
        </p:sp>
        <p:sp>
          <p:nvSpPr>
            <p:cNvPr id="476" name="TextBox 10"/>
            <p:cNvSpPr txBox="1"/>
            <p:nvPr/>
          </p:nvSpPr>
          <p:spPr>
            <a:xfrm>
              <a:off x="3137992" y="3745074"/>
              <a:ext cx="288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>
                  <a:solidFill>
                    <a:schemeClr val="bg1"/>
                  </a:solidFill>
                  <a:latin typeface="Myriad Pro Light" panose="020B0403030403020204" pitchFamily="34" charset="0"/>
                </a:rPr>
                <a:t>3</a:t>
              </a:r>
              <a:endParaRPr lang="zh-CN" altLang="en-US" sz="2800" b="1">
                <a:solidFill>
                  <a:schemeClr val="bg1"/>
                </a:solidFill>
                <a:latin typeface="Myriad Pro Light" panose="020B0403030403020204" pitchFamily="34" charset="0"/>
              </a:endParaRPr>
            </a:p>
          </p:txBody>
        </p:sp>
      </p:grpSp>
      <p:grpSp>
        <p:nvGrpSpPr>
          <p:cNvPr id="477" name="组合"/>
          <p:cNvGrpSpPr/>
          <p:nvPr/>
        </p:nvGrpSpPr>
        <p:grpSpPr>
          <a:xfrm>
            <a:off x="3976060" y="5034034"/>
            <a:ext cx="576064" cy="576064"/>
            <a:chOff x="2915816" y="1254410"/>
            <a:chExt cx="576064" cy="576064"/>
          </a:xfrm>
        </p:grpSpPr>
        <p:sp>
          <p:nvSpPr>
            <p:cNvPr id="478" name="椭圆 477"/>
            <p:cNvSpPr/>
            <p:nvPr/>
          </p:nvSpPr>
          <p:spPr>
            <a:xfrm>
              <a:off x="2915816" y="1254410"/>
              <a:ext cx="576064" cy="576064"/>
            </a:xfrm>
            <a:prstGeom prst="ellipse">
              <a:avLst/>
            </a:prstGeom>
            <a:solidFill>
              <a:srgbClr val="74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yriad Pro Light" panose="020B0403030403020204" pitchFamily="34" charset="0"/>
              </a:endParaRPr>
            </a:p>
          </p:txBody>
        </p:sp>
        <p:sp>
          <p:nvSpPr>
            <p:cNvPr id="479" name="TextBox 16"/>
            <p:cNvSpPr txBox="1"/>
            <p:nvPr/>
          </p:nvSpPr>
          <p:spPr>
            <a:xfrm>
              <a:off x="3037880" y="1275606"/>
              <a:ext cx="288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>
                  <a:solidFill>
                    <a:schemeClr val="bg1"/>
                  </a:solidFill>
                  <a:latin typeface="Myriad Pro Light" panose="020B0403030403020204" pitchFamily="34" charset="0"/>
                </a:rPr>
                <a:t>4</a:t>
              </a:r>
              <a:endParaRPr lang="zh-CN" altLang="en-US" sz="2800" b="1">
                <a:solidFill>
                  <a:schemeClr val="bg1"/>
                </a:solidFill>
                <a:latin typeface="Myriad Pro Light" panose="020B0403030403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646D0383-F719-34CE-FE60-B6EAEB797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82" y="146755"/>
            <a:ext cx="6797674" cy="1325563"/>
          </a:xfrm>
        </p:spPr>
        <p:txBody>
          <a:bodyPr/>
          <a:lstStyle/>
          <a:p>
            <a:r>
              <a:rPr lang="zh-CN" altLang="en-US" b="1" dirty="0"/>
              <a:t>调研方法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753863-5570-E425-9E93-6BB3F0E19C74}"/>
              </a:ext>
            </a:extLst>
          </p:cNvPr>
          <p:cNvSpPr txBox="1"/>
          <p:nvPr/>
        </p:nvSpPr>
        <p:spPr>
          <a:xfrm>
            <a:off x="3099343" y="535202"/>
            <a:ext cx="48921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本研究采用问卷调查的方式收集用户数据。</a:t>
            </a:r>
            <a:endParaRPr lang="en-US" altLang="zh-CN" sz="2000" b="1" dirty="0"/>
          </a:p>
          <a:p>
            <a:endParaRPr lang="en-US" altLang="zh-CN" sz="2000" dirty="0"/>
          </a:p>
          <a:p>
            <a:r>
              <a:rPr lang="zh-CN" altLang="en-US" sz="2000" dirty="0"/>
              <a:t>问卷主要包括四个方面的内容：</a:t>
            </a:r>
          </a:p>
        </p:txBody>
      </p:sp>
    </p:spTree>
    <p:extLst>
      <p:ext uri="{BB962C8B-B14F-4D97-AF65-F5344CB8AC3E}">
        <p14:creationId xmlns:p14="http://schemas.microsoft.com/office/powerpoint/2010/main" val="8070286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C6E01-3AC2-14B7-266E-503B3D53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127000"/>
            <a:ext cx="10515600" cy="1325563"/>
          </a:xfrm>
        </p:spPr>
        <p:txBody>
          <a:bodyPr/>
          <a:lstStyle/>
          <a:p>
            <a:r>
              <a:rPr lang="zh-CN" altLang="en-US" b="1" dirty="0"/>
              <a:t>调研结论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49467-BBD0-73A1-8CD2-DF7BCC9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0" y="1243806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本次调研表明，用户在移动端与电脑端之间的选择并非固定偏好，而是受到任务复杂度与使用场景的共同影响。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C3E63F-4B49-25A3-CDDD-17F6AB8A1CC9}"/>
              </a:ext>
            </a:extLst>
          </p:cNvPr>
          <p:cNvSpPr txBox="1"/>
          <p:nvPr/>
        </p:nvSpPr>
        <p:spPr>
          <a:xfrm>
            <a:off x="1152524" y="2998818"/>
            <a:ext cx="3552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操作学习成本较低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适合碎片化时间进行快速剪辑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更适合</a:t>
            </a:r>
            <a:r>
              <a:rPr lang="en-US" altLang="zh-CN" dirty="0"/>
              <a:t>vlog</a:t>
            </a:r>
            <a:r>
              <a:rPr lang="zh-CN" altLang="en-US" dirty="0"/>
              <a:t>、日常记录等轻量内容创作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A9ECB7-30C5-BC22-5304-F725234B4F2F}"/>
              </a:ext>
            </a:extLst>
          </p:cNvPr>
          <p:cNvSpPr txBox="1"/>
          <p:nvPr/>
        </p:nvSpPr>
        <p:spPr>
          <a:xfrm>
            <a:off x="7639049" y="2860318"/>
            <a:ext cx="3552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界面信息呈现更完整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鼠标与键盘操作具有更高精度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在多轨道编辑等复杂任务中效率更高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01752D-3F07-42A2-92E0-6EA592918AED}"/>
              </a:ext>
            </a:extLst>
          </p:cNvPr>
          <p:cNvSpPr txBox="1"/>
          <p:nvPr/>
        </p:nvSpPr>
        <p:spPr>
          <a:xfrm>
            <a:off x="1000127" y="4404341"/>
            <a:ext cx="9791700" cy="2245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因此，用户在视频剪辑过程中往往形成一种场景驱动的设备选择模式。简单创作倾向移动端，而复杂编辑任务更倾向电脑端。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视频编辑工具的用户交互体验并不是单一平台能够完全满足的，而是需要通过跨平台设计来适应不同任务情境。</a:t>
            </a: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B4756A48-820D-385F-AF9B-535FCA5A31F2}"/>
              </a:ext>
            </a:extLst>
          </p:cNvPr>
          <p:cNvSpPr txBox="1"/>
          <p:nvPr/>
        </p:nvSpPr>
        <p:spPr>
          <a:xfrm>
            <a:off x="1000127" y="2629486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rgbClr val="74CEC4"/>
                </a:solidFill>
                <a:latin typeface="Myriad Pro Light" panose="020B0403030403020204" pitchFamily="34" charset="0"/>
                <a:ea typeface="微软雅黑" pitchFamily="34" charset="-122"/>
              </a:rPr>
              <a:t>移动端交互特点</a:t>
            </a:r>
          </a:p>
        </p:txBody>
      </p:sp>
      <p:sp>
        <p:nvSpPr>
          <p:cNvPr id="16" name="TextBox 30">
            <a:extLst>
              <a:ext uri="{FF2B5EF4-FFF2-40B4-BE49-F238E27FC236}">
                <a16:creationId xmlns:a16="http://schemas.microsoft.com/office/drawing/2014/main" id="{3CF1B1BE-A97D-A3E0-4F98-8EB497FD804D}"/>
              </a:ext>
            </a:extLst>
          </p:cNvPr>
          <p:cNvSpPr txBox="1"/>
          <p:nvPr/>
        </p:nvSpPr>
        <p:spPr>
          <a:xfrm>
            <a:off x="7639049" y="2490986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rgbClr val="74CEC4"/>
                </a:solidFill>
                <a:latin typeface="Myriad Pro Light" panose="020B0403030403020204" pitchFamily="34" charset="0"/>
                <a:ea typeface="微软雅黑" pitchFamily="34" charset="-122"/>
              </a:rPr>
              <a:t>电脑端交互特点</a:t>
            </a:r>
          </a:p>
        </p:txBody>
      </p:sp>
    </p:spTree>
    <p:extLst>
      <p:ext uri="{BB962C8B-B14F-4D97-AF65-F5344CB8AC3E}">
        <p14:creationId xmlns:p14="http://schemas.microsoft.com/office/powerpoint/2010/main" val="116161090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58F8B-2C3D-A16E-69A4-BFC7DEF43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从用户界面设计到</a:t>
            </a:r>
            <a:r>
              <a:rPr lang="en-US" altLang="zh-CN" b="1" dirty="0"/>
              <a:t>AI</a:t>
            </a:r>
            <a:r>
              <a:rPr lang="zh-CN" altLang="en-US" b="1" dirty="0"/>
              <a:t>设计问题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F05AC9-2843-AADE-8554-F36C8A024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随着人工智能逐渐参与到设计工具和创意生产过程中，设计者需要考虑的问题不仅仅是“界面是否好用”，还包括 </a:t>
            </a:r>
            <a:r>
              <a:rPr lang="en-US" altLang="zh-CN" sz="2400" dirty="0"/>
              <a:t>AI </a:t>
            </a:r>
            <a:r>
              <a:rPr lang="zh-CN" altLang="en-US" sz="2400" dirty="0"/>
              <a:t>在数据理解和内容生成过程中可能带来的偏见问题。即，用户交互体验的优化不仅体现在操作层面，还涉及认知与价值层面。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因此，接下来将从另一篇研究出发，探讨在 </a:t>
            </a:r>
            <a:r>
              <a:rPr lang="en-US" altLang="zh-CN" sz="2400" dirty="0"/>
              <a:t>AI </a:t>
            </a:r>
            <a:r>
              <a:rPr lang="zh-CN" altLang="en-US" sz="2400" dirty="0"/>
              <a:t>参与设计的情况下，设计者如何通过反思性数据整理来应对这些问题。</a:t>
            </a:r>
          </a:p>
        </p:txBody>
      </p:sp>
    </p:spTree>
    <p:extLst>
      <p:ext uri="{BB962C8B-B14F-4D97-AF65-F5344CB8AC3E}">
        <p14:creationId xmlns:p14="http://schemas.microsoft.com/office/powerpoint/2010/main" val="321903308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/>
        </p:nvSpPr>
        <p:spPr>
          <a:xfrm>
            <a:off x="472203" y="452438"/>
            <a:ext cx="4503737" cy="549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Oval 5"/>
          <p:cNvSpPr>
            <a:spLocks noChangeArrowheads="1"/>
          </p:cNvSpPr>
          <p:nvPr/>
        </p:nvSpPr>
        <p:spPr>
          <a:xfrm>
            <a:off x="1432640" y="4565651"/>
            <a:ext cx="114300" cy="127000"/>
          </a:xfrm>
          <a:prstGeom prst="ellipse">
            <a:avLst/>
          </a:prstGeom>
          <a:solidFill>
            <a:srgbClr val="4857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6"/>
          <p:cNvSpPr/>
          <p:nvPr/>
        </p:nvSpPr>
        <p:spPr>
          <a:xfrm>
            <a:off x="1350090" y="4711701"/>
            <a:ext cx="279400" cy="647700"/>
          </a:xfrm>
          <a:custGeom>
            <a:avLst/>
            <a:gdLst>
              <a:gd name="T0" fmla="*/ 44 w 44"/>
              <a:gd name="T1" fmla="*/ 13 h 102"/>
              <a:gd name="T2" fmla="*/ 22 w 44"/>
              <a:gd name="T3" fmla="*/ 0 h 102"/>
              <a:gd name="T4" fmla="*/ 0 w 44"/>
              <a:gd name="T5" fmla="*/ 13 h 102"/>
              <a:gd name="T6" fmla="*/ 0 w 44"/>
              <a:gd name="T7" fmla="*/ 13 h 102"/>
              <a:gd name="T8" fmla="*/ 0 w 44"/>
              <a:gd name="T9" fmla="*/ 53 h 102"/>
              <a:gd name="T10" fmla="*/ 4 w 44"/>
              <a:gd name="T11" fmla="*/ 57 h 102"/>
              <a:gd name="T12" fmla="*/ 8 w 44"/>
              <a:gd name="T13" fmla="*/ 53 h 102"/>
              <a:gd name="T14" fmla="*/ 8 w 44"/>
              <a:gd name="T15" fmla="*/ 18 h 102"/>
              <a:gd name="T16" fmla="*/ 11 w 44"/>
              <a:gd name="T17" fmla="*/ 18 h 102"/>
              <a:gd name="T18" fmla="*/ 11 w 44"/>
              <a:gd name="T19" fmla="*/ 96 h 102"/>
              <a:gd name="T20" fmla="*/ 11 w 44"/>
              <a:gd name="T21" fmla="*/ 96 h 102"/>
              <a:gd name="T22" fmla="*/ 11 w 44"/>
              <a:gd name="T23" fmla="*/ 97 h 102"/>
              <a:gd name="T24" fmla="*/ 15 w 44"/>
              <a:gd name="T25" fmla="*/ 102 h 102"/>
              <a:gd name="T26" fmla="*/ 20 w 44"/>
              <a:gd name="T27" fmla="*/ 97 h 102"/>
              <a:gd name="T28" fmla="*/ 20 w 44"/>
              <a:gd name="T29" fmla="*/ 97 h 102"/>
              <a:gd name="T30" fmla="*/ 20 w 44"/>
              <a:gd name="T31" fmla="*/ 53 h 102"/>
              <a:gd name="T32" fmla="*/ 22 w 44"/>
              <a:gd name="T33" fmla="*/ 49 h 102"/>
              <a:gd name="T34" fmla="*/ 24 w 44"/>
              <a:gd name="T35" fmla="*/ 53 h 102"/>
              <a:gd name="T36" fmla="*/ 24 w 44"/>
              <a:gd name="T37" fmla="*/ 97 h 102"/>
              <a:gd name="T38" fmla="*/ 25 w 44"/>
              <a:gd name="T39" fmla="*/ 97 h 102"/>
              <a:gd name="T40" fmla="*/ 29 w 44"/>
              <a:gd name="T41" fmla="*/ 102 h 102"/>
              <a:gd name="T42" fmla="*/ 34 w 44"/>
              <a:gd name="T43" fmla="*/ 97 h 102"/>
              <a:gd name="T44" fmla="*/ 34 w 44"/>
              <a:gd name="T45" fmla="*/ 96 h 102"/>
              <a:gd name="T46" fmla="*/ 34 w 44"/>
              <a:gd name="T47" fmla="*/ 96 h 102"/>
              <a:gd name="T48" fmla="*/ 34 w 44"/>
              <a:gd name="T49" fmla="*/ 18 h 102"/>
              <a:gd name="T50" fmla="*/ 36 w 44"/>
              <a:gd name="T51" fmla="*/ 18 h 102"/>
              <a:gd name="T52" fmla="*/ 36 w 44"/>
              <a:gd name="T53" fmla="*/ 53 h 102"/>
              <a:gd name="T54" fmla="*/ 40 w 44"/>
              <a:gd name="T55" fmla="*/ 57 h 102"/>
              <a:gd name="T56" fmla="*/ 44 w 44"/>
              <a:gd name="T57" fmla="*/ 53 h 102"/>
              <a:gd name="T58" fmla="*/ 44 w 44"/>
              <a:gd name="T59" fmla="*/ 13 h 102"/>
              <a:gd name="T60" fmla="*/ 44 w 44"/>
              <a:gd name="T61" fmla="*/ 13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44" h="102">
                <a:moveTo>
                  <a:pt x="44" y="13"/>
                </a:moveTo>
                <a:cubicBezTo>
                  <a:pt x="44" y="1"/>
                  <a:pt x="33" y="0"/>
                  <a:pt x="22" y="0"/>
                </a:cubicBezTo>
                <a:cubicBezTo>
                  <a:pt x="11" y="0"/>
                  <a:pt x="0" y="1"/>
                  <a:pt x="0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5"/>
                  <a:pt x="2" y="57"/>
                  <a:pt x="4" y="57"/>
                </a:cubicBezTo>
                <a:cubicBezTo>
                  <a:pt x="6" y="57"/>
                  <a:pt x="8" y="55"/>
                  <a:pt x="8" y="53"/>
                </a:cubicBezTo>
                <a:cubicBezTo>
                  <a:pt x="8" y="18"/>
                  <a:pt x="8" y="18"/>
                  <a:pt x="8" y="18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96"/>
                  <a:pt x="11" y="96"/>
                  <a:pt x="11" y="96"/>
                </a:cubicBezTo>
                <a:cubicBezTo>
                  <a:pt x="11" y="96"/>
                  <a:pt x="11" y="96"/>
                  <a:pt x="11" y="96"/>
                </a:cubicBezTo>
                <a:cubicBezTo>
                  <a:pt x="11" y="96"/>
                  <a:pt x="11" y="96"/>
                  <a:pt x="11" y="97"/>
                </a:cubicBezTo>
                <a:cubicBezTo>
                  <a:pt x="11" y="99"/>
                  <a:pt x="13" y="102"/>
                  <a:pt x="15" y="102"/>
                </a:cubicBezTo>
                <a:cubicBezTo>
                  <a:pt x="18" y="102"/>
                  <a:pt x="20" y="100"/>
                  <a:pt x="20" y="97"/>
                </a:cubicBezTo>
                <a:cubicBezTo>
                  <a:pt x="20" y="97"/>
                  <a:pt x="20" y="97"/>
                  <a:pt x="20" y="97"/>
                </a:cubicBezTo>
                <a:cubicBezTo>
                  <a:pt x="20" y="53"/>
                  <a:pt x="20" y="53"/>
                  <a:pt x="20" y="53"/>
                </a:cubicBezTo>
                <a:cubicBezTo>
                  <a:pt x="20" y="51"/>
                  <a:pt x="20" y="49"/>
                  <a:pt x="22" y="49"/>
                </a:cubicBezTo>
                <a:cubicBezTo>
                  <a:pt x="24" y="49"/>
                  <a:pt x="24" y="51"/>
                  <a:pt x="24" y="53"/>
                </a:cubicBezTo>
                <a:cubicBezTo>
                  <a:pt x="24" y="97"/>
                  <a:pt x="24" y="97"/>
                  <a:pt x="24" y="97"/>
                </a:cubicBezTo>
                <a:cubicBezTo>
                  <a:pt x="24" y="97"/>
                  <a:pt x="25" y="97"/>
                  <a:pt x="25" y="97"/>
                </a:cubicBezTo>
                <a:cubicBezTo>
                  <a:pt x="25" y="100"/>
                  <a:pt x="27" y="102"/>
                  <a:pt x="29" y="102"/>
                </a:cubicBezTo>
                <a:cubicBezTo>
                  <a:pt x="32" y="102"/>
                  <a:pt x="34" y="99"/>
                  <a:pt x="34" y="97"/>
                </a:cubicBezTo>
                <a:cubicBezTo>
                  <a:pt x="34" y="96"/>
                  <a:pt x="34" y="96"/>
                  <a:pt x="34" y="96"/>
                </a:cubicBezTo>
                <a:cubicBezTo>
                  <a:pt x="34" y="96"/>
                  <a:pt x="34" y="96"/>
                  <a:pt x="34" y="96"/>
                </a:cubicBezTo>
                <a:cubicBezTo>
                  <a:pt x="34" y="18"/>
                  <a:pt x="34" y="18"/>
                  <a:pt x="34" y="18"/>
                </a:cubicBezTo>
                <a:cubicBezTo>
                  <a:pt x="36" y="18"/>
                  <a:pt x="36" y="18"/>
                  <a:pt x="36" y="18"/>
                </a:cubicBezTo>
                <a:cubicBezTo>
                  <a:pt x="36" y="53"/>
                  <a:pt x="36" y="53"/>
                  <a:pt x="36" y="53"/>
                </a:cubicBezTo>
                <a:cubicBezTo>
                  <a:pt x="36" y="55"/>
                  <a:pt x="38" y="57"/>
                  <a:pt x="40" y="57"/>
                </a:cubicBezTo>
                <a:cubicBezTo>
                  <a:pt x="43" y="57"/>
                  <a:pt x="44" y="55"/>
                  <a:pt x="44" y="53"/>
                </a:cubicBezTo>
                <a:cubicBezTo>
                  <a:pt x="44" y="13"/>
                  <a:pt x="44" y="13"/>
                  <a:pt x="44" y="13"/>
                </a:cubicBezTo>
                <a:cubicBezTo>
                  <a:pt x="44" y="13"/>
                  <a:pt x="44" y="13"/>
                  <a:pt x="44" y="13"/>
                </a:cubicBezTo>
                <a:close/>
              </a:path>
            </a:pathLst>
          </a:custGeom>
          <a:solidFill>
            <a:srgbClr val="4857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Oval 7"/>
          <p:cNvSpPr>
            <a:spLocks noChangeArrowheads="1"/>
          </p:cNvSpPr>
          <p:nvPr/>
        </p:nvSpPr>
        <p:spPr>
          <a:xfrm>
            <a:off x="3569415" y="2384426"/>
            <a:ext cx="122237" cy="127000"/>
          </a:xfrm>
          <a:prstGeom prst="ellipse">
            <a:avLst/>
          </a:prstGeom>
          <a:solidFill>
            <a:srgbClr val="4857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8"/>
          <p:cNvSpPr/>
          <p:nvPr/>
        </p:nvSpPr>
        <p:spPr>
          <a:xfrm>
            <a:off x="3493215" y="2530476"/>
            <a:ext cx="382587" cy="642938"/>
          </a:xfrm>
          <a:custGeom>
            <a:avLst/>
            <a:gdLst>
              <a:gd name="T0" fmla="*/ 58 w 60"/>
              <a:gd name="T1" fmla="*/ 14 h 101"/>
              <a:gd name="T2" fmla="*/ 52 w 60"/>
              <a:gd name="T3" fmla="*/ 14 h 101"/>
              <a:gd name="T4" fmla="*/ 44 w 60"/>
              <a:gd name="T5" fmla="*/ 22 h 101"/>
              <a:gd name="T6" fmla="*/ 44 w 60"/>
              <a:gd name="T7" fmla="*/ 13 h 101"/>
              <a:gd name="T8" fmla="*/ 44 w 60"/>
              <a:gd name="T9" fmla="*/ 13 h 101"/>
              <a:gd name="T10" fmla="*/ 22 w 60"/>
              <a:gd name="T11" fmla="*/ 0 h 101"/>
              <a:gd name="T12" fmla="*/ 0 w 60"/>
              <a:gd name="T13" fmla="*/ 13 h 101"/>
              <a:gd name="T14" fmla="*/ 0 w 60"/>
              <a:gd name="T15" fmla="*/ 13 h 101"/>
              <a:gd name="T16" fmla="*/ 0 w 60"/>
              <a:gd name="T17" fmla="*/ 52 h 101"/>
              <a:gd name="T18" fmla="*/ 4 w 60"/>
              <a:gd name="T19" fmla="*/ 57 h 101"/>
              <a:gd name="T20" fmla="*/ 8 w 60"/>
              <a:gd name="T21" fmla="*/ 52 h 101"/>
              <a:gd name="T22" fmla="*/ 8 w 60"/>
              <a:gd name="T23" fmla="*/ 17 h 101"/>
              <a:gd name="T24" fmla="*/ 11 w 60"/>
              <a:gd name="T25" fmla="*/ 17 h 101"/>
              <a:gd name="T26" fmla="*/ 11 w 60"/>
              <a:gd name="T27" fmla="*/ 96 h 101"/>
              <a:gd name="T28" fmla="*/ 11 w 60"/>
              <a:gd name="T29" fmla="*/ 96 h 101"/>
              <a:gd name="T30" fmla="*/ 11 w 60"/>
              <a:gd name="T31" fmla="*/ 96 h 101"/>
              <a:gd name="T32" fmla="*/ 15 w 60"/>
              <a:gd name="T33" fmla="*/ 101 h 101"/>
              <a:gd name="T34" fmla="*/ 20 w 60"/>
              <a:gd name="T35" fmla="*/ 97 h 101"/>
              <a:gd name="T36" fmla="*/ 20 w 60"/>
              <a:gd name="T37" fmla="*/ 97 h 101"/>
              <a:gd name="T38" fmla="*/ 20 w 60"/>
              <a:gd name="T39" fmla="*/ 53 h 101"/>
              <a:gd name="T40" fmla="*/ 22 w 60"/>
              <a:gd name="T41" fmla="*/ 49 h 101"/>
              <a:gd name="T42" fmla="*/ 25 w 60"/>
              <a:gd name="T43" fmla="*/ 53 h 101"/>
              <a:gd name="T44" fmla="*/ 25 w 60"/>
              <a:gd name="T45" fmla="*/ 97 h 101"/>
              <a:gd name="T46" fmla="*/ 25 w 60"/>
              <a:gd name="T47" fmla="*/ 97 h 101"/>
              <a:gd name="T48" fmla="*/ 29 w 60"/>
              <a:gd name="T49" fmla="*/ 101 h 101"/>
              <a:gd name="T50" fmla="*/ 34 w 60"/>
              <a:gd name="T51" fmla="*/ 96 h 101"/>
              <a:gd name="T52" fmla="*/ 34 w 60"/>
              <a:gd name="T53" fmla="*/ 96 h 101"/>
              <a:gd name="T54" fmla="*/ 34 w 60"/>
              <a:gd name="T55" fmla="*/ 17 h 101"/>
              <a:gd name="T56" fmla="*/ 36 w 60"/>
              <a:gd name="T57" fmla="*/ 17 h 101"/>
              <a:gd name="T58" fmla="*/ 36 w 60"/>
              <a:gd name="T59" fmla="*/ 29 h 101"/>
              <a:gd name="T60" fmla="*/ 36 w 60"/>
              <a:gd name="T61" fmla="*/ 33 h 101"/>
              <a:gd name="T62" fmla="*/ 36 w 60"/>
              <a:gd name="T63" fmla="*/ 41 h 101"/>
              <a:gd name="T64" fmla="*/ 58 w 60"/>
              <a:gd name="T65" fmla="*/ 19 h 101"/>
              <a:gd name="T66" fmla="*/ 58 w 60"/>
              <a:gd name="T67" fmla="*/ 14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0" h="101">
                <a:moveTo>
                  <a:pt x="58" y="14"/>
                </a:moveTo>
                <a:cubicBezTo>
                  <a:pt x="57" y="12"/>
                  <a:pt x="54" y="12"/>
                  <a:pt x="52" y="14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13"/>
                  <a:pt x="44" y="13"/>
                  <a:pt x="44" y="13"/>
                </a:cubicBezTo>
                <a:cubicBezTo>
                  <a:pt x="44" y="13"/>
                  <a:pt x="44" y="13"/>
                  <a:pt x="44" y="13"/>
                </a:cubicBezTo>
                <a:cubicBezTo>
                  <a:pt x="44" y="1"/>
                  <a:pt x="33" y="0"/>
                  <a:pt x="22" y="0"/>
                </a:cubicBezTo>
                <a:cubicBezTo>
                  <a:pt x="11" y="0"/>
                  <a:pt x="0" y="1"/>
                  <a:pt x="0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55"/>
                  <a:pt x="2" y="57"/>
                  <a:pt x="4" y="57"/>
                </a:cubicBezTo>
                <a:cubicBezTo>
                  <a:pt x="6" y="57"/>
                  <a:pt x="8" y="55"/>
                  <a:pt x="8" y="52"/>
                </a:cubicBezTo>
                <a:cubicBezTo>
                  <a:pt x="8" y="17"/>
                  <a:pt x="8" y="17"/>
                  <a:pt x="8" y="17"/>
                </a:cubicBezTo>
                <a:cubicBezTo>
                  <a:pt x="11" y="17"/>
                  <a:pt x="11" y="17"/>
                  <a:pt x="11" y="17"/>
                </a:cubicBezTo>
                <a:cubicBezTo>
                  <a:pt x="11" y="96"/>
                  <a:pt x="11" y="96"/>
                  <a:pt x="11" y="96"/>
                </a:cubicBezTo>
                <a:cubicBezTo>
                  <a:pt x="11" y="96"/>
                  <a:pt x="11" y="96"/>
                  <a:pt x="11" y="96"/>
                </a:cubicBezTo>
                <a:cubicBezTo>
                  <a:pt x="11" y="96"/>
                  <a:pt x="11" y="96"/>
                  <a:pt x="11" y="96"/>
                </a:cubicBezTo>
                <a:cubicBezTo>
                  <a:pt x="11" y="99"/>
                  <a:pt x="13" y="101"/>
                  <a:pt x="15" y="101"/>
                </a:cubicBezTo>
                <a:cubicBezTo>
                  <a:pt x="18" y="101"/>
                  <a:pt x="20" y="99"/>
                  <a:pt x="20" y="97"/>
                </a:cubicBezTo>
                <a:cubicBezTo>
                  <a:pt x="20" y="97"/>
                  <a:pt x="20" y="97"/>
                  <a:pt x="20" y="97"/>
                </a:cubicBezTo>
                <a:cubicBezTo>
                  <a:pt x="20" y="53"/>
                  <a:pt x="20" y="53"/>
                  <a:pt x="20" y="53"/>
                </a:cubicBezTo>
                <a:cubicBezTo>
                  <a:pt x="20" y="51"/>
                  <a:pt x="20" y="49"/>
                  <a:pt x="22" y="49"/>
                </a:cubicBezTo>
                <a:cubicBezTo>
                  <a:pt x="24" y="49"/>
                  <a:pt x="25" y="51"/>
                  <a:pt x="25" y="53"/>
                </a:cubicBezTo>
                <a:cubicBezTo>
                  <a:pt x="25" y="97"/>
                  <a:pt x="25" y="97"/>
                  <a:pt x="25" y="97"/>
                </a:cubicBezTo>
                <a:cubicBezTo>
                  <a:pt x="25" y="97"/>
                  <a:pt x="25" y="97"/>
                  <a:pt x="25" y="97"/>
                </a:cubicBezTo>
                <a:cubicBezTo>
                  <a:pt x="25" y="99"/>
                  <a:pt x="27" y="101"/>
                  <a:pt x="29" y="101"/>
                </a:cubicBezTo>
                <a:cubicBezTo>
                  <a:pt x="32" y="101"/>
                  <a:pt x="34" y="99"/>
                  <a:pt x="34" y="96"/>
                </a:cubicBezTo>
                <a:cubicBezTo>
                  <a:pt x="34" y="96"/>
                  <a:pt x="34" y="96"/>
                  <a:pt x="34" y="96"/>
                </a:cubicBezTo>
                <a:cubicBezTo>
                  <a:pt x="34" y="17"/>
                  <a:pt x="34" y="17"/>
                  <a:pt x="34" y="17"/>
                </a:cubicBezTo>
                <a:cubicBezTo>
                  <a:pt x="36" y="17"/>
                  <a:pt x="36" y="17"/>
                  <a:pt x="36" y="17"/>
                </a:cubicBezTo>
                <a:cubicBezTo>
                  <a:pt x="36" y="29"/>
                  <a:pt x="36" y="29"/>
                  <a:pt x="36" y="29"/>
                </a:cubicBezTo>
                <a:cubicBezTo>
                  <a:pt x="36" y="33"/>
                  <a:pt x="36" y="33"/>
                  <a:pt x="36" y="33"/>
                </a:cubicBezTo>
                <a:cubicBezTo>
                  <a:pt x="36" y="41"/>
                  <a:pt x="36" y="41"/>
                  <a:pt x="36" y="41"/>
                </a:cubicBezTo>
                <a:cubicBezTo>
                  <a:pt x="58" y="19"/>
                  <a:pt x="58" y="19"/>
                  <a:pt x="58" y="19"/>
                </a:cubicBezTo>
                <a:cubicBezTo>
                  <a:pt x="60" y="18"/>
                  <a:pt x="60" y="15"/>
                  <a:pt x="58" y="14"/>
                </a:cubicBezTo>
                <a:close/>
              </a:path>
            </a:pathLst>
          </a:custGeom>
          <a:solidFill>
            <a:srgbClr val="4857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Oval 9"/>
          <p:cNvSpPr>
            <a:spLocks noChangeArrowheads="1"/>
          </p:cNvSpPr>
          <p:nvPr/>
        </p:nvSpPr>
        <p:spPr>
          <a:xfrm>
            <a:off x="4402853" y="1042988"/>
            <a:ext cx="115887" cy="127000"/>
          </a:xfrm>
          <a:prstGeom prst="ellipse">
            <a:avLst/>
          </a:prstGeom>
          <a:solidFill>
            <a:srgbClr val="4857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10"/>
          <p:cNvSpPr/>
          <p:nvPr/>
        </p:nvSpPr>
        <p:spPr>
          <a:xfrm>
            <a:off x="4225053" y="1195388"/>
            <a:ext cx="477837" cy="642938"/>
          </a:xfrm>
          <a:custGeom>
            <a:avLst/>
            <a:gdLst>
              <a:gd name="T0" fmla="*/ 74 w 75"/>
              <a:gd name="T1" fmla="*/ 19 h 101"/>
              <a:gd name="T2" fmla="*/ 68 w 75"/>
              <a:gd name="T3" fmla="*/ 17 h 101"/>
              <a:gd name="T4" fmla="*/ 59 w 75"/>
              <a:gd name="T5" fmla="*/ 21 h 101"/>
              <a:gd name="T6" fmla="*/ 59 w 75"/>
              <a:gd name="T7" fmla="*/ 13 h 101"/>
              <a:gd name="T8" fmla="*/ 59 w 75"/>
              <a:gd name="T9" fmla="*/ 12 h 101"/>
              <a:gd name="T10" fmla="*/ 37 w 75"/>
              <a:gd name="T11" fmla="*/ 0 h 101"/>
              <a:gd name="T12" fmla="*/ 15 w 75"/>
              <a:gd name="T13" fmla="*/ 12 h 101"/>
              <a:gd name="T14" fmla="*/ 15 w 75"/>
              <a:gd name="T15" fmla="*/ 13 h 101"/>
              <a:gd name="T16" fmla="*/ 15 w 75"/>
              <a:gd name="T17" fmla="*/ 21 h 101"/>
              <a:gd name="T18" fmla="*/ 6 w 75"/>
              <a:gd name="T19" fmla="*/ 17 h 101"/>
              <a:gd name="T20" fmla="*/ 1 w 75"/>
              <a:gd name="T21" fmla="*/ 19 h 101"/>
              <a:gd name="T22" fmla="*/ 3 w 75"/>
              <a:gd name="T23" fmla="*/ 24 h 101"/>
              <a:gd name="T24" fmla="*/ 23 w 75"/>
              <a:gd name="T25" fmla="*/ 34 h 101"/>
              <a:gd name="T26" fmla="*/ 23 w 75"/>
              <a:gd name="T27" fmla="*/ 17 h 101"/>
              <a:gd name="T28" fmla="*/ 26 w 75"/>
              <a:gd name="T29" fmla="*/ 17 h 101"/>
              <a:gd name="T30" fmla="*/ 26 w 75"/>
              <a:gd name="T31" fmla="*/ 96 h 101"/>
              <a:gd name="T32" fmla="*/ 26 w 75"/>
              <a:gd name="T33" fmla="*/ 96 h 101"/>
              <a:gd name="T34" fmla="*/ 26 w 75"/>
              <a:gd name="T35" fmla="*/ 96 h 101"/>
              <a:gd name="T36" fmla="*/ 30 w 75"/>
              <a:gd name="T37" fmla="*/ 101 h 101"/>
              <a:gd name="T38" fmla="*/ 35 w 75"/>
              <a:gd name="T39" fmla="*/ 96 h 101"/>
              <a:gd name="T40" fmla="*/ 35 w 75"/>
              <a:gd name="T41" fmla="*/ 96 h 101"/>
              <a:gd name="T42" fmla="*/ 35 w 75"/>
              <a:gd name="T43" fmla="*/ 52 h 101"/>
              <a:gd name="T44" fmla="*/ 37 w 75"/>
              <a:gd name="T45" fmla="*/ 48 h 101"/>
              <a:gd name="T46" fmla="*/ 40 w 75"/>
              <a:gd name="T47" fmla="*/ 52 h 101"/>
              <a:gd name="T48" fmla="*/ 40 w 75"/>
              <a:gd name="T49" fmla="*/ 96 h 101"/>
              <a:gd name="T50" fmla="*/ 40 w 75"/>
              <a:gd name="T51" fmla="*/ 96 h 101"/>
              <a:gd name="T52" fmla="*/ 44 w 75"/>
              <a:gd name="T53" fmla="*/ 101 h 101"/>
              <a:gd name="T54" fmla="*/ 49 w 75"/>
              <a:gd name="T55" fmla="*/ 96 h 101"/>
              <a:gd name="T56" fmla="*/ 49 w 75"/>
              <a:gd name="T57" fmla="*/ 96 h 101"/>
              <a:gd name="T58" fmla="*/ 49 w 75"/>
              <a:gd name="T59" fmla="*/ 17 h 101"/>
              <a:gd name="T60" fmla="*/ 52 w 75"/>
              <a:gd name="T61" fmla="*/ 17 h 101"/>
              <a:gd name="T62" fmla="*/ 52 w 75"/>
              <a:gd name="T63" fmla="*/ 34 h 101"/>
              <a:gd name="T64" fmla="*/ 72 w 75"/>
              <a:gd name="T65" fmla="*/ 24 h 101"/>
              <a:gd name="T66" fmla="*/ 74 w 75"/>
              <a:gd name="T67" fmla="*/ 19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5" h="101">
                <a:moveTo>
                  <a:pt x="74" y="19"/>
                </a:moveTo>
                <a:cubicBezTo>
                  <a:pt x="73" y="17"/>
                  <a:pt x="71" y="16"/>
                  <a:pt x="68" y="17"/>
                </a:cubicBezTo>
                <a:cubicBezTo>
                  <a:pt x="59" y="21"/>
                  <a:pt x="59" y="21"/>
                  <a:pt x="59" y="21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13"/>
                  <a:pt x="59" y="13"/>
                  <a:pt x="59" y="12"/>
                </a:cubicBezTo>
                <a:cubicBezTo>
                  <a:pt x="59" y="1"/>
                  <a:pt x="48" y="0"/>
                  <a:pt x="37" y="0"/>
                </a:cubicBezTo>
                <a:cubicBezTo>
                  <a:pt x="26" y="0"/>
                  <a:pt x="15" y="1"/>
                  <a:pt x="15" y="12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21"/>
                  <a:pt x="15" y="21"/>
                  <a:pt x="15" y="21"/>
                </a:cubicBezTo>
                <a:cubicBezTo>
                  <a:pt x="6" y="17"/>
                  <a:pt x="6" y="17"/>
                  <a:pt x="6" y="17"/>
                </a:cubicBezTo>
                <a:cubicBezTo>
                  <a:pt x="4" y="16"/>
                  <a:pt x="2" y="17"/>
                  <a:pt x="1" y="19"/>
                </a:cubicBezTo>
                <a:cubicBezTo>
                  <a:pt x="0" y="21"/>
                  <a:pt x="1" y="23"/>
                  <a:pt x="3" y="24"/>
                </a:cubicBezTo>
                <a:cubicBezTo>
                  <a:pt x="23" y="34"/>
                  <a:pt x="23" y="34"/>
                  <a:pt x="23" y="34"/>
                </a:cubicBezTo>
                <a:cubicBezTo>
                  <a:pt x="23" y="17"/>
                  <a:pt x="23" y="17"/>
                  <a:pt x="23" y="17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96"/>
                  <a:pt x="26" y="96"/>
                  <a:pt x="26" y="96"/>
                </a:cubicBezTo>
                <a:cubicBezTo>
                  <a:pt x="26" y="96"/>
                  <a:pt x="26" y="96"/>
                  <a:pt x="26" y="96"/>
                </a:cubicBezTo>
                <a:cubicBezTo>
                  <a:pt x="26" y="96"/>
                  <a:pt x="26" y="96"/>
                  <a:pt x="26" y="96"/>
                </a:cubicBezTo>
                <a:cubicBezTo>
                  <a:pt x="26" y="99"/>
                  <a:pt x="28" y="101"/>
                  <a:pt x="30" y="101"/>
                </a:cubicBezTo>
                <a:cubicBezTo>
                  <a:pt x="33" y="101"/>
                  <a:pt x="35" y="99"/>
                  <a:pt x="35" y="96"/>
                </a:cubicBezTo>
                <a:cubicBezTo>
                  <a:pt x="35" y="96"/>
                  <a:pt x="35" y="96"/>
                  <a:pt x="35" y="96"/>
                </a:cubicBezTo>
                <a:cubicBezTo>
                  <a:pt x="35" y="52"/>
                  <a:pt x="35" y="52"/>
                  <a:pt x="35" y="52"/>
                </a:cubicBezTo>
                <a:cubicBezTo>
                  <a:pt x="35" y="50"/>
                  <a:pt x="35" y="48"/>
                  <a:pt x="37" y="48"/>
                </a:cubicBezTo>
                <a:cubicBezTo>
                  <a:pt x="39" y="48"/>
                  <a:pt x="40" y="50"/>
                  <a:pt x="40" y="52"/>
                </a:cubicBezTo>
                <a:cubicBezTo>
                  <a:pt x="40" y="96"/>
                  <a:pt x="40" y="96"/>
                  <a:pt x="40" y="96"/>
                </a:cubicBezTo>
                <a:cubicBezTo>
                  <a:pt x="40" y="96"/>
                  <a:pt x="40" y="96"/>
                  <a:pt x="40" y="96"/>
                </a:cubicBezTo>
                <a:cubicBezTo>
                  <a:pt x="40" y="99"/>
                  <a:pt x="42" y="101"/>
                  <a:pt x="44" y="101"/>
                </a:cubicBezTo>
                <a:cubicBezTo>
                  <a:pt x="47" y="101"/>
                  <a:pt x="49" y="99"/>
                  <a:pt x="49" y="96"/>
                </a:cubicBezTo>
                <a:cubicBezTo>
                  <a:pt x="49" y="96"/>
                  <a:pt x="49" y="96"/>
                  <a:pt x="49" y="96"/>
                </a:cubicBezTo>
                <a:cubicBezTo>
                  <a:pt x="49" y="17"/>
                  <a:pt x="49" y="17"/>
                  <a:pt x="49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34"/>
                  <a:pt x="52" y="34"/>
                  <a:pt x="52" y="34"/>
                </a:cubicBezTo>
                <a:cubicBezTo>
                  <a:pt x="72" y="24"/>
                  <a:pt x="72" y="24"/>
                  <a:pt x="72" y="24"/>
                </a:cubicBezTo>
                <a:cubicBezTo>
                  <a:pt x="74" y="23"/>
                  <a:pt x="75" y="21"/>
                  <a:pt x="74" y="19"/>
                </a:cubicBezTo>
                <a:close/>
              </a:path>
            </a:pathLst>
          </a:custGeom>
          <a:solidFill>
            <a:srgbClr val="4857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11"/>
          <p:cNvSpPr/>
          <p:nvPr/>
        </p:nvSpPr>
        <p:spPr>
          <a:xfrm>
            <a:off x="2602628" y="4057651"/>
            <a:ext cx="115887" cy="127000"/>
          </a:xfrm>
          <a:custGeom>
            <a:avLst/>
            <a:gdLst>
              <a:gd name="T0" fmla="*/ 0 w 18"/>
              <a:gd name="T1" fmla="*/ 10 h 20"/>
              <a:gd name="T2" fmla="*/ 9 w 18"/>
              <a:gd name="T3" fmla="*/ 20 h 20"/>
              <a:gd name="T4" fmla="*/ 18 w 18"/>
              <a:gd name="T5" fmla="*/ 10 h 20"/>
              <a:gd name="T6" fmla="*/ 9 w 18"/>
              <a:gd name="T7" fmla="*/ 0 h 20"/>
              <a:gd name="T8" fmla="*/ 0 w 18"/>
              <a:gd name="T9" fmla="*/ 1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20">
                <a:moveTo>
                  <a:pt x="0" y="10"/>
                </a:moveTo>
                <a:cubicBezTo>
                  <a:pt x="0" y="15"/>
                  <a:pt x="4" y="20"/>
                  <a:pt x="9" y="20"/>
                </a:cubicBezTo>
                <a:cubicBezTo>
                  <a:pt x="13" y="20"/>
                  <a:pt x="18" y="15"/>
                  <a:pt x="18" y="10"/>
                </a:cubicBezTo>
                <a:cubicBezTo>
                  <a:pt x="18" y="5"/>
                  <a:pt x="14" y="0"/>
                  <a:pt x="9" y="0"/>
                </a:cubicBezTo>
                <a:cubicBezTo>
                  <a:pt x="4" y="0"/>
                  <a:pt x="0" y="5"/>
                  <a:pt x="0" y="10"/>
                </a:cubicBezTo>
                <a:close/>
              </a:path>
            </a:pathLst>
          </a:custGeom>
          <a:solidFill>
            <a:srgbClr val="4857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12"/>
          <p:cNvSpPr/>
          <p:nvPr/>
        </p:nvSpPr>
        <p:spPr>
          <a:xfrm>
            <a:off x="2443878" y="4197351"/>
            <a:ext cx="363537" cy="527050"/>
          </a:xfrm>
          <a:custGeom>
            <a:avLst/>
            <a:gdLst>
              <a:gd name="T0" fmla="*/ 1 w 57"/>
              <a:gd name="T1" fmla="*/ 35 h 83"/>
              <a:gd name="T2" fmla="*/ 5 w 57"/>
              <a:gd name="T3" fmla="*/ 15 h 83"/>
              <a:gd name="T4" fmla="*/ 7 w 57"/>
              <a:gd name="T5" fmla="*/ 11 h 83"/>
              <a:gd name="T6" fmla="*/ 26 w 57"/>
              <a:gd name="T7" fmla="*/ 0 h 83"/>
              <a:gd name="T8" fmla="*/ 26 w 57"/>
              <a:gd name="T9" fmla="*/ 0 h 83"/>
              <a:gd name="T10" fmla="*/ 26 w 57"/>
              <a:gd name="T11" fmla="*/ 0 h 83"/>
              <a:gd name="T12" fmla="*/ 27 w 57"/>
              <a:gd name="T13" fmla="*/ 0 h 83"/>
              <a:gd name="T14" fmla="*/ 27 w 57"/>
              <a:gd name="T15" fmla="*/ 0 h 83"/>
              <a:gd name="T16" fmla="*/ 27 w 57"/>
              <a:gd name="T17" fmla="*/ 0 h 83"/>
              <a:gd name="T18" fmla="*/ 27 w 57"/>
              <a:gd name="T19" fmla="*/ 0 h 83"/>
              <a:gd name="T20" fmla="*/ 27 w 57"/>
              <a:gd name="T21" fmla="*/ 0 h 83"/>
              <a:gd name="T22" fmla="*/ 28 w 57"/>
              <a:gd name="T23" fmla="*/ 0 h 83"/>
              <a:gd name="T24" fmla="*/ 28 w 57"/>
              <a:gd name="T25" fmla="*/ 0 h 83"/>
              <a:gd name="T26" fmla="*/ 28 w 57"/>
              <a:gd name="T27" fmla="*/ 0 h 83"/>
              <a:gd name="T28" fmla="*/ 28 w 57"/>
              <a:gd name="T29" fmla="*/ 0 h 83"/>
              <a:gd name="T30" fmla="*/ 28 w 57"/>
              <a:gd name="T31" fmla="*/ 0 h 83"/>
              <a:gd name="T32" fmla="*/ 29 w 57"/>
              <a:gd name="T33" fmla="*/ 0 h 83"/>
              <a:gd name="T34" fmla="*/ 29 w 57"/>
              <a:gd name="T35" fmla="*/ 0 h 83"/>
              <a:gd name="T36" fmla="*/ 29 w 57"/>
              <a:gd name="T37" fmla="*/ 0 h 83"/>
              <a:gd name="T38" fmla="*/ 29 w 57"/>
              <a:gd name="T39" fmla="*/ 0 h 83"/>
              <a:gd name="T40" fmla="*/ 30 w 57"/>
              <a:gd name="T41" fmla="*/ 0 h 83"/>
              <a:gd name="T42" fmla="*/ 30 w 57"/>
              <a:gd name="T43" fmla="*/ 0 h 83"/>
              <a:gd name="T44" fmla="*/ 39 w 57"/>
              <a:gd name="T45" fmla="*/ 3 h 83"/>
              <a:gd name="T46" fmla="*/ 42 w 57"/>
              <a:gd name="T47" fmla="*/ 8 h 83"/>
              <a:gd name="T48" fmla="*/ 39 w 57"/>
              <a:gd name="T49" fmla="*/ 37 h 83"/>
              <a:gd name="T50" fmla="*/ 39 w 57"/>
              <a:gd name="T51" fmla="*/ 37 h 83"/>
              <a:gd name="T52" fmla="*/ 54 w 57"/>
              <a:gd name="T53" fmla="*/ 47 h 83"/>
              <a:gd name="T54" fmla="*/ 57 w 57"/>
              <a:gd name="T55" fmla="*/ 51 h 83"/>
              <a:gd name="T56" fmla="*/ 53 w 57"/>
              <a:gd name="T57" fmla="*/ 78 h 83"/>
              <a:gd name="T58" fmla="*/ 49 w 57"/>
              <a:gd name="T59" fmla="*/ 83 h 83"/>
              <a:gd name="T60" fmla="*/ 44 w 57"/>
              <a:gd name="T61" fmla="*/ 78 h 83"/>
              <a:gd name="T62" fmla="*/ 47 w 57"/>
              <a:gd name="T63" fmla="*/ 54 h 83"/>
              <a:gd name="T64" fmla="*/ 24 w 57"/>
              <a:gd name="T65" fmla="*/ 40 h 83"/>
              <a:gd name="T66" fmla="*/ 23 w 57"/>
              <a:gd name="T67" fmla="*/ 39 h 83"/>
              <a:gd name="T68" fmla="*/ 23 w 57"/>
              <a:gd name="T69" fmla="*/ 39 h 83"/>
              <a:gd name="T70" fmla="*/ 23 w 57"/>
              <a:gd name="T71" fmla="*/ 39 h 83"/>
              <a:gd name="T72" fmla="*/ 23 w 57"/>
              <a:gd name="T73" fmla="*/ 39 h 83"/>
              <a:gd name="T74" fmla="*/ 23 w 57"/>
              <a:gd name="T75" fmla="*/ 39 h 83"/>
              <a:gd name="T76" fmla="*/ 22 w 57"/>
              <a:gd name="T77" fmla="*/ 39 h 83"/>
              <a:gd name="T78" fmla="*/ 22 w 57"/>
              <a:gd name="T79" fmla="*/ 38 h 83"/>
              <a:gd name="T80" fmla="*/ 22 w 57"/>
              <a:gd name="T81" fmla="*/ 38 h 83"/>
              <a:gd name="T82" fmla="*/ 22 w 57"/>
              <a:gd name="T83" fmla="*/ 38 h 83"/>
              <a:gd name="T84" fmla="*/ 21 w 57"/>
              <a:gd name="T85" fmla="*/ 37 h 83"/>
              <a:gd name="T86" fmla="*/ 21 w 57"/>
              <a:gd name="T87" fmla="*/ 37 h 83"/>
              <a:gd name="T88" fmla="*/ 21 w 57"/>
              <a:gd name="T89" fmla="*/ 37 h 83"/>
              <a:gd name="T90" fmla="*/ 21 w 57"/>
              <a:gd name="T91" fmla="*/ 37 h 83"/>
              <a:gd name="T92" fmla="*/ 21 w 57"/>
              <a:gd name="T93" fmla="*/ 36 h 83"/>
              <a:gd name="T94" fmla="*/ 21 w 57"/>
              <a:gd name="T95" fmla="*/ 36 h 83"/>
              <a:gd name="T96" fmla="*/ 21 w 57"/>
              <a:gd name="T97" fmla="*/ 36 h 83"/>
              <a:gd name="T98" fmla="*/ 21 w 57"/>
              <a:gd name="T99" fmla="*/ 36 h 83"/>
              <a:gd name="T100" fmla="*/ 21 w 57"/>
              <a:gd name="T101" fmla="*/ 35 h 83"/>
              <a:gd name="T102" fmla="*/ 21 w 57"/>
              <a:gd name="T103" fmla="*/ 35 h 83"/>
              <a:gd name="T104" fmla="*/ 21 w 57"/>
              <a:gd name="T105" fmla="*/ 35 h 83"/>
              <a:gd name="T106" fmla="*/ 21 w 57"/>
              <a:gd name="T107" fmla="*/ 35 h 83"/>
              <a:gd name="T108" fmla="*/ 24 w 57"/>
              <a:gd name="T109" fmla="*/ 13 h 83"/>
              <a:gd name="T110" fmla="*/ 13 w 57"/>
              <a:gd name="T111" fmla="*/ 19 h 83"/>
              <a:gd name="T112" fmla="*/ 10 w 57"/>
              <a:gd name="T113" fmla="*/ 37 h 83"/>
              <a:gd name="T114" fmla="*/ 4 w 57"/>
              <a:gd name="T115" fmla="*/ 40 h 83"/>
              <a:gd name="T116" fmla="*/ 1 w 57"/>
              <a:gd name="T117" fmla="*/ 35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7" h="83">
                <a:moveTo>
                  <a:pt x="1" y="35"/>
                </a:moveTo>
                <a:cubicBezTo>
                  <a:pt x="5" y="15"/>
                  <a:pt x="5" y="15"/>
                  <a:pt x="5" y="15"/>
                </a:cubicBezTo>
                <a:cubicBezTo>
                  <a:pt x="5" y="13"/>
                  <a:pt x="6" y="12"/>
                  <a:pt x="7" y="11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0"/>
                  <a:pt x="26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7" y="0"/>
                  <a:pt x="28" y="0"/>
                  <a:pt x="28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30" y="0"/>
                  <a:pt x="30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9" y="3"/>
                  <a:pt x="39" y="3"/>
                  <a:pt x="39" y="3"/>
                </a:cubicBezTo>
                <a:cubicBezTo>
                  <a:pt x="41" y="4"/>
                  <a:pt x="42" y="6"/>
                  <a:pt x="42" y="8"/>
                </a:cubicBezTo>
                <a:cubicBezTo>
                  <a:pt x="39" y="37"/>
                  <a:pt x="39" y="37"/>
                  <a:pt x="39" y="37"/>
                </a:cubicBezTo>
                <a:cubicBezTo>
                  <a:pt x="39" y="37"/>
                  <a:pt x="39" y="37"/>
                  <a:pt x="39" y="37"/>
                </a:cubicBezTo>
                <a:cubicBezTo>
                  <a:pt x="54" y="47"/>
                  <a:pt x="54" y="47"/>
                  <a:pt x="54" y="47"/>
                </a:cubicBezTo>
                <a:cubicBezTo>
                  <a:pt x="56" y="47"/>
                  <a:pt x="57" y="49"/>
                  <a:pt x="57" y="51"/>
                </a:cubicBezTo>
                <a:cubicBezTo>
                  <a:pt x="53" y="78"/>
                  <a:pt x="53" y="78"/>
                  <a:pt x="53" y="78"/>
                </a:cubicBezTo>
                <a:cubicBezTo>
                  <a:pt x="53" y="81"/>
                  <a:pt x="51" y="83"/>
                  <a:pt x="49" y="83"/>
                </a:cubicBezTo>
                <a:cubicBezTo>
                  <a:pt x="46" y="83"/>
                  <a:pt x="44" y="81"/>
                  <a:pt x="44" y="78"/>
                </a:cubicBezTo>
                <a:cubicBezTo>
                  <a:pt x="47" y="54"/>
                  <a:pt x="47" y="54"/>
                  <a:pt x="47" y="54"/>
                </a:cubicBezTo>
                <a:cubicBezTo>
                  <a:pt x="24" y="40"/>
                  <a:pt x="24" y="40"/>
                  <a:pt x="24" y="40"/>
                </a:cubicBezTo>
                <a:cubicBezTo>
                  <a:pt x="23" y="40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2" y="39"/>
                  <a:pt x="22" y="39"/>
                  <a:pt x="22" y="39"/>
                </a:cubicBezTo>
                <a:cubicBezTo>
                  <a:pt x="22" y="39"/>
                  <a:pt x="22" y="38"/>
                  <a:pt x="22" y="38"/>
                </a:cubicBezTo>
                <a:cubicBezTo>
                  <a:pt x="22" y="38"/>
                  <a:pt x="22" y="38"/>
                  <a:pt x="22" y="38"/>
                </a:cubicBezTo>
                <a:cubicBezTo>
                  <a:pt x="22" y="38"/>
                  <a:pt x="22" y="38"/>
                  <a:pt x="22" y="38"/>
                </a:cubicBezTo>
                <a:cubicBezTo>
                  <a:pt x="22" y="38"/>
                  <a:pt x="22" y="38"/>
                  <a:pt x="21" y="37"/>
                </a:cubicBezTo>
                <a:cubicBezTo>
                  <a:pt x="21" y="37"/>
                  <a:pt x="21" y="37"/>
                  <a:pt x="21" y="37"/>
                </a:cubicBezTo>
                <a:cubicBezTo>
                  <a:pt x="21" y="37"/>
                  <a:pt x="21" y="37"/>
                  <a:pt x="21" y="37"/>
                </a:cubicBezTo>
                <a:cubicBezTo>
                  <a:pt x="21" y="37"/>
                  <a:pt x="21" y="37"/>
                  <a:pt x="21" y="37"/>
                </a:cubicBezTo>
                <a:cubicBezTo>
                  <a:pt x="21" y="36"/>
                  <a:pt x="21" y="36"/>
                  <a:pt x="21" y="36"/>
                </a:cubicBezTo>
                <a:cubicBezTo>
                  <a:pt x="21" y="36"/>
                  <a:pt x="21" y="36"/>
                  <a:pt x="21" y="36"/>
                </a:cubicBezTo>
                <a:cubicBezTo>
                  <a:pt x="21" y="36"/>
                  <a:pt x="21" y="36"/>
                  <a:pt x="21" y="36"/>
                </a:cubicBezTo>
                <a:cubicBezTo>
                  <a:pt x="21" y="36"/>
                  <a:pt x="21" y="36"/>
                  <a:pt x="21" y="36"/>
                </a:cubicBezTo>
                <a:cubicBezTo>
                  <a:pt x="21" y="35"/>
                  <a:pt x="21" y="35"/>
                  <a:pt x="21" y="35"/>
                </a:cubicBezTo>
                <a:cubicBezTo>
                  <a:pt x="21" y="35"/>
                  <a:pt x="21" y="35"/>
                  <a:pt x="21" y="35"/>
                </a:cubicBezTo>
                <a:cubicBezTo>
                  <a:pt x="21" y="35"/>
                  <a:pt x="21" y="35"/>
                  <a:pt x="21" y="35"/>
                </a:cubicBezTo>
                <a:cubicBezTo>
                  <a:pt x="21" y="35"/>
                  <a:pt x="21" y="35"/>
                  <a:pt x="21" y="35"/>
                </a:cubicBezTo>
                <a:cubicBezTo>
                  <a:pt x="24" y="13"/>
                  <a:pt x="24" y="13"/>
                  <a:pt x="24" y="13"/>
                </a:cubicBezTo>
                <a:cubicBezTo>
                  <a:pt x="13" y="19"/>
                  <a:pt x="13" y="19"/>
                  <a:pt x="13" y="19"/>
                </a:cubicBezTo>
                <a:cubicBezTo>
                  <a:pt x="10" y="37"/>
                  <a:pt x="10" y="37"/>
                  <a:pt x="10" y="37"/>
                </a:cubicBezTo>
                <a:cubicBezTo>
                  <a:pt x="9" y="39"/>
                  <a:pt x="7" y="41"/>
                  <a:pt x="4" y="40"/>
                </a:cubicBezTo>
                <a:cubicBezTo>
                  <a:pt x="2" y="40"/>
                  <a:pt x="0" y="37"/>
                  <a:pt x="1" y="35"/>
                </a:cubicBezTo>
                <a:close/>
              </a:path>
            </a:pathLst>
          </a:custGeom>
          <a:solidFill>
            <a:srgbClr val="4857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13"/>
          <p:cNvSpPr/>
          <p:nvPr/>
        </p:nvSpPr>
        <p:spPr>
          <a:xfrm>
            <a:off x="2539128" y="4464051"/>
            <a:ext cx="101600" cy="387350"/>
          </a:xfrm>
          <a:custGeom>
            <a:avLst/>
            <a:gdLst>
              <a:gd name="T0" fmla="*/ 0 w 16"/>
              <a:gd name="T1" fmla="*/ 55 h 61"/>
              <a:gd name="T2" fmla="*/ 8 w 16"/>
              <a:gd name="T3" fmla="*/ 1 h 61"/>
              <a:gd name="T4" fmla="*/ 8 w 16"/>
              <a:gd name="T5" fmla="*/ 0 h 61"/>
              <a:gd name="T6" fmla="*/ 16 w 16"/>
              <a:gd name="T7" fmla="*/ 5 h 61"/>
              <a:gd name="T8" fmla="*/ 9 w 16"/>
              <a:gd name="T9" fmla="*/ 57 h 61"/>
              <a:gd name="T10" fmla="*/ 4 w 16"/>
              <a:gd name="T11" fmla="*/ 61 h 61"/>
              <a:gd name="T12" fmla="*/ 0 w 16"/>
              <a:gd name="T13" fmla="*/ 55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" h="61">
                <a:moveTo>
                  <a:pt x="0" y="55"/>
                </a:moveTo>
                <a:cubicBezTo>
                  <a:pt x="8" y="1"/>
                  <a:pt x="8" y="1"/>
                  <a:pt x="8" y="1"/>
                </a:cubicBezTo>
                <a:cubicBezTo>
                  <a:pt x="8" y="0"/>
                  <a:pt x="8" y="0"/>
                  <a:pt x="8" y="0"/>
                </a:cubicBezTo>
                <a:cubicBezTo>
                  <a:pt x="16" y="5"/>
                  <a:pt x="16" y="5"/>
                  <a:pt x="16" y="5"/>
                </a:cubicBezTo>
                <a:cubicBezTo>
                  <a:pt x="9" y="57"/>
                  <a:pt x="9" y="57"/>
                  <a:pt x="9" y="57"/>
                </a:cubicBezTo>
                <a:cubicBezTo>
                  <a:pt x="9" y="59"/>
                  <a:pt x="6" y="61"/>
                  <a:pt x="4" y="61"/>
                </a:cubicBezTo>
                <a:cubicBezTo>
                  <a:pt x="1" y="60"/>
                  <a:pt x="0" y="58"/>
                  <a:pt x="0" y="55"/>
                </a:cubicBezTo>
                <a:close/>
              </a:path>
            </a:pathLst>
          </a:custGeom>
          <a:solidFill>
            <a:srgbClr val="4245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4"/>
          <p:cNvSpPr/>
          <p:nvPr/>
        </p:nvSpPr>
        <p:spPr>
          <a:xfrm>
            <a:off x="2712165" y="4311651"/>
            <a:ext cx="101600" cy="114300"/>
          </a:xfrm>
          <a:custGeom>
            <a:avLst/>
            <a:gdLst>
              <a:gd name="T0" fmla="*/ 1 w 16"/>
              <a:gd name="T1" fmla="*/ 0 h 18"/>
              <a:gd name="T2" fmla="*/ 13 w 16"/>
              <a:gd name="T3" fmla="*/ 8 h 18"/>
              <a:gd name="T4" fmla="*/ 14 w 16"/>
              <a:gd name="T5" fmla="*/ 15 h 18"/>
              <a:gd name="T6" fmla="*/ 8 w 16"/>
              <a:gd name="T7" fmla="*/ 16 h 18"/>
              <a:gd name="T8" fmla="*/ 0 w 16"/>
              <a:gd name="T9" fmla="*/ 10 h 18"/>
              <a:gd name="T10" fmla="*/ 1 w 16"/>
              <a:gd name="T11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" h="18">
                <a:moveTo>
                  <a:pt x="1" y="0"/>
                </a:moveTo>
                <a:cubicBezTo>
                  <a:pt x="13" y="8"/>
                  <a:pt x="13" y="8"/>
                  <a:pt x="13" y="8"/>
                </a:cubicBezTo>
                <a:cubicBezTo>
                  <a:pt x="15" y="10"/>
                  <a:pt x="16" y="13"/>
                  <a:pt x="14" y="15"/>
                </a:cubicBezTo>
                <a:cubicBezTo>
                  <a:pt x="13" y="17"/>
                  <a:pt x="10" y="18"/>
                  <a:pt x="8" y="16"/>
                </a:cubicBezTo>
                <a:cubicBezTo>
                  <a:pt x="0" y="10"/>
                  <a:pt x="0" y="10"/>
                  <a:pt x="0" y="10"/>
                </a:cubicBezTo>
                <a:lnTo>
                  <a:pt x="1" y="0"/>
                </a:lnTo>
                <a:close/>
              </a:path>
            </a:pathLst>
          </a:custGeom>
          <a:solidFill>
            <a:srgbClr val="4245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15"/>
          <p:cNvSpPr/>
          <p:nvPr/>
        </p:nvSpPr>
        <p:spPr>
          <a:xfrm>
            <a:off x="2380378" y="1851026"/>
            <a:ext cx="1635125" cy="1728788"/>
          </a:xfrm>
          <a:custGeom>
            <a:avLst/>
            <a:gdLst>
              <a:gd name="T0" fmla="*/ 62 w 257"/>
              <a:gd name="T1" fmla="*/ 272 h 272"/>
              <a:gd name="T2" fmla="*/ 45 w 257"/>
              <a:gd name="T3" fmla="*/ 249 h 272"/>
              <a:gd name="T4" fmla="*/ 98 w 257"/>
              <a:gd name="T5" fmla="*/ 33 h 272"/>
              <a:gd name="T6" fmla="*/ 154 w 257"/>
              <a:gd name="T7" fmla="*/ 12 h 272"/>
              <a:gd name="T8" fmla="*/ 224 w 257"/>
              <a:gd name="T9" fmla="*/ 17 h 272"/>
              <a:gd name="T10" fmla="*/ 231 w 257"/>
              <a:gd name="T11" fmla="*/ 0 h 272"/>
              <a:gd name="T12" fmla="*/ 257 w 257"/>
              <a:gd name="T13" fmla="*/ 34 h 272"/>
              <a:gd name="T14" fmla="*/ 215 w 257"/>
              <a:gd name="T15" fmla="*/ 40 h 272"/>
              <a:gd name="T16" fmla="*/ 222 w 257"/>
              <a:gd name="T17" fmla="*/ 21 h 272"/>
              <a:gd name="T18" fmla="*/ 154 w 257"/>
              <a:gd name="T19" fmla="*/ 17 h 272"/>
              <a:gd name="T20" fmla="*/ 100 w 257"/>
              <a:gd name="T21" fmla="*/ 37 h 272"/>
              <a:gd name="T22" fmla="*/ 32 w 257"/>
              <a:gd name="T23" fmla="*/ 131 h 272"/>
              <a:gd name="T24" fmla="*/ 49 w 257"/>
              <a:gd name="T25" fmla="*/ 246 h 272"/>
              <a:gd name="T26" fmla="*/ 66 w 257"/>
              <a:gd name="T27" fmla="*/ 268 h 272"/>
              <a:gd name="T28" fmla="*/ 66 w 257"/>
              <a:gd name="T29" fmla="*/ 269 h 272"/>
              <a:gd name="T30" fmla="*/ 63 w 257"/>
              <a:gd name="T31" fmla="*/ 272 h 272"/>
              <a:gd name="T32" fmla="*/ 62 w 257"/>
              <a:gd name="T33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57" h="272">
                <a:moveTo>
                  <a:pt x="62" y="272"/>
                </a:moveTo>
                <a:cubicBezTo>
                  <a:pt x="56" y="264"/>
                  <a:pt x="50" y="257"/>
                  <a:pt x="45" y="249"/>
                </a:cubicBezTo>
                <a:cubicBezTo>
                  <a:pt x="0" y="175"/>
                  <a:pt x="24" y="78"/>
                  <a:pt x="98" y="33"/>
                </a:cubicBezTo>
                <a:cubicBezTo>
                  <a:pt x="115" y="23"/>
                  <a:pt x="134" y="16"/>
                  <a:pt x="154" y="12"/>
                </a:cubicBezTo>
                <a:cubicBezTo>
                  <a:pt x="177" y="8"/>
                  <a:pt x="201" y="10"/>
                  <a:pt x="224" y="17"/>
                </a:cubicBezTo>
                <a:cubicBezTo>
                  <a:pt x="231" y="0"/>
                  <a:pt x="231" y="0"/>
                  <a:pt x="231" y="0"/>
                </a:cubicBezTo>
                <a:cubicBezTo>
                  <a:pt x="257" y="34"/>
                  <a:pt x="257" y="34"/>
                  <a:pt x="257" y="34"/>
                </a:cubicBezTo>
                <a:cubicBezTo>
                  <a:pt x="215" y="40"/>
                  <a:pt x="215" y="40"/>
                  <a:pt x="215" y="40"/>
                </a:cubicBezTo>
                <a:cubicBezTo>
                  <a:pt x="222" y="21"/>
                  <a:pt x="222" y="21"/>
                  <a:pt x="222" y="21"/>
                </a:cubicBezTo>
                <a:cubicBezTo>
                  <a:pt x="200" y="15"/>
                  <a:pt x="177" y="13"/>
                  <a:pt x="154" y="17"/>
                </a:cubicBezTo>
                <a:cubicBezTo>
                  <a:pt x="135" y="20"/>
                  <a:pt x="117" y="27"/>
                  <a:pt x="100" y="37"/>
                </a:cubicBezTo>
                <a:cubicBezTo>
                  <a:pt x="66" y="58"/>
                  <a:pt x="41" y="92"/>
                  <a:pt x="32" y="131"/>
                </a:cubicBezTo>
                <a:cubicBezTo>
                  <a:pt x="22" y="171"/>
                  <a:pt x="28" y="212"/>
                  <a:pt x="49" y="246"/>
                </a:cubicBezTo>
                <a:cubicBezTo>
                  <a:pt x="54" y="254"/>
                  <a:pt x="60" y="262"/>
                  <a:pt x="66" y="268"/>
                </a:cubicBezTo>
                <a:cubicBezTo>
                  <a:pt x="66" y="269"/>
                  <a:pt x="66" y="269"/>
                  <a:pt x="66" y="269"/>
                </a:cubicBezTo>
                <a:cubicBezTo>
                  <a:pt x="63" y="272"/>
                  <a:pt x="63" y="272"/>
                  <a:pt x="63" y="272"/>
                </a:cubicBezTo>
                <a:lnTo>
                  <a:pt x="62" y="272"/>
                </a:lnTo>
                <a:close/>
              </a:path>
            </a:pathLst>
          </a:custGeom>
          <a:solidFill>
            <a:srgbClr val="FFD09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16"/>
          <p:cNvSpPr/>
          <p:nvPr/>
        </p:nvSpPr>
        <p:spPr>
          <a:xfrm>
            <a:off x="478553" y="5399088"/>
            <a:ext cx="1597025" cy="539750"/>
          </a:xfrm>
          <a:custGeom>
            <a:avLst/>
            <a:gdLst>
              <a:gd name="T0" fmla="*/ 250 w 251"/>
              <a:gd name="T1" fmla="*/ 0 h 85"/>
              <a:gd name="T2" fmla="*/ 128 w 251"/>
              <a:gd name="T3" fmla="*/ 3 h 85"/>
              <a:gd name="T4" fmla="*/ 0 w 251"/>
              <a:gd name="T5" fmla="*/ 77 h 85"/>
              <a:gd name="T6" fmla="*/ 5 w 251"/>
              <a:gd name="T7" fmla="*/ 85 h 85"/>
              <a:gd name="T8" fmla="*/ 131 w 251"/>
              <a:gd name="T9" fmla="*/ 12 h 85"/>
              <a:gd name="T10" fmla="*/ 251 w 251"/>
              <a:gd name="T11" fmla="*/ 9 h 85"/>
              <a:gd name="T12" fmla="*/ 250 w 251"/>
              <a:gd name="T13" fmla="*/ 0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1" h="85">
                <a:moveTo>
                  <a:pt x="250" y="0"/>
                </a:moveTo>
                <a:cubicBezTo>
                  <a:pt x="128" y="3"/>
                  <a:pt x="128" y="3"/>
                  <a:pt x="128" y="3"/>
                </a:cubicBezTo>
                <a:cubicBezTo>
                  <a:pt x="0" y="77"/>
                  <a:pt x="0" y="77"/>
                  <a:pt x="0" y="77"/>
                </a:cubicBezTo>
                <a:cubicBezTo>
                  <a:pt x="5" y="85"/>
                  <a:pt x="5" y="85"/>
                  <a:pt x="5" y="85"/>
                </a:cubicBezTo>
                <a:cubicBezTo>
                  <a:pt x="131" y="12"/>
                  <a:pt x="131" y="12"/>
                  <a:pt x="131" y="12"/>
                </a:cubicBezTo>
                <a:cubicBezTo>
                  <a:pt x="251" y="9"/>
                  <a:pt x="251" y="9"/>
                  <a:pt x="251" y="9"/>
                </a:cubicBezTo>
                <a:cubicBezTo>
                  <a:pt x="251" y="6"/>
                  <a:pt x="250" y="3"/>
                  <a:pt x="250" y="0"/>
                </a:cubicBezTo>
                <a:close/>
              </a:path>
            </a:pathLst>
          </a:custGeom>
          <a:solidFill>
            <a:srgbClr val="74C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17"/>
          <p:cNvSpPr/>
          <p:nvPr/>
        </p:nvSpPr>
        <p:spPr>
          <a:xfrm>
            <a:off x="2380378" y="3935413"/>
            <a:ext cx="877887" cy="1296988"/>
          </a:xfrm>
          <a:custGeom>
            <a:avLst/>
            <a:gdLst>
              <a:gd name="T0" fmla="*/ 102 w 138"/>
              <a:gd name="T1" fmla="*/ 3 h 204"/>
              <a:gd name="T2" fmla="*/ 127 w 138"/>
              <a:gd name="T3" fmla="*/ 92 h 204"/>
              <a:gd name="T4" fmla="*/ 20 w 138"/>
              <a:gd name="T5" fmla="*/ 157 h 204"/>
              <a:gd name="T6" fmla="*/ 0 w 138"/>
              <a:gd name="T7" fmla="*/ 198 h 204"/>
              <a:gd name="T8" fmla="*/ 7 w 138"/>
              <a:gd name="T9" fmla="*/ 204 h 204"/>
              <a:gd name="T10" fmla="*/ 27 w 138"/>
              <a:gd name="T11" fmla="*/ 163 h 204"/>
              <a:gd name="T12" fmla="*/ 138 w 138"/>
              <a:gd name="T13" fmla="*/ 96 h 204"/>
              <a:gd name="T14" fmla="*/ 111 w 138"/>
              <a:gd name="T15" fmla="*/ 0 h 204"/>
              <a:gd name="T16" fmla="*/ 102 w 138"/>
              <a:gd name="T17" fmla="*/ 3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8" h="204">
                <a:moveTo>
                  <a:pt x="102" y="3"/>
                </a:moveTo>
                <a:cubicBezTo>
                  <a:pt x="127" y="92"/>
                  <a:pt x="127" y="92"/>
                  <a:pt x="127" y="92"/>
                </a:cubicBezTo>
                <a:cubicBezTo>
                  <a:pt x="20" y="157"/>
                  <a:pt x="20" y="157"/>
                  <a:pt x="20" y="157"/>
                </a:cubicBezTo>
                <a:cubicBezTo>
                  <a:pt x="0" y="198"/>
                  <a:pt x="0" y="198"/>
                  <a:pt x="0" y="198"/>
                </a:cubicBezTo>
                <a:cubicBezTo>
                  <a:pt x="3" y="200"/>
                  <a:pt x="5" y="202"/>
                  <a:pt x="7" y="204"/>
                </a:cubicBezTo>
                <a:cubicBezTo>
                  <a:pt x="27" y="163"/>
                  <a:pt x="27" y="163"/>
                  <a:pt x="27" y="163"/>
                </a:cubicBezTo>
                <a:cubicBezTo>
                  <a:pt x="138" y="96"/>
                  <a:pt x="138" y="96"/>
                  <a:pt x="138" y="96"/>
                </a:cubicBezTo>
                <a:cubicBezTo>
                  <a:pt x="111" y="0"/>
                  <a:pt x="111" y="0"/>
                  <a:pt x="111" y="0"/>
                </a:cubicBezTo>
                <a:cubicBezTo>
                  <a:pt x="108" y="2"/>
                  <a:pt x="106" y="3"/>
                  <a:pt x="102" y="3"/>
                </a:cubicBezTo>
                <a:close/>
              </a:path>
            </a:pathLst>
          </a:custGeom>
          <a:solidFill>
            <a:srgbClr val="74C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18"/>
          <p:cNvSpPr/>
          <p:nvPr/>
        </p:nvSpPr>
        <p:spPr>
          <a:xfrm>
            <a:off x="3143965" y="2428876"/>
            <a:ext cx="1106487" cy="1208088"/>
          </a:xfrm>
          <a:custGeom>
            <a:avLst/>
            <a:gdLst>
              <a:gd name="T0" fmla="*/ 169 w 174"/>
              <a:gd name="T1" fmla="*/ 0 h 190"/>
              <a:gd name="T2" fmla="*/ 165 w 174"/>
              <a:gd name="T3" fmla="*/ 0 h 190"/>
              <a:gd name="T4" fmla="*/ 165 w 174"/>
              <a:gd name="T5" fmla="*/ 78 h 190"/>
              <a:gd name="T6" fmla="*/ 0 w 174"/>
              <a:gd name="T7" fmla="*/ 182 h 190"/>
              <a:gd name="T8" fmla="*/ 5 w 174"/>
              <a:gd name="T9" fmla="*/ 190 h 190"/>
              <a:gd name="T10" fmla="*/ 174 w 174"/>
              <a:gd name="T11" fmla="*/ 83 h 190"/>
              <a:gd name="T12" fmla="*/ 174 w 174"/>
              <a:gd name="T13" fmla="*/ 0 h 190"/>
              <a:gd name="T14" fmla="*/ 169 w 174"/>
              <a:gd name="T15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4" h="190">
                <a:moveTo>
                  <a:pt x="169" y="0"/>
                </a:moveTo>
                <a:cubicBezTo>
                  <a:pt x="167" y="0"/>
                  <a:pt x="166" y="0"/>
                  <a:pt x="165" y="0"/>
                </a:cubicBezTo>
                <a:cubicBezTo>
                  <a:pt x="165" y="78"/>
                  <a:pt x="165" y="78"/>
                  <a:pt x="165" y="78"/>
                </a:cubicBezTo>
                <a:cubicBezTo>
                  <a:pt x="0" y="182"/>
                  <a:pt x="0" y="182"/>
                  <a:pt x="0" y="182"/>
                </a:cubicBezTo>
                <a:cubicBezTo>
                  <a:pt x="2" y="184"/>
                  <a:pt x="3" y="187"/>
                  <a:pt x="5" y="190"/>
                </a:cubicBezTo>
                <a:cubicBezTo>
                  <a:pt x="174" y="83"/>
                  <a:pt x="174" y="83"/>
                  <a:pt x="174" y="83"/>
                </a:cubicBezTo>
                <a:cubicBezTo>
                  <a:pt x="174" y="0"/>
                  <a:pt x="174" y="0"/>
                  <a:pt x="174" y="0"/>
                </a:cubicBezTo>
                <a:cubicBezTo>
                  <a:pt x="173" y="0"/>
                  <a:pt x="171" y="0"/>
                  <a:pt x="169" y="0"/>
                </a:cubicBezTo>
                <a:close/>
              </a:path>
            </a:pathLst>
          </a:custGeom>
          <a:solidFill>
            <a:srgbClr val="74C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19"/>
          <p:cNvSpPr/>
          <p:nvPr/>
        </p:nvSpPr>
        <p:spPr>
          <a:xfrm>
            <a:off x="4352053" y="744538"/>
            <a:ext cx="477837" cy="1347788"/>
          </a:xfrm>
          <a:custGeom>
            <a:avLst/>
            <a:gdLst>
              <a:gd name="T0" fmla="*/ 66 w 75"/>
              <a:gd name="T1" fmla="*/ 0 h 212"/>
              <a:gd name="T2" fmla="*/ 66 w 75"/>
              <a:gd name="T3" fmla="*/ 152 h 212"/>
              <a:gd name="T4" fmla="*/ 0 w 75"/>
              <a:gd name="T5" fmla="*/ 205 h 212"/>
              <a:gd name="T6" fmla="*/ 6 w 75"/>
              <a:gd name="T7" fmla="*/ 212 h 212"/>
              <a:gd name="T8" fmla="*/ 75 w 75"/>
              <a:gd name="T9" fmla="*/ 156 h 212"/>
              <a:gd name="T10" fmla="*/ 75 w 75"/>
              <a:gd name="T11" fmla="*/ 0 h 212"/>
              <a:gd name="T12" fmla="*/ 66 w 75"/>
              <a:gd name="T13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" h="212">
                <a:moveTo>
                  <a:pt x="66" y="0"/>
                </a:moveTo>
                <a:cubicBezTo>
                  <a:pt x="66" y="152"/>
                  <a:pt x="66" y="152"/>
                  <a:pt x="66" y="152"/>
                </a:cubicBezTo>
                <a:cubicBezTo>
                  <a:pt x="0" y="205"/>
                  <a:pt x="0" y="205"/>
                  <a:pt x="0" y="205"/>
                </a:cubicBezTo>
                <a:cubicBezTo>
                  <a:pt x="3" y="207"/>
                  <a:pt x="5" y="210"/>
                  <a:pt x="6" y="212"/>
                </a:cubicBezTo>
                <a:cubicBezTo>
                  <a:pt x="75" y="156"/>
                  <a:pt x="75" y="156"/>
                  <a:pt x="75" y="156"/>
                </a:cubicBezTo>
                <a:cubicBezTo>
                  <a:pt x="75" y="0"/>
                  <a:pt x="75" y="0"/>
                  <a:pt x="75" y="0"/>
                </a:cubicBezTo>
                <a:lnTo>
                  <a:pt x="66" y="0"/>
                </a:lnTo>
                <a:close/>
              </a:path>
            </a:pathLst>
          </a:custGeom>
          <a:solidFill>
            <a:srgbClr val="74C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Freeform 20"/>
          <p:cNvSpPr>
            <a:spLocks noEditPoints="1"/>
          </p:cNvSpPr>
          <p:nvPr/>
        </p:nvSpPr>
        <p:spPr>
          <a:xfrm>
            <a:off x="2813765" y="3573463"/>
            <a:ext cx="355600" cy="349250"/>
          </a:xfrm>
          <a:custGeom>
            <a:avLst/>
            <a:gdLst>
              <a:gd name="T0" fmla="*/ 28 w 56"/>
              <a:gd name="T1" fmla="*/ 0 h 55"/>
              <a:gd name="T2" fmla="*/ 0 w 56"/>
              <a:gd name="T3" fmla="*/ 28 h 55"/>
              <a:gd name="T4" fmla="*/ 28 w 56"/>
              <a:gd name="T5" fmla="*/ 55 h 55"/>
              <a:gd name="T6" fmla="*/ 56 w 56"/>
              <a:gd name="T7" fmla="*/ 28 h 55"/>
              <a:gd name="T8" fmla="*/ 28 w 56"/>
              <a:gd name="T9" fmla="*/ 0 h 55"/>
              <a:gd name="T10" fmla="*/ 46 w 56"/>
              <a:gd name="T11" fmla="*/ 32 h 55"/>
              <a:gd name="T12" fmla="*/ 32 w 56"/>
              <a:gd name="T13" fmla="*/ 32 h 55"/>
              <a:gd name="T14" fmla="*/ 32 w 56"/>
              <a:gd name="T15" fmla="*/ 46 h 55"/>
              <a:gd name="T16" fmla="*/ 24 w 56"/>
              <a:gd name="T17" fmla="*/ 46 h 55"/>
              <a:gd name="T18" fmla="*/ 24 w 56"/>
              <a:gd name="T19" fmla="*/ 32 h 55"/>
              <a:gd name="T20" fmla="*/ 9 w 56"/>
              <a:gd name="T21" fmla="*/ 32 h 55"/>
              <a:gd name="T22" fmla="*/ 9 w 56"/>
              <a:gd name="T23" fmla="*/ 24 h 55"/>
              <a:gd name="T24" fmla="*/ 24 w 56"/>
              <a:gd name="T25" fmla="*/ 24 h 55"/>
              <a:gd name="T26" fmla="*/ 24 w 56"/>
              <a:gd name="T27" fmla="*/ 9 h 55"/>
              <a:gd name="T28" fmla="*/ 32 w 56"/>
              <a:gd name="T29" fmla="*/ 9 h 55"/>
              <a:gd name="T30" fmla="*/ 32 w 56"/>
              <a:gd name="T31" fmla="*/ 24 h 55"/>
              <a:gd name="T32" fmla="*/ 46 w 56"/>
              <a:gd name="T33" fmla="*/ 24 h 55"/>
              <a:gd name="T34" fmla="*/ 46 w 56"/>
              <a:gd name="T35" fmla="*/ 32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6" h="55">
                <a:moveTo>
                  <a:pt x="28" y="0"/>
                </a:moveTo>
                <a:cubicBezTo>
                  <a:pt x="12" y="0"/>
                  <a:pt x="0" y="12"/>
                  <a:pt x="0" y="28"/>
                </a:cubicBezTo>
                <a:cubicBezTo>
                  <a:pt x="0" y="43"/>
                  <a:pt x="12" y="55"/>
                  <a:pt x="28" y="55"/>
                </a:cubicBezTo>
                <a:cubicBezTo>
                  <a:pt x="43" y="55"/>
                  <a:pt x="56" y="43"/>
                  <a:pt x="56" y="28"/>
                </a:cubicBezTo>
                <a:cubicBezTo>
                  <a:pt x="56" y="12"/>
                  <a:pt x="43" y="0"/>
                  <a:pt x="28" y="0"/>
                </a:cubicBezTo>
                <a:close/>
                <a:moveTo>
                  <a:pt x="46" y="32"/>
                </a:moveTo>
                <a:cubicBezTo>
                  <a:pt x="32" y="32"/>
                  <a:pt x="32" y="32"/>
                  <a:pt x="32" y="32"/>
                </a:cubicBezTo>
                <a:cubicBezTo>
                  <a:pt x="32" y="46"/>
                  <a:pt x="32" y="46"/>
                  <a:pt x="32" y="46"/>
                </a:cubicBezTo>
                <a:cubicBezTo>
                  <a:pt x="24" y="46"/>
                  <a:pt x="24" y="46"/>
                  <a:pt x="24" y="46"/>
                </a:cubicBezTo>
                <a:cubicBezTo>
                  <a:pt x="24" y="32"/>
                  <a:pt x="24" y="32"/>
                  <a:pt x="24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24"/>
                  <a:pt x="9" y="24"/>
                  <a:pt x="9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"/>
                  <a:pt x="24" y="9"/>
                  <a:pt x="24" y="9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24"/>
                  <a:pt x="32" y="24"/>
                  <a:pt x="32" y="24"/>
                </a:cubicBezTo>
                <a:cubicBezTo>
                  <a:pt x="46" y="24"/>
                  <a:pt x="46" y="24"/>
                  <a:pt x="46" y="24"/>
                </a:cubicBezTo>
                <a:lnTo>
                  <a:pt x="46" y="32"/>
                </a:lnTo>
                <a:close/>
              </a:path>
            </a:pathLst>
          </a:custGeom>
          <a:solidFill>
            <a:srgbClr val="4245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Freeform 21"/>
          <p:cNvSpPr>
            <a:spLocks noEditPoints="1"/>
          </p:cNvSpPr>
          <p:nvPr/>
        </p:nvSpPr>
        <p:spPr>
          <a:xfrm>
            <a:off x="2100978" y="5207001"/>
            <a:ext cx="355600" cy="357188"/>
          </a:xfrm>
          <a:custGeom>
            <a:avLst/>
            <a:gdLst>
              <a:gd name="T0" fmla="*/ 28 w 56"/>
              <a:gd name="T1" fmla="*/ 0 h 56"/>
              <a:gd name="T2" fmla="*/ 0 w 56"/>
              <a:gd name="T3" fmla="*/ 28 h 56"/>
              <a:gd name="T4" fmla="*/ 28 w 56"/>
              <a:gd name="T5" fmla="*/ 56 h 56"/>
              <a:gd name="T6" fmla="*/ 56 w 56"/>
              <a:gd name="T7" fmla="*/ 28 h 56"/>
              <a:gd name="T8" fmla="*/ 28 w 56"/>
              <a:gd name="T9" fmla="*/ 0 h 56"/>
              <a:gd name="T10" fmla="*/ 46 w 56"/>
              <a:gd name="T11" fmla="*/ 32 h 56"/>
              <a:gd name="T12" fmla="*/ 32 w 56"/>
              <a:gd name="T13" fmla="*/ 32 h 56"/>
              <a:gd name="T14" fmla="*/ 32 w 56"/>
              <a:gd name="T15" fmla="*/ 47 h 56"/>
              <a:gd name="T16" fmla="*/ 24 w 56"/>
              <a:gd name="T17" fmla="*/ 47 h 56"/>
              <a:gd name="T18" fmla="*/ 24 w 56"/>
              <a:gd name="T19" fmla="*/ 32 h 56"/>
              <a:gd name="T20" fmla="*/ 9 w 56"/>
              <a:gd name="T21" fmla="*/ 32 h 56"/>
              <a:gd name="T22" fmla="*/ 9 w 56"/>
              <a:gd name="T23" fmla="*/ 24 h 56"/>
              <a:gd name="T24" fmla="*/ 24 w 56"/>
              <a:gd name="T25" fmla="*/ 24 h 56"/>
              <a:gd name="T26" fmla="*/ 24 w 56"/>
              <a:gd name="T27" fmla="*/ 9 h 56"/>
              <a:gd name="T28" fmla="*/ 32 w 56"/>
              <a:gd name="T29" fmla="*/ 9 h 56"/>
              <a:gd name="T30" fmla="*/ 32 w 56"/>
              <a:gd name="T31" fmla="*/ 24 h 56"/>
              <a:gd name="T32" fmla="*/ 46 w 56"/>
              <a:gd name="T33" fmla="*/ 24 h 56"/>
              <a:gd name="T34" fmla="*/ 46 w 56"/>
              <a:gd name="T35" fmla="*/ 32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6" h="56">
                <a:moveTo>
                  <a:pt x="28" y="0"/>
                </a:moveTo>
                <a:cubicBezTo>
                  <a:pt x="12" y="0"/>
                  <a:pt x="0" y="13"/>
                  <a:pt x="0" y="28"/>
                </a:cubicBezTo>
                <a:cubicBezTo>
                  <a:pt x="0" y="43"/>
                  <a:pt x="12" y="56"/>
                  <a:pt x="28" y="56"/>
                </a:cubicBezTo>
                <a:cubicBezTo>
                  <a:pt x="43" y="56"/>
                  <a:pt x="56" y="43"/>
                  <a:pt x="56" y="28"/>
                </a:cubicBezTo>
                <a:cubicBezTo>
                  <a:pt x="56" y="13"/>
                  <a:pt x="43" y="0"/>
                  <a:pt x="28" y="0"/>
                </a:cubicBezTo>
                <a:close/>
                <a:moveTo>
                  <a:pt x="46" y="32"/>
                </a:moveTo>
                <a:cubicBezTo>
                  <a:pt x="32" y="32"/>
                  <a:pt x="32" y="32"/>
                  <a:pt x="32" y="32"/>
                </a:cubicBezTo>
                <a:cubicBezTo>
                  <a:pt x="32" y="47"/>
                  <a:pt x="32" y="47"/>
                  <a:pt x="32" y="47"/>
                </a:cubicBezTo>
                <a:cubicBezTo>
                  <a:pt x="24" y="47"/>
                  <a:pt x="24" y="47"/>
                  <a:pt x="24" y="47"/>
                </a:cubicBezTo>
                <a:cubicBezTo>
                  <a:pt x="24" y="32"/>
                  <a:pt x="24" y="32"/>
                  <a:pt x="24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24"/>
                  <a:pt x="9" y="24"/>
                  <a:pt x="9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"/>
                  <a:pt x="24" y="9"/>
                  <a:pt x="24" y="9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24"/>
                  <a:pt x="32" y="24"/>
                  <a:pt x="32" y="24"/>
                </a:cubicBezTo>
                <a:cubicBezTo>
                  <a:pt x="46" y="24"/>
                  <a:pt x="46" y="24"/>
                  <a:pt x="46" y="24"/>
                </a:cubicBezTo>
                <a:lnTo>
                  <a:pt x="46" y="32"/>
                </a:lnTo>
                <a:close/>
              </a:path>
            </a:pathLst>
          </a:custGeom>
          <a:solidFill>
            <a:srgbClr val="FFD09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22"/>
          <p:cNvSpPr>
            <a:spLocks noEditPoints="1"/>
          </p:cNvSpPr>
          <p:nvPr/>
        </p:nvSpPr>
        <p:spPr>
          <a:xfrm>
            <a:off x="4047253" y="2041526"/>
            <a:ext cx="355600" cy="355600"/>
          </a:xfrm>
          <a:custGeom>
            <a:avLst/>
            <a:gdLst>
              <a:gd name="T0" fmla="*/ 28 w 56"/>
              <a:gd name="T1" fmla="*/ 0 h 56"/>
              <a:gd name="T2" fmla="*/ 0 w 56"/>
              <a:gd name="T3" fmla="*/ 28 h 56"/>
              <a:gd name="T4" fmla="*/ 28 w 56"/>
              <a:gd name="T5" fmla="*/ 56 h 56"/>
              <a:gd name="T6" fmla="*/ 56 w 56"/>
              <a:gd name="T7" fmla="*/ 28 h 56"/>
              <a:gd name="T8" fmla="*/ 28 w 56"/>
              <a:gd name="T9" fmla="*/ 0 h 56"/>
              <a:gd name="T10" fmla="*/ 46 w 56"/>
              <a:gd name="T11" fmla="*/ 32 h 56"/>
              <a:gd name="T12" fmla="*/ 32 w 56"/>
              <a:gd name="T13" fmla="*/ 32 h 56"/>
              <a:gd name="T14" fmla="*/ 32 w 56"/>
              <a:gd name="T15" fmla="*/ 47 h 56"/>
              <a:gd name="T16" fmla="*/ 24 w 56"/>
              <a:gd name="T17" fmla="*/ 47 h 56"/>
              <a:gd name="T18" fmla="*/ 24 w 56"/>
              <a:gd name="T19" fmla="*/ 32 h 56"/>
              <a:gd name="T20" fmla="*/ 9 w 56"/>
              <a:gd name="T21" fmla="*/ 32 h 56"/>
              <a:gd name="T22" fmla="*/ 9 w 56"/>
              <a:gd name="T23" fmla="*/ 24 h 56"/>
              <a:gd name="T24" fmla="*/ 24 w 56"/>
              <a:gd name="T25" fmla="*/ 24 h 56"/>
              <a:gd name="T26" fmla="*/ 24 w 56"/>
              <a:gd name="T27" fmla="*/ 9 h 56"/>
              <a:gd name="T28" fmla="*/ 32 w 56"/>
              <a:gd name="T29" fmla="*/ 9 h 56"/>
              <a:gd name="T30" fmla="*/ 32 w 56"/>
              <a:gd name="T31" fmla="*/ 24 h 56"/>
              <a:gd name="T32" fmla="*/ 46 w 56"/>
              <a:gd name="T33" fmla="*/ 24 h 56"/>
              <a:gd name="T34" fmla="*/ 46 w 56"/>
              <a:gd name="T35" fmla="*/ 32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6" h="56">
                <a:moveTo>
                  <a:pt x="28" y="0"/>
                </a:moveTo>
                <a:cubicBezTo>
                  <a:pt x="12" y="0"/>
                  <a:pt x="0" y="13"/>
                  <a:pt x="0" y="28"/>
                </a:cubicBezTo>
                <a:cubicBezTo>
                  <a:pt x="0" y="43"/>
                  <a:pt x="12" y="56"/>
                  <a:pt x="28" y="56"/>
                </a:cubicBezTo>
                <a:cubicBezTo>
                  <a:pt x="43" y="56"/>
                  <a:pt x="56" y="43"/>
                  <a:pt x="56" y="28"/>
                </a:cubicBezTo>
                <a:cubicBezTo>
                  <a:pt x="56" y="13"/>
                  <a:pt x="43" y="0"/>
                  <a:pt x="28" y="0"/>
                </a:cubicBezTo>
                <a:close/>
                <a:moveTo>
                  <a:pt x="46" y="32"/>
                </a:moveTo>
                <a:cubicBezTo>
                  <a:pt x="32" y="32"/>
                  <a:pt x="32" y="32"/>
                  <a:pt x="32" y="32"/>
                </a:cubicBezTo>
                <a:cubicBezTo>
                  <a:pt x="32" y="47"/>
                  <a:pt x="32" y="47"/>
                  <a:pt x="32" y="47"/>
                </a:cubicBezTo>
                <a:cubicBezTo>
                  <a:pt x="24" y="47"/>
                  <a:pt x="24" y="47"/>
                  <a:pt x="24" y="47"/>
                </a:cubicBezTo>
                <a:cubicBezTo>
                  <a:pt x="24" y="32"/>
                  <a:pt x="24" y="32"/>
                  <a:pt x="24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24"/>
                  <a:pt x="9" y="24"/>
                  <a:pt x="9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"/>
                  <a:pt x="24" y="9"/>
                  <a:pt x="24" y="9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24"/>
                  <a:pt x="32" y="24"/>
                  <a:pt x="32" y="24"/>
                </a:cubicBezTo>
                <a:cubicBezTo>
                  <a:pt x="46" y="24"/>
                  <a:pt x="46" y="24"/>
                  <a:pt x="46" y="24"/>
                </a:cubicBezTo>
                <a:lnTo>
                  <a:pt x="46" y="32"/>
                </a:lnTo>
                <a:close/>
              </a:path>
            </a:pathLst>
          </a:custGeom>
          <a:solidFill>
            <a:srgbClr val="FFD09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Freeform 23"/>
          <p:cNvSpPr/>
          <p:nvPr/>
        </p:nvSpPr>
        <p:spPr>
          <a:xfrm>
            <a:off x="4613990" y="452438"/>
            <a:ext cx="368300" cy="419100"/>
          </a:xfrm>
          <a:custGeom>
            <a:avLst/>
            <a:gdLst>
              <a:gd name="T0" fmla="*/ 0 w 232"/>
              <a:gd name="T1" fmla="*/ 264 h 264"/>
              <a:gd name="T2" fmla="*/ 116 w 232"/>
              <a:gd name="T3" fmla="*/ 0 h 264"/>
              <a:gd name="T4" fmla="*/ 232 w 232"/>
              <a:gd name="T5" fmla="*/ 260 h 264"/>
              <a:gd name="T6" fmla="*/ 0 w 232"/>
              <a:gd name="T7" fmla="*/ 264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64">
                <a:moveTo>
                  <a:pt x="0" y="264"/>
                </a:moveTo>
                <a:lnTo>
                  <a:pt x="116" y="0"/>
                </a:lnTo>
                <a:lnTo>
                  <a:pt x="232" y="260"/>
                </a:lnTo>
                <a:lnTo>
                  <a:pt x="0" y="264"/>
                </a:lnTo>
                <a:close/>
              </a:path>
            </a:pathLst>
          </a:custGeom>
          <a:solidFill>
            <a:srgbClr val="74C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33288" y="1877462"/>
            <a:ext cx="224213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485766"/>
                </a:solidFill>
              </a:rPr>
              <a:t>技术层面去偏见忽视了设计者或用户自身内化的社会观念​，也是偏见的重要来源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321765" y="3868220"/>
            <a:ext cx="2308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485766"/>
                </a:solidFill>
              </a:rPr>
              <a:t>人与</a:t>
            </a:r>
            <a:r>
              <a:rPr lang="en-US" altLang="zh-CN" sz="2400" b="1" dirty="0">
                <a:solidFill>
                  <a:srgbClr val="485766"/>
                </a:solidFill>
              </a:rPr>
              <a:t>AI</a:t>
            </a:r>
            <a:r>
              <a:rPr lang="zh-CN" altLang="en-US" sz="2400" b="1" dirty="0">
                <a:solidFill>
                  <a:srgbClr val="485766"/>
                </a:solidFill>
              </a:rPr>
              <a:t>协同创造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473484" y="530225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485766"/>
                </a:solidFill>
              </a:rPr>
              <a:t>人使用工具</a:t>
            </a:r>
          </a:p>
        </p:txBody>
      </p:sp>
      <p:sp>
        <p:nvSpPr>
          <p:cNvPr id="1434" name="文本框 1433"/>
          <p:cNvSpPr txBox="1"/>
          <p:nvPr/>
        </p:nvSpPr>
        <p:spPr>
          <a:xfrm>
            <a:off x="7063528" y="3636964"/>
            <a:ext cx="4377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latin typeface="Myriad Pro Light" panose="020B0403030403020204" pitchFamily="34" charset="0"/>
              </a:rPr>
              <a:t>研究背景</a:t>
            </a:r>
            <a:endParaRPr lang="zh-CN" altLang="en-US" sz="4400" b="1" dirty="0">
              <a:solidFill>
                <a:srgbClr val="74CEC4"/>
              </a:solidFill>
              <a:latin typeface="Myriad Pro Light" panose="020B0403030403020204" pitchFamily="34" charset="0"/>
            </a:endParaRPr>
          </a:p>
        </p:txBody>
      </p:sp>
      <p:grpSp>
        <p:nvGrpSpPr>
          <p:cNvPr id="1438" name="组合"/>
          <p:cNvGrpSpPr/>
          <p:nvPr/>
        </p:nvGrpSpPr>
        <p:grpSpPr>
          <a:xfrm>
            <a:off x="7992711" y="1426255"/>
            <a:ext cx="2519362" cy="2066925"/>
            <a:chOff x="5057" y="926"/>
            <a:chExt cx="1587" cy="1302"/>
          </a:xfrm>
        </p:grpSpPr>
        <p:sp>
          <p:nvSpPr>
            <p:cNvPr id="1439" name="AutoShape 1423"/>
            <p:cNvSpPr>
              <a:spLocks noChangeAspect="1" noChangeArrowheads="1" noTextEdit="1"/>
            </p:cNvSpPr>
            <p:nvPr/>
          </p:nvSpPr>
          <p:spPr>
            <a:xfrm>
              <a:off x="5057" y="926"/>
              <a:ext cx="1587" cy="1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0" name="Oval 1425"/>
            <p:cNvSpPr>
              <a:spLocks noChangeArrowheads="1"/>
            </p:cNvSpPr>
            <p:nvPr/>
          </p:nvSpPr>
          <p:spPr>
            <a:xfrm>
              <a:off x="5188" y="922"/>
              <a:ext cx="191" cy="207"/>
            </a:xfrm>
            <a:prstGeom prst="ellipse">
              <a:avLst/>
            </a:prstGeom>
            <a:solidFill>
              <a:srgbClr val="74CE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1" name="Freeform 1426"/>
            <p:cNvSpPr/>
            <p:nvPr/>
          </p:nvSpPr>
          <p:spPr>
            <a:xfrm>
              <a:off x="5053" y="1165"/>
              <a:ext cx="461" cy="1059"/>
            </a:xfrm>
            <a:custGeom>
              <a:avLst/>
              <a:gdLst>
                <a:gd name="T0" fmla="*/ 116 w 116"/>
                <a:gd name="T1" fmla="*/ 34 h 266"/>
                <a:gd name="T2" fmla="*/ 58 w 116"/>
                <a:gd name="T3" fmla="*/ 0 h 266"/>
                <a:gd name="T4" fmla="*/ 0 w 116"/>
                <a:gd name="T5" fmla="*/ 34 h 266"/>
                <a:gd name="T6" fmla="*/ 0 w 116"/>
                <a:gd name="T7" fmla="*/ 34 h 266"/>
                <a:gd name="T8" fmla="*/ 0 w 116"/>
                <a:gd name="T9" fmla="*/ 137 h 266"/>
                <a:gd name="T10" fmla="*/ 10 w 116"/>
                <a:gd name="T11" fmla="*/ 148 h 266"/>
                <a:gd name="T12" fmla="*/ 21 w 116"/>
                <a:gd name="T13" fmla="*/ 137 h 266"/>
                <a:gd name="T14" fmla="*/ 21 w 116"/>
                <a:gd name="T15" fmla="*/ 45 h 266"/>
                <a:gd name="T16" fmla="*/ 27 w 116"/>
                <a:gd name="T17" fmla="*/ 45 h 266"/>
                <a:gd name="T18" fmla="*/ 27 w 116"/>
                <a:gd name="T19" fmla="*/ 252 h 266"/>
                <a:gd name="T20" fmla="*/ 27 w 116"/>
                <a:gd name="T21" fmla="*/ 252 h 266"/>
                <a:gd name="T22" fmla="*/ 27 w 116"/>
                <a:gd name="T23" fmla="*/ 252 h 266"/>
                <a:gd name="T24" fmla="*/ 40 w 116"/>
                <a:gd name="T25" fmla="*/ 266 h 266"/>
                <a:gd name="T26" fmla="*/ 52 w 116"/>
                <a:gd name="T27" fmla="*/ 254 h 266"/>
                <a:gd name="T28" fmla="*/ 52 w 116"/>
                <a:gd name="T29" fmla="*/ 253 h 266"/>
                <a:gd name="T30" fmla="*/ 52 w 116"/>
                <a:gd name="T31" fmla="*/ 139 h 266"/>
                <a:gd name="T32" fmla="*/ 58 w 116"/>
                <a:gd name="T33" fmla="*/ 128 h 266"/>
                <a:gd name="T34" fmla="*/ 64 w 116"/>
                <a:gd name="T35" fmla="*/ 139 h 266"/>
                <a:gd name="T36" fmla="*/ 64 w 116"/>
                <a:gd name="T37" fmla="*/ 253 h 266"/>
                <a:gd name="T38" fmla="*/ 64 w 116"/>
                <a:gd name="T39" fmla="*/ 254 h 266"/>
                <a:gd name="T40" fmla="*/ 76 w 116"/>
                <a:gd name="T41" fmla="*/ 266 h 266"/>
                <a:gd name="T42" fmla="*/ 89 w 116"/>
                <a:gd name="T43" fmla="*/ 252 h 266"/>
                <a:gd name="T44" fmla="*/ 89 w 116"/>
                <a:gd name="T45" fmla="*/ 252 h 266"/>
                <a:gd name="T46" fmla="*/ 89 w 116"/>
                <a:gd name="T47" fmla="*/ 252 h 266"/>
                <a:gd name="T48" fmla="*/ 89 w 116"/>
                <a:gd name="T49" fmla="*/ 45 h 266"/>
                <a:gd name="T50" fmla="*/ 95 w 116"/>
                <a:gd name="T51" fmla="*/ 45 h 266"/>
                <a:gd name="T52" fmla="*/ 95 w 116"/>
                <a:gd name="T53" fmla="*/ 137 h 266"/>
                <a:gd name="T54" fmla="*/ 106 w 116"/>
                <a:gd name="T55" fmla="*/ 148 h 266"/>
                <a:gd name="T56" fmla="*/ 116 w 116"/>
                <a:gd name="T57" fmla="*/ 137 h 266"/>
                <a:gd name="T58" fmla="*/ 116 w 116"/>
                <a:gd name="T59" fmla="*/ 34 h 266"/>
                <a:gd name="T60" fmla="*/ 116 w 116"/>
                <a:gd name="T61" fmla="*/ 34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6" h="266">
                  <a:moveTo>
                    <a:pt x="116" y="34"/>
                  </a:moveTo>
                  <a:cubicBezTo>
                    <a:pt x="115" y="3"/>
                    <a:pt x="87" y="0"/>
                    <a:pt x="58" y="0"/>
                  </a:cubicBezTo>
                  <a:cubicBezTo>
                    <a:pt x="29" y="0"/>
                    <a:pt x="1" y="3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44"/>
                    <a:pt x="5" y="148"/>
                    <a:pt x="10" y="148"/>
                  </a:cubicBezTo>
                  <a:cubicBezTo>
                    <a:pt x="16" y="148"/>
                    <a:pt x="21" y="144"/>
                    <a:pt x="21" y="13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7" y="260"/>
                    <a:pt x="33" y="266"/>
                    <a:pt x="40" y="266"/>
                  </a:cubicBezTo>
                  <a:cubicBezTo>
                    <a:pt x="46" y="266"/>
                    <a:pt x="51" y="261"/>
                    <a:pt x="52" y="254"/>
                  </a:cubicBezTo>
                  <a:cubicBezTo>
                    <a:pt x="52" y="254"/>
                    <a:pt x="52" y="253"/>
                    <a:pt x="52" y="253"/>
                  </a:cubicBezTo>
                  <a:cubicBezTo>
                    <a:pt x="52" y="139"/>
                    <a:pt x="52" y="139"/>
                    <a:pt x="52" y="139"/>
                  </a:cubicBezTo>
                  <a:cubicBezTo>
                    <a:pt x="52" y="133"/>
                    <a:pt x="53" y="128"/>
                    <a:pt x="58" y="128"/>
                  </a:cubicBezTo>
                  <a:cubicBezTo>
                    <a:pt x="63" y="128"/>
                    <a:pt x="64" y="133"/>
                    <a:pt x="64" y="139"/>
                  </a:cubicBezTo>
                  <a:cubicBezTo>
                    <a:pt x="64" y="253"/>
                    <a:pt x="64" y="253"/>
                    <a:pt x="64" y="253"/>
                  </a:cubicBezTo>
                  <a:cubicBezTo>
                    <a:pt x="64" y="253"/>
                    <a:pt x="64" y="254"/>
                    <a:pt x="64" y="254"/>
                  </a:cubicBezTo>
                  <a:cubicBezTo>
                    <a:pt x="65" y="261"/>
                    <a:pt x="70" y="266"/>
                    <a:pt x="76" y="266"/>
                  </a:cubicBezTo>
                  <a:cubicBezTo>
                    <a:pt x="83" y="266"/>
                    <a:pt x="89" y="260"/>
                    <a:pt x="89" y="252"/>
                  </a:cubicBezTo>
                  <a:cubicBezTo>
                    <a:pt x="89" y="252"/>
                    <a:pt x="89" y="252"/>
                    <a:pt x="89" y="252"/>
                  </a:cubicBezTo>
                  <a:cubicBezTo>
                    <a:pt x="89" y="252"/>
                    <a:pt x="89" y="252"/>
                    <a:pt x="89" y="252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5" y="144"/>
                    <a:pt x="100" y="148"/>
                    <a:pt x="106" y="148"/>
                  </a:cubicBezTo>
                  <a:cubicBezTo>
                    <a:pt x="112" y="148"/>
                    <a:pt x="116" y="144"/>
                    <a:pt x="116" y="137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6" y="34"/>
                    <a:pt x="116" y="34"/>
                    <a:pt x="116" y="34"/>
                  </a:cubicBezTo>
                  <a:close/>
                </a:path>
              </a:pathLst>
            </a:custGeom>
            <a:solidFill>
              <a:srgbClr val="74CE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2" name="Oval 1427"/>
            <p:cNvSpPr>
              <a:spLocks noChangeArrowheads="1"/>
            </p:cNvSpPr>
            <p:nvPr/>
          </p:nvSpPr>
          <p:spPr>
            <a:xfrm>
              <a:off x="6155" y="922"/>
              <a:ext cx="191" cy="207"/>
            </a:xfrm>
            <a:prstGeom prst="ellipse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3" name="Freeform 1428"/>
            <p:cNvSpPr/>
            <p:nvPr/>
          </p:nvSpPr>
          <p:spPr>
            <a:xfrm>
              <a:off x="6023" y="1165"/>
              <a:ext cx="625" cy="1059"/>
            </a:xfrm>
            <a:custGeom>
              <a:avLst/>
              <a:gdLst>
                <a:gd name="T0" fmla="*/ 153 w 157"/>
                <a:gd name="T1" fmla="*/ 35 h 266"/>
                <a:gd name="T2" fmla="*/ 138 w 157"/>
                <a:gd name="T3" fmla="*/ 36 h 266"/>
                <a:gd name="T4" fmla="*/ 117 w 157"/>
                <a:gd name="T5" fmla="*/ 56 h 266"/>
                <a:gd name="T6" fmla="*/ 117 w 157"/>
                <a:gd name="T7" fmla="*/ 34 h 266"/>
                <a:gd name="T8" fmla="*/ 117 w 157"/>
                <a:gd name="T9" fmla="*/ 34 h 266"/>
                <a:gd name="T10" fmla="*/ 58 w 157"/>
                <a:gd name="T11" fmla="*/ 0 h 266"/>
                <a:gd name="T12" fmla="*/ 0 w 157"/>
                <a:gd name="T13" fmla="*/ 34 h 266"/>
                <a:gd name="T14" fmla="*/ 0 w 157"/>
                <a:gd name="T15" fmla="*/ 34 h 266"/>
                <a:gd name="T16" fmla="*/ 0 w 157"/>
                <a:gd name="T17" fmla="*/ 137 h 266"/>
                <a:gd name="T18" fmla="*/ 11 w 157"/>
                <a:gd name="T19" fmla="*/ 148 h 266"/>
                <a:gd name="T20" fmla="*/ 21 w 157"/>
                <a:gd name="T21" fmla="*/ 137 h 266"/>
                <a:gd name="T22" fmla="*/ 21 w 157"/>
                <a:gd name="T23" fmla="*/ 45 h 266"/>
                <a:gd name="T24" fmla="*/ 28 w 157"/>
                <a:gd name="T25" fmla="*/ 45 h 266"/>
                <a:gd name="T26" fmla="*/ 28 w 157"/>
                <a:gd name="T27" fmla="*/ 252 h 266"/>
                <a:gd name="T28" fmla="*/ 28 w 157"/>
                <a:gd name="T29" fmla="*/ 252 h 266"/>
                <a:gd name="T30" fmla="*/ 28 w 157"/>
                <a:gd name="T31" fmla="*/ 252 h 266"/>
                <a:gd name="T32" fmla="*/ 40 w 157"/>
                <a:gd name="T33" fmla="*/ 266 h 266"/>
                <a:gd name="T34" fmla="*/ 52 w 157"/>
                <a:gd name="T35" fmla="*/ 254 h 266"/>
                <a:gd name="T36" fmla="*/ 52 w 157"/>
                <a:gd name="T37" fmla="*/ 253 h 266"/>
                <a:gd name="T38" fmla="*/ 52 w 157"/>
                <a:gd name="T39" fmla="*/ 139 h 266"/>
                <a:gd name="T40" fmla="*/ 58 w 157"/>
                <a:gd name="T41" fmla="*/ 128 h 266"/>
                <a:gd name="T42" fmla="*/ 64 w 157"/>
                <a:gd name="T43" fmla="*/ 139 h 266"/>
                <a:gd name="T44" fmla="*/ 64 w 157"/>
                <a:gd name="T45" fmla="*/ 253 h 266"/>
                <a:gd name="T46" fmla="*/ 64 w 157"/>
                <a:gd name="T47" fmla="*/ 254 h 266"/>
                <a:gd name="T48" fmla="*/ 77 w 157"/>
                <a:gd name="T49" fmla="*/ 266 h 266"/>
                <a:gd name="T50" fmla="*/ 89 w 157"/>
                <a:gd name="T51" fmla="*/ 252 h 266"/>
                <a:gd name="T52" fmla="*/ 89 w 157"/>
                <a:gd name="T53" fmla="*/ 252 h 266"/>
                <a:gd name="T54" fmla="*/ 89 w 157"/>
                <a:gd name="T55" fmla="*/ 45 h 266"/>
                <a:gd name="T56" fmla="*/ 96 w 157"/>
                <a:gd name="T57" fmla="*/ 45 h 266"/>
                <a:gd name="T58" fmla="*/ 96 w 157"/>
                <a:gd name="T59" fmla="*/ 77 h 266"/>
                <a:gd name="T60" fmla="*/ 96 w 157"/>
                <a:gd name="T61" fmla="*/ 86 h 266"/>
                <a:gd name="T62" fmla="*/ 96 w 157"/>
                <a:gd name="T63" fmla="*/ 107 h 266"/>
                <a:gd name="T64" fmla="*/ 152 w 157"/>
                <a:gd name="T65" fmla="*/ 50 h 266"/>
                <a:gd name="T66" fmla="*/ 153 w 157"/>
                <a:gd name="T67" fmla="*/ 35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7" h="266">
                  <a:moveTo>
                    <a:pt x="153" y="35"/>
                  </a:moveTo>
                  <a:cubicBezTo>
                    <a:pt x="149" y="31"/>
                    <a:pt x="142" y="31"/>
                    <a:pt x="138" y="36"/>
                  </a:cubicBezTo>
                  <a:cubicBezTo>
                    <a:pt x="117" y="56"/>
                    <a:pt x="117" y="56"/>
                    <a:pt x="117" y="56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6" y="3"/>
                    <a:pt x="88" y="0"/>
                    <a:pt x="58" y="0"/>
                  </a:cubicBezTo>
                  <a:cubicBezTo>
                    <a:pt x="29" y="0"/>
                    <a:pt x="1" y="3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44"/>
                    <a:pt x="5" y="148"/>
                    <a:pt x="11" y="148"/>
                  </a:cubicBezTo>
                  <a:cubicBezTo>
                    <a:pt x="16" y="148"/>
                    <a:pt x="21" y="144"/>
                    <a:pt x="21" y="13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8" y="252"/>
                    <a:pt x="28" y="252"/>
                    <a:pt x="28" y="252"/>
                  </a:cubicBezTo>
                  <a:cubicBezTo>
                    <a:pt x="28" y="252"/>
                    <a:pt x="28" y="252"/>
                    <a:pt x="28" y="252"/>
                  </a:cubicBezTo>
                  <a:cubicBezTo>
                    <a:pt x="28" y="252"/>
                    <a:pt x="28" y="252"/>
                    <a:pt x="28" y="252"/>
                  </a:cubicBezTo>
                  <a:cubicBezTo>
                    <a:pt x="28" y="260"/>
                    <a:pt x="33" y="266"/>
                    <a:pt x="40" y="266"/>
                  </a:cubicBezTo>
                  <a:cubicBezTo>
                    <a:pt x="46" y="266"/>
                    <a:pt x="51" y="260"/>
                    <a:pt x="52" y="254"/>
                  </a:cubicBezTo>
                  <a:cubicBezTo>
                    <a:pt x="52" y="254"/>
                    <a:pt x="52" y="253"/>
                    <a:pt x="52" y="253"/>
                  </a:cubicBezTo>
                  <a:cubicBezTo>
                    <a:pt x="52" y="139"/>
                    <a:pt x="52" y="139"/>
                    <a:pt x="52" y="139"/>
                  </a:cubicBezTo>
                  <a:cubicBezTo>
                    <a:pt x="52" y="133"/>
                    <a:pt x="53" y="128"/>
                    <a:pt x="58" y="128"/>
                  </a:cubicBezTo>
                  <a:cubicBezTo>
                    <a:pt x="64" y="128"/>
                    <a:pt x="64" y="133"/>
                    <a:pt x="64" y="139"/>
                  </a:cubicBezTo>
                  <a:cubicBezTo>
                    <a:pt x="64" y="253"/>
                    <a:pt x="64" y="253"/>
                    <a:pt x="64" y="253"/>
                  </a:cubicBezTo>
                  <a:cubicBezTo>
                    <a:pt x="64" y="253"/>
                    <a:pt x="64" y="254"/>
                    <a:pt x="64" y="254"/>
                  </a:cubicBezTo>
                  <a:cubicBezTo>
                    <a:pt x="65" y="260"/>
                    <a:pt x="70" y="266"/>
                    <a:pt x="77" y="266"/>
                  </a:cubicBezTo>
                  <a:cubicBezTo>
                    <a:pt x="83" y="266"/>
                    <a:pt x="89" y="260"/>
                    <a:pt x="89" y="252"/>
                  </a:cubicBezTo>
                  <a:cubicBezTo>
                    <a:pt x="89" y="252"/>
                    <a:pt x="89" y="252"/>
                    <a:pt x="89" y="252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6" y="45"/>
                    <a:pt x="96" y="45"/>
                    <a:pt x="96" y="45"/>
                  </a:cubicBezTo>
                  <a:cubicBezTo>
                    <a:pt x="96" y="77"/>
                    <a:pt x="96" y="77"/>
                    <a:pt x="96" y="77"/>
                  </a:cubicBezTo>
                  <a:cubicBezTo>
                    <a:pt x="96" y="86"/>
                    <a:pt x="96" y="86"/>
                    <a:pt x="96" y="86"/>
                  </a:cubicBezTo>
                  <a:cubicBezTo>
                    <a:pt x="96" y="107"/>
                    <a:pt x="96" y="107"/>
                    <a:pt x="96" y="107"/>
                  </a:cubicBezTo>
                  <a:cubicBezTo>
                    <a:pt x="152" y="50"/>
                    <a:pt x="152" y="50"/>
                    <a:pt x="152" y="50"/>
                  </a:cubicBezTo>
                  <a:cubicBezTo>
                    <a:pt x="157" y="46"/>
                    <a:pt x="157" y="39"/>
                    <a:pt x="153" y="35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4" name="Oval 1429"/>
            <p:cNvSpPr>
              <a:spLocks noChangeArrowheads="1"/>
            </p:cNvSpPr>
            <p:nvPr/>
          </p:nvSpPr>
          <p:spPr>
            <a:xfrm>
              <a:off x="5670" y="922"/>
              <a:ext cx="190" cy="207"/>
            </a:xfrm>
            <a:prstGeom prst="ellipse">
              <a:avLst/>
            </a:prstGeom>
            <a:solidFill>
              <a:srgbClr val="4857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5" name="Freeform 1430"/>
            <p:cNvSpPr/>
            <p:nvPr/>
          </p:nvSpPr>
          <p:spPr>
            <a:xfrm>
              <a:off x="5371" y="1165"/>
              <a:ext cx="784" cy="1059"/>
            </a:xfrm>
            <a:custGeom>
              <a:avLst/>
              <a:gdLst>
                <a:gd name="T0" fmla="*/ 195 w 197"/>
                <a:gd name="T1" fmla="*/ 51 h 266"/>
                <a:gd name="T2" fmla="*/ 180 w 197"/>
                <a:gd name="T3" fmla="*/ 46 h 266"/>
                <a:gd name="T4" fmla="*/ 157 w 197"/>
                <a:gd name="T5" fmla="*/ 57 h 266"/>
                <a:gd name="T6" fmla="*/ 157 w 197"/>
                <a:gd name="T7" fmla="*/ 34 h 266"/>
                <a:gd name="T8" fmla="*/ 157 w 197"/>
                <a:gd name="T9" fmla="*/ 34 h 266"/>
                <a:gd name="T10" fmla="*/ 99 w 197"/>
                <a:gd name="T11" fmla="*/ 0 h 266"/>
                <a:gd name="T12" fmla="*/ 40 w 197"/>
                <a:gd name="T13" fmla="*/ 34 h 266"/>
                <a:gd name="T14" fmla="*/ 40 w 197"/>
                <a:gd name="T15" fmla="*/ 34 h 266"/>
                <a:gd name="T16" fmla="*/ 40 w 197"/>
                <a:gd name="T17" fmla="*/ 57 h 266"/>
                <a:gd name="T18" fmla="*/ 17 w 197"/>
                <a:gd name="T19" fmla="*/ 46 h 266"/>
                <a:gd name="T20" fmla="*/ 3 w 197"/>
                <a:gd name="T21" fmla="*/ 51 h 266"/>
                <a:gd name="T22" fmla="*/ 8 w 197"/>
                <a:gd name="T23" fmla="*/ 65 h 266"/>
                <a:gd name="T24" fmla="*/ 61 w 197"/>
                <a:gd name="T25" fmla="*/ 91 h 266"/>
                <a:gd name="T26" fmla="*/ 61 w 197"/>
                <a:gd name="T27" fmla="*/ 45 h 266"/>
                <a:gd name="T28" fmla="*/ 68 w 197"/>
                <a:gd name="T29" fmla="*/ 45 h 266"/>
                <a:gd name="T30" fmla="*/ 68 w 197"/>
                <a:gd name="T31" fmla="*/ 252 h 266"/>
                <a:gd name="T32" fmla="*/ 68 w 197"/>
                <a:gd name="T33" fmla="*/ 252 h 266"/>
                <a:gd name="T34" fmla="*/ 68 w 197"/>
                <a:gd name="T35" fmla="*/ 252 h 266"/>
                <a:gd name="T36" fmla="*/ 80 w 197"/>
                <a:gd name="T37" fmla="*/ 266 h 266"/>
                <a:gd name="T38" fmla="*/ 93 w 197"/>
                <a:gd name="T39" fmla="*/ 254 h 266"/>
                <a:gd name="T40" fmla="*/ 93 w 197"/>
                <a:gd name="T41" fmla="*/ 253 h 266"/>
                <a:gd name="T42" fmla="*/ 93 w 197"/>
                <a:gd name="T43" fmla="*/ 139 h 266"/>
                <a:gd name="T44" fmla="*/ 99 w 197"/>
                <a:gd name="T45" fmla="*/ 128 h 266"/>
                <a:gd name="T46" fmla="*/ 105 w 197"/>
                <a:gd name="T47" fmla="*/ 139 h 266"/>
                <a:gd name="T48" fmla="*/ 105 w 197"/>
                <a:gd name="T49" fmla="*/ 253 h 266"/>
                <a:gd name="T50" fmla="*/ 105 w 197"/>
                <a:gd name="T51" fmla="*/ 254 h 266"/>
                <a:gd name="T52" fmla="*/ 117 w 197"/>
                <a:gd name="T53" fmla="*/ 266 h 266"/>
                <a:gd name="T54" fmla="*/ 129 w 197"/>
                <a:gd name="T55" fmla="*/ 252 h 266"/>
                <a:gd name="T56" fmla="*/ 129 w 197"/>
                <a:gd name="T57" fmla="*/ 252 h 266"/>
                <a:gd name="T58" fmla="*/ 129 w 197"/>
                <a:gd name="T59" fmla="*/ 45 h 266"/>
                <a:gd name="T60" fmla="*/ 136 w 197"/>
                <a:gd name="T61" fmla="*/ 45 h 266"/>
                <a:gd name="T62" fmla="*/ 136 w 197"/>
                <a:gd name="T63" fmla="*/ 91 h 266"/>
                <a:gd name="T64" fmla="*/ 189 w 197"/>
                <a:gd name="T65" fmla="*/ 65 h 266"/>
                <a:gd name="T66" fmla="*/ 195 w 197"/>
                <a:gd name="T67" fmla="*/ 51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97" h="266">
                  <a:moveTo>
                    <a:pt x="195" y="51"/>
                  </a:moveTo>
                  <a:cubicBezTo>
                    <a:pt x="192" y="46"/>
                    <a:pt x="186" y="44"/>
                    <a:pt x="180" y="46"/>
                  </a:cubicBezTo>
                  <a:cubicBezTo>
                    <a:pt x="157" y="57"/>
                    <a:pt x="157" y="57"/>
                    <a:pt x="157" y="57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6" y="3"/>
                    <a:pt x="128" y="0"/>
                    <a:pt x="99" y="0"/>
                  </a:cubicBezTo>
                  <a:cubicBezTo>
                    <a:pt x="69" y="0"/>
                    <a:pt x="41" y="3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2" y="44"/>
                    <a:pt x="5" y="46"/>
                    <a:pt x="3" y="51"/>
                  </a:cubicBezTo>
                  <a:cubicBezTo>
                    <a:pt x="0" y="56"/>
                    <a:pt x="3" y="62"/>
                    <a:pt x="8" y="65"/>
                  </a:cubicBezTo>
                  <a:cubicBezTo>
                    <a:pt x="61" y="91"/>
                    <a:pt x="61" y="91"/>
                    <a:pt x="61" y="91"/>
                  </a:cubicBezTo>
                  <a:cubicBezTo>
                    <a:pt x="61" y="45"/>
                    <a:pt x="61" y="45"/>
                    <a:pt x="61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252"/>
                    <a:pt x="68" y="252"/>
                    <a:pt x="68" y="252"/>
                  </a:cubicBezTo>
                  <a:cubicBezTo>
                    <a:pt x="68" y="252"/>
                    <a:pt x="68" y="252"/>
                    <a:pt x="68" y="252"/>
                  </a:cubicBezTo>
                  <a:cubicBezTo>
                    <a:pt x="68" y="252"/>
                    <a:pt x="68" y="252"/>
                    <a:pt x="68" y="252"/>
                  </a:cubicBezTo>
                  <a:cubicBezTo>
                    <a:pt x="68" y="260"/>
                    <a:pt x="73" y="266"/>
                    <a:pt x="80" y="266"/>
                  </a:cubicBezTo>
                  <a:cubicBezTo>
                    <a:pt x="87" y="266"/>
                    <a:pt x="92" y="260"/>
                    <a:pt x="93" y="254"/>
                  </a:cubicBezTo>
                  <a:cubicBezTo>
                    <a:pt x="93" y="254"/>
                    <a:pt x="93" y="253"/>
                    <a:pt x="93" y="253"/>
                  </a:cubicBezTo>
                  <a:cubicBezTo>
                    <a:pt x="93" y="139"/>
                    <a:pt x="93" y="139"/>
                    <a:pt x="93" y="139"/>
                  </a:cubicBezTo>
                  <a:cubicBezTo>
                    <a:pt x="93" y="133"/>
                    <a:pt x="93" y="128"/>
                    <a:pt x="99" y="128"/>
                  </a:cubicBezTo>
                  <a:cubicBezTo>
                    <a:pt x="104" y="128"/>
                    <a:pt x="105" y="133"/>
                    <a:pt x="105" y="139"/>
                  </a:cubicBezTo>
                  <a:cubicBezTo>
                    <a:pt x="105" y="253"/>
                    <a:pt x="105" y="253"/>
                    <a:pt x="105" y="253"/>
                  </a:cubicBezTo>
                  <a:cubicBezTo>
                    <a:pt x="105" y="253"/>
                    <a:pt x="105" y="254"/>
                    <a:pt x="105" y="254"/>
                  </a:cubicBezTo>
                  <a:cubicBezTo>
                    <a:pt x="105" y="260"/>
                    <a:pt x="111" y="266"/>
                    <a:pt x="117" y="266"/>
                  </a:cubicBezTo>
                  <a:cubicBezTo>
                    <a:pt x="124" y="266"/>
                    <a:pt x="129" y="260"/>
                    <a:pt x="129" y="252"/>
                  </a:cubicBezTo>
                  <a:cubicBezTo>
                    <a:pt x="129" y="252"/>
                    <a:pt x="129" y="252"/>
                    <a:pt x="129" y="252"/>
                  </a:cubicBezTo>
                  <a:cubicBezTo>
                    <a:pt x="129" y="45"/>
                    <a:pt x="129" y="45"/>
                    <a:pt x="129" y="45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136" y="91"/>
                    <a:pt x="136" y="91"/>
                    <a:pt x="136" y="91"/>
                  </a:cubicBezTo>
                  <a:cubicBezTo>
                    <a:pt x="189" y="65"/>
                    <a:pt x="189" y="65"/>
                    <a:pt x="189" y="65"/>
                  </a:cubicBezTo>
                  <a:cubicBezTo>
                    <a:pt x="195" y="62"/>
                    <a:pt x="197" y="56"/>
                    <a:pt x="195" y="51"/>
                  </a:cubicBezTo>
                  <a:close/>
                </a:path>
              </a:pathLst>
            </a:custGeom>
            <a:solidFill>
              <a:srgbClr val="4857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1EE0A624-5E7A-2470-58D0-3ECB8CBABE0B}"/>
              </a:ext>
            </a:extLst>
          </p:cNvPr>
          <p:cNvSpPr txBox="1"/>
          <p:nvPr/>
        </p:nvSpPr>
        <p:spPr>
          <a:xfrm>
            <a:off x="4645737" y="2148902"/>
            <a:ext cx="21875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485766"/>
                </a:solidFill>
              </a:rPr>
              <a:t>AI</a:t>
            </a:r>
            <a:r>
              <a:rPr lang="zh-CN" altLang="en-US" sz="2400" b="1" dirty="0">
                <a:solidFill>
                  <a:srgbClr val="485766"/>
                </a:solidFill>
              </a:rPr>
              <a:t>输出固化或强化刻板印象</a:t>
            </a:r>
          </a:p>
        </p:txBody>
      </p:sp>
    </p:spTree>
    <p:extLst>
      <p:ext uri="{BB962C8B-B14F-4D97-AF65-F5344CB8AC3E}">
        <p14:creationId xmlns:p14="http://schemas.microsoft.com/office/powerpoint/2010/main" val="58555290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"/>
          <p:cNvGrpSpPr/>
          <p:nvPr/>
        </p:nvGrpSpPr>
        <p:grpSpPr>
          <a:xfrm>
            <a:off x="7133509" y="2249296"/>
            <a:ext cx="649609" cy="1789200"/>
            <a:chOff x="4448" y="1285"/>
            <a:chExt cx="468" cy="1289"/>
          </a:xfrm>
        </p:grpSpPr>
        <p:sp>
          <p:nvSpPr>
            <p:cNvPr id="9" name="AutoShape 3"/>
            <p:cNvSpPr>
              <a:spLocks noChangeAspect="1" noChangeArrowheads="1" noTextEdit="1"/>
            </p:cNvSpPr>
            <p:nvPr/>
          </p:nvSpPr>
          <p:spPr>
            <a:xfrm>
              <a:off x="4448" y="1285"/>
              <a:ext cx="468" cy="1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5"/>
            <p:cNvSpPr/>
            <p:nvPr/>
          </p:nvSpPr>
          <p:spPr>
            <a:xfrm>
              <a:off x="4450" y="1572"/>
              <a:ext cx="464" cy="1004"/>
            </a:xfrm>
            <a:custGeom>
              <a:avLst/>
              <a:gdLst>
                <a:gd name="T0" fmla="*/ 97 w 193"/>
                <a:gd name="T1" fmla="*/ 0 h 423"/>
                <a:gd name="T2" fmla="*/ 0 w 193"/>
                <a:gd name="T3" fmla="*/ 96 h 423"/>
                <a:gd name="T4" fmla="*/ 0 w 193"/>
                <a:gd name="T5" fmla="*/ 179 h 423"/>
                <a:gd name="T6" fmla="*/ 38 w 193"/>
                <a:gd name="T7" fmla="*/ 256 h 423"/>
                <a:gd name="T8" fmla="*/ 38 w 193"/>
                <a:gd name="T9" fmla="*/ 385 h 423"/>
                <a:gd name="T10" fmla="*/ 76 w 193"/>
                <a:gd name="T11" fmla="*/ 423 h 423"/>
                <a:gd name="T12" fmla="*/ 97 w 193"/>
                <a:gd name="T13" fmla="*/ 416 h 423"/>
                <a:gd name="T14" fmla="*/ 118 w 193"/>
                <a:gd name="T15" fmla="*/ 423 h 423"/>
                <a:gd name="T16" fmla="*/ 155 w 193"/>
                <a:gd name="T17" fmla="*/ 385 h 423"/>
                <a:gd name="T18" fmla="*/ 155 w 193"/>
                <a:gd name="T19" fmla="*/ 256 h 423"/>
                <a:gd name="T20" fmla="*/ 193 w 193"/>
                <a:gd name="T21" fmla="*/ 179 h 423"/>
                <a:gd name="T22" fmla="*/ 193 w 193"/>
                <a:gd name="T23" fmla="*/ 96 h 423"/>
                <a:gd name="T24" fmla="*/ 97 w 193"/>
                <a:gd name="T25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3" h="423">
                  <a:moveTo>
                    <a:pt x="97" y="0"/>
                  </a:moveTo>
                  <a:cubicBezTo>
                    <a:pt x="44" y="0"/>
                    <a:pt x="0" y="43"/>
                    <a:pt x="0" y="96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10"/>
                    <a:pt x="15" y="238"/>
                    <a:pt x="38" y="256"/>
                  </a:cubicBezTo>
                  <a:cubicBezTo>
                    <a:pt x="38" y="385"/>
                    <a:pt x="38" y="385"/>
                    <a:pt x="38" y="385"/>
                  </a:cubicBezTo>
                  <a:cubicBezTo>
                    <a:pt x="38" y="406"/>
                    <a:pt x="55" y="423"/>
                    <a:pt x="76" y="423"/>
                  </a:cubicBezTo>
                  <a:cubicBezTo>
                    <a:pt x="83" y="423"/>
                    <a:pt x="91" y="420"/>
                    <a:pt x="97" y="416"/>
                  </a:cubicBezTo>
                  <a:cubicBezTo>
                    <a:pt x="103" y="420"/>
                    <a:pt x="110" y="423"/>
                    <a:pt x="118" y="423"/>
                  </a:cubicBezTo>
                  <a:cubicBezTo>
                    <a:pt x="138" y="423"/>
                    <a:pt x="155" y="406"/>
                    <a:pt x="155" y="385"/>
                  </a:cubicBezTo>
                  <a:cubicBezTo>
                    <a:pt x="155" y="256"/>
                    <a:pt x="155" y="256"/>
                    <a:pt x="155" y="256"/>
                  </a:cubicBezTo>
                  <a:cubicBezTo>
                    <a:pt x="179" y="238"/>
                    <a:pt x="193" y="210"/>
                    <a:pt x="193" y="179"/>
                  </a:cubicBezTo>
                  <a:cubicBezTo>
                    <a:pt x="193" y="96"/>
                    <a:pt x="193" y="96"/>
                    <a:pt x="193" y="96"/>
                  </a:cubicBezTo>
                  <a:cubicBezTo>
                    <a:pt x="193" y="43"/>
                    <a:pt x="150" y="0"/>
                    <a:pt x="97" y="0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>
            <a:xfrm>
              <a:off x="4546" y="1287"/>
              <a:ext cx="272" cy="266"/>
            </a:xfrm>
            <a:prstGeom prst="ellipse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576871" y="42610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优点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090187" y="42610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不足</a:t>
            </a:r>
          </a:p>
        </p:txBody>
      </p:sp>
      <p:grpSp>
        <p:nvGrpSpPr>
          <p:cNvPr id="24" name="组合"/>
          <p:cNvGrpSpPr/>
          <p:nvPr/>
        </p:nvGrpSpPr>
        <p:grpSpPr>
          <a:xfrm>
            <a:off x="8828941" y="1140538"/>
            <a:ext cx="911225" cy="911225"/>
            <a:chOff x="1042" y="1829"/>
            <a:chExt cx="574" cy="574"/>
          </a:xfrm>
        </p:grpSpPr>
        <p:sp>
          <p:nvSpPr>
            <p:cNvPr id="25" name="AutoShape 13"/>
            <p:cNvSpPr>
              <a:spLocks noChangeAspect="1" noChangeArrowheads="1" noTextEdit="1"/>
            </p:cNvSpPr>
            <p:nvPr/>
          </p:nvSpPr>
          <p:spPr>
            <a:xfrm>
              <a:off x="1042" y="1829"/>
              <a:ext cx="574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15"/>
            <p:cNvSpPr>
              <a:spLocks noChangeArrowheads="1"/>
            </p:cNvSpPr>
            <p:nvPr/>
          </p:nvSpPr>
          <p:spPr>
            <a:xfrm>
              <a:off x="1044" y="1829"/>
              <a:ext cx="574" cy="574"/>
            </a:xfrm>
            <a:prstGeom prst="ellipse">
              <a:avLst/>
            </a:prstGeom>
            <a:solidFill>
              <a:srgbClr val="569E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6"/>
            <p:cNvSpPr/>
            <p:nvPr/>
          </p:nvSpPr>
          <p:spPr>
            <a:xfrm>
              <a:off x="1161" y="1975"/>
              <a:ext cx="175" cy="258"/>
            </a:xfrm>
            <a:custGeom>
              <a:avLst/>
              <a:gdLst>
                <a:gd name="T0" fmla="*/ 0 w 175"/>
                <a:gd name="T1" fmla="*/ 217 h 258"/>
                <a:gd name="T2" fmla="*/ 108 w 175"/>
                <a:gd name="T3" fmla="*/ 0 h 258"/>
                <a:gd name="T4" fmla="*/ 175 w 175"/>
                <a:gd name="T5" fmla="*/ 29 h 258"/>
                <a:gd name="T6" fmla="*/ 99 w 175"/>
                <a:gd name="T7" fmla="*/ 258 h 258"/>
                <a:gd name="T8" fmla="*/ 0 w 175"/>
                <a:gd name="T9" fmla="*/ 21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258">
                  <a:moveTo>
                    <a:pt x="0" y="217"/>
                  </a:moveTo>
                  <a:lnTo>
                    <a:pt x="108" y="0"/>
                  </a:lnTo>
                  <a:lnTo>
                    <a:pt x="175" y="29"/>
                  </a:lnTo>
                  <a:lnTo>
                    <a:pt x="99" y="258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17"/>
            <p:cNvSpPr/>
            <p:nvPr/>
          </p:nvSpPr>
          <p:spPr>
            <a:xfrm>
              <a:off x="1147" y="2154"/>
              <a:ext cx="122" cy="132"/>
            </a:xfrm>
            <a:custGeom>
              <a:avLst/>
              <a:gdLst>
                <a:gd name="T0" fmla="*/ 16 w 51"/>
                <a:gd name="T1" fmla="*/ 50 h 55"/>
                <a:gd name="T2" fmla="*/ 5 w 51"/>
                <a:gd name="T3" fmla="*/ 19 h 55"/>
                <a:gd name="T4" fmla="*/ 35 w 51"/>
                <a:gd name="T5" fmla="*/ 5 h 55"/>
                <a:gd name="T6" fmla="*/ 46 w 51"/>
                <a:gd name="T7" fmla="*/ 36 h 55"/>
                <a:gd name="T8" fmla="*/ 16 w 51"/>
                <a:gd name="T9" fmla="*/ 5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5">
                  <a:moveTo>
                    <a:pt x="16" y="50"/>
                  </a:moveTo>
                  <a:cubicBezTo>
                    <a:pt x="5" y="45"/>
                    <a:pt x="0" y="32"/>
                    <a:pt x="5" y="19"/>
                  </a:cubicBezTo>
                  <a:cubicBezTo>
                    <a:pt x="10" y="7"/>
                    <a:pt x="23" y="0"/>
                    <a:pt x="35" y="5"/>
                  </a:cubicBezTo>
                  <a:cubicBezTo>
                    <a:pt x="46" y="10"/>
                    <a:pt x="51" y="23"/>
                    <a:pt x="46" y="36"/>
                  </a:cubicBezTo>
                  <a:cubicBezTo>
                    <a:pt x="41" y="48"/>
                    <a:pt x="27" y="55"/>
                    <a:pt x="16" y="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8"/>
            <p:cNvSpPr/>
            <p:nvPr/>
          </p:nvSpPr>
          <p:spPr>
            <a:xfrm>
              <a:off x="1190" y="2159"/>
              <a:ext cx="254" cy="122"/>
            </a:xfrm>
            <a:custGeom>
              <a:avLst/>
              <a:gdLst>
                <a:gd name="T0" fmla="*/ 15 w 254"/>
                <a:gd name="T1" fmla="*/ 17 h 122"/>
                <a:gd name="T2" fmla="*/ 249 w 254"/>
                <a:gd name="T3" fmla="*/ 0 h 122"/>
                <a:gd name="T4" fmla="*/ 254 w 254"/>
                <a:gd name="T5" fmla="*/ 122 h 122"/>
                <a:gd name="T6" fmla="*/ 0 w 254"/>
                <a:gd name="T7" fmla="*/ 120 h 122"/>
                <a:gd name="T8" fmla="*/ 15 w 254"/>
                <a:gd name="T9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22">
                  <a:moveTo>
                    <a:pt x="15" y="17"/>
                  </a:moveTo>
                  <a:lnTo>
                    <a:pt x="249" y="0"/>
                  </a:lnTo>
                  <a:lnTo>
                    <a:pt x="254" y="122"/>
                  </a:lnTo>
                  <a:lnTo>
                    <a:pt x="0" y="120"/>
                  </a:lnTo>
                  <a:lnTo>
                    <a:pt x="15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19"/>
            <p:cNvSpPr/>
            <p:nvPr/>
          </p:nvSpPr>
          <p:spPr>
            <a:xfrm>
              <a:off x="1150" y="2173"/>
              <a:ext cx="110" cy="110"/>
            </a:xfrm>
            <a:custGeom>
              <a:avLst/>
              <a:gdLst>
                <a:gd name="T0" fmla="*/ 44 w 46"/>
                <a:gd name="T1" fmla="*/ 26 h 46"/>
                <a:gd name="T2" fmla="*/ 26 w 46"/>
                <a:gd name="T3" fmla="*/ 2 h 46"/>
                <a:gd name="T4" fmla="*/ 2 w 46"/>
                <a:gd name="T5" fmla="*/ 20 h 46"/>
                <a:gd name="T6" fmla="*/ 20 w 46"/>
                <a:gd name="T7" fmla="*/ 44 h 46"/>
                <a:gd name="T8" fmla="*/ 44 w 46"/>
                <a:gd name="T9" fmla="*/ 2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6">
                  <a:moveTo>
                    <a:pt x="44" y="26"/>
                  </a:moveTo>
                  <a:cubicBezTo>
                    <a:pt x="46" y="15"/>
                    <a:pt x="38" y="4"/>
                    <a:pt x="26" y="2"/>
                  </a:cubicBezTo>
                  <a:cubicBezTo>
                    <a:pt x="15" y="0"/>
                    <a:pt x="4" y="8"/>
                    <a:pt x="2" y="20"/>
                  </a:cubicBezTo>
                  <a:cubicBezTo>
                    <a:pt x="0" y="31"/>
                    <a:pt x="8" y="42"/>
                    <a:pt x="20" y="44"/>
                  </a:cubicBezTo>
                  <a:cubicBezTo>
                    <a:pt x="31" y="46"/>
                    <a:pt x="42" y="38"/>
                    <a:pt x="44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0"/>
            <p:cNvSpPr/>
            <p:nvPr/>
          </p:nvSpPr>
          <p:spPr>
            <a:xfrm>
              <a:off x="1370" y="2159"/>
              <a:ext cx="124" cy="122"/>
            </a:xfrm>
            <a:custGeom>
              <a:avLst/>
              <a:gdLst>
                <a:gd name="T0" fmla="*/ 1 w 52"/>
                <a:gd name="T1" fmla="*/ 26 h 51"/>
                <a:gd name="T2" fmla="*/ 25 w 52"/>
                <a:gd name="T3" fmla="*/ 0 h 51"/>
                <a:gd name="T4" fmla="*/ 52 w 52"/>
                <a:gd name="T5" fmla="*/ 25 h 51"/>
                <a:gd name="T6" fmla="*/ 27 w 52"/>
                <a:gd name="T7" fmla="*/ 51 h 51"/>
                <a:gd name="T8" fmla="*/ 1 w 52"/>
                <a:gd name="T9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1" y="26"/>
                  </a:moveTo>
                  <a:cubicBezTo>
                    <a:pt x="0" y="13"/>
                    <a:pt x="11" y="1"/>
                    <a:pt x="25" y="0"/>
                  </a:cubicBezTo>
                  <a:cubicBezTo>
                    <a:pt x="39" y="0"/>
                    <a:pt x="51" y="11"/>
                    <a:pt x="52" y="25"/>
                  </a:cubicBezTo>
                  <a:cubicBezTo>
                    <a:pt x="52" y="39"/>
                    <a:pt x="41" y="50"/>
                    <a:pt x="27" y="51"/>
                  </a:cubicBezTo>
                  <a:cubicBezTo>
                    <a:pt x="13" y="51"/>
                    <a:pt x="1" y="40"/>
                    <a:pt x="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1"/>
            <p:cNvSpPr/>
            <p:nvPr/>
          </p:nvSpPr>
          <p:spPr>
            <a:xfrm>
              <a:off x="1343" y="2111"/>
              <a:ext cx="177" cy="153"/>
            </a:xfrm>
            <a:custGeom>
              <a:avLst/>
              <a:gdLst>
                <a:gd name="T0" fmla="*/ 68 w 74"/>
                <a:gd name="T1" fmla="*/ 18 h 64"/>
                <a:gd name="T2" fmla="*/ 48 w 74"/>
                <a:gd name="T3" fmla="*/ 56 h 64"/>
                <a:gd name="T4" fmla="*/ 6 w 74"/>
                <a:gd name="T5" fmla="*/ 46 h 64"/>
                <a:gd name="T6" fmla="*/ 26 w 74"/>
                <a:gd name="T7" fmla="*/ 8 h 64"/>
                <a:gd name="T8" fmla="*/ 68 w 74"/>
                <a:gd name="T9" fmla="*/ 1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64">
                  <a:moveTo>
                    <a:pt x="68" y="18"/>
                  </a:moveTo>
                  <a:cubicBezTo>
                    <a:pt x="74" y="31"/>
                    <a:pt x="65" y="48"/>
                    <a:pt x="48" y="56"/>
                  </a:cubicBezTo>
                  <a:cubicBezTo>
                    <a:pt x="31" y="64"/>
                    <a:pt x="13" y="60"/>
                    <a:pt x="6" y="46"/>
                  </a:cubicBezTo>
                  <a:cubicBezTo>
                    <a:pt x="0" y="33"/>
                    <a:pt x="9" y="16"/>
                    <a:pt x="26" y="8"/>
                  </a:cubicBezTo>
                  <a:cubicBezTo>
                    <a:pt x="43" y="0"/>
                    <a:pt x="62" y="5"/>
                    <a:pt x="68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22"/>
            <p:cNvSpPr/>
            <p:nvPr/>
          </p:nvSpPr>
          <p:spPr>
            <a:xfrm>
              <a:off x="1272" y="2142"/>
              <a:ext cx="121" cy="96"/>
            </a:xfrm>
            <a:custGeom>
              <a:avLst/>
              <a:gdLst>
                <a:gd name="T0" fmla="*/ 51 w 51"/>
                <a:gd name="T1" fmla="*/ 19 h 40"/>
                <a:gd name="T2" fmla="*/ 26 w 51"/>
                <a:gd name="T3" fmla="*/ 39 h 40"/>
                <a:gd name="T4" fmla="*/ 0 w 51"/>
                <a:gd name="T5" fmla="*/ 20 h 40"/>
                <a:gd name="T6" fmla="*/ 25 w 51"/>
                <a:gd name="T7" fmla="*/ 0 h 40"/>
                <a:gd name="T8" fmla="*/ 51 w 51"/>
                <a:gd name="T9" fmla="*/ 1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0">
                  <a:moveTo>
                    <a:pt x="51" y="19"/>
                  </a:moveTo>
                  <a:cubicBezTo>
                    <a:pt x="51" y="30"/>
                    <a:pt x="40" y="39"/>
                    <a:pt x="26" y="39"/>
                  </a:cubicBezTo>
                  <a:cubicBezTo>
                    <a:pt x="12" y="40"/>
                    <a:pt x="0" y="31"/>
                    <a:pt x="0" y="20"/>
                  </a:cubicBezTo>
                  <a:cubicBezTo>
                    <a:pt x="0" y="10"/>
                    <a:pt x="11" y="0"/>
                    <a:pt x="25" y="0"/>
                  </a:cubicBezTo>
                  <a:cubicBezTo>
                    <a:pt x="39" y="0"/>
                    <a:pt x="50" y="8"/>
                    <a:pt x="51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Oval 23"/>
            <p:cNvSpPr>
              <a:spLocks noChangeArrowheads="1"/>
            </p:cNvSpPr>
            <p:nvPr/>
          </p:nvSpPr>
          <p:spPr>
            <a:xfrm>
              <a:off x="1377" y="2121"/>
              <a:ext cx="146" cy="1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24"/>
            <p:cNvSpPr/>
            <p:nvPr/>
          </p:nvSpPr>
          <p:spPr>
            <a:xfrm>
              <a:off x="1255" y="1879"/>
              <a:ext cx="138" cy="141"/>
            </a:xfrm>
            <a:custGeom>
              <a:avLst/>
              <a:gdLst>
                <a:gd name="T0" fmla="*/ 45 w 58"/>
                <a:gd name="T1" fmla="*/ 50 h 59"/>
                <a:gd name="T2" fmla="*/ 27 w 58"/>
                <a:gd name="T3" fmla="*/ 56 h 59"/>
                <a:gd name="T4" fmla="*/ 9 w 58"/>
                <a:gd name="T5" fmla="*/ 48 h 59"/>
                <a:gd name="T6" fmla="*/ 3 w 58"/>
                <a:gd name="T7" fmla="*/ 30 h 59"/>
                <a:gd name="T8" fmla="*/ 13 w 58"/>
                <a:gd name="T9" fmla="*/ 9 h 59"/>
                <a:gd name="T10" fmla="*/ 31 w 58"/>
                <a:gd name="T11" fmla="*/ 3 h 59"/>
                <a:gd name="T12" fmla="*/ 48 w 58"/>
                <a:gd name="T13" fmla="*/ 11 h 59"/>
                <a:gd name="T14" fmla="*/ 55 w 58"/>
                <a:gd name="T15" fmla="*/ 29 h 59"/>
                <a:gd name="T16" fmla="*/ 45 w 58"/>
                <a:gd name="T17" fmla="*/ 5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45" y="50"/>
                  </a:moveTo>
                  <a:cubicBezTo>
                    <a:pt x="41" y="56"/>
                    <a:pt x="33" y="59"/>
                    <a:pt x="27" y="56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3" y="45"/>
                    <a:pt x="0" y="37"/>
                    <a:pt x="3" y="3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6" y="3"/>
                    <a:pt x="24" y="0"/>
                    <a:pt x="31" y="3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55" y="14"/>
                    <a:pt x="58" y="22"/>
                    <a:pt x="55" y="29"/>
                  </a:cubicBezTo>
                  <a:lnTo>
                    <a:pt x="45" y="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25"/>
            <p:cNvSpPr/>
            <p:nvPr/>
          </p:nvSpPr>
          <p:spPr>
            <a:xfrm>
              <a:off x="1336" y="1929"/>
              <a:ext cx="62" cy="51"/>
            </a:xfrm>
            <a:custGeom>
              <a:avLst/>
              <a:gdLst>
                <a:gd name="T0" fmla="*/ 5 w 26"/>
                <a:gd name="T1" fmla="*/ 14 h 21"/>
                <a:gd name="T2" fmla="*/ 2 w 26"/>
                <a:gd name="T3" fmla="*/ 5 h 21"/>
                <a:gd name="T4" fmla="*/ 2 w 26"/>
                <a:gd name="T5" fmla="*/ 5 h 21"/>
                <a:gd name="T6" fmla="*/ 11 w 26"/>
                <a:gd name="T7" fmla="*/ 1 h 21"/>
                <a:gd name="T8" fmla="*/ 21 w 26"/>
                <a:gd name="T9" fmla="*/ 6 h 21"/>
                <a:gd name="T10" fmla="*/ 25 w 26"/>
                <a:gd name="T11" fmla="*/ 16 h 21"/>
                <a:gd name="T12" fmla="*/ 25 w 26"/>
                <a:gd name="T13" fmla="*/ 16 h 21"/>
                <a:gd name="T14" fmla="*/ 15 w 26"/>
                <a:gd name="T15" fmla="*/ 19 h 21"/>
                <a:gd name="T16" fmla="*/ 5 w 26"/>
                <a:gd name="T17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21">
                  <a:moveTo>
                    <a:pt x="5" y="14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1"/>
                    <a:pt x="8" y="0"/>
                    <a:pt x="11" y="1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5" y="8"/>
                    <a:pt x="26" y="12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3" y="19"/>
                    <a:pt x="19" y="21"/>
                    <a:pt x="15" y="19"/>
                  </a:cubicBezTo>
                  <a:lnTo>
                    <a:pt x="5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26"/>
            <p:cNvSpPr/>
            <p:nvPr/>
          </p:nvSpPr>
          <p:spPr>
            <a:xfrm>
              <a:off x="1300" y="1949"/>
              <a:ext cx="93" cy="71"/>
            </a:xfrm>
            <a:custGeom>
              <a:avLst/>
              <a:gdLst>
                <a:gd name="T0" fmla="*/ 2 w 39"/>
                <a:gd name="T1" fmla="*/ 21 h 30"/>
                <a:gd name="T2" fmla="*/ 15 w 39"/>
                <a:gd name="T3" fmla="*/ 3 h 30"/>
                <a:gd name="T4" fmla="*/ 37 w 39"/>
                <a:gd name="T5" fmla="*/ 9 h 30"/>
                <a:gd name="T6" fmla="*/ 24 w 39"/>
                <a:gd name="T7" fmla="*/ 27 h 30"/>
                <a:gd name="T8" fmla="*/ 2 w 39"/>
                <a:gd name="T9" fmla="*/ 2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0">
                  <a:moveTo>
                    <a:pt x="2" y="21"/>
                  </a:moveTo>
                  <a:cubicBezTo>
                    <a:pt x="0" y="14"/>
                    <a:pt x="6" y="6"/>
                    <a:pt x="15" y="3"/>
                  </a:cubicBezTo>
                  <a:cubicBezTo>
                    <a:pt x="25" y="0"/>
                    <a:pt x="35" y="2"/>
                    <a:pt x="37" y="9"/>
                  </a:cubicBezTo>
                  <a:cubicBezTo>
                    <a:pt x="39" y="16"/>
                    <a:pt x="33" y="24"/>
                    <a:pt x="24" y="27"/>
                  </a:cubicBezTo>
                  <a:cubicBezTo>
                    <a:pt x="14" y="30"/>
                    <a:pt x="4" y="28"/>
                    <a:pt x="2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27"/>
            <p:cNvSpPr/>
            <p:nvPr/>
          </p:nvSpPr>
          <p:spPr>
            <a:xfrm>
              <a:off x="1348" y="1939"/>
              <a:ext cx="53" cy="67"/>
            </a:xfrm>
            <a:custGeom>
              <a:avLst/>
              <a:gdLst>
                <a:gd name="T0" fmla="*/ 7 w 22"/>
                <a:gd name="T1" fmla="*/ 5 h 28"/>
                <a:gd name="T2" fmla="*/ 17 w 22"/>
                <a:gd name="T3" fmla="*/ 1 h 28"/>
                <a:gd name="T4" fmla="*/ 17 w 22"/>
                <a:gd name="T5" fmla="*/ 1 h 28"/>
                <a:gd name="T6" fmla="*/ 21 w 22"/>
                <a:gd name="T7" fmla="*/ 11 h 28"/>
                <a:gd name="T8" fmla="*/ 16 w 22"/>
                <a:gd name="T9" fmla="*/ 22 h 28"/>
                <a:gd name="T10" fmla="*/ 6 w 22"/>
                <a:gd name="T11" fmla="*/ 26 h 28"/>
                <a:gd name="T12" fmla="*/ 6 w 22"/>
                <a:gd name="T13" fmla="*/ 26 h 28"/>
                <a:gd name="T14" fmla="*/ 2 w 22"/>
                <a:gd name="T15" fmla="*/ 16 h 28"/>
                <a:gd name="T16" fmla="*/ 7 w 22"/>
                <a:gd name="T17" fmla="*/ 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8">
                  <a:moveTo>
                    <a:pt x="7" y="5"/>
                  </a:moveTo>
                  <a:cubicBezTo>
                    <a:pt x="9" y="1"/>
                    <a:pt x="13" y="0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21" y="3"/>
                    <a:pt x="22" y="7"/>
                    <a:pt x="21" y="11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6"/>
                    <a:pt x="10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2" y="24"/>
                    <a:pt x="0" y="20"/>
                    <a:pt x="2" y="16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317562" y="1867851"/>
            <a:ext cx="1723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485766"/>
                </a:solidFill>
              </a:rPr>
              <a:t>提供了可量化的改进路径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9839018" y="1254001"/>
            <a:ext cx="1827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485766"/>
                </a:solidFill>
              </a:rPr>
              <a:t>忽视设计者的主体性</a:t>
            </a:r>
          </a:p>
        </p:txBody>
      </p:sp>
      <p:grpSp>
        <p:nvGrpSpPr>
          <p:cNvPr id="48" name="组合"/>
          <p:cNvGrpSpPr/>
          <p:nvPr/>
        </p:nvGrpSpPr>
        <p:grpSpPr>
          <a:xfrm>
            <a:off x="8828941" y="2907575"/>
            <a:ext cx="911225" cy="911225"/>
            <a:chOff x="1042" y="1829"/>
            <a:chExt cx="574" cy="574"/>
          </a:xfrm>
        </p:grpSpPr>
        <p:sp>
          <p:nvSpPr>
            <p:cNvPr id="49" name="AutoShape 13"/>
            <p:cNvSpPr>
              <a:spLocks noChangeAspect="1" noChangeArrowheads="1" noTextEdit="1"/>
            </p:cNvSpPr>
            <p:nvPr/>
          </p:nvSpPr>
          <p:spPr>
            <a:xfrm>
              <a:off x="1042" y="1829"/>
              <a:ext cx="574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Oval 15"/>
            <p:cNvSpPr>
              <a:spLocks noChangeArrowheads="1"/>
            </p:cNvSpPr>
            <p:nvPr/>
          </p:nvSpPr>
          <p:spPr>
            <a:xfrm>
              <a:off x="1044" y="1829"/>
              <a:ext cx="574" cy="574"/>
            </a:xfrm>
            <a:prstGeom prst="ellipse">
              <a:avLst/>
            </a:prstGeom>
            <a:solidFill>
              <a:srgbClr val="569E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6"/>
            <p:cNvSpPr/>
            <p:nvPr/>
          </p:nvSpPr>
          <p:spPr>
            <a:xfrm>
              <a:off x="1161" y="1975"/>
              <a:ext cx="175" cy="258"/>
            </a:xfrm>
            <a:custGeom>
              <a:avLst/>
              <a:gdLst>
                <a:gd name="T0" fmla="*/ 0 w 175"/>
                <a:gd name="T1" fmla="*/ 217 h 258"/>
                <a:gd name="T2" fmla="*/ 108 w 175"/>
                <a:gd name="T3" fmla="*/ 0 h 258"/>
                <a:gd name="T4" fmla="*/ 175 w 175"/>
                <a:gd name="T5" fmla="*/ 29 h 258"/>
                <a:gd name="T6" fmla="*/ 99 w 175"/>
                <a:gd name="T7" fmla="*/ 258 h 258"/>
                <a:gd name="T8" fmla="*/ 0 w 175"/>
                <a:gd name="T9" fmla="*/ 21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258">
                  <a:moveTo>
                    <a:pt x="0" y="217"/>
                  </a:moveTo>
                  <a:lnTo>
                    <a:pt x="108" y="0"/>
                  </a:lnTo>
                  <a:lnTo>
                    <a:pt x="175" y="29"/>
                  </a:lnTo>
                  <a:lnTo>
                    <a:pt x="99" y="258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17"/>
            <p:cNvSpPr/>
            <p:nvPr/>
          </p:nvSpPr>
          <p:spPr>
            <a:xfrm>
              <a:off x="1147" y="2154"/>
              <a:ext cx="122" cy="132"/>
            </a:xfrm>
            <a:custGeom>
              <a:avLst/>
              <a:gdLst>
                <a:gd name="T0" fmla="*/ 16 w 51"/>
                <a:gd name="T1" fmla="*/ 50 h 55"/>
                <a:gd name="T2" fmla="*/ 5 w 51"/>
                <a:gd name="T3" fmla="*/ 19 h 55"/>
                <a:gd name="T4" fmla="*/ 35 w 51"/>
                <a:gd name="T5" fmla="*/ 5 h 55"/>
                <a:gd name="T6" fmla="*/ 46 w 51"/>
                <a:gd name="T7" fmla="*/ 36 h 55"/>
                <a:gd name="T8" fmla="*/ 16 w 51"/>
                <a:gd name="T9" fmla="*/ 5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5">
                  <a:moveTo>
                    <a:pt x="16" y="50"/>
                  </a:moveTo>
                  <a:cubicBezTo>
                    <a:pt x="5" y="45"/>
                    <a:pt x="0" y="32"/>
                    <a:pt x="5" y="19"/>
                  </a:cubicBezTo>
                  <a:cubicBezTo>
                    <a:pt x="10" y="7"/>
                    <a:pt x="23" y="0"/>
                    <a:pt x="35" y="5"/>
                  </a:cubicBezTo>
                  <a:cubicBezTo>
                    <a:pt x="46" y="10"/>
                    <a:pt x="51" y="23"/>
                    <a:pt x="46" y="36"/>
                  </a:cubicBezTo>
                  <a:cubicBezTo>
                    <a:pt x="41" y="48"/>
                    <a:pt x="27" y="55"/>
                    <a:pt x="16" y="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8"/>
            <p:cNvSpPr/>
            <p:nvPr/>
          </p:nvSpPr>
          <p:spPr>
            <a:xfrm>
              <a:off x="1190" y="2159"/>
              <a:ext cx="254" cy="122"/>
            </a:xfrm>
            <a:custGeom>
              <a:avLst/>
              <a:gdLst>
                <a:gd name="T0" fmla="*/ 15 w 254"/>
                <a:gd name="T1" fmla="*/ 17 h 122"/>
                <a:gd name="T2" fmla="*/ 249 w 254"/>
                <a:gd name="T3" fmla="*/ 0 h 122"/>
                <a:gd name="T4" fmla="*/ 254 w 254"/>
                <a:gd name="T5" fmla="*/ 122 h 122"/>
                <a:gd name="T6" fmla="*/ 0 w 254"/>
                <a:gd name="T7" fmla="*/ 120 h 122"/>
                <a:gd name="T8" fmla="*/ 15 w 254"/>
                <a:gd name="T9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22">
                  <a:moveTo>
                    <a:pt x="15" y="17"/>
                  </a:moveTo>
                  <a:lnTo>
                    <a:pt x="249" y="0"/>
                  </a:lnTo>
                  <a:lnTo>
                    <a:pt x="254" y="122"/>
                  </a:lnTo>
                  <a:lnTo>
                    <a:pt x="0" y="120"/>
                  </a:lnTo>
                  <a:lnTo>
                    <a:pt x="15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19"/>
            <p:cNvSpPr/>
            <p:nvPr/>
          </p:nvSpPr>
          <p:spPr>
            <a:xfrm>
              <a:off x="1150" y="2173"/>
              <a:ext cx="110" cy="110"/>
            </a:xfrm>
            <a:custGeom>
              <a:avLst/>
              <a:gdLst>
                <a:gd name="T0" fmla="*/ 44 w 46"/>
                <a:gd name="T1" fmla="*/ 26 h 46"/>
                <a:gd name="T2" fmla="*/ 26 w 46"/>
                <a:gd name="T3" fmla="*/ 2 h 46"/>
                <a:gd name="T4" fmla="*/ 2 w 46"/>
                <a:gd name="T5" fmla="*/ 20 h 46"/>
                <a:gd name="T6" fmla="*/ 20 w 46"/>
                <a:gd name="T7" fmla="*/ 44 h 46"/>
                <a:gd name="T8" fmla="*/ 44 w 46"/>
                <a:gd name="T9" fmla="*/ 2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6">
                  <a:moveTo>
                    <a:pt x="44" y="26"/>
                  </a:moveTo>
                  <a:cubicBezTo>
                    <a:pt x="46" y="15"/>
                    <a:pt x="38" y="4"/>
                    <a:pt x="26" y="2"/>
                  </a:cubicBezTo>
                  <a:cubicBezTo>
                    <a:pt x="15" y="0"/>
                    <a:pt x="4" y="8"/>
                    <a:pt x="2" y="20"/>
                  </a:cubicBezTo>
                  <a:cubicBezTo>
                    <a:pt x="0" y="31"/>
                    <a:pt x="8" y="42"/>
                    <a:pt x="20" y="44"/>
                  </a:cubicBezTo>
                  <a:cubicBezTo>
                    <a:pt x="31" y="46"/>
                    <a:pt x="42" y="38"/>
                    <a:pt x="44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20"/>
            <p:cNvSpPr/>
            <p:nvPr/>
          </p:nvSpPr>
          <p:spPr>
            <a:xfrm>
              <a:off x="1370" y="2159"/>
              <a:ext cx="124" cy="122"/>
            </a:xfrm>
            <a:custGeom>
              <a:avLst/>
              <a:gdLst>
                <a:gd name="T0" fmla="*/ 1 w 52"/>
                <a:gd name="T1" fmla="*/ 26 h 51"/>
                <a:gd name="T2" fmla="*/ 25 w 52"/>
                <a:gd name="T3" fmla="*/ 0 h 51"/>
                <a:gd name="T4" fmla="*/ 52 w 52"/>
                <a:gd name="T5" fmla="*/ 25 h 51"/>
                <a:gd name="T6" fmla="*/ 27 w 52"/>
                <a:gd name="T7" fmla="*/ 51 h 51"/>
                <a:gd name="T8" fmla="*/ 1 w 52"/>
                <a:gd name="T9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1" y="26"/>
                  </a:moveTo>
                  <a:cubicBezTo>
                    <a:pt x="0" y="13"/>
                    <a:pt x="11" y="1"/>
                    <a:pt x="25" y="0"/>
                  </a:cubicBezTo>
                  <a:cubicBezTo>
                    <a:pt x="39" y="0"/>
                    <a:pt x="51" y="11"/>
                    <a:pt x="52" y="25"/>
                  </a:cubicBezTo>
                  <a:cubicBezTo>
                    <a:pt x="52" y="39"/>
                    <a:pt x="41" y="50"/>
                    <a:pt x="27" y="51"/>
                  </a:cubicBezTo>
                  <a:cubicBezTo>
                    <a:pt x="13" y="51"/>
                    <a:pt x="1" y="40"/>
                    <a:pt x="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21"/>
            <p:cNvSpPr/>
            <p:nvPr/>
          </p:nvSpPr>
          <p:spPr>
            <a:xfrm>
              <a:off x="1343" y="2111"/>
              <a:ext cx="177" cy="153"/>
            </a:xfrm>
            <a:custGeom>
              <a:avLst/>
              <a:gdLst>
                <a:gd name="T0" fmla="*/ 68 w 74"/>
                <a:gd name="T1" fmla="*/ 18 h 64"/>
                <a:gd name="T2" fmla="*/ 48 w 74"/>
                <a:gd name="T3" fmla="*/ 56 h 64"/>
                <a:gd name="T4" fmla="*/ 6 w 74"/>
                <a:gd name="T5" fmla="*/ 46 h 64"/>
                <a:gd name="T6" fmla="*/ 26 w 74"/>
                <a:gd name="T7" fmla="*/ 8 h 64"/>
                <a:gd name="T8" fmla="*/ 68 w 74"/>
                <a:gd name="T9" fmla="*/ 1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64">
                  <a:moveTo>
                    <a:pt x="68" y="18"/>
                  </a:moveTo>
                  <a:cubicBezTo>
                    <a:pt x="74" y="31"/>
                    <a:pt x="65" y="48"/>
                    <a:pt x="48" y="56"/>
                  </a:cubicBezTo>
                  <a:cubicBezTo>
                    <a:pt x="31" y="64"/>
                    <a:pt x="13" y="60"/>
                    <a:pt x="6" y="46"/>
                  </a:cubicBezTo>
                  <a:cubicBezTo>
                    <a:pt x="0" y="33"/>
                    <a:pt x="9" y="16"/>
                    <a:pt x="26" y="8"/>
                  </a:cubicBezTo>
                  <a:cubicBezTo>
                    <a:pt x="43" y="0"/>
                    <a:pt x="62" y="5"/>
                    <a:pt x="68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22"/>
            <p:cNvSpPr/>
            <p:nvPr/>
          </p:nvSpPr>
          <p:spPr>
            <a:xfrm>
              <a:off x="1272" y="2142"/>
              <a:ext cx="121" cy="96"/>
            </a:xfrm>
            <a:custGeom>
              <a:avLst/>
              <a:gdLst>
                <a:gd name="T0" fmla="*/ 51 w 51"/>
                <a:gd name="T1" fmla="*/ 19 h 40"/>
                <a:gd name="T2" fmla="*/ 26 w 51"/>
                <a:gd name="T3" fmla="*/ 39 h 40"/>
                <a:gd name="T4" fmla="*/ 0 w 51"/>
                <a:gd name="T5" fmla="*/ 20 h 40"/>
                <a:gd name="T6" fmla="*/ 25 w 51"/>
                <a:gd name="T7" fmla="*/ 0 h 40"/>
                <a:gd name="T8" fmla="*/ 51 w 51"/>
                <a:gd name="T9" fmla="*/ 1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0">
                  <a:moveTo>
                    <a:pt x="51" y="19"/>
                  </a:moveTo>
                  <a:cubicBezTo>
                    <a:pt x="51" y="30"/>
                    <a:pt x="40" y="39"/>
                    <a:pt x="26" y="39"/>
                  </a:cubicBezTo>
                  <a:cubicBezTo>
                    <a:pt x="12" y="40"/>
                    <a:pt x="0" y="31"/>
                    <a:pt x="0" y="20"/>
                  </a:cubicBezTo>
                  <a:cubicBezTo>
                    <a:pt x="0" y="10"/>
                    <a:pt x="11" y="0"/>
                    <a:pt x="25" y="0"/>
                  </a:cubicBezTo>
                  <a:cubicBezTo>
                    <a:pt x="39" y="0"/>
                    <a:pt x="50" y="8"/>
                    <a:pt x="51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Oval 23"/>
            <p:cNvSpPr>
              <a:spLocks noChangeArrowheads="1"/>
            </p:cNvSpPr>
            <p:nvPr/>
          </p:nvSpPr>
          <p:spPr>
            <a:xfrm>
              <a:off x="1377" y="2121"/>
              <a:ext cx="146" cy="1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24"/>
            <p:cNvSpPr/>
            <p:nvPr/>
          </p:nvSpPr>
          <p:spPr>
            <a:xfrm>
              <a:off x="1255" y="1879"/>
              <a:ext cx="138" cy="141"/>
            </a:xfrm>
            <a:custGeom>
              <a:avLst/>
              <a:gdLst>
                <a:gd name="T0" fmla="*/ 45 w 58"/>
                <a:gd name="T1" fmla="*/ 50 h 59"/>
                <a:gd name="T2" fmla="*/ 27 w 58"/>
                <a:gd name="T3" fmla="*/ 56 h 59"/>
                <a:gd name="T4" fmla="*/ 9 w 58"/>
                <a:gd name="T5" fmla="*/ 48 h 59"/>
                <a:gd name="T6" fmla="*/ 3 w 58"/>
                <a:gd name="T7" fmla="*/ 30 h 59"/>
                <a:gd name="T8" fmla="*/ 13 w 58"/>
                <a:gd name="T9" fmla="*/ 9 h 59"/>
                <a:gd name="T10" fmla="*/ 31 w 58"/>
                <a:gd name="T11" fmla="*/ 3 h 59"/>
                <a:gd name="T12" fmla="*/ 48 w 58"/>
                <a:gd name="T13" fmla="*/ 11 h 59"/>
                <a:gd name="T14" fmla="*/ 55 w 58"/>
                <a:gd name="T15" fmla="*/ 29 h 59"/>
                <a:gd name="T16" fmla="*/ 45 w 58"/>
                <a:gd name="T17" fmla="*/ 5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45" y="50"/>
                  </a:moveTo>
                  <a:cubicBezTo>
                    <a:pt x="41" y="56"/>
                    <a:pt x="33" y="59"/>
                    <a:pt x="27" y="56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3" y="45"/>
                    <a:pt x="0" y="37"/>
                    <a:pt x="3" y="3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6" y="3"/>
                    <a:pt x="24" y="0"/>
                    <a:pt x="31" y="3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55" y="14"/>
                    <a:pt x="58" y="22"/>
                    <a:pt x="55" y="29"/>
                  </a:cubicBezTo>
                  <a:lnTo>
                    <a:pt x="45" y="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25"/>
            <p:cNvSpPr/>
            <p:nvPr/>
          </p:nvSpPr>
          <p:spPr>
            <a:xfrm>
              <a:off x="1336" y="1929"/>
              <a:ext cx="62" cy="51"/>
            </a:xfrm>
            <a:custGeom>
              <a:avLst/>
              <a:gdLst>
                <a:gd name="T0" fmla="*/ 5 w 26"/>
                <a:gd name="T1" fmla="*/ 14 h 21"/>
                <a:gd name="T2" fmla="*/ 2 w 26"/>
                <a:gd name="T3" fmla="*/ 5 h 21"/>
                <a:gd name="T4" fmla="*/ 2 w 26"/>
                <a:gd name="T5" fmla="*/ 5 h 21"/>
                <a:gd name="T6" fmla="*/ 11 w 26"/>
                <a:gd name="T7" fmla="*/ 1 h 21"/>
                <a:gd name="T8" fmla="*/ 21 w 26"/>
                <a:gd name="T9" fmla="*/ 6 h 21"/>
                <a:gd name="T10" fmla="*/ 25 w 26"/>
                <a:gd name="T11" fmla="*/ 16 h 21"/>
                <a:gd name="T12" fmla="*/ 25 w 26"/>
                <a:gd name="T13" fmla="*/ 16 h 21"/>
                <a:gd name="T14" fmla="*/ 15 w 26"/>
                <a:gd name="T15" fmla="*/ 19 h 21"/>
                <a:gd name="T16" fmla="*/ 5 w 26"/>
                <a:gd name="T17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21">
                  <a:moveTo>
                    <a:pt x="5" y="14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1"/>
                    <a:pt x="8" y="0"/>
                    <a:pt x="11" y="1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5" y="8"/>
                    <a:pt x="26" y="12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3" y="19"/>
                    <a:pt x="19" y="21"/>
                    <a:pt x="15" y="19"/>
                  </a:cubicBezTo>
                  <a:lnTo>
                    <a:pt x="5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26"/>
            <p:cNvSpPr/>
            <p:nvPr/>
          </p:nvSpPr>
          <p:spPr>
            <a:xfrm>
              <a:off x="1300" y="1949"/>
              <a:ext cx="93" cy="71"/>
            </a:xfrm>
            <a:custGeom>
              <a:avLst/>
              <a:gdLst>
                <a:gd name="T0" fmla="*/ 2 w 39"/>
                <a:gd name="T1" fmla="*/ 21 h 30"/>
                <a:gd name="T2" fmla="*/ 15 w 39"/>
                <a:gd name="T3" fmla="*/ 3 h 30"/>
                <a:gd name="T4" fmla="*/ 37 w 39"/>
                <a:gd name="T5" fmla="*/ 9 h 30"/>
                <a:gd name="T6" fmla="*/ 24 w 39"/>
                <a:gd name="T7" fmla="*/ 27 h 30"/>
                <a:gd name="T8" fmla="*/ 2 w 39"/>
                <a:gd name="T9" fmla="*/ 2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0">
                  <a:moveTo>
                    <a:pt x="2" y="21"/>
                  </a:moveTo>
                  <a:cubicBezTo>
                    <a:pt x="0" y="14"/>
                    <a:pt x="6" y="6"/>
                    <a:pt x="15" y="3"/>
                  </a:cubicBezTo>
                  <a:cubicBezTo>
                    <a:pt x="25" y="0"/>
                    <a:pt x="35" y="2"/>
                    <a:pt x="37" y="9"/>
                  </a:cubicBezTo>
                  <a:cubicBezTo>
                    <a:pt x="39" y="16"/>
                    <a:pt x="33" y="24"/>
                    <a:pt x="24" y="27"/>
                  </a:cubicBezTo>
                  <a:cubicBezTo>
                    <a:pt x="14" y="30"/>
                    <a:pt x="4" y="28"/>
                    <a:pt x="2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27"/>
            <p:cNvSpPr/>
            <p:nvPr/>
          </p:nvSpPr>
          <p:spPr>
            <a:xfrm>
              <a:off x="1348" y="1939"/>
              <a:ext cx="53" cy="67"/>
            </a:xfrm>
            <a:custGeom>
              <a:avLst/>
              <a:gdLst>
                <a:gd name="T0" fmla="*/ 7 w 22"/>
                <a:gd name="T1" fmla="*/ 5 h 28"/>
                <a:gd name="T2" fmla="*/ 17 w 22"/>
                <a:gd name="T3" fmla="*/ 1 h 28"/>
                <a:gd name="T4" fmla="*/ 17 w 22"/>
                <a:gd name="T5" fmla="*/ 1 h 28"/>
                <a:gd name="T6" fmla="*/ 21 w 22"/>
                <a:gd name="T7" fmla="*/ 11 h 28"/>
                <a:gd name="T8" fmla="*/ 16 w 22"/>
                <a:gd name="T9" fmla="*/ 22 h 28"/>
                <a:gd name="T10" fmla="*/ 6 w 22"/>
                <a:gd name="T11" fmla="*/ 26 h 28"/>
                <a:gd name="T12" fmla="*/ 6 w 22"/>
                <a:gd name="T13" fmla="*/ 26 h 28"/>
                <a:gd name="T14" fmla="*/ 2 w 22"/>
                <a:gd name="T15" fmla="*/ 16 h 28"/>
                <a:gd name="T16" fmla="*/ 7 w 22"/>
                <a:gd name="T17" fmla="*/ 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8">
                  <a:moveTo>
                    <a:pt x="7" y="5"/>
                  </a:moveTo>
                  <a:cubicBezTo>
                    <a:pt x="9" y="1"/>
                    <a:pt x="13" y="0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21" y="3"/>
                    <a:pt x="22" y="7"/>
                    <a:pt x="21" y="11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6"/>
                    <a:pt x="10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2" y="24"/>
                    <a:pt x="0" y="20"/>
                    <a:pt x="2" y="16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3" name="文本框 62"/>
          <p:cNvSpPr txBox="1"/>
          <p:nvPr/>
        </p:nvSpPr>
        <p:spPr>
          <a:xfrm>
            <a:off x="9925905" y="2884817"/>
            <a:ext cx="1740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485766"/>
                </a:solidFill>
              </a:rPr>
              <a:t>缺乏过程导向的反思</a:t>
            </a:r>
          </a:p>
        </p:txBody>
      </p:sp>
      <p:grpSp>
        <p:nvGrpSpPr>
          <p:cNvPr id="66" name="组合"/>
          <p:cNvGrpSpPr/>
          <p:nvPr/>
        </p:nvGrpSpPr>
        <p:grpSpPr>
          <a:xfrm>
            <a:off x="8828941" y="4593337"/>
            <a:ext cx="911225" cy="911225"/>
            <a:chOff x="1042" y="1829"/>
            <a:chExt cx="574" cy="574"/>
          </a:xfrm>
        </p:grpSpPr>
        <p:sp>
          <p:nvSpPr>
            <p:cNvPr id="67" name="AutoShape 13"/>
            <p:cNvSpPr>
              <a:spLocks noChangeAspect="1" noChangeArrowheads="1" noTextEdit="1"/>
            </p:cNvSpPr>
            <p:nvPr/>
          </p:nvSpPr>
          <p:spPr>
            <a:xfrm>
              <a:off x="1042" y="1829"/>
              <a:ext cx="574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Oval 15"/>
            <p:cNvSpPr>
              <a:spLocks noChangeArrowheads="1"/>
            </p:cNvSpPr>
            <p:nvPr/>
          </p:nvSpPr>
          <p:spPr>
            <a:xfrm>
              <a:off x="1044" y="1829"/>
              <a:ext cx="574" cy="574"/>
            </a:xfrm>
            <a:prstGeom prst="ellipse">
              <a:avLst/>
            </a:prstGeom>
            <a:solidFill>
              <a:srgbClr val="569E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6"/>
            <p:cNvSpPr/>
            <p:nvPr/>
          </p:nvSpPr>
          <p:spPr>
            <a:xfrm>
              <a:off x="1161" y="1975"/>
              <a:ext cx="175" cy="258"/>
            </a:xfrm>
            <a:custGeom>
              <a:avLst/>
              <a:gdLst>
                <a:gd name="T0" fmla="*/ 0 w 175"/>
                <a:gd name="T1" fmla="*/ 217 h 258"/>
                <a:gd name="T2" fmla="*/ 108 w 175"/>
                <a:gd name="T3" fmla="*/ 0 h 258"/>
                <a:gd name="T4" fmla="*/ 175 w 175"/>
                <a:gd name="T5" fmla="*/ 29 h 258"/>
                <a:gd name="T6" fmla="*/ 99 w 175"/>
                <a:gd name="T7" fmla="*/ 258 h 258"/>
                <a:gd name="T8" fmla="*/ 0 w 175"/>
                <a:gd name="T9" fmla="*/ 21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258">
                  <a:moveTo>
                    <a:pt x="0" y="217"/>
                  </a:moveTo>
                  <a:lnTo>
                    <a:pt x="108" y="0"/>
                  </a:lnTo>
                  <a:lnTo>
                    <a:pt x="175" y="29"/>
                  </a:lnTo>
                  <a:lnTo>
                    <a:pt x="99" y="258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17"/>
            <p:cNvSpPr/>
            <p:nvPr/>
          </p:nvSpPr>
          <p:spPr>
            <a:xfrm>
              <a:off x="1147" y="2154"/>
              <a:ext cx="122" cy="132"/>
            </a:xfrm>
            <a:custGeom>
              <a:avLst/>
              <a:gdLst>
                <a:gd name="T0" fmla="*/ 16 w 51"/>
                <a:gd name="T1" fmla="*/ 50 h 55"/>
                <a:gd name="T2" fmla="*/ 5 w 51"/>
                <a:gd name="T3" fmla="*/ 19 h 55"/>
                <a:gd name="T4" fmla="*/ 35 w 51"/>
                <a:gd name="T5" fmla="*/ 5 h 55"/>
                <a:gd name="T6" fmla="*/ 46 w 51"/>
                <a:gd name="T7" fmla="*/ 36 h 55"/>
                <a:gd name="T8" fmla="*/ 16 w 51"/>
                <a:gd name="T9" fmla="*/ 5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5">
                  <a:moveTo>
                    <a:pt x="16" y="50"/>
                  </a:moveTo>
                  <a:cubicBezTo>
                    <a:pt x="5" y="45"/>
                    <a:pt x="0" y="32"/>
                    <a:pt x="5" y="19"/>
                  </a:cubicBezTo>
                  <a:cubicBezTo>
                    <a:pt x="10" y="7"/>
                    <a:pt x="23" y="0"/>
                    <a:pt x="35" y="5"/>
                  </a:cubicBezTo>
                  <a:cubicBezTo>
                    <a:pt x="46" y="10"/>
                    <a:pt x="51" y="23"/>
                    <a:pt x="46" y="36"/>
                  </a:cubicBezTo>
                  <a:cubicBezTo>
                    <a:pt x="41" y="48"/>
                    <a:pt x="27" y="55"/>
                    <a:pt x="16" y="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8"/>
            <p:cNvSpPr/>
            <p:nvPr/>
          </p:nvSpPr>
          <p:spPr>
            <a:xfrm>
              <a:off x="1190" y="2159"/>
              <a:ext cx="254" cy="122"/>
            </a:xfrm>
            <a:custGeom>
              <a:avLst/>
              <a:gdLst>
                <a:gd name="T0" fmla="*/ 15 w 254"/>
                <a:gd name="T1" fmla="*/ 17 h 122"/>
                <a:gd name="T2" fmla="*/ 249 w 254"/>
                <a:gd name="T3" fmla="*/ 0 h 122"/>
                <a:gd name="T4" fmla="*/ 254 w 254"/>
                <a:gd name="T5" fmla="*/ 122 h 122"/>
                <a:gd name="T6" fmla="*/ 0 w 254"/>
                <a:gd name="T7" fmla="*/ 120 h 122"/>
                <a:gd name="T8" fmla="*/ 15 w 254"/>
                <a:gd name="T9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22">
                  <a:moveTo>
                    <a:pt x="15" y="17"/>
                  </a:moveTo>
                  <a:lnTo>
                    <a:pt x="249" y="0"/>
                  </a:lnTo>
                  <a:lnTo>
                    <a:pt x="254" y="122"/>
                  </a:lnTo>
                  <a:lnTo>
                    <a:pt x="0" y="120"/>
                  </a:lnTo>
                  <a:lnTo>
                    <a:pt x="15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19"/>
            <p:cNvSpPr/>
            <p:nvPr/>
          </p:nvSpPr>
          <p:spPr>
            <a:xfrm>
              <a:off x="1150" y="2173"/>
              <a:ext cx="110" cy="110"/>
            </a:xfrm>
            <a:custGeom>
              <a:avLst/>
              <a:gdLst>
                <a:gd name="T0" fmla="*/ 44 w 46"/>
                <a:gd name="T1" fmla="*/ 26 h 46"/>
                <a:gd name="T2" fmla="*/ 26 w 46"/>
                <a:gd name="T3" fmla="*/ 2 h 46"/>
                <a:gd name="T4" fmla="*/ 2 w 46"/>
                <a:gd name="T5" fmla="*/ 20 h 46"/>
                <a:gd name="T6" fmla="*/ 20 w 46"/>
                <a:gd name="T7" fmla="*/ 44 h 46"/>
                <a:gd name="T8" fmla="*/ 44 w 46"/>
                <a:gd name="T9" fmla="*/ 2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6">
                  <a:moveTo>
                    <a:pt x="44" y="26"/>
                  </a:moveTo>
                  <a:cubicBezTo>
                    <a:pt x="46" y="15"/>
                    <a:pt x="38" y="4"/>
                    <a:pt x="26" y="2"/>
                  </a:cubicBezTo>
                  <a:cubicBezTo>
                    <a:pt x="15" y="0"/>
                    <a:pt x="4" y="8"/>
                    <a:pt x="2" y="20"/>
                  </a:cubicBezTo>
                  <a:cubicBezTo>
                    <a:pt x="0" y="31"/>
                    <a:pt x="8" y="42"/>
                    <a:pt x="20" y="44"/>
                  </a:cubicBezTo>
                  <a:cubicBezTo>
                    <a:pt x="31" y="46"/>
                    <a:pt x="42" y="38"/>
                    <a:pt x="44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20"/>
            <p:cNvSpPr/>
            <p:nvPr/>
          </p:nvSpPr>
          <p:spPr>
            <a:xfrm>
              <a:off x="1370" y="2159"/>
              <a:ext cx="124" cy="122"/>
            </a:xfrm>
            <a:custGeom>
              <a:avLst/>
              <a:gdLst>
                <a:gd name="T0" fmla="*/ 1 w 52"/>
                <a:gd name="T1" fmla="*/ 26 h 51"/>
                <a:gd name="T2" fmla="*/ 25 w 52"/>
                <a:gd name="T3" fmla="*/ 0 h 51"/>
                <a:gd name="T4" fmla="*/ 52 w 52"/>
                <a:gd name="T5" fmla="*/ 25 h 51"/>
                <a:gd name="T6" fmla="*/ 27 w 52"/>
                <a:gd name="T7" fmla="*/ 51 h 51"/>
                <a:gd name="T8" fmla="*/ 1 w 52"/>
                <a:gd name="T9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1" y="26"/>
                  </a:moveTo>
                  <a:cubicBezTo>
                    <a:pt x="0" y="13"/>
                    <a:pt x="11" y="1"/>
                    <a:pt x="25" y="0"/>
                  </a:cubicBezTo>
                  <a:cubicBezTo>
                    <a:pt x="39" y="0"/>
                    <a:pt x="51" y="11"/>
                    <a:pt x="52" y="25"/>
                  </a:cubicBezTo>
                  <a:cubicBezTo>
                    <a:pt x="52" y="39"/>
                    <a:pt x="41" y="50"/>
                    <a:pt x="27" y="51"/>
                  </a:cubicBezTo>
                  <a:cubicBezTo>
                    <a:pt x="13" y="51"/>
                    <a:pt x="1" y="40"/>
                    <a:pt x="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21"/>
            <p:cNvSpPr/>
            <p:nvPr/>
          </p:nvSpPr>
          <p:spPr>
            <a:xfrm>
              <a:off x="1343" y="2111"/>
              <a:ext cx="177" cy="153"/>
            </a:xfrm>
            <a:custGeom>
              <a:avLst/>
              <a:gdLst>
                <a:gd name="T0" fmla="*/ 68 w 74"/>
                <a:gd name="T1" fmla="*/ 18 h 64"/>
                <a:gd name="T2" fmla="*/ 48 w 74"/>
                <a:gd name="T3" fmla="*/ 56 h 64"/>
                <a:gd name="T4" fmla="*/ 6 w 74"/>
                <a:gd name="T5" fmla="*/ 46 h 64"/>
                <a:gd name="T6" fmla="*/ 26 w 74"/>
                <a:gd name="T7" fmla="*/ 8 h 64"/>
                <a:gd name="T8" fmla="*/ 68 w 74"/>
                <a:gd name="T9" fmla="*/ 1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64">
                  <a:moveTo>
                    <a:pt x="68" y="18"/>
                  </a:moveTo>
                  <a:cubicBezTo>
                    <a:pt x="74" y="31"/>
                    <a:pt x="65" y="48"/>
                    <a:pt x="48" y="56"/>
                  </a:cubicBezTo>
                  <a:cubicBezTo>
                    <a:pt x="31" y="64"/>
                    <a:pt x="13" y="60"/>
                    <a:pt x="6" y="46"/>
                  </a:cubicBezTo>
                  <a:cubicBezTo>
                    <a:pt x="0" y="33"/>
                    <a:pt x="9" y="16"/>
                    <a:pt x="26" y="8"/>
                  </a:cubicBezTo>
                  <a:cubicBezTo>
                    <a:pt x="43" y="0"/>
                    <a:pt x="62" y="5"/>
                    <a:pt x="68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22"/>
            <p:cNvSpPr/>
            <p:nvPr/>
          </p:nvSpPr>
          <p:spPr>
            <a:xfrm>
              <a:off x="1272" y="2142"/>
              <a:ext cx="121" cy="96"/>
            </a:xfrm>
            <a:custGeom>
              <a:avLst/>
              <a:gdLst>
                <a:gd name="T0" fmla="*/ 51 w 51"/>
                <a:gd name="T1" fmla="*/ 19 h 40"/>
                <a:gd name="T2" fmla="*/ 26 w 51"/>
                <a:gd name="T3" fmla="*/ 39 h 40"/>
                <a:gd name="T4" fmla="*/ 0 w 51"/>
                <a:gd name="T5" fmla="*/ 20 h 40"/>
                <a:gd name="T6" fmla="*/ 25 w 51"/>
                <a:gd name="T7" fmla="*/ 0 h 40"/>
                <a:gd name="T8" fmla="*/ 51 w 51"/>
                <a:gd name="T9" fmla="*/ 1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0">
                  <a:moveTo>
                    <a:pt x="51" y="19"/>
                  </a:moveTo>
                  <a:cubicBezTo>
                    <a:pt x="51" y="30"/>
                    <a:pt x="40" y="39"/>
                    <a:pt x="26" y="39"/>
                  </a:cubicBezTo>
                  <a:cubicBezTo>
                    <a:pt x="12" y="40"/>
                    <a:pt x="0" y="31"/>
                    <a:pt x="0" y="20"/>
                  </a:cubicBezTo>
                  <a:cubicBezTo>
                    <a:pt x="0" y="10"/>
                    <a:pt x="11" y="0"/>
                    <a:pt x="25" y="0"/>
                  </a:cubicBezTo>
                  <a:cubicBezTo>
                    <a:pt x="39" y="0"/>
                    <a:pt x="50" y="8"/>
                    <a:pt x="51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Oval 23"/>
            <p:cNvSpPr>
              <a:spLocks noChangeArrowheads="1"/>
            </p:cNvSpPr>
            <p:nvPr/>
          </p:nvSpPr>
          <p:spPr>
            <a:xfrm>
              <a:off x="1377" y="2121"/>
              <a:ext cx="146" cy="1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24"/>
            <p:cNvSpPr/>
            <p:nvPr/>
          </p:nvSpPr>
          <p:spPr>
            <a:xfrm>
              <a:off x="1255" y="1879"/>
              <a:ext cx="138" cy="141"/>
            </a:xfrm>
            <a:custGeom>
              <a:avLst/>
              <a:gdLst>
                <a:gd name="T0" fmla="*/ 45 w 58"/>
                <a:gd name="T1" fmla="*/ 50 h 59"/>
                <a:gd name="T2" fmla="*/ 27 w 58"/>
                <a:gd name="T3" fmla="*/ 56 h 59"/>
                <a:gd name="T4" fmla="*/ 9 w 58"/>
                <a:gd name="T5" fmla="*/ 48 h 59"/>
                <a:gd name="T6" fmla="*/ 3 w 58"/>
                <a:gd name="T7" fmla="*/ 30 h 59"/>
                <a:gd name="T8" fmla="*/ 13 w 58"/>
                <a:gd name="T9" fmla="*/ 9 h 59"/>
                <a:gd name="T10" fmla="*/ 31 w 58"/>
                <a:gd name="T11" fmla="*/ 3 h 59"/>
                <a:gd name="T12" fmla="*/ 48 w 58"/>
                <a:gd name="T13" fmla="*/ 11 h 59"/>
                <a:gd name="T14" fmla="*/ 55 w 58"/>
                <a:gd name="T15" fmla="*/ 29 h 59"/>
                <a:gd name="T16" fmla="*/ 45 w 58"/>
                <a:gd name="T17" fmla="*/ 5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45" y="50"/>
                  </a:moveTo>
                  <a:cubicBezTo>
                    <a:pt x="41" y="56"/>
                    <a:pt x="33" y="59"/>
                    <a:pt x="27" y="56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3" y="45"/>
                    <a:pt x="0" y="37"/>
                    <a:pt x="3" y="3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6" y="3"/>
                    <a:pt x="24" y="0"/>
                    <a:pt x="31" y="3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55" y="14"/>
                    <a:pt x="58" y="22"/>
                    <a:pt x="55" y="29"/>
                  </a:cubicBezTo>
                  <a:lnTo>
                    <a:pt x="45" y="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25"/>
            <p:cNvSpPr/>
            <p:nvPr/>
          </p:nvSpPr>
          <p:spPr>
            <a:xfrm>
              <a:off x="1336" y="1929"/>
              <a:ext cx="62" cy="51"/>
            </a:xfrm>
            <a:custGeom>
              <a:avLst/>
              <a:gdLst>
                <a:gd name="T0" fmla="*/ 5 w 26"/>
                <a:gd name="T1" fmla="*/ 14 h 21"/>
                <a:gd name="T2" fmla="*/ 2 w 26"/>
                <a:gd name="T3" fmla="*/ 5 h 21"/>
                <a:gd name="T4" fmla="*/ 2 w 26"/>
                <a:gd name="T5" fmla="*/ 5 h 21"/>
                <a:gd name="T6" fmla="*/ 11 w 26"/>
                <a:gd name="T7" fmla="*/ 1 h 21"/>
                <a:gd name="T8" fmla="*/ 21 w 26"/>
                <a:gd name="T9" fmla="*/ 6 h 21"/>
                <a:gd name="T10" fmla="*/ 25 w 26"/>
                <a:gd name="T11" fmla="*/ 16 h 21"/>
                <a:gd name="T12" fmla="*/ 25 w 26"/>
                <a:gd name="T13" fmla="*/ 16 h 21"/>
                <a:gd name="T14" fmla="*/ 15 w 26"/>
                <a:gd name="T15" fmla="*/ 19 h 21"/>
                <a:gd name="T16" fmla="*/ 5 w 26"/>
                <a:gd name="T17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21">
                  <a:moveTo>
                    <a:pt x="5" y="14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1"/>
                    <a:pt x="8" y="0"/>
                    <a:pt x="11" y="1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5" y="8"/>
                    <a:pt x="26" y="12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3" y="19"/>
                    <a:pt x="19" y="21"/>
                    <a:pt x="15" y="19"/>
                  </a:cubicBezTo>
                  <a:lnTo>
                    <a:pt x="5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26"/>
            <p:cNvSpPr/>
            <p:nvPr/>
          </p:nvSpPr>
          <p:spPr>
            <a:xfrm>
              <a:off x="1300" y="1949"/>
              <a:ext cx="93" cy="71"/>
            </a:xfrm>
            <a:custGeom>
              <a:avLst/>
              <a:gdLst>
                <a:gd name="T0" fmla="*/ 2 w 39"/>
                <a:gd name="T1" fmla="*/ 21 h 30"/>
                <a:gd name="T2" fmla="*/ 15 w 39"/>
                <a:gd name="T3" fmla="*/ 3 h 30"/>
                <a:gd name="T4" fmla="*/ 37 w 39"/>
                <a:gd name="T5" fmla="*/ 9 h 30"/>
                <a:gd name="T6" fmla="*/ 24 w 39"/>
                <a:gd name="T7" fmla="*/ 27 h 30"/>
                <a:gd name="T8" fmla="*/ 2 w 39"/>
                <a:gd name="T9" fmla="*/ 2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0">
                  <a:moveTo>
                    <a:pt x="2" y="21"/>
                  </a:moveTo>
                  <a:cubicBezTo>
                    <a:pt x="0" y="14"/>
                    <a:pt x="6" y="6"/>
                    <a:pt x="15" y="3"/>
                  </a:cubicBezTo>
                  <a:cubicBezTo>
                    <a:pt x="25" y="0"/>
                    <a:pt x="35" y="2"/>
                    <a:pt x="37" y="9"/>
                  </a:cubicBezTo>
                  <a:cubicBezTo>
                    <a:pt x="39" y="16"/>
                    <a:pt x="33" y="24"/>
                    <a:pt x="24" y="27"/>
                  </a:cubicBezTo>
                  <a:cubicBezTo>
                    <a:pt x="14" y="30"/>
                    <a:pt x="4" y="28"/>
                    <a:pt x="2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27"/>
            <p:cNvSpPr/>
            <p:nvPr/>
          </p:nvSpPr>
          <p:spPr>
            <a:xfrm>
              <a:off x="1348" y="1939"/>
              <a:ext cx="53" cy="67"/>
            </a:xfrm>
            <a:custGeom>
              <a:avLst/>
              <a:gdLst>
                <a:gd name="T0" fmla="*/ 7 w 22"/>
                <a:gd name="T1" fmla="*/ 5 h 28"/>
                <a:gd name="T2" fmla="*/ 17 w 22"/>
                <a:gd name="T3" fmla="*/ 1 h 28"/>
                <a:gd name="T4" fmla="*/ 17 w 22"/>
                <a:gd name="T5" fmla="*/ 1 h 28"/>
                <a:gd name="T6" fmla="*/ 21 w 22"/>
                <a:gd name="T7" fmla="*/ 11 h 28"/>
                <a:gd name="T8" fmla="*/ 16 w 22"/>
                <a:gd name="T9" fmla="*/ 22 h 28"/>
                <a:gd name="T10" fmla="*/ 6 w 22"/>
                <a:gd name="T11" fmla="*/ 26 h 28"/>
                <a:gd name="T12" fmla="*/ 6 w 22"/>
                <a:gd name="T13" fmla="*/ 26 h 28"/>
                <a:gd name="T14" fmla="*/ 2 w 22"/>
                <a:gd name="T15" fmla="*/ 16 h 28"/>
                <a:gd name="T16" fmla="*/ 7 w 22"/>
                <a:gd name="T17" fmla="*/ 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8">
                  <a:moveTo>
                    <a:pt x="7" y="5"/>
                  </a:moveTo>
                  <a:cubicBezTo>
                    <a:pt x="9" y="1"/>
                    <a:pt x="13" y="0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21" y="3"/>
                    <a:pt x="22" y="7"/>
                    <a:pt x="21" y="11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6"/>
                    <a:pt x="10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2" y="24"/>
                    <a:pt x="0" y="20"/>
                    <a:pt x="2" y="16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9925904" y="485825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485766"/>
                </a:solidFill>
              </a:rPr>
              <a:t>方法论局限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130022" y="4424221"/>
            <a:ext cx="19931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485766"/>
                </a:solidFill>
              </a:rPr>
              <a:t>用户研究增强了</a:t>
            </a:r>
            <a:r>
              <a:rPr lang="en-US" altLang="zh-CN" sz="2000" dirty="0">
                <a:solidFill>
                  <a:srgbClr val="485766"/>
                </a:solidFill>
              </a:rPr>
              <a:t>AI</a:t>
            </a:r>
            <a:r>
              <a:rPr lang="zh-CN" altLang="en-US" sz="2000" dirty="0">
                <a:solidFill>
                  <a:srgbClr val="485766"/>
                </a:solidFill>
              </a:rPr>
              <a:t>产品的可用性</a:t>
            </a:r>
          </a:p>
        </p:txBody>
      </p:sp>
      <p:cxnSp>
        <p:nvCxnSpPr>
          <p:cNvPr id="92" name="直接连接符 91"/>
          <p:cNvCxnSpPr/>
          <p:nvPr/>
        </p:nvCxnSpPr>
        <p:spPr>
          <a:xfrm>
            <a:off x="3536886" y="2354072"/>
            <a:ext cx="957353" cy="851482"/>
          </a:xfrm>
          <a:prstGeom prst="line">
            <a:avLst/>
          </a:prstGeom>
          <a:ln w="38100">
            <a:solidFill>
              <a:srgbClr val="8DD9D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>
            <a:cxnSpLocks/>
          </p:cNvCxnSpPr>
          <p:nvPr/>
        </p:nvCxnSpPr>
        <p:spPr>
          <a:xfrm flipV="1">
            <a:off x="3436807" y="3652447"/>
            <a:ext cx="971318" cy="994771"/>
          </a:xfrm>
          <a:prstGeom prst="line">
            <a:avLst/>
          </a:prstGeom>
          <a:ln w="38100">
            <a:solidFill>
              <a:srgbClr val="8DD9D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>
            <a:endCxn id="26" idx="2"/>
          </p:cNvCxnSpPr>
          <p:nvPr/>
        </p:nvCxnSpPr>
        <p:spPr>
          <a:xfrm flipV="1">
            <a:off x="7805542" y="1596151"/>
            <a:ext cx="1026574" cy="923492"/>
          </a:xfrm>
          <a:prstGeom prst="line">
            <a:avLst/>
          </a:prstGeom>
          <a:ln w="38100">
            <a:solidFill>
              <a:srgbClr val="8DD9D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flipV="1">
            <a:off x="7816723" y="3325273"/>
            <a:ext cx="1036399" cy="9163"/>
          </a:xfrm>
          <a:prstGeom prst="line">
            <a:avLst/>
          </a:prstGeom>
          <a:ln w="38100">
            <a:solidFill>
              <a:srgbClr val="8DD9D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>
            <a:endCxn id="68" idx="2"/>
          </p:cNvCxnSpPr>
          <p:nvPr/>
        </p:nvCxnSpPr>
        <p:spPr>
          <a:xfrm>
            <a:off x="7853663" y="4090046"/>
            <a:ext cx="978453" cy="958904"/>
          </a:xfrm>
          <a:prstGeom prst="line">
            <a:avLst/>
          </a:prstGeom>
          <a:ln w="38100">
            <a:solidFill>
              <a:srgbClr val="8DD9D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">
            <a:extLst>
              <a:ext uri="{FF2B5EF4-FFF2-40B4-BE49-F238E27FC236}">
                <a16:creationId xmlns:a16="http://schemas.microsoft.com/office/drawing/2014/main" id="{E312C17F-F042-5E59-2A47-C3BAAE3D04BD}"/>
              </a:ext>
            </a:extLst>
          </p:cNvPr>
          <p:cNvGrpSpPr/>
          <p:nvPr/>
        </p:nvGrpSpPr>
        <p:grpSpPr>
          <a:xfrm>
            <a:off x="2182395" y="1686638"/>
            <a:ext cx="1181833" cy="1181833"/>
            <a:chOff x="3642" y="1962"/>
            <a:chExt cx="396" cy="396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B5FC3487-1560-EDBC-2959-34825102BA8A}"/>
                </a:ext>
              </a:extLst>
            </p:cNvPr>
            <p:cNvSpPr>
              <a:spLocks noChangeAspect="1" noChangeArrowheads="1" noTextEdit="1"/>
            </p:cNvSpPr>
            <p:nvPr/>
          </p:nvSpPr>
          <p:spPr>
            <a:xfrm>
              <a:off x="3642" y="1962"/>
              <a:ext cx="396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1679DE85-6A28-47EF-71A4-1936C21B301C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642" y="1962"/>
              <a:ext cx="398" cy="39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7DA111B-54C1-4FF0-2540-2C0AF0A7FC59}"/>
                </a:ext>
              </a:extLst>
            </p:cNvPr>
            <p:cNvSpPr/>
            <p:nvPr/>
          </p:nvSpPr>
          <p:spPr>
            <a:xfrm>
              <a:off x="3743" y="2171"/>
              <a:ext cx="86" cy="103"/>
            </a:xfrm>
            <a:custGeom>
              <a:avLst/>
              <a:gdLst>
                <a:gd name="T0" fmla="*/ 2 w 36"/>
                <a:gd name="T1" fmla="*/ 43 h 43"/>
                <a:gd name="T2" fmla="*/ 4 w 36"/>
                <a:gd name="T3" fmla="*/ 41 h 43"/>
                <a:gd name="T4" fmla="*/ 4 w 36"/>
                <a:gd name="T5" fmla="*/ 4 h 43"/>
                <a:gd name="T6" fmla="*/ 34 w 36"/>
                <a:gd name="T7" fmla="*/ 4 h 43"/>
                <a:gd name="T8" fmla="*/ 36 w 36"/>
                <a:gd name="T9" fmla="*/ 2 h 43"/>
                <a:gd name="T10" fmla="*/ 34 w 36"/>
                <a:gd name="T11" fmla="*/ 0 h 43"/>
                <a:gd name="T12" fmla="*/ 2 w 36"/>
                <a:gd name="T13" fmla="*/ 0 h 43"/>
                <a:gd name="T14" fmla="*/ 0 w 36"/>
                <a:gd name="T15" fmla="*/ 2 h 43"/>
                <a:gd name="T16" fmla="*/ 0 w 36"/>
                <a:gd name="T17" fmla="*/ 41 h 43"/>
                <a:gd name="T18" fmla="*/ 2 w 36"/>
                <a:gd name="T1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43">
                  <a:moveTo>
                    <a:pt x="2" y="43"/>
                  </a:moveTo>
                  <a:cubicBezTo>
                    <a:pt x="3" y="43"/>
                    <a:pt x="4" y="42"/>
                    <a:pt x="4" y="4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4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2"/>
                    <a:pt x="1" y="43"/>
                    <a:pt x="2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A0707418-362C-4153-0B14-0ADF56F3884A}"/>
                </a:ext>
              </a:extLst>
            </p:cNvPr>
            <p:cNvSpPr/>
            <p:nvPr/>
          </p:nvSpPr>
          <p:spPr>
            <a:xfrm>
              <a:off x="3750" y="2056"/>
              <a:ext cx="34" cy="112"/>
            </a:xfrm>
            <a:custGeom>
              <a:avLst/>
              <a:gdLst>
                <a:gd name="T0" fmla="*/ 7 w 14"/>
                <a:gd name="T1" fmla="*/ 47 h 47"/>
                <a:gd name="T2" fmla="*/ 14 w 14"/>
                <a:gd name="T3" fmla="*/ 40 h 47"/>
                <a:gd name="T4" fmla="*/ 14 w 14"/>
                <a:gd name="T5" fmla="*/ 7 h 47"/>
                <a:gd name="T6" fmla="*/ 7 w 14"/>
                <a:gd name="T7" fmla="*/ 0 h 47"/>
                <a:gd name="T8" fmla="*/ 0 w 14"/>
                <a:gd name="T9" fmla="*/ 7 h 47"/>
                <a:gd name="T10" fmla="*/ 0 w 14"/>
                <a:gd name="T11" fmla="*/ 40 h 47"/>
                <a:gd name="T12" fmla="*/ 7 w 14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47">
                  <a:moveTo>
                    <a:pt x="7" y="47"/>
                  </a:moveTo>
                  <a:cubicBezTo>
                    <a:pt x="11" y="47"/>
                    <a:pt x="14" y="43"/>
                    <a:pt x="14" y="40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3" y="47"/>
                    <a:pt x="7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E3C02E6E-661B-1F27-92B7-8BA900624333}"/>
                </a:ext>
              </a:extLst>
            </p:cNvPr>
            <p:cNvSpPr/>
            <p:nvPr/>
          </p:nvSpPr>
          <p:spPr>
            <a:xfrm>
              <a:off x="3796" y="2048"/>
              <a:ext cx="136" cy="226"/>
            </a:xfrm>
            <a:custGeom>
              <a:avLst/>
              <a:gdLst>
                <a:gd name="T0" fmla="*/ 54 w 57"/>
                <a:gd name="T1" fmla="*/ 69 h 94"/>
                <a:gd name="T2" fmla="*/ 57 w 57"/>
                <a:gd name="T3" fmla="*/ 67 h 94"/>
                <a:gd name="T4" fmla="*/ 57 w 57"/>
                <a:gd name="T5" fmla="*/ 50 h 94"/>
                <a:gd name="T6" fmla="*/ 39 w 57"/>
                <a:gd name="T7" fmla="*/ 23 h 94"/>
                <a:gd name="T8" fmla="*/ 35 w 57"/>
                <a:gd name="T9" fmla="*/ 23 h 94"/>
                <a:gd name="T10" fmla="*/ 42 w 57"/>
                <a:gd name="T11" fmla="*/ 12 h 94"/>
                <a:gd name="T12" fmla="*/ 29 w 57"/>
                <a:gd name="T13" fmla="*/ 0 h 94"/>
                <a:gd name="T14" fmla="*/ 17 w 57"/>
                <a:gd name="T15" fmla="*/ 12 h 94"/>
                <a:gd name="T16" fmla="*/ 29 w 57"/>
                <a:gd name="T17" fmla="*/ 25 h 94"/>
                <a:gd name="T18" fmla="*/ 33 w 57"/>
                <a:gd name="T19" fmla="*/ 24 h 94"/>
                <a:gd name="T20" fmla="*/ 25 w 57"/>
                <a:gd name="T21" fmla="*/ 33 h 94"/>
                <a:gd name="T22" fmla="*/ 6 w 57"/>
                <a:gd name="T23" fmla="*/ 37 h 94"/>
                <a:gd name="T24" fmla="*/ 1 w 57"/>
                <a:gd name="T25" fmla="*/ 40 h 94"/>
                <a:gd name="T26" fmla="*/ 1 w 57"/>
                <a:gd name="T27" fmla="*/ 46 h 94"/>
                <a:gd name="T28" fmla="*/ 7 w 57"/>
                <a:gd name="T29" fmla="*/ 51 h 94"/>
                <a:gd name="T30" fmla="*/ 9 w 57"/>
                <a:gd name="T31" fmla="*/ 51 h 94"/>
                <a:gd name="T32" fmla="*/ 21 w 57"/>
                <a:gd name="T33" fmla="*/ 48 h 94"/>
                <a:gd name="T34" fmla="*/ 21 w 57"/>
                <a:gd name="T35" fmla="*/ 51 h 94"/>
                <a:gd name="T36" fmla="*/ 21 w 57"/>
                <a:gd name="T37" fmla="*/ 56 h 94"/>
                <a:gd name="T38" fmla="*/ 5 w 57"/>
                <a:gd name="T39" fmla="*/ 83 h 94"/>
                <a:gd name="T40" fmla="*/ 7 w 57"/>
                <a:gd name="T41" fmla="*/ 93 h 94"/>
                <a:gd name="T42" fmla="*/ 11 w 57"/>
                <a:gd name="T43" fmla="*/ 94 h 94"/>
                <a:gd name="T44" fmla="*/ 16 w 57"/>
                <a:gd name="T45" fmla="*/ 91 h 94"/>
                <a:gd name="T46" fmla="*/ 30 w 57"/>
                <a:gd name="T47" fmla="*/ 69 h 94"/>
                <a:gd name="T48" fmla="*/ 54 w 57"/>
                <a:gd name="T49" fmla="*/ 6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" h="94">
                  <a:moveTo>
                    <a:pt x="54" y="69"/>
                  </a:moveTo>
                  <a:cubicBezTo>
                    <a:pt x="56" y="69"/>
                    <a:pt x="57" y="68"/>
                    <a:pt x="57" y="67"/>
                  </a:cubicBezTo>
                  <a:cubicBezTo>
                    <a:pt x="57" y="50"/>
                    <a:pt x="57" y="50"/>
                    <a:pt x="57" y="50"/>
                  </a:cubicBezTo>
                  <a:cubicBezTo>
                    <a:pt x="57" y="35"/>
                    <a:pt x="49" y="23"/>
                    <a:pt x="39" y="23"/>
                  </a:cubicBezTo>
                  <a:cubicBezTo>
                    <a:pt x="37" y="23"/>
                    <a:pt x="36" y="23"/>
                    <a:pt x="35" y="23"/>
                  </a:cubicBezTo>
                  <a:cubicBezTo>
                    <a:pt x="39" y="21"/>
                    <a:pt x="42" y="17"/>
                    <a:pt x="42" y="12"/>
                  </a:cubicBezTo>
                  <a:cubicBezTo>
                    <a:pt x="42" y="5"/>
                    <a:pt x="36" y="0"/>
                    <a:pt x="29" y="0"/>
                  </a:cubicBezTo>
                  <a:cubicBezTo>
                    <a:pt x="22" y="0"/>
                    <a:pt x="17" y="5"/>
                    <a:pt x="17" y="12"/>
                  </a:cubicBezTo>
                  <a:cubicBezTo>
                    <a:pt x="17" y="19"/>
                    <a:pt x="22" y="25"/>
                    <a:pt x="29" y="25"/>
                  </a:cubicBezTo>
                  <a:cubicBezTo>
                    <a:pt x="30" y="25"/>
                    <a:pt x="31" y="25"/>
                    <a:pt x="33" y="24"/>
                  </a:cubicBezTo>
                  <a:cubicBezTo>
                    <a:pt x="30" y="26"/>
                    <a:pt x="27" y="29"/>
                    <a:pt x="25" y="33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4" y="38"/>
                    <a:pt x="2" y="39"/>
                    <a:pt x="1" y="40"/>
                  </a:cubicBezTo>
                  <a:cubicBezTo>
                    <a:pt x="0" y="42"/>
                    <a:pt x="0" y="44"/>
                    <a:pt x="1" y="46"/>
                  </a:cubicBezTo>
                  <a:cubicBezTo>
                    <a:pt x="1" y="49"/>
                    <a:pt x="4" y="51"/>
                    <a:pt x="7" y="51"/>
                  </a:cubicBezTo>
                  <a:cubicBezTo>
                    <a:pt x="8" y="51"/>
                    <a:pt x="8" y="51"/>
                    <a:pt x="9" y="51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9"/>
                    <a:pt x="21" y="50"/>
                    <a:pt x="21" y="51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3" y="87"/>
                    <a:pt x="4" y="91"/>
                    <a:pt x="7" y="93"/>
                  </a:cubicBezTo>
                  <a:cubicBezTo>
                    <a:pt x="8" y="94"/>
                    <a:pt x="9" y="94"/>
                    <a:pt x="11" y="94"/>
                  </a:cubicBezTo>
                  <a:cubicBezTo>
                    <a:pt x="13" y="94"/>
                    <a:pt x="15" y="93"/>
                    <a:pt x="16" y="91"/>
                  </a:cubicBezTo>
                  <a:cubicBezTo>
                    <a:pt x="30" y="69"/>
                    <a:pt x="30" y="69"/>
                    <a:pt x="30" y="69"/>
                  </a:cubicBezTo>
                  <a:lnTo>
                    <a:pt x="54" y="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73701432-6289-E9C9-0055-A935DC8C2C82}"/>
                </a:ext>
              </a:extLst>
            </p:cNvPr>
            <p:cNvSpPr/>
            <p:nvPr/>
          </p:nvSpPr>
          <p:spPr>
            <a:xfrm>
              <a:off x="3875" y="2147"/>
              <a:ext cx="77" cy="86"/>
            </a:xfrm>
            <a:custGeom>
              <a:avLst/>
              <a:gdLst>
                <a:gd name="T0" fmla="*/ 32 w 32"/>
                <a:gd name="T1" fmla="*/ 34 h 36"/>
                <a:gd name="T2" fmla="*/ 32 w 32"/>
                <a:gd name="T3" fmla="*/ 2 h 36"/>
                <a:gd name="T4" fmla="*/ 30 w 32"/>
                <a:gd name="T5" fmla="*/ 0 h 36"/>
                <a:gd name="T6" fmla="*/ 28 w 32"/>
                <a:gd name="T7" fmla="*/ 2 h 36"/>
                <a:gd name="T8" fmla="*/ 28 w 32"/>
                <a:gd name="T9" fmla="*/ 32 h 36"/>
                <a:gd name="T10" fmla="*/ 2 w 32"/>
                <a:gd name="T11" fmla="*/ 32 h 36"/>
                <a:gd name="T12" fmla="*/ 0 w 32"/>
                <a:gd name="T13" fmla="*/ 34 h 36"/>
                <a:gd name="T14" fmla="*/ 2 w 32"/>
                <a:gd name="T15" fmla="*/ 36 h 36"/>
                <a:gd name="T16" fmla="*/ 30 w 32"/>
                <a:gd name="T17" fmla="*/ 36 h 36"/>
                <a:gd name="T18" fmla="*/ 32 w 32"/>
                <a:gd name="T19" fmla="*/ 3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6">
                  <a:moveTo>
                    <a:pt x="32" y="34"/>
                  </a:move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ubicBezTo>
                    <a:pt x="29" y="0"/>
                    <a:pt x="28" y="1"/>
                    <a:pt x="28" y="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1" y="32"/>
                    <a:pt x="0" y="33"/>
                    <a:pt x="0" y="34"/>
                  </a:cubicBezTo>
                  <a:cubicBezTo>
                    <a:pt x="0" y="35"/>
                    <a:pt x="1" y="36"/>
                    <a:pt x="2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1" y="36"/>
                    <a:pt x="32" y="35"/>
                    <a:pt x="32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97" name="组合">
            <a:extLst>
              <a:ext uri="{FF2B5EF4-FFF2-40B4-BE49-F238E27FC236}">
                <a16:creationId xmlns:a16="http://schemas.microsoft.com/office/drawing/2014/main" id="{715DE093-025F-BA5B-64F1-39117AB757DE}"/>
              </a:ext>
            </a:extLst>
          </p:cNvPr>
          <p:cNvGrpSpPr/>
          <p:nvPr/>
        </p:nvGrpSpPr>
        <p:grpSpPr>
          <a:xfrm>
            <a:off x="2121809" y="4069968"/>
            <a:ext cx="1181833" cy="1181833"/>
            <a:chOff x="3642" y="1962"/>
            <a:chExt cx="396" cy="396"/>
          </a:xfrm>
        </p:grpSpPr>
        <p:sp>
          <p:nvSpPr>
            <p:cNvPr id="99" name="AutoShape 3">
              <a:extLst>
                <a:ext uri="{FF2B5EF4-FFF2-40B4-BE49-F238E27FC236}">
                  <a16:creationId xmlns:a16="http://schemas.microsoft.com/office/drawing/2014/main" id="{BDDA99DC-007C-CBAB-2E52-49A70773DD38}"/>
                </a:ext>
              </a:extLst>
            </p:cNvPr>
            <p:cNvSpPr>
              <a:spLocks noChangeAspect="1" noChangeArrowheads="1" noTextEdit="1"/>
            </p:cNvSpPr>
            <p:nvPr/>
          </p:nvSpPr>
          <p:spPr>
            <a:xfrm>
              <a:off x="3642" y="1962"/>
              <a:ext cx="396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Oval 5">
              <a:extLst>
                <a:ext uri="{FF2B5EF4-FFF2-40B4-BE49-F238E27FC236}">
                  <a16:creationId xmlns:a16="http://schemas.microsoft.com/office/drawing/2014/main" id="{3C47C7AE-2313-EE80-83C3-9FDCE59B4D5E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3642" y="1962"/>
              <a:ext cx="398" cy="39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03" name="Freeform 6">
              <a:extLst>
                <a:ext uri="{FF2B5EF4-FFF2-40B4-BE49-F238E27FC236}">
                  <a16:creationId xmlns:a16="http://schemas.microsoft.com/office/drawing/2014/main" id="{5F6E0D5C-A98B-9321-98CE-786D7BC19F15}"/>
                </a:ext>
              </a:extLst>
            </p:cNvPr>
            <p:cNvSpPr/>
            <p:nvPr/>
          </p:nvSpPr>
          <p:spPr>
            <a:xfrm>
              <a:off x="3743" y="2171"/>
              <a:ext cx="86" cy="103"/>
            </a:xfrm>
            <a:custGeom>
              <a:avLst/>
              <a:gdLst>
                <a:gd name="T0" fmla="*/ 2 w 36"/>
                <a:gd name="T1" fmla="*/ 43 h 43"/>
                <a:gd name="T2" fmla="*/ 4 w 36"/>
                <a:gd name="T3" fmla="*/ 41 h 43"/>
                <a:gd name="T4" fmla="*/ 4 w 36"/>
                <a:gd name="T5" fmla="*/ 4 h 43"/>
                <a:gd name="T6" fmla="*/ 34 w 36"/>
                <a:gd name="T7" fmla="*/ 4 h 43"/>
                <a:gd name="T8" fmla="*/ 36 w 36"/>
                <a:gd name="T9" fmla="*/ 2 h 43"/>
                <a:gd name="T10" fmla="*/ 34 w 36"/>
                <a:gd name="T11" fmla="*/ 0 h 43"/>
                <a:gd name="T12" fmla="*/ 2 w 36"/>
                <a:gd name="T13" fmla="*/ 0 h 43"/>
                <a:gd name="T14" fmla="*/ 0 w 36"/>
                <a:gd name="T15" fmla="*/ 2 h 43"/>
                <a:gd name="T16" fmla="*/ 0 w 36"/>
                <a:gd name="T17" fmla="*/ 41 h 43"/>
                <a:gd name="T18" fmla="*/ 2 w 36"/>
                <a:gd name="T1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43">
                  <a:moveTo>
                    <a:pt x="2" y="43"/>
                  </a:moveTo>
                  <a:cubicBezTo>
                    <a:pt x="3" y="43"/>
                    <a:pt x="4" y="42"/>
                    <a:pt x="4" y="4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4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2"/>
                    <a:pt x="1" y="43"/>
                    <a:pt x="2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7">
              <a:extLst>
                <a:ext uri="{FF2B5EF4-FFF2-40B4-BE49-F238E27FC236}">
                  <a16:creationId xmlns:a16="http://schemas.microsoft.com/office/drawing/2014/main" id="{636676EE-471C-0C21-BDA6-9C70E6352341}"/>
                </a:ext>
              </a:extLst>
            </p:cNvPr>
            <p:cNvSpPr/>
            <p:nvPr/>
          </p:nvSpPr>
          <p:spPr>
            <a:xfrm>
              <a:off x="3750" y="2056"/>
              <a:ext cx="34" cy="112"/>
            </a:xfrm>
            <a:custGeom>
              <a:avLst/>
              <a:gdLst>
                <a:gd name="T0" fmla="*/ 7 w 14"/>
                <a:gd name="T1" fmla="*/ 47 h 47"/>
                <a:gd name="T2" fmla="*/ 14 w 14"/>
                <a:gd name="T3" fmla="*/ 40 h 47"/>
                <a:gd name="T4" fmla="*/ 14 w 14"/>
                <a:gd name="T5" fmla="*/ 7 h 47"/>
                <a:gd name="T6" fmla="*/ 7 w 14"/>
                <a:gd name="T7" fmla="*/ 0 h 47"/>
                <a:gd name="T8" fmla="*/ 0 w 14"/>
                <a:gd name="T9" fmla="*/ 7 h 47"/>
                <a:gd name="T10" fmla="*/ 0 w 14"/>
                <a:gd name="T11" fmla="*/ 40 h 47"/>
                <a:gd name="T12" fmla="*/ 7 w 14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47">
                  <a:moveTo>
                    <a:pt x="7" y="47"/>
                  </a:moveTo>
                  <a:cubicBezTo>
                    <a:pt x="11" y="47"/>
                    <a:pt x="14" y="43"/>
                    <a:pt x="14" y="40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3" y="47"/>
                    <a:pt x="7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8">
              <a:extLst>
                <a:ext uri="{FF2B5EF4-FFF2-40B4-BE49-F238E27FC236}">
                  <a16:creationId xmlns:a16="http://schemas.microsoft.com/office/drawing/2014/main" id="{DDDE85EC-DE37-2F14-D50E-C5F281C0A888}"/>
                </a:ext>
              </a:extLst>
            </p:cNvPr>
            <p:cNvSpPr/>
            <p:nvPr/>
          </p:nvSpPr>
          <p:spPr>
            <a:xfrm>
              <a:off x="3796" y="2048"/>
              <a:ext cx="136" cy="226"/>
            </a:xfrm>
            <a:custGeom>
              <a:avLst/>
              <a:gdLst>
                <a:gd name="T0" fmla="*/ 54 w 57"/>
                <a:gd name="T1" fmla="*/ 69 h 94"/>
                <a:gd name="T2" fmla="*/ 57 w 57"/>
                <a:gd name="T3" fmla="*/ 67 h 94"/>
                <a:gd name="T4" fmla="*/ 57 w 57"/>
                <a:gd name="T5" fmla="*/ 50 h 94"/>
                <a:gd name="T6" fmla="*/ 39 w 57"/>
                <a:gd name="T7" fmla="*/ 23 h 94"/>
                <a:gd name="T8" fmla="*/ 35 w 57"/>
                <a:gd name="T9" fmla="*/ 23 h 94"/>
                <a:gd name="T10" fmla="*/ 42 w 57"/>
                <a:gd name="T11" fmla="*/ 12 h 94"/>
                <a:gd name="T12" fmla="*/ 29 w 57"/>
                <a:gd name="T13" fmla="*/ 0 h 94"/>
                <a:gd name="T14" fmla="*/ 17 w 57"/>
                <a:gd name="T15" fmla="*/ 12 h 94"/>
                <a:gd name="T16" fmla="*/ 29 w 57"/>
                <a:gd name="T17" fmla="*/ 25 h 94"/>
                <a:gd name="T18" fmla="*/ 33 w 57"/>
                <a:gd name="T19" fmla="*/ 24 h 94"/>
                <a:gd name="T20" fmla="*/ 25 w 57"/>
                <a:gd name="T21" fmla="*/ 33 h 94"/>
                <a:gd name="T22" fmla="*/ 6 w 57"/>
                <a:gd name="T23" fmla="*/ 37 h 94"/>
                <a:gd name="T24" fmla="*/ 1 w 57"/>
                <a:gd name="T25" fmla="*/ 40 h 94"/>
                <a:gd name="T26" fmla="*/ 1 w 57"/>
                <a:gd name="T27" fmla="*/ 46 h 94"/>
                <a:gd name="T28" fmla="*/ 7 w 57"/>
                <a:gd name="T29" fmla="*/ 51 h 94"/>
                <a:gd name="T30" fmla="*/ 9 w 57"/>
                <a:gd name="T31" fmla="*/ 51 h 94"/>
                <a:gd name="T32" fmla="*/ 21 w 57"/>
                <a:gd name="T33" fmla="*/ 48 h 94"/>
                <a:gd name="T34" fmla="*/ 21 w 57"/>
                <a:gd name="T35" fmla="*/ 51 h 94"/>
                <a:gd name="T36" fmla="*/ 21 w 57"/>
                <a:gd name="T37" fmla="*/ 56 h 94"/>
                <a:gd name="T38" fmla="*/ 5 w 57"/>
                <a:gd name="T39" fmla="*/ 83 h 94"/>
                <a:gd name="T40" fmla="*/ 7 w 57"/>
                <a:gd name="T41" fmla="*/ 93 h 94"/>
                <a:gd name="T42" fmla="*/ 11 w 57"/>
                <a:gd name="T43" fmla="*/ 94 h 94"/>
                <a:gd name="T44" fmla="*/ 16 w 57"/>
                <a:gd name="T45" fmla="*/ 91 h 94"/>
                <a:gd name="T46" fmla="*/ 30 w 57"/>
                <a:gd name="T47" fmla="*/ 69 h 94"/>
                <a:gd name="T48" fmla="*/ 54 w 57"/>
                <a:gd name="T49" fmla="*/ 6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" h="94">
                  <a:moveTo>
                    <a:pt x="54" y="69"/>
                  </a:moveTo>
                  <a:cubicBezTo>
                    <a:pt x="56" y="69"/>
                    <a:pt x="57" y="68"/>
                    <a:pt x="57" y="67"/>
                  </a:cubicBezTo>
                  <a:cubicBezTo>
                    <a:pt x="57" y="50"/>
                    <a:pt x="57" y="50"/>
                    <a:pt x="57" y="50"/>
                  </a:cubicBezTo>
                  <a:cubicBezTo>
                    <a:pt x="57" y="35"/>
                    <a:pt x="49" y="23"/>
                    <a:pt x="39" y="23"/>
                  </a:cubicBezTo>
                  <a:cubicBezTo>
                    <a:pt x="37" y="23"/>
                    <a:pt x="36" y="23"/>
                    <a:pt x="35" y="23"/>
                  </a:cubicBezTo>
                  <a:cubicBezTo>
                    <a:pt x="39" y="21"/>
                    <a:pt x="42" y="17"/>
                    <a:pt x="42" y="12"/>
                  </a:cubicBezTo>
                  <a:cubicBezTo>
                    <a:pt x="42" y="5"/>
                    <a:pt x="36" y="0"/>
                    <a:pt x="29" y="0"/>
                  </a:cubicBezTo>
                  <a:cubicBezTo>
                    <a:pt x="22" y="0"/>
                    <a:pt x="17" y="5"/>
                    <a:pt x="17" y="12"/>
                  </a:cubicBezTo>
                  <a:cubicBezTo>
                    <a:pt x="17" y="19"/>
                    <a:pt x="22" y="25"/>
                    <a:pt x="29" y="25"/>
                  </a:cubicBezTo>
                  <a:cubicBezTo>
                    <a:pt x="30" y="25"/>
                    <a:pt x="31" y="25"/>
                    <a:pt x="33" y="24"/>
                  </a:cubicBezTo>
                  <a:cubicBezTo>
                    <a:pt x="30" y="26"/>
                    <a:pt x="27" y="29"/>
                    <a:pt x="25" y="33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4" y="38"/>
                    <a:pt x="2" y="39"/>
                    <a:pt x="1" y="40"/>
                  </a:cubicBezTo>
                  <a:cubicBezTo>
                    <a:pt x="0" y="42"/>
                    <a:pt x="0" y="44"/>
                    <a:pt x="1" y="46"/>
                  </a:cubicBezTo>
                  <a:cubicBezTo>
                    <a:pt x="1" y="49"/>
                    <a:pt x="4" y="51"/>
                    <a:pt x="7" y="51"/>
                  </a:cubicBezTo>
                  <a:cubicBezTo>
                    <a:pt x="8" y="51"/>
                    <a:pt x="8" y="51"/>
                    <a:pt x="9" y="51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9"/>
                    <a:pt x="21" y="50"/>
                    <a:pt x="21" y="51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3" y="87"/>
                    <a:pt x="4" y="91"/>
                    <a:pt x="7" y="93"/>
                  </a:cubicBezTo>
                  <a:cubicBezTo>
                    <a:pt x="8" y="94"/>
                    <a:pt x="9" y="94"/>
                    <a:pt x="11" y="94"/>
                  </a:cubicBezTo>
                  <a:cubicBezTo>
                    <a:pt x="13" y="94"/>
                    <a:pt x="15" y="93"/>
                    <a:pt x="16" y="91"/>
                  </a:cubicBezTo>
                  <a:cubicBezTo>
                    <a:pt x="30" y="69"/>
                    <a:pt x="30" y="69"/>
                    <a:pt x="30" y="69"/>
                  </a:cubicBezTo>
                  <a:lnTo>
                    <a:pt x="54" y="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9">
              <a:extLst>
                <a:ext uri="{FF2B5EF4-FFF2-40B4-BE49-F238E27FC236}">
                  <a16:creationId xmlns:a16="http://schemas.microsoft.com/office/drawing/2014/main" id="{C6FAB1F3-2371-E89C-D8BF-0E5785DD9BCD}"/>
                </a:ext>
              </a:extLst>
            </p:cNvPr>
            <p:cNvSpPr/>
            <p:nvPr/>
          </p:nvSpPr>
          <p:spPr>
            <a:xfrm>
              <a:off x="3875" y="2147"/>
              <a:ext cx="77" cy="86"/>
            </a:xfrm>
            <a:custGeom>
              <a:avLst/>
              <a:gdLst>
                <a:gd name="T0" fmla="*/ 32 w 32"/>
                <a:gd name="T1" fmla="*/ 34 h 36"/>
                <a:gd name="T2" fmla="*/ 32 w 32"/>
                <a:gd name="T3" fmla="*/ 2 h 36"/>
                <a:gd name="T4" fmla="*/ 30 w 32"/>
                <a:gd name="T5" fmla="*/ 0 h 36"/>
                <a:gd name="T6" fmla="*/ 28 w 32"/>
                <a:gd name="T7" fmla="*/ 2 h 36"/>
                <a:gd name="T8" fmla="*/ 28 w 32"/>
                <a:gd name="T9" fmla="*/ 32 h 36"/>
                <a:gd name="T10" fmla="*/ 2 w 32"/>
                <a:gd name="T11" fmla="*/ 32 h 36"/>
                <a:gd name="T12" fmla="*/ 0 w 32"/>
                <a:gd name="T13" fmla="*/ 34 h 36"/>
                <a:gd name="T14" fmla="*/ 2 w 32"/>
                <a:gd name="T15" fmla="*/ 36 h 36"/>
                <a:gd name="T16" fmla="*/ 30 w 32"/>
                <a:gd name="T17" fmla="*/ 36 h 36"/>
                <a:gd name="T18" fmla="*/ 32 w 32"/>
                <a:gd name="T19" fmla="*/ 3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6">
                  <a:moveTo>
                    <a:pt x="32" y="34"/>
                  </a:move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ubicBezTo>
                    <a:pt x="29" y="0"/>
                    <a:pt x="28" y="1"/>
                    <a:pt x="28" y="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1" y="32"/>
                    <a:pt x="0" y="33"/>
                    <a:pt x="0" y="34"/>
                  </a:cubicBezTo>
                  <a:cubicBezTo>
                    <a:pt x="0" y="35"/>
                    <a:pt x="1" y="36"/>
                    <a:pt x="2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1" y="36"/>
                    <a:pt x="32" y="35"/>
                    <a:pt x="32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09" name="Rectangle 2">
            <a:extLst>
              <a:ext uri="{FF2B5EF4-FFF2-40B4-BE49-F238E27FC236}">
                <a16:creationId xmlns:a16="http://schemas.microsoft.com/office/drawing/2014/main" id="{CE1E35A5-C722-F633-F0EF-C17242BDF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8098" y="466543"/>
            <a:ext cx="666792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技术去偏见研究：大量工作致力于通过算法清洗训练数据（如移除含性别/种族标签的样本），或在模型层面对抗偏见。</a:t>
            </a: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这些方法在提升AI输出的“表面公平性”上取得一定成效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E461FADB-AB4C-F399-134A-F88292218118}"/>
              </a:ext>
            </a:extLst>
          </p:cNvPr>
          <p:cNvSpPr txBox="1"/>
          <p:nvPr/>
        </p:nvSpPr>
        <p:spPr>
          <a:xfrm>
            <a:off x="5762241" y="1391319"/>
            <a:ext cx="10363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0" b="1" dirty="0">
                <a:solidFill>
                  <a:srgbClr val="485766"/>
                </a:solidFill>
              </a:rPr>
              <a:t>相关工作</a:t>
            </a:r>
          </a:p>
        </p:txBody>
      </p:sp>
      <p:sp>
        <p:nvSpPr>
          <p:cNvPr id="112" name="Rectangle 3">
            <a:extLst>
              <a:ext uri="{FF2B5EF4-FFF2-40B4-BE49-F238E27FC236}">
                <a16:creationId xmlns:a16="http://schemas.microsoft.com/office/drawing/2014/main" id="{42380FBB-ED44-E4AC-EFBD-5404AF33A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899" y="5690996"/>
            <a:ext cx="73370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Arial" panose="020B0604020202020204" pitchFamily="34" charset="0"/>
              </a:rPr>
              <a:t>用户研究：关注用户如何与AI互动，如对生成结果的满意度、反馈机制等，但多停留在行为层面，较少触及用户观念对AI的深层影响。</a:t>
            </a:r>
          </a:p>
        </p:txBody>
      </p: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5A341EB0-09B6-C717-1B1A-6DB1B5310BF2}"/>
              </a:ext>
            </a:extLst>
          </p:cNvPr>
          <p:cNvCxnSpPr>
            <a:cxnSpLocks/>
            <a:endCxn id="109" idx="1"/>
          </p:cNvCxnSpPr>
          <p:nvPr/>
        </p:nvCxnSpPr>
        <p:spPr>
          <a:xfrm flipV="1">
            <a:off x="1511562" y="928208"/>
            <a:ext cx="1336536" cy="832011"/>
          </a:xfrm>
          <a:prstGeom prst="line">
            <a:avLst/>
          </a:prstGeom>
          <a:ln w="38100">
            <a:solidFill>
              <a:srgbClr val="8DD9D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00697DED-18F6-1A97-F4AB-D46B8CA99316}"/>
              </a:ext>
            </a:extLst>
          </p:cNvPr>
          <p:cNvCxnSpPr>
            <a:cxnSpLocks/>
            <a:stCxn id="89" idx="2"/>
            <a:endCxn id="112" idx="1"/>
          </p:cNvCxnSpPr>
          <p:nvPr/>
        </p:nvCxnSpPr>
        <p:spPr>
          <a:xfrm>
            <a:off x="1126615" y="5132107"/>
            <a:ext cx="1485284" cy="882055"/>
          </a:xfrm>
          <a:prstGeom prst="line">
            <a:avLst/>
          </a:prstGeom>
          <a:ln w="38100">
            <a:solidFill>
              <a:srgbClr val="8DD9D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">
            <a:extLst>
              <a:ext uri="{FF2B5EF4-FFF2-40B4-BE49-F238E27FC236}">
                <a16:creationId xmlns:a16="http://schemas.microsoft.com/office/drawing/2014/main" id="{472E76FA-CDB7-1B8B-A64D-41B025AFF0A9}"/>
              </a:ext>
            </a:extLst>
          </p:cNvPr>
          <p:cNvGrpSpPr/>
          <p:nvPr/>
        </p:nvGrpSpPr>
        <p:grpSpPr>
          <a:xfrm>
            <a:off x="4520838" y="2320956"/>
            <a:ext cx="649609" cy="1789200"/>
            <a:chOff x="4448" y="1285"/>
            <a:chExt cx="468" cy="1289"/>
          </a:xfrm>
        </p:grpSpPr>
        <p:sp>
          <p:nvSpPr>
            <p:cNvPr id="20" name="AutoShape 3">
              <a:extLst>
                <a:ext uri="{FF2B5EF4-FFF2-40B4-BE49-F238E27FC236}">
                  <a16:creationId xmlns:a16="http://schemas.microsoft.com/office/drawing/2014/main" id="{10618B0F-D74E-8627-CE49-B22CF5FD656A}"/>
                </a:ext>
              </a:extLst>
            </p:cNvPr>
            <p:cNvSpPr>
              <a:spLocks noChangeAspect="1" noChangeArrowheads="1" noTextEdit="1"/>
            </p:cNvSpPr>
            <p:nvPr/>
          </p:nvSpPr>
          <p:spPr>
            <a:xfrm>
              <a:off x="4448" y="1285"/>
              <a:ext cx="468" cy="1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FB6843D-4F65-14A0-9CEF-4AA7F798FF49}"/>
                </a:ext>
              </a:extLst>
            </p:cNvPr>
            <p:cNvSpPr/>
            <p:nvPr/>
          </p:nvSpPr>
          <p:spPr>
            <a:xfrm>
              <a:off x="4450" y="1572"/>
              <a:ext cx="464" cy="1004"/>
            </a:xfrm>
            <a:custGeom>
              <a:avLst/>
              <a:gdLst>
                <a:gd name="T0" fmla="*/ 97 w 193"/>
                <a:gd name="T1" fmla="*/ 0 h 423"/>
                <a:gd name="T2" fmla="*/ 0 w 193"/>
                <a:gd name="T3" fmla="*/ 96 h 423"/>
                <a:gd name="T4" fmla="*/ 0 w 193"/>
                <a:gd name="T5" fmla="*/ 179 h 423"/>
                <a:gd name="T6" fmla="*/ 38 w 193"/>
                <a:gd name="T7" fmla="*/ 256 h 423"/>
                <a:gd name="T8" fmla="*/ 38 w 193"/>
                <a:gd name="T9" fmla="*/ 385 h 423"/>
                <a:gd name="T10" fmla="*/ 76 w 193"/>
                <a:gd name="T11" fmla="*/ 423 h 423"/>
                <a:gd name="T12" fmla="*/ 97 w 193"/>
                <a:gd name="T13" fmla="*/ 416 h 423"/>
                <a:gd name="T14" fmla="*/ 118 w 193"/>
                <a:gd name="T15" fmla="*/ 423 h 423"/>
                <a:gd name="T16" fmla="*/ 155 w 193"/>
                <a:gd name="T17" fmla="*/ 385 h 423"/>
                <a:gd name="T18" fmla="*/ 155 w 193"/>
                <a:gd name="T19" fmla="*/ 256 h 423"/>
                <a:gd name="T20" fmla="*/ 193 w 193"/>
                <a:gd name="T21" fmla="*/ 179 h 423"/>
                <a:gd name="T22" fmla="*/ 193 w 193"/>
                <a:gd name="T23" fmla="*/ 96 h 423"/>
                <a:gd name="T24" fmla="*/ 97 w 193"/>
                <a:gd name="T25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3" h="423">
                  <a:moveTo>
                    <a:pt x="97" y="0"/>
                  </a:moveTo>
                  <a:cubicBezTo>
                    <a:pt x="44" y="0"/>
                    <a:pt x="0" y="43"/>
                    <a:pt x="0" y="96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10"/>
                    <a:pt x="15" y="238"/>
                    <a:pt x="38" y="256"/>
                  </a:cubicBezTo>
                  <a:cubicBezTo>
                    <a:pt x="38" y="385"/>
                    <a:pt x="38" y="385"/>
                    <a:pt x="38" y="385"/>
                  </a:cubicBezTo>
                  <a:cubicBezTo>
                    <a:pt x="38" y="406"/>
                    <a:pt x="55" y="423"/>
                    <a:pt x="76" y="423"/>
                  </a:cubicBezTo>
                  <a:cubicBezTo>
                    <a:pt x="83" y="423"/>
                    <a:pt x="91" y="420"/>
                    <a:pt x="97" y="416"/>
                  </a:cubicBezTo>
                  <a:cubicBezTo>
                    <a:pt x="103" y="420"/>
                    <a:pt x="110" y="423"/>
                    <a:pt x="118" y="423"/>
                  </a:cubicBezTo>
                  <a:cubicBezTo>
                    <a:pt x="138" y="423"/>
                    <a:pt x="155" y="406"/>
                    <a:pt x="155" y="385"/>
                  </a:cubicBezTo>
                  <a:cubicBezTo>
                    <a:pt x="155" y="256"/>
                    <a:pt x="155" y="256"/>
                    <a:pt x="155" y="256"/>
                  </a:cubicBezTo>
                  <a:cubicBezTo>
                    <a:pt x="179" y="238"/>
                    <a:pt x="193" y="210"/>
                    <a:pt x="193" y="179"/>
                  </a:cubicBezTo>
                  <a:cubicBezTo>
                    <a:pt x="193" y="96"/>
                    <a:pt x="193" y="96"/>
                    <a:pt x="193" y="96"/>
                  </a:cubicBezTo>
                  <a:cubicBezTo>
                    <a:pt x="193" y="43"/>
                    <a:pt x="150" y="0"/>
                    <a:pt x="97" y="0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Oval 6">
              <a:extLst>
                <a:ext uri="{FF2B5EF4-FFF2-40B4-BE49-F238E27FC236}">
                  <a16:creationId xmlns:a16="http://schemas.microsoft.com/office/drawing/2014/main" id="{CB28A4F5-1AB4-CDA6-408B-D5BC4D32031A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4546" y="1287"/>
              <a:ext cx="272" cy="26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602953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"/>
          <p:cNvGrpSpPr/>
          <p:nvPr/>
        </p:nvGrpSpPr>
        <p:grpSpPr>
          <a:xfrm>
            <a:off x="3845293" y="2540304"/>
            <a:ext cx="8346707" cy="4156306"/>
            <a:chOff x="2023982" y="2515428"/>
            <a:chExt cx="8346707" cy="4156306"/>
          </a:xfrm>
        </p:grpSpPr>
        <p:graphicFrame>
          <p:nvGraphicFramePr>
            <p:cNvPr id="7" name="图表 6"/>
            <p:cNvGraphicFramePr/>
            <p:nvPr/>
          </p:nvGraphicFramePr>
          <p:xfrm>
            <a:off x="3498850" y="3022600"/>
            <a:ext cx="5473700" cy="364913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8" name="椭圆 7"/>
            <p:cNvSpPr/>
            <p:nvPr/>
          </p:nvSpPr>
          <p:spPr>
            <a:xfrm>
              <a:off x="5047978" y="3841099"/>
              <a:ext cx="2274001" cy="2158007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4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研究方法</a:t>
              </a:r>
            </a:p>
            <a:p>
              <a:pPr algn="ctr"/>
              <a:endParaRPr lang="zh-CN" altLang="en-US" dirty="0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8336581" y="4481836"/>
              <a:ext cx="1475333" cy="1"/>
            </a:xfrm>
            <a:prstGeom prst="line">
              <a:avLst/>
            </a:prstGeom>
            <a:ln>
              <a:solidFill>
                <a:srgbClr val="516D82"/>
              </a:solidFill>
              <a:prstDash val="sysDash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7384081" y="4481836"/>
              <a:ext cx="952500" cy="576285"/>
            </a:xfrm>
            <a:prstGeom prst="line">
              <a:avLst/>
            </a:prstGeom>
            <a:ln>
              <a:solidFill>
                <a:srgbClr val="516D82"/>
              </a:solidFill>
              <a:prstDash val="sysDash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"/>
            <p:cNvGrpSpPr/>
            <p:nvPr/>
          </p:nvGrpSpPr>
          <p:grpSpPr>
            <a:xfrm>
              <a:off x="10074123" y="4153686"/>
              <a:ext cx="296566" cy="816823"/>
              <a:chOff x="4448" y="1285"/>
              <a:chExt cx="468" cy="1289"/>
            </a:xfrm>
          </p:grpSpPr>
          <p:sp>
            <p:nvSpPr>
              <p:cNvPr id="15" name="AutoShape 3"/>
              <p:cNvSpPr>
                <a:spLocks noChangeAspect="1" noChangeArrowheads="1" noTextEdit="1"/>
              </p:cNvSpPr>
              <p:nvPr/>
            </p:nvSpPr>
            <p:spPr>
              <a:xfrm>
                <a:off x="4448" y="1285"/>
                <a:ext cx="468" cy="1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5"/>
              <p:cNvSpPr/>
              <p:nvPr/>
            </p:nvSpPr>
            <p:spPr>
              <a:xfrm>
                <a:off x="4450" y="1572"/>
                <a:ext cx="464" cy="1004"/>
              </a:xfrm>
              <a:custGeom>
                <a:avLst/>
                <a:gdLst>
                  <a:gd name="T0" fmla="*/ 97 w 193"/>
                  <a:gd name="T1" fmla="*/ 0 h 423"/>
                  <a:gd name="T2" fmla="*/ 0 w 193"/>
                  <a:gd name="T3" fmla="*/ 96 h 423"/>
                  <a:gd name="T4" fmla="*/ 0 w 193"/>
                  <a:gd name="T5" fmla="*/ 179 h 423"/>
                  <a:gd name="T6" fmla="*/ 38 w 193"/>
                  <a:gd name="T7" fmla="*/ 256 h 423"/>
                  <a:gd name="T8" fmla="*/ 38 w 193"/>
                  <a:gd name="T9" fmla="*/ 385 h 423"/>
                  <a:gd name="T10" fmla="*/ 76 w 193"/>
                  <a:gd name="T11" fmla="*/ 423 h 423"/>
                  <a:gd name="T12" fmla="*/ 97 w 193"/>
                  <a:gd name="T13" fmla="*/ 416 h 423"/>
                  <a:gd name="T14" fmla="*/ 118 w 193"/>
                  <a:gd name="T15" fmla="*/ 423 h 423"/>
                  <a:gd name="T16" fmla="*/ 155 w 193"/>
                  <a:gd name="T17" fmla="*/ 385 h 423"/>
                  <a:gd name="T18" fmla="*/ 155 w 193"/>
                  <a:gd name="T19" fmla="*/ 256 h 423"/>
                  <a:gd name="T20" fmla="*/ 193 w 193"/>
                  <a:gd name="T21" fmla="*/ 179 h 423"/>
                  <a:gd name="T22" fmla="*/ 193 w 193"/>
                  <a:gd name="T23" fmla="*/ 96 h 423"/>
                  <a:gd name="T24" fmla="*/ 97 w 193"/>
                  <a:gd name="T25" fmla="*/ 0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3" h="423">
                    <a:moveTo>
                      <a:pt x="97" y="0"/>
                    </a:moveTo>
                    <a:cubicBezTo>
                      <a:pt x="44" y="0"/>
                      <a:pt x="0" y="43"/>
                      <a:pt x="0" y="96"/>
                    </a:cubicBezTo>
                    <a:cubicBezTo>
                      <a:pt x="0" y="179"/>
                      <a:pt x="0" y="179"/>
                      <a:pt x="0" y="179"/>
                    </a:cubicBezTo>
                    <a:cubicBezTo>
                      <a:pt x="0" y="210"/>
                      <a:pt x="15" y="238"/>
                      <a:pt x="38" y="256"/>
                    </a:cubicBezTo>
                    <a:cubicBezTo>
                      <a:pt x="38" y="385"/>
                      <a:pt x="38" y="385"/>
                      <a:pt x="38" y="385"/>
                    </a:cubicBezTo>
                    <a:cubicBezTo>
                      <a:pt x="38" y="406"/>
                      <a:pt x="55" y="423"/>
                      <a:pt x="76" y="423"/>
                    </a:cubicBezTo>
                    <a:cubicBezTo>
                      <a:pt x="83" y="423"/>
                      <a:pt x="91" y="420"/>
                      <a:pt x="97" y="416"/>
                    </a:cubicBezTo>
                    <a:cubicBezTo>
                      <a:pt x="103" y="420"/>
                      <a:pt x="110" y="423"/>
                      <a:pt x="118" y="423"/>
                    </a:cubicBezTo>
                    <a:cubicBezTo>
                      <a:pt x="138" y="423"/>
                      <a:pt x="155" y="406"/>
                      <a:pt x="155" y="385"/>
                    </a:cubicBezTo>
                    <a:cubicBezTo>
                      <a:pt x="155" y="256"/>
                      <a:pt x="155" y="256"/>
                      <a:pt x="155" y="256"/>
                    </a:cubicBezTo>
                    <a:cubicBezTo>
                      <a:pt x="179" y="238"/>
                      <a:pt x="193" y="210"/>
                      <a:pt x="193" y="179"/>
                    </a:cubicBezTo>
                    <a:cubicBezTo>
                      <a:pt x="193" y="96"/>
                      <a:pt x="193" y="96"/>
                      <a:pt x="193" y="96"/>
                    </a:cubicBezTo>
                    <a:cubicBezTo>
                      <a:pt x="193" y="43"/>
                      <a:pt x="150" y="0"/>
                      <a:pt x="97" y="0"/>
                    </a:cubicBezTo>
                    <a:close/>
                  </a:path>
                </a:pathLst>
              </a:custGeom>
              <a:solidFill>
                <a:srgbClr val="74CE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Oval 6"/>
              <p:cNvSpPr>
                <a:spLocks noChangeArrowheads="1"/>
              </p:cNvSpPr>
              <p:nvPr/>
            </p:nvSpPr>
            <p:spPr>
              <a:xfrm>
                <a:off x="4546" y="1287"/>
                <a:ext cx="272" cy="266"/>
              </a:xfrm>
              <a:prstGeom prst="ellipse">
                <a:avLst/>
              </a:prstGeom>
              <a:solidFill>
                <a:srgbClr val="74CE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8298127" y="4626628"/>
              <a:ext cx="13923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485766"/>
                  </a:solidFill>
                  <a:latin typeface="Myriad Pro Light" panose="020B0403030403020204" pitchFamily="34" charset="0"/>
                  <a:ea typeface="微软雅黑" panose="020B0503020204020204" pitchFamily="34" charset="-122"/>
                </a:rPr>
                <a:t>First-person Introspection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311267" y="3421322"/>
              <a:ext cx="187316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第一人称内省法</a:t>
              </a:r>
            </a:p>
          </p:txBody>
        </p:sp>
        <p:grpSp>
          <p:nvGrpSpPr>
            <p:cNvPr id="28" name="组合"/>
            <p:cNvGrpSpPr/>
            <p:nvPr/>
          </p:nvGrpSpPr>
          <p:grpSpPr>
            <a:xfrm>
              <a:off x="2023982" y="4841027"/>
              <a:ext cx="296566" cy="816823"/>
              <a:chOff x="4448" y="1285"/>
              <a:chExt cx="468" cy="1289"/>
            </a:xfrm>
          </p:grpSpPr>
          <p:sp>
            <p:nvSpPr>
              <p:cNvPr id="29" name="AutoShape 3"/>
              <p:cNvSpPr>
                <a:spLocks noChangeAspect="1" noChangeArrowheads="1" noTextEdit="1"/>
              </p:cNvSpPr>
              <p:nvPr/>
            </p:nvSpPr>
            <p:spPr>
              <a:xfrm>
                <a:off x="4448" y="1285"/>
                <a:ext cx="468" cy="1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5"/>
              <p:cNvSpPr/>
              <p:nvPr/>
            </p:nvSpPr>
            <p:spPr>
              <a:xfrm>
                <a:off x="4450" y="1572"/>
                <a:ext cx="464" cy="1004"/>
              </a:xfrm>
              <a:custGeom>
                <a:avLst/>
                <a:gdLst>
                  <a:gd name="T0" fmla="*/ 97 w 193"/>
                  <a:gd name="T1" fmla="*/ 0 h 423"/>
                  <a:gd name="T2" fmla="*/ 0 w 193"/>
                  <a:gd name="T3" fmla="*/ 96 h 423"/>
                  <a:gd name="T4" fmla="*/ 0 w 193"/>
                  <a:gd name="T5" fmla="*/ 179 h 423"/>
                  <a:gd name="T6" fmla="*/ 38 w 193"/>
                  <a:gd name="T7" fmla="*/ 256 h 423"/>
                  <a:gd name="T8" fmla="*/ 38 w 193"/>
                  <a:gd name="T9" fmla="*/ 385 h 423"/>
                  <a:gd name="T10" fmla="*/ 76 w 193"/>
                  <a:gd name="T11" fmla="*/ 423 h 423"/>
                  <a:gd name="T12" fmla="*/ 97 w 193"/>
                  <a:gd name="T13" fmla="*/ 416 h 423"/>
                  <a:gd name="T14" fmla="*/ 118 w 193"/>
                  <a:gd name="T15" fmla="*/ 423 h 423"/>
                  <a:gd name="T16" fmla="*/ 155 w 193"/>
                  <a:gd name="T17" fmla="*/ 385 h 423"/>
                  <a:gd name="T18" fmla="*/ 155 w 193"/>
                  <a:gd name="T19" fmla="*/ 256 h 423"/>
                  <a:gd name="T20" fmla="*/ 193 w 193"/>
                  <a:gd name="T21" fmla="*/ 179 h 423"/>
                  <a:gd name="T22" fmla="*/ 193 w 193"/>
                  <a:gd name="T23" fmla="*/ 96 h 423"/>
                  <a:gd name="T24" fmla="*/ 97 w 193"/>
                  <a:gd name="T25" fmla="*/ 0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3" h="423">
                    <a:moveTo>
                      <a:pt x="97" y="0"/>
                    </a:moveTo>
                    <a:cubicBezTo>
                      <a:pt x="44" y="0"/>
                      <a:pt x="0" y="43"/>
                      <a:pt x="0" y="96"/>
                    </a:cubicBezTo>
                    <a:cubicBezTo>
                      <a:pt x="0" y="179"/>
                      <a:pt x="0" y="179"/>
                      <a:pt x="0" y="179"/>
                    </a:cubicBezTo>
                    <a:cubicBezTo>
                      <a:pt x="0" y="210"/>
                      <a:pt x="15" y="238"/>
                      <a:pt x="38" y="256"/>
                    </a:cubicBezTo>
                    <a:cubicBezTo>
                      <a:pt x="38" y="385"/>
                      <a:pt x="38" y="385"/>
                      <a:pt x="38" y="385"/>
                    </a:cubicBezTo>
                    <a:cubicBezTo>
                      <a:pt x="38" y="406"/>
                      <a:pt x="55" y="423"/>
                      <a:pt x="76" y="423"/>
                    </a:cubicBezTo>
                    <a:cubicBezTo>
                      <a:pt x="83" y="423"/>
                      <a:pt x="91" y="420"/>
                      <a:pt x="97" y="416"/>
                    </a:cubicBezTo>
                    <a:cubicBezTo>
                      <a:pt x="103" y="420"/>
                      <a:pt x="110" y="423"/>
                      <a:pt x="118" y="423"/>
                    </a:cubicBezTo>
                    <a:cubicBezTo>
                      <a:pt x="138" y="423"/>
                      <a:pt x="155" y="406"/>
                      <a:pt x="155" y="385"/>
                    </a:cubicBezTo>
                    <a:cubicBezTo>
                      <a:pt x="155" y="256"/>
                      <a:pt x="155" y="256"/>
                      <a:pt x="155" y="256"/>
                    </a:cubicBezTo>
                    <a:cubicBezTo>
                      <a:pt x="179" y="238"/>
                      <a:pt x="193" y="210"/>
                      <a:pt x="193" y="179"/>
                    </a:cubicBezTo>
                    <a:cubicBezTo>
                      <a:pt x="193" y="96"/>
                      <a:pt x="193" y="96"/>
                      <a:pt x="193" y="96"/>
                    </a:cubicBezTo>
                    <a:cubicBezTo>
                      <a:pt x="193" y="43"/>
                      <a:pt x="150" y="0"/>
                      <a:pt x="97" y="0"/>
                    </a:cubicBezTo>
                    <a:close/>
                  </a:path>
                </a:pathLst>
              </a:custGeom>
              <a:solidFill>
                <a:srgbClr val="E05D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Oval 6"/>
              <p:cNvSpPr>
                <a:spLocks noChangeArrowheads="1"/>
              </p:cNvSpPr>
              <p:nvPr/>
            </p:nvSpPr>
            <p:spPr>
              <a:xfrm>
                <a:off x="4546" y="1287"/>
                <a:ext cx="272" cy="266"/>
              </a:xfrm>
              <a:prstGeom prst="ellipse">
                <a:avLst/>
              </a:prstGeom>
              <a:solidFill>
                <a:srgbClr val="E05D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2609380" y="5347334"/>
              <a:ext cx="13923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485766"/>
                  </a:solidFill>
                  <a:latin typeface="Myriad Pro Light" panose="020B0403030403020204" pitchFamily="34" charset="0"/>
                  <a:ea typeface="微软雅黑" panose="020B0503020204020204" pitchFamily="34" charset="-122"/>
                </a:rPr>
                <a:t>Contextualized Data Analysis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630620" y="4323514"/>
              <a:ext cx="166805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485766"/>
                  </a:solidFill>
                  <a:latin typeface="Myriad Pro Light" panose="020B0403030403020204" pitchFamily="34" charset="0"/>
                </a:rPr>
                <a:t>情境化数据分析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2652552" y="5229946"/>
              <a:ext cx="1475333" cy="1"/>
            </a:xfrm>
            <a:prstGeom prst="line">
              <a:avLst/>
            </a:prstGeom>
            <a:ln>
              <a:solidFill>
                <a:srgbClr val="516D82"/>
              </a:solidFill>
              <a:prstDash val="sysDash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cxnSpLocks/>
            </p:cNvCxnSpPr>
            <p:nvPr/>
          </p:nvCxnSpPr>
          <p:spPr>
            <a:xfrm flipH="1">
              <a:off x="4127885" y="4769977"/>
              <a:ext cx="660779" cy="471643"/>
            </a:xfrm>
            <a:prstGeom prst="line">
              <a:avLst/>
            </a:prstGeom>
            <a:ln>
              <a:solidFill>
                <a:srgbClr val="516D82"/>
              </a:solidFill>
              <a:prstDash val="sysDash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"/>
            <p:cNvGrpSpPr/>
            <p:nvPr/>
          </p:nvGrpSpPr>
          <p:grpSpPr>
            <a:xfrm>
              <a:off x="3100232" y="2515428"/>
              <a:ext cx="405561" cy="1399815"/>
              <a:chOff x="4448" y="365"/>
              <a:chExt cx="640" cy="2209"/>
            </a:xfrm>
          </p:grpSpPr>
          <p:sp>
            <p:nvSpPr>
              <p:cNvPr id="37" name="AutoShape 3"/>
              <p:cNvSpPr>
                <a:spLocks noChangeAspect="1" noChangeArrowheads="1" noTextEdit="1"/>
              </p:cNvSpPr>
              <p:nvPr/>
            </p:nvSpPr>
            <p:spPr>
              <a:xfrm>
                <a:off x="4448" y="1285"/>
                <a:ext cx="468" cy="1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5"/>
              <p:cNvSpPr/>
              <p:nvPr/>
            </p:nvSpPr>
            <p:spPr>
              <a:xfrm>
                <a:off x="4624" y="650"/>
                <a:ext cx="464" cy="1004"/>
              </a:xfrm>
              <a:custGeom>
                <a:avLst/>
                <a:gdLst>
                  <a:gd name="T0" fmla="*/ 97 w 193"/>
                  <a:gd name="T1" fmla="*/ 0 h 423"/>
                  <a:gd name="T2" fmla="*/ 0 w 193"/>
                  <a:gd name="T3" fmla="*/ 96 h 423"/>
                  <a:gd name="T4" fmla="*/ 0 w 193"/>
                  <a:gd name="T5" fmla="*/ 179 h 423"/>
                  <a:gd name="T6" fmla="*/ 38 w 193"/>
                  <a:gd name="T7" fmla="*/ 256 h 423"/>
                  <a:gd name="T8" fmla="*/ 38 w 193"/>
                  <a:gd name="T9" fmla="*/ 385 h 423"/>
                  <a:gd name="T10" fmla="*/ 76 w 193"/>
                  <a:gd name="T11" fmla="*/ 423 h 423"/>
                  <a:gd name="T12" fmla="*/ 97 w 193"/>
                  <a:gd name="T13" fmla="*/ 416 h 423"/>
                  <a:gd name="T14" fmla="*/ 118 w 193"/>
                  <a:gd name="T15" fmla="*/ 423 h 423"/>
                  <a:gd name="T16" fmla="*/ 155 w 193"/>
                  <a:gd name="T17" fmla="*/ 385 h 423"/>
                  <a:gd name="T18" fmla="*/ 155 w 193"/>
                  <a:gd name="T19" fmla="*/ 256 h 423"/>
                  <a:gd name="T20" fmla="*/ 193 w 193"/>
                  <a:gd name="T21" fmla="*/ 179 h 423"/>
                  <a:gd name="T22" fmla="*/ 193 w 193"/>
                  <a:gd name="T23" fmla="*/ 96 h 423"/>
                  <a:gd name="T24" fmla="*/ 97 w 193"/>
                  <a:gd name="T25" fmla="*/ 0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3" h="423">
                    <a:moveTo>
                      <a:pt x="97" y="0"/>
                    </a:moveTo>
                    <a:cubicBezTo>
                      <a:pt x="44" y="0"/>
                      <a:pt x="0" y="43"/>
                      <a:pt x="0" y="96"/>
                    </a:cubicBezTo>
                    <a:cubicBezTo>
                      <a:pt x="0" y="179"/>
                      <a:pt x="0" y="179"/>
                      <a:pt x="0" y="179"/>
                    </a:cubicBezTo>
                    <a:cubicBezTo>
                      <a:pt x="0" y="210"/>
                      <a:pt x="15" y="238"/>
                      <a:pt x="38" y="256"/>
                    </a:cubicBezTo>
                    <a:cubicBezTo>
                      <a:pt x="38" y="385"/>
                      <a:pt x="38" y="385"/>
                      <a:pt x="38" y="385"/>
                    </a:cubicBezTo>
                    <a:cubicBezTo>
                      <a:pt x="38" y="406"/>
                      <a:pt x="55" y="423"/>
                      <a:pt x="76" y="423"/>
                    </a:cubicBezTo>
                    <a:cubicBezTo>
                      <a:pt x="83" y="423"/>
                      <a:pt x="91" y="420"/>
                      <a:pt x="97" y="416"/>
                    </a:cubicBezTo>
                    <a:cubicBezTo>
                      <a:pt x="103" y="420"/>
                      <a:pt x="110" y="423"/>
                      <a:pt x="118" y="423"/>
                    </a:cubicBezTo>
                    <a:cubicBezTo>
                      <a:pt x="138" y="423"/>
                      <a:pt x="155" y="406"/>
                      <a:pt x="155" y="385"/>
                    </a:cubicBezTo>
                    <a:cubicBezTo>
                      <a:pt x="155" y="256"/>
                      <a:pt x="155" y="256"/>
                      <a:pt x="155" y="256"/>
                    </a:cubicBezTo>
                    <a:cubicBezTo>
                      <a:pt x="179" y="238"/>
                      <a:pt x="193" y="210"/>
                      <a:pt x="193" y="179"/>
                    </a:cubicBezTo>
                    <a:cubicBezTo>
                      <a:pt x="193" y="96"/>
                      <a:pt x="193" y="96"/>
                      <a:pt x="193" y="96"/>
                    </a:cubicBezTo>
                    <a:cubicBezTo>
                      <a:pt x="193" y="43"/>
                      <a:pt x="150" y="0"/>
                      <a:pt x="97" y="0"/>
                    </a:cubicBezTo>
                    <a:close/>
                  </a:path>
                </a:pathLst>
              </a:custGeom>
              <a:solidFill>
                <a:srgbClr val="FFD0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/>
              </a:p>
            </p:txBody>
          </p:sp>
          <p:sp>
            <p:nvSpPr>
              <p:cNvPr id="39" name="Oval 6"/>
              <p:cNvSpPr>
                <a:spLocks noChangeArrowheads="1"/>
              </p:cNvSpPr>
              <p:nvPr/>
            </p:nvSpPr>
            <p:spPr>
              <a:xfrm>
                <a:off x="4720" y="365"/>
                <a:ext cx="272" cy="266"/>
              </a:xfrm>
              <a:prstGeom prst="ellipse">
                <a:avLst/>
              </a:prstGeom>
              <a:solidFill>
                <a:srgbClr val="FFD0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0" name="文本框 39"/>
            <p:cNvSpPr txBox="1"/>
            <p:nvPr/>
          </p:nvSpPr>
          <p:spPr>
            <a:xfrm>
              <a:off x="3935339" y="3015568"/>
              <a:ext cx="1392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485766"/>
                  </a:solidFill>
                  <a:latin typeface="Myriad Pro Light" panose="020B0403030403020204" pitchFamily="34" charset="0"/>
                  <a:ea typeface="微软雅黑" panose="020B0503020204020204" pitchFamily="34" charset="-122"/>
                </a:rPr>
                <a:t>Mixed Methods</a:t>
              </a:r>
            </a:p>
          </p:txBody>
        </p:sp>
        <p:cxnSp>
          <p:nvCxnSpPr>
            <p:cNvPr id="42" name="直接连接符 41"/>
            <p:cNvCxnSpPr>
              <a:cxnSpLocks/>
            </p:cNvCxnSpPr>
            <p:nvPr/>
          </p:nvCxnSpPr>
          <p:spPr>
            <a:xfrm flipV="1">
              <a:off x="3756262" y="2915164"/>
              <a:ext cx="2092269" cy="9987"/>
            </a:xfrm>
            <a:prstGeom prst="line">
              <a:avLst/>
            </a:prstGeom>
            <a:ln>
              <a:solidFill>
                <a:srgbClr val="516D82"/>
              </a:solidFill>
              <a:prstDash val="sysDash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cxnSpLocks/>
            </p:cNvCxnSpPr>
            <p:nvPr/>
          </p:nvCxnSpPr>
          <p:spPr>
            <a:xfrm flipH="1" flipV="1">
              <a:off x="5848531" y="2932183"/>
              <a:ext cx="189687" cy="471941"/>
            </a:xfrm>
            <a:prstGeom prst="line">
              <a:avLst/>
            </a:prstGeom>
            <a:ln>
              <a:solidFill>
                <a:srgbClr val="516D82"/>
              </a:solidFill>
              <a:prstDash val="sysDash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直接连接符 54"/>
          <p:cNvCxnSpPr/>
          <p:nvPr/>
        </p:nvCxnSpPr>
        <p:spPr>
          <a:xfrm>
            <a:off x="409575" y="2286000"/>
            <a:ext cx="11372850" cy="0"/>
          </a:xfrm>
          <a:prstGeom prst="line">
            <a:avLst/>
          </a:prstGeom>
          <a:ln>
            <a:solidFill>
              <a:srgbClr val="4857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3228212" y="459004"/>
            <a:ext cx="4698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b="1" dirty="0">
                <a:latin typeface="Myriad Pro Light" panose="020B0403030403020204" pitchFamily="34" charset="0"/>
              </a:rPr>
              <a:t>研究设计</a:t>
            </a:r>
            <a:endParaRPr lang="zh-CN" altLang="en-US" sz="8800" b="1" dirty="0">
              <a:solidFill>
                <a:srgbClr val="74CEC4"/>
              </a:solidFill>
              <a:latin typeface="Myriad Pro Light" panose="020B0403030403020204" pitchFamily="34" charset="0"/>
            </a:endParaRPr>
          </a:p>
        </p:txBody>
      </p:sp>
      <p:grpSp>
        <p:nvGrpSpPr>
          <p:cNvPr id="62" name="组合"/>
          <p:cNvGrpSpPr/>
          <p:nvPr/>
        </p:nvGrpSpPr>
        <p:grpSpPr>
          <a:xfrm>
            <a:off x="474767" y="298139"/>
            <a:ext cx="2313092" cy="2026252"/>
            <a:chOff x="747901" y="308078"/>
            <a:chExt cx="2313092" cy="2026252"/>
          </a:xfrm>
        </p:grpSpPr>
        <p:sp>
          <p:nvSpPr>
            <p:cNvPr id="59" name="矩形 58"/>
            <p:cNvSpPr/>
            <p:nvPr/>
          </p:nvSpPr>
          <p:spPr>
            <a:xfrm>
              <a:off x="747901" y="361950"/>
              <a:ext cx="2313092" cy="1682900"/>
            </a:xfrm>
            <a:prstGeom prst="rect">
              <a:avLst/>
            </a:prstGeom>
            <a:solidFill>
              <a:srgbClr val="74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888112" y="308078"/>
              <a:ext cx="2026252" cy="2026252"/>
            </a:xfrm>
            <a:prstGeom prst="rect">
              <a:avLst/>
            </a:prstGeom>
          </p:spPr>
        </p:pic>
      </p:grpSp>
      <p:cxnSp>
        <p:nvCxnSpPr>
          <p:cNvPr id="69" name="直接连接符 68"/>
          <p:cNvCxnSpPr/>
          <p:nvPr/>
        </p:nvCxnSpPr>
        <p:spPr>
          <a:xfrm>
            <a:off x="3075092" y="304800"/>
            <a:ext cx="0" cy="1767410"/>
          </a:xfrm>
          <a:prstGeom prst="line">
            <a:avLst/>
          </a:prstGeom>
          <a:ln>
            <a:solidFill>
              <a:srgbClr val="4857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5DE10BB0-A0BF-5539-4D89-BB0A9C2838CB}"/>
              </a:ext>
            </a:extLst>
          </p:cNvPr>
          <p:cNvSpPr txBox="1"/>
          <p:nvPr/>
        </p:nvSpPr>
        <p:spPr>
          <a:xfrm>
            <a:off x="5823053" y="2435861"/>
            <a:ext cx="1668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485766"/>
                </a:solidFill>
                <a:latin typeface="Myriad Pro Light" panose="020B0403030403020204" pitchFamily="34" charset="0"/>
              </a:rPr>
              <a:t>混合方法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D027017-9D3C-D1D2-28C8-BCFEE88B5074}"/>
              </a:ext>
            </a:extLst>
          </p:cNvPr>
          <p:cNvSpPr/>
          <p:nvPr/>
        </p:nvSpPr>
        <p:spPr>
          <a:xfrm>
            <a:off x="367229" y="2641118"/>
            <a:ext cx="2274001" cy="215800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rgbClr val="485766"/>
                </a:solidFill>
                <a:latin typeface="Myriad Pro Light" panose="020B0403030403020204" pitchFamily="34" charset="0"/>
              </a:rPr>
              <a:t>实验设计</a:t>
            </a:r>
            <a:endParaRPr lang="zh-CN" altLang="en-US" sz="1600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10A82A6-2476-305D-5184-E39D27C56C3D}"/>
              </a:ext>
            </a:extLst>
          </p:cNvPr>
          <p:cNvSpPr txBox="1"/>
          <p:nvPr/>
        </p:nvSpPr>
        <p:spPr>
          <a:xfrm>
            <a:off x="-23543" y="4865903"/>
            <a:ext cx="3160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设计工作坊</a:t>
            </a:r>
            <a:endParaRPr lang="en-US" altLang="zh-CN" sz="2400" dirty="0"/>
          </a:p>
          <a:p>
            <a:pPr algn="ctr"/>
            <a:r>
              <a:rPr lang="zh-CN" altLang="en-US" sz="2400" dirty="0"/>
              <a:t>+</a:t>
            </a:r>
            <a:endParaRPr lang="en-US" altLang="zh-CN" sz="2400" dirty="0"/>
          </a:p>
          <a:p>
            <a:pPr algn="ctr"/>
            <a:r>
              <a:rPr lang="zh-CN" altLang="en-US" sz="2400" dirty="0"/>
              <a:t>反思日志</a:t>
            </a:r>
          </a:p>
        </p:txBody>
      </p:sp>
    </p:spTree>
    <p:extLst>
      <p:ext uri="{BB962C8B-B14F-4D97-AF65-F5344CB8AC3E}">
        <p14:creationId xmlns:p14="http://schemas.microsoft.com/office/powerpoint/2010/main" val="334725459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988450" y="1917406"/>
            <a:ext cx="5308979" cy="176283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85766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988448" y="1917406"/>
            <a:ext cx="2006223" cy="174907"/>
          </a:xfrm>
          <a:prstGeom prst="rect">
            <a:avLst/>
          </a:prstGeom>
          <a:solidFill>
            <a:srgbClr val="485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85766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988450" y="2577228"/>
            <a:ext cx="5308979" cy="176283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85766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988448" y="2577228"/>
            <a:ext cx="3794080" cy="175593"/>
          </a:xfrm>
          <a:prstGeom prst="rect">
            <a:avLst/>
          </a:prstGeom>
          <a:solidFill>
            <a:srgbClr val="569E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85766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988450" y="3237049"/>
            <a:ext cx="5308979" cy="176283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85766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88448" y="3237049"/>
            <a:ext cx="3111691" cy="176284"/>
          </a:xfrm>
          <a:prstGeom prst="rect">
            <a:avLst/>
          </a:prstGeom>
          <a:solidFill>
            <a:srgbClr val="8DD9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85766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988450" y="3896869"/>
            <a:ext cx="5308979" cy="176283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85766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988448" y="3896868"/>
            <a:ext cx="5159654" cy="176283"/>
          </a:xfrm>
          <a:prstGeom prst="rect">
            <a:avLst/>
          </a:prstGeom>
          <a:solidFill>
            <a:srgbClr val="FFD0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85766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88450" y="4556087"/>
            <a:ext cx="5308979" cy="176283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85766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988448" y="4556088"/>
            <a:ext cx="4646869" cy="186789"/>
          </a:xfrm>
          <a:prstGeom prst="rect">
            <a:avLst/>
          </a:prstGeom>
          <a:solidFill>
            <a:srgbClr val="E05D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85766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89296" y="1574371"/>
            <a:ext cx="549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观念显性化：识别出自身在数据处理中无意识的预设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196444" y="484675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实验结果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944380" y="2886181"/>
            <a:ext cx="59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协作模式转变：从“指令发出者”转变为“共同探索者”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938225" y="3554948"/>
            <a:ext cx="661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价值：强调了设计者的主体性和反思能力在</a:t>
            </a:r>
            <a:r>
              <a:rPr lang="en-US" altLang="zh-CN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伦理中的关键作用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988448" y="4198800"/>
            <a:ext cx="526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挑战：实施成本高，对设计者的批判性思维要求高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938225" y="2205915"/>
            <a:ext cx="569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输出改善：</a:t>
            </a:r>
            <a:r>
              <a:rPr lang="en-US" altLang="zh-CN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生成的输出在多样性与公平性上有所提升</a:t>
            </a:r>
          </a:p>
        </p:txBody>
      </p:sp>
      <p:grpSp>
        <p:nvGrpSpPr>
          <p:cNvPr id="37" name="组合"/>
          <p:cNvGrpSpPr/>
          <p:nvPr/>
        </p:nvGrpSpPr>
        <p:grpSpPr>
          <a:xfrm>
            <a:off x="1294643" y="1426470"/>
            <a:ext cx="1676400" cy="3382962"/>
            <a:chOff x="979" y="609"/>
            <a:chExt cx="1056" cy="2131"/>
          </a:xfrm>
        </p:grpSpPr>
        <p:sp>
          <p:nvSpPr>
            <p:cNvPr id="38" name="AutoShape 3"/>
            <p:cNvSpPr>
              <a:spLocks noChangeAspect="1" noChangeArrowheads="1" noTextEdit="1"/>
            </p:cNvSpPr>
            <p:nvPr/>
          </p:nvSpPr>
          <p:spPr>
            <a:xfrm>
              <a:off x="982" y="609"/>
              <a:ext cx="1053" cy="2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Rectangle 5"/>
            <p:cNvSpPr>
              <a:spLocks noChangeArrowheads="1"/>
            </p:cNvSpPr>
            <p:nvPr/>
          </p:nvSpPr>
          <p:spPr>
            <a:xfrm>
              <a:off x="1365" y="1794"/>
              <a:ext cx="113" cy="367"/>
            </a:xfrm>
            <a:prstGeom prst="rect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Oval 6"/>
            <p:cNvSpPr>
              <a:spLocks noChangeArrowheads="1"/>
            </p:cNvSpPr>
            <p:nvPr/>
          </p:nvSpPr>
          <p:spPr>
            <a:xfrm>
              <a:off x="1365" y="2112"/>
              <a:ext cx="113" cy="113"/>
            </a:xfrm>
            <a:prstGeom prst="ellipse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Oval 7"/>
            <p:cNvSpPr>
              <a:spLocks noChangeArrowheads="1"/>
            </p:cNvSpPr>
            <p:nvPr/>
          </p:nvSpPr>
          <p:spPr>
            <a:xfrm>
              <a:off x="1365" y="1748"/>
              <a:ext cx="113" cy="110"/>
            </a:xfrm>
            <a:prstGeom prst="ellipse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Rectangle 8"/>
            <p:cNvSpPr>
              <a:spLocks noChangeArrowheads="1"/>
            </p:cNvSpPr>
            <p:nvPr/>
          </p:nvSpPr>
          <p:spPr>
            <a:xfrm>
              <a:off x="1365" y="2179"/>
              <a:ext cx="113" cy="409"/>
            </a:xfrm>
            <a:prstGeom prst="rect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Oval 9"/>
            <p:cNvSpPr>
              <a:spLocks noChangeArrowheads="1"/>
            </p:cNvSpPr>
            <p:nvPr/>
          </p:nvSpPr>
          <p:spPr>
            <a:xfrm>
              <a:off x="1365" y="2115"/>
              <a:ext cx="113" cy="113"/>
            </a:xfrm>
            <a:prstGeom prst="ellipse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10"/>
            <p:cNvSpPr/>
            <p:nvPr/>
          </p:nvSpPr>
          <p:spPr>
            <a:xfrm>
              <a:off x="1205" y="2577"/>
              <a:ext cx="281" cy="96"/>
            </a:xfrm>
            <a:custGeom>
              <a:avLst/>
              <a:gdLst>
                <a:gd name="T0" fmla="*/ 46 w 79"/>
                <a:gd name="T1" fmla="*/ 1 h 27"/>
                <a:gd name="T2" fmla="*/ 43 w 79"/>
                <a:gd name="T3" fmla="*/ 1 h 27"/>
                <a:gd name="T4" fmla="*/ 3 w 79"/>
                <a:gd name="T5" fmla="*/ 19 h 27"/>
                <a:gd name="T6" fmla="*/ 1 w 79"/>
                <a:gd name="T7" fmla="*/ 24 h 27"/>
                <a:gd name="T8" fmla="*/ 6 w 79"/>
                <a:gd name="T9" fmla="*/ 27 h 27"/>
                <a:gd name="T10" fmla="*/ 73 w 79"/>
                <a:gd name="T11" fmla="*/ 23 h 27"/>
                <a:gd name="T12" fmla="*/ 78 w 79"/>
                <a:gd name="T13" fmla="*/ 19 h 27"/>
                <a:gd name="T14" fmla="*/ 77 w 79"/>
                <a:gd name="T15" fmla="*/ 0 h 27"/>
                <a:gd name="T16" fmla="*/ 46 w 79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27">
                  <a:moveTo>
                    <a:pt x="46" y="1"/>
                  </a:moveTo>
                  <a:cubicBezTo>
                    <a:pt x="45" y="1"/>
                    <a:pt x="44" y="1"/>
                    <a:pt x="43" y="1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" y="20"/>
                    <a:pt x="0" y="22"/>
                    <a:pt x="1" y="24"/>
                  </a:cubicBezTo>
                  <a:cubicBezTo>
                    <a:pt x="1" y="26"/>
                    <a:pt x="4" y="27"/>
                    <a:pt x="6" y="27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6" y="23"/>
                    <a:pt x="79" y="21"/>
                    <a:pt x="78" y="19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3" y="0"/>
                    <a:pt x="46" y="1"/>
                    <a:pt x="46" y="1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1"/>
            <p:cNvSpPr/>
            <p:nvPr/>
          </p:nvSpPr>
          <p:spPr>
            <a:xfrm>
              <a:off x="1294" y="623"/>
              <a:ext cx="422" cy="423"/>
            </a:xfrm>
            <a:custGeom>
              <a:avLst/>
              <a:gdLst>
                <a:gd name="T0" fmla="*/ 119 w 119"/>
                <a:gd name="T1" fmla="*/ 61 h 120"/>
                <a:gd name="T2" fmla="*/ 59 w 119"/>
                <a:gd name="T3" fmla="*/ 120 h 120"/>
                <a:gd name="T4" fmla="*/ 0 w 119"/>
                <a:gd name="T5" fmla="*/ 59 h 120"/>
                <a:gd name="T6" fmla="*/ 60 w 119"/>
                <a:gd name="T7" fmla="*/ 1 h 120"/>
                <a:gd name="T8" fmla="*/ 119 w 119"/>
                <a:gd name="T9" fmla="*/ 6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20">
                  <a:moveTo>
                    <a:pt x="119" y="61"/>
                  </a:moveTo>
                  <a:cubicBezTo>
                    <a:pt x="118" y="94"/>
                    <a:pt x="91" y="120"/>
                    <a:pt x="59" y="120"/>
                  </a:cubicBezTo>
                  <a:cubicBezTo>
                    <a:pt x="26" y="119"/>
                    <a:pt x="0" y="92"/>
                    <a:pt x="0" y="59"/>
                  </a:cubicBezTo>
                  <a:cubicBezTo>
                    <a:pt x="0" y="26"/>
                    <a:pt x="27" y="0"/>
                    <a:pt x="60" y="1"/>
                  </a:cubicBezTo>
                  <a:cubicBezTo>
                    <a:pt x="93" y="1"/>
                    <a:pt x="119" y="28"/>
                    <a:pt x="119" y="61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12"/>
            <p:cNvSpPr/>
            <p:nvPr/>
          </p:nvSpPr>
          <p:spPr>
            <a:xfrm>
              <a:off x="1294" y="694"/>
              <a:ext cx="305" cy="451"/>
            </a:xfrm>
            <a:custGeom>
              <a:avLst/>
              <a:gdLst>
                <a:gd name="T0" fmla="*/ 86 w 86"/>
                <a:gd name="T1" fmla="*/ 79 h 128"/>
                <a:gd name="T2" fmla="*/ 49 w 86"/>
                <a:gd name="T3" fmla="*/ 128 h 128"/>
                <a:gd name="T4" fmla="*/ 37 w 86"/>
                <a:gd name="T5" fmla="*/ 128 h 128"/>
                <a:gd name="T6" fmla="*/ 0 w 86"/>
                <a:gd name="T7" fmla="*/ 79 h 128"/>
                <a:gd name="T8" fmla="*/ 0 w 86"/>
                <a:gd name="T9" fmla="*/ 37 h 128"/>
                <a:gd name="T10" fmla="*/ 37 w 86"/>
                <a:gd name="T11" fmla="*/ 0 h 128"/>
                <a:gd name="T12" fmla="*/ 49 w 86"/>
                <a:gd name="T13" fmla="*/ 0 h 128"/>
                <a:gd name="T14" fmla="*/ 86 w 86"/>
                <a:gd name="T15" fmla="*/ 37 h 128"/>
                <a:gd name="T16" fmla="*/ 86 w 86"/>
                <a:gd name="T17" fmla="*/ 79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" h="128">
                  <a:moveTo>
                    <a:pt x="86" y="79"/>
                  </a:moveTo>
                  <a:cubicBezTo>
                    <a:pt x="86" y="100"/>
                    <a:pt x="69" y="128"/>
                    <a:pt x="49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17" y="128"/>
                    <a:pt x="0" y="100"/>
                    <a:pt x="0" y="7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9" y="0"/>
                    <a:pt x="86" y="16"/>
                    <a:pt x="86" y="37"/>
                  </a:cubicBezTo>
                  <a:lnTo>
                    <a:pt x="86" y="79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3"/>
            <p:cNvSpPr/>
            <p:nvPr/>
          </p:nvSpPr>
          <p:spPr>
            <a:xfrm>
              <a:off x="1383" y="902"/>
              <a:ext cx="322" cy="250"/>
            </a:xfrm>
            <a:custGeom>
              <a:avLst/>
              <a:gdLst>
                <a:gd name="T0" fmla="*/ 91 w 91"/>
                <a:gd name="T1" fmla="*/ 0 h 71"/>
                <a:gd name="T2" fmla="*/ 33 w 91"/>
                <a:gd name="T3" fmla="*/ 68 h 71"/>
                <a:gd name="T4" fmla="*/ 34 w 91"/>
                <a:gd name="T5" fmla="*/ 3 h 71"/>
                <a:gd name="T6" fmla="*/ 91 w 91"/>
                <a:gd name="T7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" h="71">
                  <a:moveTo>
                    <a:pt x="91" y="0"/>
                  </a:moveTo>
                  <a:cubicBezTo>
                    <a:pt x="91" y="0"/>
                    <a:pt x="65" y="66"/>
                    <a:pt x="33" y="68"/>
                  </a:cubicBezTo>
                  <a:cubicBezTo>
                    <a:pt x="0" y="71"/>
                    <a:pt x="34" y="3"/>
                    <a:pt x="34" y="3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14"/>
            <p:cNvSpPr/>
            <p:nvPr/>
          </p:nvSpPr>
          <p:spPr>
            <a:xfrm>
              <a:off x="1447" y="1068"/>
              <a:ext cx="131" cy="169"/>
            </a:xfrm>
            <a:custGeom>
              <a:avLst/>
              <a:gdLst>
                <a:gd name="T0" fmla="*/ 37 w 37"/>
                <a:gd name="T1" fmla="*/ 43 h 48"/>
                <a:gd name="T2" fmla="*/ 32 w 37"/>
                <a:gd name="T3" fmla="*/ 48 h 48"/>
                <a:gd name="T4" fmla="*/ 4 w 37"/>
                <a:gd name="T5" fmla="*/ 48 h 48"/>
                <a:gd name="T6" fmla="*/ 0 w 37"/>
                <a:gd name="T7" fmla="*/ 43 h 48"/>
                <a:gd name="T8" fmla="*/ 0 w 37"/>
                <a:gd name="T9" fmla="*/ 4 h 48"/>
                <a:gd name="T10" fmla="*/ 4 w 37"/>
                <a:gd name="T11" fmla="*/ 0 h 48"/>
                <a:gd name="T12" fmla="*/ 32 w 37"/>
                <a:gd name="T13" fmla="*/ 0 h 48"/>
                <a:gd name="T14" fmla="*/ 37 w 37"/>
                <a:gd name="T15" fmla="*/ 4 h 48"/>
                <a:gd name="T16" fmla="*/ 37 w 37"/>
                <a:gd name="T17" fmla="*/ 4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48">
                  <a:moveTo>
                    <a:pt x="37" y="43"/>
                  </a:moveTo>
                  <a:cubicBezTo>
                    <a:pt x="37" y="46"/>
                    <a:pt x="35" y="48"/>
                    <a:pt x="32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2"/>
                    <a:pt x="37" y="4"/>
                  </a:cubicBezTo>
                  <a:lnTo>
                    <a:pt x="37" y="43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5"/>
            <p:cNvSpPr/>
            <p:nvPr/>
          </p:nvSpPr>
          <p:spPr>
            <a:xfrm>
              <a:off x="1308" y="842"/>
              <a:ext cx="64" cy="67"/>
            </a:xfrm>
            <a:custGeom>
              <a:avLst/>
              <a:gdLst>
                <a:gd name="T0" fmla="*/ 0 w 18"/>
                <a:gd name="T1" fmla="*/ 9 h 19"/>
                <a:gd name="T2" fmla="*/ 9 w 18"/>
                <a:gd name="T3" fmla="*/ 19 h 19"/>
                <a:gd name="T4" fmla="*/ 18 w 18"/>
                <a:gd name="T5" fmla="*/ 9 h 19"/>
                <a:gd name="T6" fmla="*/ 9 w 18"/>
                <a:gd name="T7" fmla="*/ 0 h 19"/>
                <a:gd name="T8" fmla="*/ 0 w 18"/>
                <a:gd name="T9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0" y="9"/>
                  </a:moveTo>
                  <a:cubicBezTo>
                    <a:pt x="0" y="15"/>
                    <a:pt x="4" y="19"/>
                    <a:pt x="9" y="19"/>
                  </a:cubicBezTo>
                  <a:cubicBezTo>
                    <a:pt x="14" y="19"/>
                    <a:pt x="18" y="14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lose/>
                </a:path>
              </a:pathLst>
            </a:custGeom>
            <a:solidFill>
              <a:srgbClr val="7A4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6"/>
            <p:cNvSpPr/>
            <p:nvPr/>
          </p:nvSpPr>
          <p:spPr>
            <a:xfrm>
              <a:off x="1461" y="842"/>
              <a:ext cx="74" cy="74"/>
            </a:xfrm>
            <a:custGeom>
              <a:avLst/>
              <a:gdLst>
                <a:gd name="T0" fmla="*/ 14 w 21"/>
                <a:gd name="T1" fmla="*/ 3 h 21"/>
                <a:gd name="T2" fmla="*/ 2 w 21"/>
                <a:gd name="T3" fmla="*/ 7 h 21"/>
                <a:gd name="T4" fmla="*/ 7 w 21"/>
                <a:gd name="T5" fmla="*/ 19 h 21"/>
                <a:gd name="T6" fmla="*/ 19 w 21"/>
                <a:gd name="T7" fmla="*/ 14 h 21"/>
                <a:gd name="T8" fmla="*/ 14 w 21"/>
                <a:gd name="T9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14" y="3"/>
                  </a:moveTo>
                  <a:cubicBezTo>
                    <a:pt x="9" y="0"/>
                    <a:pt x="4" y="2"/>
                    <a:pt x="2" y="7"/>
                  </a:cubicBezTo>
                  <a:cubicBezTo>
                    <a:pt x="0" y="12"/>
                    <a:pt x="2" y="17"/>
                    <a:pt x="7" y="19"/>
                  </a:cubicBezTo>
                  <a:cubicBezTo>
                    <a:pt x="12" y="21"/>
                    <a:pt x="17" y="19"/>
                    <a:pt x="19" y="14"/>
                  </a:cubicBezTo>
                  <a:cubicBezTo>
                    <a:pt x="21" y="10"/>
                    <a:pt x="19" y="5"/>
                    <a:pt x="14" y="3"/>
                  </a:cubicBezTo>
                  <a:close/>
                </a:path>
              </a:pathLst>
            </a:custGeom>
            <a:solidFill>
              <a:srgbClr val="7A4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7"/>
            <p:cNvSpPr/>
            <p:nvPr/>
          </p:nvSpPr>
          <p:spPr>
            <a:xfrm>
              <a:off x="1248" y="613"/>
              <a:ext cx="532" cy="409"/>
            </a:xfrm>
            <a:custGeom>
              <a:avLst/>
              <a:gdLst>
                <a:gd name="T0" fmla="*/ 127 w 150"/>
                <a:gd name="T1" fmla="*/ 30 h 116"/>
                <a:gd name="T2" fmla="*/ 75 w 150"/>
                <a:gd name="T3" fmla="*/ 0 h 116"/>
                <a:gd name="T4" fmla="*/ 26 w 150"/>
                <a:gd name="T5" fmla="*/ 17 h 116"/>
                <a:gd name="T6" fmla="*/ 5 w 150"/>
                <a:gd name="T7" fmla="*/ 5 h 116"/>
                <a:gd name="T8" fmla="*/ 5 w 150"/>
                <a:gd name="T9" fmla="*/ 8 h 116"/>
                <a:gd name="T10" fmla="*/ 15 w 150"/>
                <a:gd name="T11" fmla="*/ 39 h 116"/>
                <a:gd name="T12" fmla="*/ 55 w 150"/>
                <a:gd name="T13" fmla="*/ 44 h 116"/>
                <a:gd name="T14" fmla="*/ 99 w 150"/>
                <a:gd name="T15" fmla="*/ 42 h 116"/>
                <a:gd name="T16" fmla="*/ 112 w 150"/>
                <a:gd name="T17" fmla="*/ 116 h 116"/>
                <a:gd name="T18" fmla="*/ 127 w 150"/>
                <a:gd name="T19" fmla="*/ 3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" h="116">
                  <a:moveTo>
                    <a:pt x="127" y="30"/>
                  </a:moveTo>
                  <a:cubicBezTo>
                    <a:pt x="113" y="10"/>
                    <a:pt x="95" y="0"/>
                    <a:pt x="75" y="0"/>
                  </a:cubicBezTo>
                  <a:cubicBezTo>
                    <a:pt x="51" y="0"/>
                    <a:pt x="31" y="13"/>
                    <a:pt x="26" y="17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9"/>
                    <a:pt x="0" y="33"/>
                    <a:pt x="15" y="39"/>
                  </a:cubicBezTo>
                  <a:cubicBezTo>
                    <a:pt x="24" y="43"/>
                    <a:pt x="37" y="44"/>
                    <a:pt x="55" y="44"/>
                  </a:cubicBezTo>
                  <a:cubicBezTo>
                    <a:pt x="73" y="44"/>
                    <a:pt x="91" y="43"/>
                    <a:pt x="99" y="42"/>
                  </a:cubicBezTo>
                  <a:cubicBezTo>
                    <a:pt x="88" y="61"/>
                    <a:pt x="112" y="116"/>
                    <a:pt x="112" y="116"/>
                  </a:cubicBezTo>
                  <a:cubicBezTo>
                    <a:pt x="112" y="116"/>
                    <a:pt x="150" y="64"/>
                    <a:pt x="127" y="30"/>
                  </a:cubicBezTo>
                  <a:close/>
                </a:path>
              </a:pathLst>
            </a:custGeom>
            <a:solidFill>
              <a:srgbClr val="E05D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Oval 18"/>
            <p:cNvSpPr>
              <a:spLocks noChangeArrowheads="1"/>
            </p:cNvSpPr>
            <p:nvPr/>
          </p:nvSpPr>
          <p:spPr>
            <a:xfrm>
              <a:off x="1564" y="849"/>
              <a:ext cx="88" cy="95"/>
            </a:xfrm>
            <a:prstGeom prst="ellipse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9"/>
            <p:cNvSpPr/>
            <p:nvPr/>
          </p:nvSpPr>
          <p:spPr>
            <a:xfrm>
              <a:off x="1344" y="1170"/>
              <a:ext cx="354" cy="596"/>
            </a:xfrm>
            <a:custGeom>
              <a:avLst/>
              <a:gdLst>
                <a:gd name="T0" fmla="*/ 100 w 100"/>
                <a:gd name="T1" fmla="*/ 12 h 169"/>
                <a:gd name="T2" fmla="*/ 88 w 100"/>
                <a:gd name="T3" fmla="*/ 0 h 169"/>
                <a:gd name="T4" fmla="*/ 12 w 100"/>
                <a:gd name="T5" fmla="*/ 0 h 169"/>
                <a:gd name="T6" fmla="*/ 0 w 100"/>
                <a:gd name="T7" fmla="*/ 12 h 169"/>
                <a:gd name="T8" fmla="*/ 0 w 100"/>
                <a:gd name="T9" fmla="*/ 169 h 169"/>
                <a:gd name="T10" fmla="*/ 100 w 100"/>
                <a:gd name="T11" fmla="*/ 169 h 169"/>
                <a:gd name="T12" fmla="*/ 100 w 100"/>
                <a:gd name="T13" fmla="*/ 12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169">
                  <a:moveTo>
                    <a:pt x="100" y="12"/>
                  </a:moveTo>
                  <a:cubicBezTo>
                    <a:pt x="100" y="5"/>
                    <a:pt x="94" y="0"/>
                    <a:pt x="88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100" y="169"/>
                    <a:pt x="100" y="169"/>
                    <a:pt x="100" y="169"/>
                  </a:cubicBezTo>
                  <a:lnTo>
                    <a:pt x="100" y="12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20"/>
            <p:cNvSpPr/>
            <p:nvPr/>
          </p:nvSpPr>
          <p:spPr>
            <a:xfrm>
              <a:off x="1344" y="1720"/>
              <a:ext cx="354" cy="191"/>
            </a:xfrm>
            <a:custGeom>
              <a:avLst/>
              <a:gdLst>
                <a:gd name="T0" fmla="*/ 0 w 99"/>
                <a:gd name="T1" fmla="*/ 0 h 54"/>
                <a:gd name="T2" fmla="*/ 0 w 99"/>
                <a:gd name="T3" fmla="*/ 28 h 54"/>
                <a:gd name="T4" fmla="*/ 25 w 99"/>
                <a:gd name="T5" fmla="*/ 54 h 54"/>
                <a:gd name="T6" fmla="*/ 73 w 99"/>
                <a:gd name="T7" fmla="*/ 54 h 54"/>
                <a:gd name="T8" fmla="*/ 99 w 99"/>
                <a:gd name="T9" fmla="*/ 28 h 54"/>
                <a:gd name="T10" fmla="*/ 99 w 99"/>
                <a:gd name="T11" fmla="*/ 0 h 54"/>
                <a:gd name="T12" fmla="*/ 0 w 99"/>
                <a:gd name="T1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54">
                  <a:moveTo>
                    <a:pt x="0" y="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43"/>
                    <a:pt x="11" y="54"/>
                    <a:pt x="25" y="54"/>
                  </a:cubicBezTo>
                  <a:cubicBezTo>
                    <a:pt x="73" y="54"/>
                    <a:pt x="73" y="54"/>
                    <a:pt x="73" y="54"/>
                  </a:cubicBezTo>
                  <a:cubicBezTo>
                    <a:pt x="87" y="54"/>
                    <a:pt x="99" y="43"/>
                    <a:pt x="99" y="28"/>
                  </a:cubicBezTo>
                  <a:cubicBezTo>
                    <a:pt x="99" y="0"/>
                    <a:pt x="99" y="0"/>
                    <a:pt x="9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857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Rectangle 21"/>
            <p:cNvSpPr>
              <a:spLocks noChangeArrowheads="1"/>
            </p:cNvSpPr>
            <p:nvPr/>
          </p:nvSpPr>
          <p:spPr>
            <a:xfrm>
              <a:off x="1560" y="1882"/>
              <a:ext cx="110" cy="364"/>
            </a:xfrm>
            <a:prstGeom prst="rect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Oval 22"/>
            <p:cNvSpPr>
              <a:spLocks noChangeArrowheads="1"/>
            </p:cNvSpPr>
            <p:nvPr/>
          </p:nvSpPr>
          <p:spPr>
            <a:xfrm>
              <a:off x="1560" y="2196"/>
              <a:ext cx="110" cy="113"/>
            </a:xfrm>
            <a:prstGeom prst="ellipse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Oval 23"/>
            <p:cNvSpPr>
              <a:spLocks noChangeArrowheads="1"/>
            </p:cNvSpPr>
            <p:nvPr/>
          </p:nvSpPr>
          <p:spPr>
            <a:xfrm>
              <a:off x="1560" y="1833"/>
              <a:ext cx="113" cy="113"/>
            </a:xfrm>
            <a:prstGeom prst="ellipse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Rectangle 24"/>
            <p:cNvSpPr>
              <a:spLocks noChangeArrowheads="1"/>
            </p:cNvSpPr>
            <p:nvPr/>
          </p:nvSpPr>
          <p:spPr>
            <a:xfrm>
              <a:off x="1560" y="2267"/>
              <a:ext cx="110" cy="395"/>
            </a:xfrm>
            <a:prstGeom prst="rect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Oval 25"/>
            <p:cNvSpPr>
              <a:spLocks noChangeArrowheads="1"/>
            </p:cNvSpPr>
            <p:nvPr/>
          </p:nvSpPr>
          <p:spPr>
            <a:xfrm>
              <a:off x="1560" y="2200"/>
              <a:ext cx="110" cy="113"/>
            </a:xfrm>
            <a:prstGeom prst="ellipse">
              <a:avLst/>
            </a:pr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26"/>
            <p:cNvSpPr/>
            <p:nvPr/>
          </p:nvSpPr>
          <p:spPr>
            <a:xfrm>
              <a:off x="1397" y="2648"/>
              <a:ext cx="280" cy="92"/>
            </a:xfrm>
            <a:custGeom>
              <a:avLst/>
              <a:gdLst>
                <a:gd name="T0" fmla="*/ 47 w 79"/>
                <a:gd name="T1" fmla="*/ 0 h 26"/>
                <a:gd name="T2" fmla="*/ 44 w 79"/>
                <a:gd name="T3" fmla="*/ 1 h 26"/>
                <a:gd name="T4" fmla="*/ 4 w 79"/>
                <a:gd name="T5" fmla="*/ 19 h 26"/>
                <a:gd name="T6" fmla="*/ 1 w 79"/>
                <a:gd name="T7" fmla="*/ 23 h 26"/>
                <a:gd name="T8" fmla="*/ 7 w 79"/>
                <a:gd name="T9" fmla="*/ 26 h 26"/>
                <a:gd name="T10" fmla="*/ 73 w 79"/>
                <a:gd name="T11" fmla="*/ 23 h 26"/>
                <a:gd name="T12" fmla="*/ 79 w 79"/>
                <a:gd name="T13" fmla="*/ 18 h 26"/>
                <a:gd name="T14" fmla="*/ 78 w 79"/>
                <a:gd name="T15" fmla="*/ 0 h 26"/>
                <a:gd name="T16" fmla="*/ 47 w 79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26">
                  <a:moveTo>
                    <a:pt x="47" y="0"/>
                  </a:moveTo>
                  <a:cubicBezTo>
                    <a:pt x="46" y="0"/>
                    <a:pt x="45" y="1"/>
                    <a:pt x="44" y="1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1" y="20"/>
                    <a:pt x="0" y="22"/>
                    <a:pt x="1" y="23"/>
                  </a:cubicBezTo>
                  <a:cubicBezTo>
                    <a:pt x="2" y="25"/>
                    <a:pt x="4" y="26"/>
                    <a:pt x="7" y="26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7" y="22"/>
                    <a:pt x="79" y="20"/>
                    <a:pt x="79" y="18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4" y="0"/>
                    <a:pt x="47" y="0"/>
                    <a:pt x="47" y="0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Rectangle 27"/>
            <p:cNvSpPr>
              <a:spLocks noChangeArrowheads="1"/>
            </p:cNvSpPr>
            <p:nvPr/>
          </p:nvSpPr>
          <p:spPr>
            <a:xfrm>
              <a:off x="1539" y="1798"/>
              <a:ext cx="159" cy="215"/>
            </a:xfrm>
            <a:prstGeom prst="rect">
              <a:avLst/>
            </a:prstGeom>
            <a:solidFill>
              <a:srgbClr val="4857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Rectangle 28"/>
            <p:cNvSpPr>
              <a:spLocks noChangeArrowheads="1"/>
            </p:cNvSpPr>
            <p:nvPr/>
          </p:nvSpPr>
          <p:spPr>
            <a:xfrm>
              <a:off x="1345" y="1815"/>
              <a:ext cx="162" cy="198"/>
            </a:xfrm>
            <a:prstGeom prst="rect">
              <a:avLst/>
            </a:prstGeom>
            <a:solidFill>
              <a:srgbClr val="4857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29"/>
            <p:cNvSpPr/>
            <p:nvPr/>
          </p:nvSpPr>
          <p:spPr>
            <a:xfrm>
              <a:off x="1826" y="926"/>
              <a:ext cx="198" cy="353"/>
            </a:xfrm>
            <a:custGeom>
              <a:avLst/>
              <a:gdLst>
                <a:gd name="T0" fmla="*/ 198 w 198"/>
                <a:gd name="T1" fmla="*/ 321 h 353"/>
                <a:gd name="T2" fmla="*/ 96 w 198"/>
                <a:gd name="T3" fmla="*/ 0 h 353"/>
                <a:gd name="T4" fmla="*/ 0 w 198"/>
                <a:gd name="T5" fmla="*/ 29 h 353"/>
                <a:gd name="T6" fmla="*/ 103 w 198"/>
                <a:gd name="T7" fmla="*/ 353 h 353"/>
                <a:gd name="T8" fmla="*/ 198 w 198"/>
                <a:gd name="T9" fmla="*/ 321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8" h="353">
                  <a:moveTo>
                    <a:pt x="198" y="321"/>
                  </a:moveTo>
                  <a:lnTo>
                    <a:pt x="96" y="0"/>
                  </a:lnTo>
                  <a:lnTo>
                    <a:pt x="0" y="29"/>
                  </a:lnTo>
                  <a:lnTo>
                    <a:pt x="103" y="353"/>
                  </a:lnTo>
                  <a:lnTo>
                    <a:pt x="198" y="321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30"/>
            <p:cNvSpPr/>
            <p:nvPr/>
          </p:nvSpPr>
          <p:spPr>
            <a:xfrm>
              <a:off x="1922" y="1209"/>
              <a:ext cx="113" cy="123"/>
            </a:xfrm>
            <a:custGeom>
              <a:avLst/>
              <a:gdLst>
                <a:gd name="T0" fmla="*/ 21 w 32"/>
                <a:gd name="T1" fmla="*/ 33 h 35"/>
                <a:gd name="T2" fmla="*/ 30 w 32"/>
                <a:gd name="T3" fmla="*/ 13 h 35"/>
                <a:gd name="T4" fmla="*/ 11 w 32"/>
                <a:gd name="T5" fmla="*/ 3 h 35"/>
                <a:gd name="T6" fmla="*/ 3 w 32"/>
                <a:gd name="T7" fmla="*/ 22 h 35"/>
                <a:gd name="T8" fmla="*/ 21 w 32"/>
                <a:gd name="T9" fmla="*/ 3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1" y="33"/>
                  </a:moveTo>
                  <a:cubicBezTo>
                    <a:pt x="28" y="30"/>
                    <a:pt x="32" y="22"/>
                    <a:pt x="30" y="13"/>
                  </a:cubicBezTo>
                  <a:cubicBezTo>
                    <a:pt x="27" y="5"/>
                    <a:pt x="19" y="0"/>
                    <a:pt x="11" y="3"/>
                  </a:cubicBezTo>
                  <a:cubicBezTo>
                    <a:pt x="4" y="5"/>
                    <a:pt x="0" y="14"/>
                    <a:pt x="3" y="22"/>
                  </a:cubicBezTo>
                  <a:cubicBezTo>
                    <a:pt x="5" y="30"/>
                    <a:pt x="13" y="35"/>
                    <a:pt x="21" y="33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31"/>
            <p:cNvSpPr/>
            <p:nvPr/>
          </p:nvSpPr>
          <p:spPr>
            <a:xfrm>
              <a:off x="1769" y="789"/>
              <a:ext cx="167" cy="187"/>
            </a:xfrm>
            <a:custGeom>
              <a:avLst/>
              <a:gdLst>
                <a:gd name="T0" fmla="*/ 9 w 47"/>
                <a:gd name="T1" fmla="*/ 44 h 53"/>
                <a:gd name="T2" fmla="*/ 22 w 47"/>
                <a:gd name="T3" fmla="*/ 52 h 53"/>
                <a:gd name="T4" fmla="*/ 38 w 47"/>
                <a:gd name="T5" fmla="*/ 48 h 53"/>
                <a:gd name="T6" fmla="*/ 46 w 47"/>
                <a:gd name="T7" fmla="*/ 34 h 53"/>
                <a:gd name="T8" fmla="*/ 39 w 47"/>
                <a:gd name="T9" fmla="*/ 9 h 53"/>
                <a:gd name="T10" fmla="*/ 25 w 47"/>
                <a:gd name="T11" fmla="*/ 1 h 53"/>
                <a:gd name="T12" fmla="*/ 10 w 47"/>
                <a:gd name="T13" fmla="*/ 5 h 53"/>
                <a:gd name="T14" fmla="*/ 2 w 47"/>
                <a:gd name="T15" fmla="*/ 18 h 53"/>
                <a:gd name="T16" fmla="*/ 9 w 47"/>
                <a:gd name="T17" fmla="*/ 4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53">
                  <a:moveTo>
                    <a:pt x="9" y="44"/>
                  </a:moveTo>
                  <a:cubicBezTo>
                    <a:pt x="10" y="50"/>
                    <a:pt x="16" y="53"/>
                    <a:pt x="22" y="52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3" y="46"/>
                    <a:pt x="47" y="40"/>
                    <a:pt x="46" y="34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7" y="3"/>
                    <a:pt x="31" y="0"/>
                    <a:pt x="25" y="1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" y="7"/>
                    <a:pt x="0" y="13"/>
                    <a:pt x="2" y="18"/>
                  </a:cubicBezTo>
                  <a:lnTo>
                    <a:pt x="9" y="44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32"/>
            <p:cNvSpPr/>
            <p:nvPr/>
          </p:nvSpPr>
          <p:spPr>
            <a:xfrm>
              <a:off x="1720" y="736"/>
              <a:ext cx="191" cy="145"/>
            </a:xfrm>
            <a:custGeom>
              <a:avLst/>
              <a:gdLst>
                <a:gd name="T0" fmla="*/ 29 w 54"/>
                <a:gd name="T1" fmla="*/ 40 h 41"/>
                <a:gd name="T2" fmla="*/ 44 w 54"/>
                <a:gd name="T3" fmla="*/ 36 h 41"/>
                <a:gd name="T4" fmla="*/ 52 w 54"/>
                <a:gd name="T5" fmla="*/ 23 h 41"/>
                <a:gd name="T6" fmla="*/ 24 w 54"/>
                <a:gd name="T7" fmla="*/ 2 h 41"/>
                <a:gd name="T8" fmla="*/ 9 w 54"/>
                <a:gd name="T9" fmla="*/ 6 h 41"/>
                <a:gd name="T10" fmla="*/ 1 w 54"/>
                <a:gd name="T11" fmla="*/ 19 h 41"/>
                <a:gd name="T12" fmla="*/ 29 w 54"/>
                <a:gd name="T13" fmla="*/ 4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41">
                  <a:moveTo>
                    <a:pt x="29" y="40"/>
                  </a:moveTo>
                  <a:cubicBezTo>
                    <a:pt x="44" y="36"/>
                    <a:pt x="44" y="36"/>
                    <a:pt x="44" y="36"/>
                  </a:cubicBezTo>
                  <a:cubicBezTo>
                    <a:pt x="50" y="34"/>
                    <a:pt x="54" y="30"/>
                    <a:pt x="52" y="23"/>
                  </a:cubicBezTo>
                  <a:cubicBezTo>
                    <a:pt x="50" y="15"/>
                    <a:pt x="30" y="0"/>
                    <a:pt x="24" y="2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3" y="7"/>
                    <a:pt x="0" y="13"/>
                    <a:pt x="1" y="19"/>
                  </a:cubicBezTo>
                  <a:cubicBezTo>
                    <a:pt x="1" y="19"/>
                    <a:pt x="23" y="41"/>
                    <a:pt x="29" y="40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33"/>
            <p:cNvSpPr/>
            <p:nvPr/>
          </p:nvSpPr>
          <p:spPr>
            <a:xfrm>
              <a:off x="1709" y="884"/>
              <a:ext cx="113" cy="85"/>
            </a:xfrm>
            <a:custGeom>
              <a:avLst/>
              <a:gdLst>
                <a:gd name="T0" fmla="*/ 23 w 32"/>
                <a:gd name="T1" fmla="*/ 22 h 24"/>
                <a:gd name="T2" fmla="*/ 31 w 32"/>
                <a:gd name="T3" fmla="*/ 20 h 24"/>
                <a:gd name="T4" fmla="*/ 31 w 32"/>
                <a:gd name="T5" fmla="*/ 20 h 24"/>
                <a:gd name="T6" fmla="*/ 28 w 32"/>
                <a:gd name="T7" fmla="*/ 12 h 24"/>
                <a:gd name="T8" fmla="*/ 9 w 32"/>
                <a:gd name="T9" fmla="*/ 2 h 24"/>
                <a:gd name="T10" fmla="*/ 1 w 32"/>
                <a:gd name="T11" fmla="*/ 4 h 24"/>
                <a:gd name="T12" fmla="*/ 1 w 32"/>
                <a:gd name="T13" fmla="*/ 4 h 24"/>
                <a:gd name="T14" fmla="*/ 4 w 32"/>
                <a:gd name="T15" fmla="*/ 12 h 24"/>
                <a:gd name="T16" fmla="*/ 23 w 32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24">
                  <a:moveTo>
                    <a:pt x="23" y="22"/>
                  </a:moveTo>
                  <a:cubicBezTo>
                    <a:pt x="26" y="24"/>
                    <a:pt x="29" y="23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17"/>
                    <a:pt x="31" y="13"/>
                    <a:pt x="28" y="1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6" y="0"/>
                    <a:pt x="3" y="2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7"/>
                    <a:pt x="1" y="11"/>
                    <a:pt x="4" y="12"/>
                  </a:cubicBezTo>
                  <a:lnTo>
                    <a:pt x="23" y="22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34"/>
            <p:cNvSpPr/>
            <p:nvPr/>
          </p:nvSpPr>
          <p:spPr>
            <a:xfrm>
              <a:off x="1766" y="891"/>
              <a:ext cx="113" cy="81"/>
            </a:xfrm>
            <a:custGeom>
              <a:avLst/>
              <a:gdLst>
                <a:gd name="T0" fmla="*/ 31 w 32"/>
                <a:gd name="T1" fmla="*/ 10 h 23"/>
                <a:gd name="T2" fmla="*/ 15 w 32"/>
                <a:gd name="T3" fmla="*/ 1 h 23"/>
                <a:gd name="T4" fmla="*/ 1 w 32"/>
                <a:gd name="T5" fmla="*/ 13 h 23"/>
                <a:gd name="T6" fmla="*/ 17 w 32"/>
                <a:gd name="T7" fmla="*/ 22 h 23"/>
                <a:gd name="T8" fmla="*/ 31 w 32"/>
                <a:gd name="T9" fmla="*/ 1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3">
                  <a:moveTo>
                    <a:pt x="31" y="10"/>
                  </a:moveTo>
                  <a:cubicBezTo>
                    <a:pt x="31" y="4"/>
                    <a:pt x="23" y="0"/>
                    <a:pt x="15" y="1"/>
                  </a:cubicBezTo>
                  <a:cubicBezTo>
                    <a:pt x="6" y="2"/>
                    <a:pt x="0" y="8"/>
                    <a:pt x="1" y="13"/>
                  </a:cubicBezTo>
                  <a:cubicBezTo>
                    <a:pt x="1" y="19"/>
                    <a:pt x="9" y="23"/>
                    <a:pt x="17" y="22"/>
                  </a:cubicBezTo>
                  <a:cubicBezTo>
                    <a:pt x="26" y="21"/>
                    <a:pt x="32" y="16"/>
                    <a:pt x="31" y="10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35"/>
            <p:cNvSpPr/>
            <p:nvPr/>
          </p:nvSpPr>
          <p:spPr>
            <a:xfrm>
              <a:off x="1642" y="1173"/>
              <a:ext cx="329" cy="156"/>
            </a:xfrm>
            <a:custGeom>
              <a:avLst/>
              <a:gdLst>
                <a:gd name="T0" fmla="*/ 329 w 329"/>
                <a:gd name="T1" fmla="*/ 43 h 156"/>
                <a:gd name="T2" fmla="*/ 14 w 329"/>
                <a:gd name="T3" fmla="*/ 0 h 156"/>
                <a:gd name="T4" fmla="*/ 0 w 329"/>
                <a:gd name="T5" fmla="*/ 110 h 156"/>
                <a:gd name="T6" fmla="*/ 315 w 329"/>
                <a:gd name="T7" fmla="*/ 156 h 156"/>
                <a:gd name="T8" fmla="*/ 329 w 329"/>
                <a:gd name="T9" fmla="*/ 43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156">
                  <a:moveTo>
                    <a:pt x="329" y="43"/>
                  </a:moveTo>
                  <a:lnTo>
                    <a:pt x="14" y="0"/>
                  </a:lnTo>
                  <a:lnTo>
                    <a:pt x="0" y="110"/>
                  </a:lnTo>
                  <a:lnTo>
                    <a:pt x="315" y="156"/>
                  </a:lnTo>
                  <a:lnTo>
                    <a:pt x="329" y="43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36"/>
            <p:cNvSpPr/>
            <p:nvPr/>
          </p:nvSpPr>
          <p:spPr>
            <a:xfrm>
              <a:off x="1911" y="1212"/>
              <a:ext cx="120" cy="120"/>
            </a:xfrm>
            <a:custGeom>
              <a:avLst/>
              <a:gdLst>
                <a:gd name="T0" fmla="*/ 32 w 34"/>
                <a:gd name="T1" fmla="*/ 19 h 34"/>
                <a:gd name="T2" fmla="*/ 19 w 34"/>
                <a:gd name="T3" fmla="*/ 2 h 34"/>
                <a:gd name="T4" fmla="*/ 1 w 34"/>
                <a:gd name="T5" fmla="*/ 15 h 34"/>
                <a:gd name="T6" fmla="*/ 15 w 34"/>
                <a:gd name="T7" fmla="*/ 33 h 34"/>
                <a:gd name="T8" fmla="*/ 32 w 34"/>
                <a:gd name="T9" fmla="*/ 1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4">
                  <a:moveTo>
                    <a:pt x="32" y="19"/>
                  </a:moveTo>
                  <a:cubicBezTo>
                    <a:pt x="34" y="11"/>
                    <a:pt x="28" y="3"/>
                    <a:pt x="19" y="2"/>
                  </a:cubicBezTo>
                  <a:cubicBezTo>
                    <a:pt x="10" y="0"/>
                    <a:pt x="2" y="7"/>
                    <a:pt x="1" y="15"/>
                  </a:cubicBezTo>
                  <a:cubicBezTo>
                    <a:pt x="0" y="24"/>
                    <a:pt x="6" y="32"/>
                    <a:pt x="15" y="33"/>
                  </a:cubicBezTo>
                  <a:cubicBezTo>
                    <a:pt x="23" y="34"/>
                    <a:pt x="31" y="28"/>
                    <a:pt x="32" y="19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37"/>
            <p:cNvSpPr/>
            <p:nvPr/>
          </p:nvSpPr>
          <p:spPr>
            <a:xfrm>
              <a:off x="1599" y="1170"/>
              <a:ext cx="117" cy="120"/>
            </a:xfrm>
            <a:custGeom>
              <a:avLst/>
              <a:gdLst>
                <a:gd name="T0" fmla="*/ 32 w 33"/>
                <a:gd name="T1" fmla="*/ 19 h 34"/>
                <a:gd name="T2" fmla="*/ 18 w 33"/>
                <a:gd name="T3" fmla="*/ 2 h 34"/>
                <a:gd name="T4" fmla="*/ 1 w 33"/>
                <a:gd name="T5" fmla="*/ 15 h 34"/>
                <a:gd name="T6" fmla="*/ 14 w 33"/>
                <a:gd name="T7" fmla="*/ 33 h 34"/>
                <a:gd name="T8" fmla="*/ 32 w 33"/>
                <a:gd name="T9" fmla="*/ 1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4">
                  <a:moveTo>
                    <a:pt x="32" y="19"/>
                  </a:moveTo>
                  <a:cubicBezTo>
                    <a:pt x="33" y="11"/>
                    <a:pt x="27" y="3"/>
                    <a:pt x="18" y="2"/>
                  </a:cubicBezTo>
                  <a:cubicBezTo>
                    <a:pt x="10" y="0"/>
                    <a:pt x="2" y="6"/>
                    <a:pt x="1" y="15"/>
                  </a:cubicBezTo>
                  <a:cubicBezTo>
                    <a:pt x="0" y="24"/>
                    <a:pt x="6" y="32"/>
                    <a:pt x="14" y="33"/>
                  </a:cubicBezTo>
                  <a:cubicBezTo>
                    <a:pt x="23" y="34"/>
                    <a:pt x="31" y="28"/>
                    <a:pt x="32" y="19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38"/>
            <p:cNvSpPr/>
            <p:nvPr/>
          </p:nvSpPr>
          <p:spPr>
            <a:xfrm>
              <a:off x="993" y="926"/>
              <a:ext cx="198" cy="353"/>
            </a:xfrm>
            <a:custGeom>
              <a:avLst/>
              <a:gdLst>
                <a:gd name="T0" fmla="*/ 0 w 198"/>
                <a:gd name="T1" fmla="*/ 325 h 353"/>
                <a:gd name="T2" fmla="*/ 103 w 198"/>
                <a:gd name="T3" fmla="*/ 0 h 353"/>
                <a:gd name="T4" fmla="*/ 198 w 198"/>
                <a:gd name="T5" fmla="*/ 32 h 353"/>
                <a:gd name="T6" fmla="*/ 95 w 198"/>
                <a:gd name="T7" fmla="*/ 353 h 353"/>
                <a:gd name="T8" fmla="*/ 0 w 198"/>
                <a:gd name="T9" fmla="*/ 325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8" h="353">
                  <a:moveTo>
                    <a:pt x="0" y="325"/>
                  </a:moveTo>
                  <a:lnTo>
                    <a:pt x="103" y="0"/>
                  </a:lnTo>
                  <a:lnTo>
                    <a:pt x="198" y="32"/>
                  </a:lnTo>
                  <a:lnTo>
                    <a:pt x="95" y="353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39"/>
            <p:cNvSpPr/>
            <p:nvPr/>
          </p:nvSpPr>
          <p:spPr>
            <a:xfrm>
              <a:off x="979" y="1212"/>
              <a:ext cx="117" cy="124"/>
            </a:xfrm>
            <a:custGeom>
              <a:avLst/>
              <a:gdLst>
                <a:gd name="T0" fmla="*/ 12 w 33"/>
                <a:gd name="T1" fmla="*/ 32 h 35"/>
                <a:gd name="T2" fmla="*/ 3 w 33"/>
                <a:gd name="T3" fmla="*/ 13 h 35"/>
                <a:gd name="T4" fmla="*/ 21 w 33"/>
                <a:gd name="T5" fmla="*/ 2 h 35"/>
                <a:gd name="T6" fmla="*/ 30 w 33"/>
                <a:gd name="T7" fmla="*/ 21 h 35"/>
                <a:gd name="T8" fmla="*/ 12 w 33"/>
                <a:gd name="T9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5">
                  <a:moveTo>
                    <a:pt x="12" y="32"/>
                  </a:moveTo>
                  <a:cubicBezTo>
                    <a:pt x="4" y="30"/>
                    <a:pt x="0" y="21"/>
                    <a:pt x="3" y="13"/>
                  </a:cubicBezTo>
                  <a:cubicBezTo>
                    <a:pt x="6" y="5"/>
                    <a:pt x="14" y="0"/>
                    <a:pt x="21" y="2"/>
                  </a:cubicBezTo>
                  <a:cubicBezTo>
                    <a:pt x="29" y="5"/>
                    <a:pt x="33" y="13"/>
                    <a:pt x="30" y="21"/>
                  </a:cubicBezTo>
                  <a:cubicBezTo>
                    <a:pt x="28" y="30"/>
                    <a:pt x="19" y="35"/>
                    <a:pt x="12" y="32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40"/>
            <p:cNvSpPr/>
            <p:nvPr/>
          </p:nvSpPr>
          <p:spPr>
            <a:xfrm>
              <a:off x="1081" y="789"/>
              <a:ext cx="167" cy="190"/>
            </a:xfrm>
            <a:custGeom>
              <a:avLst/>
              <a:gdLst>
                <a:gd name="T0" fmla="*/ 38 w 47"/>
                <a:gd name="T1" fmla="*/ 44 h 54"/>
                <a:gd name="T2" fmla="*/ 25 w 47"/>
                <a:gd name="T3" fmla="*/ 52 h 54"/>
                <a:gd name="T4" fmla="*/ 9 w 47"/>
                <a:gd name="T5" fmla="*/ 49 h 54"/>
                <a:gd name="T6" fmla="*/ 1 w 47"/>
                <a:gd name="T7" fmla="*/ 35 h 54"/>
                <a:gd name="T8" fmla="*/ 8 w 47"/>
                <a:gd name="T9" fmla="*/ 10 h 54"/>
                <a:gd name="T10" fmla="*/ 22 w 47"/>
                <a:gd name="T11" fmla="*/ 2 h 54"/>
                <a:gd name="T12" fmla="*/ 37 w 47"/>
                <a:gd name="T13" fmla="*/ 6 h 54"/>
                <a:gd name="T14" fmla="*/ 45 w 47"/>
                <a:gd name="T15" fmla="*/ 19 h 54"/>
                <a:gd name="T16" fmla="*/ 38 w 47"/>
                <a:gd name="T17" fmla="*/ 4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54">
                  <a:moveTo>
                    <a:pt x="38" y="44"/>
                  </a:moveTo>
                  <a:cubicBezTo>
                    <a:pt x="37" y="50"/>
                    <a:pt x="31" y="54"/>
                    <a:pt x="25" y="52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3" y="47"/>
                    <a:pt x="0" y="41"/>
                    <a:pt x="1" y="35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0" y="4"/>
                    <a:pt x="16" y="0"/>
                    <a:pt x="22" y="2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43" y="7"/>
                    <a:pt x="47" y="13"/>
                    <a:pt x="45" y="19"/>
                  </a:cubicBezTo>
                  <a:lnTo>
                    <a:pt x="38" y="44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41"/>
            <p:cNvSpPr/>
            <p:nvPr/>
          </p:nvSpPr>
          <p:spPr>
            <a:xfrm>
              <a:off x="1103" y="740"/>
              <a:ext cx="195" cy="144"/>
            </a:xfrm>
            <a:custGeom>
              <a:avLst/>
              <a:gdLst>
                <a:gd name="T0" fmla="*/ 26 w 55"/>
                <a:gd name="T1" fmla="*/ 40 h 41"/>
                <a:gd name="T2" fmla="*/ 11 w 55"/>
                <a:gd name="T3" fmla="*/ 36 h 41"/>
                <a:gd name="T4" fmla="*/ 3 w 55"/>
                <a:gd name="T5" fmla="*/ 22 h 41"/>
                <a:gd name="T6" fmla="*/ 30 w 55"/>
                <a:gd name="T7" fmla="*/ 2 h 41"/>
                <a:gd name="T8" fmla="*/ 46 w 55"/>
                <a:gd name="T9" fmla="*/ 5 h 41"/>
                <a:gd name="T10" fmla="*/ 54 w 55"/>
                <a:gd name="T11" fmla="*/ 19 h 41"/>
                <a:gd name="T12" fmla="*/ 26 w 55"/>
                <a:gd name="T13" fmla="*/ 4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41">
                  <a:moveTo>
                    <a:pt x="26" y="40"/>
                  </a:moveTo>
                  <a:cubicBezTo>
                    <a:pt x="11" y="36"/>
                    <a:pt x="11" y="36"/>
                    <a:pt x="11" y="36"/>
                  </a:cubicBezTo>
                  <a:cubicBezTo>
                    <a:pt x="5" y="34"/>
                    <a:pt x="0" y="29"/>
                    <a:pt x="3" y="22"/>
                  </a:cubicBezTo>
                  <a:cubicBezTo>
                    <a:pt x="5" y="15"/>
                    <a:pt x="24" y="0"/>
                    <a:pt x="30" y="2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52" y="7"/>
                    <a:pt x="55" y="13"/>
                    <a:pt x="54" y="19"/>
                  </a:cubicBezTo>
                  <a:cubicBezTo>
                    <a:pt x="54" y="19"/>
                    <a:pt x="32" y="41"/>
                    <a:pt x="26" y="40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42"/>
            <p:cNvSpPr/>
            <p:nvPr/>
          </p:nvSpPr>
          <p:spPr>
            <a:xfrm>
              <a:off x="1195" y="888"/>
              <a:ext cx="113" cy="84"/>
            </a:xfrm>
            <a:custGeom>
              <a:avLst/>
              <a:gdLst>
                <a:gd name="T0" fmla="*/ 9 w 32"/>
                <a:gd name="T1" fmla="*/ 22 h 24"/>
                <a:gd name="T2" fmla="*/ 1 w 32"/>
                <a:gd name="T3" fmla="*/ 20 h 24"/>
                <a:gd name="T4" fmla="*/ 1 w 32"/>
                <a:gd name="T5" fmla="*/ 20 h 24"/>
                <a:gd name="T6" fmla="*/ 4 w 32"/>
                <a:gd name="T7" fmla="*/ 12 h 24"/>
                <a:gd name="T8" fmla="*/ 23 w 32"/>
                <a:gd name="T9" fmla="*/ 2 h 24"/>
                <a:gd name="T10" fmla="*/ 31 w 32"/>
                <a:gd name="T11" fmla="*/ 4 h 24"/>
                <a:gd name="T12" fmla="*/ 31 w 32"/>
                <a:gd name="T13" fmla="*/ 4 h 24"/>
                <a:gd name="T14" fmla="*/ 28 w 32"/>
                <a:gd name="T15" fmla="*/ 12 h 24"/>
                <a:gd name="T16" fmla="*/ 9 w 32"/>
                <a:gd name="T17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24">
                  <a:moveTo>
                    <a:pt x="9" y="22"/>
                  </a:moveTo>
                  <a:cubicBezTo>
                    <a:pt x="6" y="24"/>
                    <a:pt x="3" y="22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17"/>
                    <a:pt x="1" y="13"/>
                    <a:pt x="4" y="1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6" y="0"/>
                    <a:pt x="29" y="1"/>
                    <a:pt x="31" y="4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2" y="7"/>
                    <a:pt x="31" y="11"/>
                    <a:pt x="28" y="12"/>
                  </a:cubicBezTo>
                  <a:lnTo>
                    <a:pt x="9" y="22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43"/>
            <p:cNvSpPr/>
            <p:nvPr/>
          </p:nvSpPr>
          <p:spPr>
            <a:xfrm>
              <a:off x="1138" y="895"/>
              <a:ext cx="114" cy="81"/>
            </a:xfrm>
            <a:custGeom>
              <a:avLst/>
              <a:gdLst>
                <a:gd name="T0" fmla="*/ 1 w 32"/>
                <a:gd name="T1" fmla="*/ 9 h 23"/>
                <a:gd name="T2" fmla="*/ 17 w 32"/>
                <a:gd name="T3" fmla="*/ 1 h 23"/>
                <a:gd name="T4" fmla="*/ 31 w 32"/>
                <a:gd name="T5" fmla="*/ 13 h 23"/>
                <a:gd name="T6" fmla="*/ 15 w 32"/>
                <a:gd name="T7" fmla="*/ 22 h 23"/>
                <a:gd name="T8" fmla="*/ 1 w 32"/>
                <a:gd name="T9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3">
                  <a:moveTo>
                    <a:pt x="1" y="9"/>
                  </a:moveTo>
                  <a:cubicBezTo>
                    <a:pt x="1" y="4"/>
                    <a:pt x="9" y="0"/>
                    <a:pt x="17" y="1"/>
                  </a:cubicBezTo>
                  <a:cubicBezTo>
                    <a:pt x="25" y="2"/>
                    <a:pt x="32" y="7"/>
                    <a:pt x="31" y="13"/>
                  </a:cubicBezTo>
                  <a:cubicBezTo>
                    <a:pt x="30" y="19"/>
                    <a:pt x="23" y="23"/>
                    <a:pt x="15" y="22"/>
                  </a:cubicBezTo>
                  <a:cubicBezTo>
                    <a:pt x="6" y="21"/>
                    <a:pt x="0" y="15"/>
                    <a:pt x="1" y="9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44"/>
            <p:cNvSpPr/>
            <p:nvPr/>
          </p:nvSpPr>
          <p:spPr>
            <a:xfrm>
              <a:off x="1049" y="1173"/>
              <a:ext cx="330" cy="156"/>
            </a:xfrm>
            <a:custGeom>
              <a:avLst/>
              <a:gdLst>
                <a:gd name="T0" fmla="*/ 0 w 330"/>
                <a:gd name="T1" fmla="*/ 43 h 156"/>
                <a:gd name="T2" fmla="*/ 312 w 330"/>
                <a:gd name="T3" fmla="*/ 0 h 156"/>
                <a:gd name="T4" fmla="*/ 330 w 330"/>
                <a:gd name="T5" fmla="*/ 110 h 156"/>
                <a:gd name="T6" fmla="*/ 15 w 330"/>
                <a:gd name="T7" fmla="*/ 156 h 156"/>
                <a:gd name="T8" fmla="*/ 0 w 330"/>
                <a:gd name="T9" fmla="*/ 43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6">
                  <a:moveTo>
                    <a:pt x="0" y="43"/>
                  </a:moveTo>
                  <a:lnTo>
                    <a:pt x="312" y="0"/>
                  </a:lnTo>
                  <a:lnTo>
                    <a:pt x="330" y="110"/>
                  </a:lnTo>
                  <a:lnTo>
                    <a:pt x="15" y="15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45"/>
            <p:cNvSpPr/>
            <p:nvPr/>
          </p:nvSpPr>
          <p:spPr>
            <a:xfrm>
              <a:off x="989" y="1212"/>
              <a:ext cx="117" cy="120"/>
            </a:xfrm>
            <a:custGeom>
              <a:avLst/>
              <a:gdLst>
                <a:gd name="T0" fmla="*/ 1 w 33"/>
                <a:gd name="T1" fmla="*/ 19 h 34"/>
                <a:gd name="T2" fmla="*/ 15 w 33"/>
                <a:gd name="T3" fmla="*/ 2 h 34"/>
                <a:gd name="T4" fmla="*/ 32 w 33"/>
                <a:gd name="T5" fmla="*/ 15 h 34"/>
                <a:gd name="T6" fmla="*/ 19 w 33"/>
                <a:gd name="T7" fmla="*/ 33 h 34"/>
                <a:gd name="T8" fmla="*/ 1 w 33"/>
                <a:gd name="T9" fmla="*/ 1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4">
                  <a:moveTo>
                    <a:pt x="1" y="19"/>
                  </a:moveTo>
                  <a:cubicBezTo>
                    <a:pt x="0" y="11"/>
                    <a:pt x="6" y="3"/>
                    <a:pt x="15" y="2"/>
                  </a:cubicBezTo>
                  <a:cubicBezTo>
                    <a:pt x="23" y="0"/>
                    <a:pt x="31" y="7"/>
                    <a:pt x="32" y="15"/>
                  </a:cubicBezTo>
                  <a:cubicBezTo>
                    <a:pt x="33" y="24"/>
                    <a:pt x="27" y="32"/>
                    <a:pt x="19" y="33"/>
                  </a:cubicBezTo>
                  <a:cubicBezTo>
                    <a:pt x="10" y="34"/>
                    <a:pt x="2" y="28"/>
                    <a:pt x="1" y="19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46"/>
            <p:cNvSpPr/>
            <p:nvPr/>
          </p:nvSpPr>
          <p:spPr>
            <a:xfrm>
              <a:off x="1301" y="1170"/>
              <a:ext cx="121" cy="120"/>
            </a:xfrm>
            <a:custGeom>
              <a:avLst/>
              <a:gdLst>
                <a:gd name="T0" fmla="*/ 2 w 34"/>
                <a:gd name="T1" fmla="*/ 19 h 34"/>
                <a:gd name="T2" fmla="*/ 15 w 34"/>
                <a:gd name="T3" fmla="*/ 2 h 34"/>
                <a:gd name="T4" fmla="*/ 33 w 34"/>
                <a:gd name="T5" fmla="*/ 15 h 34"/>
                <a:gd name="T6" fmla="*/ 19 w 34"/>
                <a:gd name="T7" fmla="*/ 33 h 34"/>
                <a:gd name="T8" fmla="*/ 2 w 34"/>
                <a:gd name="T9" fmla="*/ 1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4">
                  <a:moveTo>
                    <a:pt x="2" y="19"/>
                  </a:moveTo>
                  <a:cubicBezTo>
                    <a:pt x="0" y="11"/>
                    <a:pt x="6" y="3"/>
                    <a:pt x="15" y="2"/>
                  </a:cubicBezTo>
                  <a:cubicBezTo>
                    <a:pt x="24" y="0"/>
                    <a:pt x="32" y="6"/>
                    <a:pt x="33" y="15"/>
                  </a:cubicBezTo>
                  <a:cubicBezTo>
                    <a:pt x="34" y="24"/>
                    <a:pt x="28" y="32"/>
                    <a:pt x="19" y="33"/>
                  </a:cubicBezTo>
                  <a:cubicBezTo>
                    <a:pt x="11" y="34"/>
                    <a:pt x="3" y="28"/>
                    <a:pt x="2" y="19"/>
                  </a:cubicBezTo>
                  <a:close/>
                </a:path>
              </a:pathLst>
            </a:custGeom>
            <a:solidFill>
              <a:srgbClr val="FF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Oval 47"/>
            <p:cNvSpPr>
              <a:spLocks noChangeArrowheads="1"/>
            </p:cNvSpPr>
            <p:nvPr/>
          </p:nvSpPr>
          <p:spPr>
            <a:xfrm>
              <a:off x="1252" y="817"/>
              <a:ext cx="166" cy="134"/>
            </a:xfrm>
            <a:prstGeom prst="ellipse">
              <a:avLst/>
            </a:prstGeom>
            <a:solidFill>
              <a:srgbClr val="4857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Oval 48"/>
            <p:cNvSpPr>
              <a:spLocks noChangeArrowheads="1"/>
            </p:cNvSpPr>
            <p:nvPr/>
          </p:nvSpPr>
          <p:spPr>
            <a:xfrm>
              <a:off x="1436" y="817"/>
              <a:ext cx="163" cy="134"/>
            </a:xfrm>
            <a:prstGeom prst="ellipse">
              <a:avLst/>
            </a:prstGeom>
            <a:solidFill>
              <a:srgbClr val="4857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Rectangle 49"/>
            <p:cNvSpPr>
              <a:spLocks noChangeArrowheads="1"/>
            </p:cNvSpPr>
            <p:nvPr/>
          </p:nvSpPr>
          <p:spPr>
            <a:xfrm>
              <a:off x="1223" y="849"/>
              <a:ext cx="514" cy="39"/>
            </a:xfrm>
            <a:prstGeom prst="rect">
              <a:avLst/>
            </a:prstGeom>
            <a:solidFill>
              <a:srgbClr val="4857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179387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4086007" y="1395800"/>
            <a:ext cx="4051064" cy="4051064"/>
          </a:xfrm>
          <a:prstGeom prst="ellipse">
            <a:avLst/>
          </a:prstGeom>
          <a:noFill/>
          <a:ln w="38100">
            <a:solidFill>
              <a:srgbClr val="8DD9D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"/>
          <p:cNvGrpSpPr/>
          <p:nvPr/>
        </p:nvGrpSpPr>
        <p:grpSpPr>
          <a:xfrm>
            <a:off x="2534117" y="543682"/>
            <a:ext cx="1181833" cy="1181833"/>
            <a:chOff x="3642" y="1962"/>
            <a:chExt cx="396" cy="396"/>
          </a:xfrm>
        </p:grpSpPr>
        <p:sp>
          <p:nvSpPr>
            <p:cNvPr id="7" name="AutoShape 3"/>
            <p:cNvSpPr>
              <a:spLocks noChangeAspect="1" noChangeArrowheads="1" noTextEdit="1"/>
            </p:cNvSpPr>
            <p:nvPr/>
          </p:nvSpPr>
          <p:spPr>
            <a:xfrm>
              <a:off x="3642" y="1962"/>
              <a:ext cx="396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>
            <a:xfrm>
              <a:off x="3642" y="1962"/>
              <a:ext cx="398" cy="398"/>
            </a:xfrm>
            <a:prstGeom prst="ellipse">
              <a:avLst/>
            </a:prstGeom>
            <a:solidFill>
              <a:srgbClr val="A9DB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/>
            <p:cNvSpPr/>
            <p:nvPr/>
          </p:nvSpPr>
          <p:spPr>
            <a:xfrm>
              <a:off x="3743" y="2171"/>
              <a:ext cx="86" cy="103"/>
            </a:xfrm>
            <a:custGeom>
              <a:avLst/>
              <a:gdLst>
                <a:gd name="T0" fmla="*/ 2 w 36"/>
                <a:gd name="T1" fmla="*/ 43 h 43"/>
                <a:gd name="T2" fmla="*/ 4 w 36"/>
                <a:gd name="T3" fmla="*/ 41 h 43"/>
                <a:gd name="T4" fmla="*/ 4 w 36"/>
                <a:gd name="T5" fmla="*/ 4 h 43"/>
                <a:gd name="T6" fmla="*/ 34 w 36"/>
                <a:gd name="T7" fmla="*/ 4 h 43"/>
                <a:gd name="T8" fmla="*/ 36 w 36"/>
                <a:gd name="T9" fmla="*/ 2 h 43"/>
                <a:gd name="T10" fmla="*/ 34 w 36"/>
                <a:gd name="T11" fmla="*/ 0 h 43"/>
                <a:gd name="T12" fmla="*/ 2 w 36"/>
                <a:gd name="T13" fmla="*/ 0 h 43"/>
                <a:gd name="T14" fmla="*/ 0 w 36"/>
                <a:gd name="T15" fmla="*/ 2 h 43"/>
                <a:gd name="T16" fmla="*/ 0 w 36"/>
                <a:gd name="T17" fmla="*/ 41 h 43"/>
                <a:gd name="T18" fmla="*/ 2 w 36"/>
                <a:gd name="T1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43">
                  <a:moveTo>
                    <a:pt x="2" y="43"/>
                  </a:moveTo>
                  <a:cubicBezTo>
                    <a:pt x="3" y="43"/>
                    <a:pt x="4" y="42"/>
                    <a:pt x="4" y="4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4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2"/>
                    <a:pt x="1" y="43"/>
                    <a:pt x="2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/>
            <p:cNvSpPr/>
            <p:nvPr/>
          </p:nvSpPr>
          <p:spPr>
            <a:xfrm>
              <a:off x="3750" y="2056"/>
              <a:ext cx="34" cy="112"/>
            </a:xfrm>
            <a:custGeom>
              <a:avLst/>
              <a:gdLst>
                <a:gd name="T0" fmla="*/ 7 w 14"/>
                <a:gd name="T1" fmla="*/ 47 h 47"/>
                <a:gd name="T2" fmla="*/ 14 w 14"/>
                <a:gd name="T3" fmla="*/ 40 h 47"/>
                <a:gd name="T4" fmla="*/ 14 w 14"/>
                <a:gd name="T5" fmla="*/ 7 h 47"/>
                <a:gd name="T6" fmla="*/ 7 w 14"/>
                <a:gd name="T7" fmla="*/ 0 h 47"/>
                <a:gd name="T8" fmla="*/ 0 w 14"/>
                <a:gd name="T9" fmla="*/ 7 h 47"/>
                <a:gd name="T10" fmla="*/ 0 w 14"/>
                <a:gd name="T11" fmla="*/ 40 h 47"/>
                <a:gd name="T12" fmla="*/ 7 w 14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47">
                  <a:moveTo>
                    <a:pt x="7" y="47"/>
                  </a:moveTo>
                  <a:cubicBezTo>
                    <a:pt x="11" y="47"/>
                    <a:pt x="14" y="43"/>
                    <a:pt x="14" y="40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3" y="47"/>
                    <a:pt x="7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/>
            <p:cNvSpPr/>
            <p:nvPr/>
          </p:nvSpPr>
          <p:spPr>
            <a:xfrm>
              <a:off x="3796" y="2048"/>
              <a:ext cx="136" cy="226"/>
            </a:xfrm>
            <a:custGeom>
              <a:avLst/>
              <a:gdLst>
                <a:gd name="T0" fmla="*/ 54 w 57"/>
                <a:gd name="T1" fmla="*/ 69 h 94"/>
                <a:gd name="T2" fmla="*/ 57 w 57"/>
                <a:gd name="T3" fmla="*/ 67 h 94"/>
                <a:gd name="T4" fmla="*/ 57 w 57"/>
                <a:gd name="T5" fmla="*/ 50 h 94"/>
                <a:gd name="T6" fmla="*/ 39 w 57"/>
                <a:gd name="T7" fmla="*/ 23 h 94"/>
                <a:gd name="T8" fmla="*/ 35 w 57"/>
                <a:gd name="T9" fmla="*/ 23 h 94"/>
                <a:gd name="T10" fmla="*/ 42 w 57"/>
                <a:gd name="T11" fmla="*/ 12 h 94"/>
                <a:gd name="T12" fmla="*/ 29 w 57"/>
                <a:gd name="T13" fmla="*/ 0 h 94"/>
                <a:gd name="T14" fmla="*/ 17 w 57"/>
                <a:gd name="T15" fmla="*/ 12 h 94"/>
                <a:gd name="T16" fmla="*/ 29 w 57"/>
                <a:gd name="T17" fmla="*/ 25 h 94"/>
                <a:gd name="T18" fmla="*/ 33 w 57"/>
                <a:gd name="T19" fmla="*/ 24 h 94"/>
                <a:gd name="T20" fmla="*/ 25 w 57"/>
                <a:gd name="T21" fmla="*/ 33 h 94"/>
                <a:gd name="T22" fmla="*/ 6 w 57"/>
                <a:gd name="T23" fmla="*/ 37 h 94"/>
                <a:gd name="T24" fmla="*/ 1 w 57"/>
                <a:gd name="T25" fmla="*/ 40 h 94"/>
                <a:gd name="T26" fmla="*/ 1 w 57"/>
                <a:gd name="T27" fmla="*/ 46 h 94"/>
                <a:gd name="T28" fmla="*/ 7 w 57"/>
                <a:gd name="T29" fmla="*/ 51 h 94"/>
                <a:gd name="T30" fmla="*/ 9 w 57"/>
                <a:gd name="T31" fmla="*/ 51 h 94"/>
                <a:gd name="T32" fmla="*/ 21 w 57"/>
                <a:gd name="T33" fmla="*/ 48 h 94"/>
                <a:gd name="T34" fmla="*/ 21 w 57"/>
                <a:gd name="T35" fmla="*/ 51 h 94"/>
                <a:gd name="T36" fmla="*/ 21 w 57"/>
                <a:gd name="T37" fmla="*/ 56 h 94"/>
                <a:gd name="T38" fmla="*/ 5 w 57"/>
                <a:gd name="T39" fmla="*/ 83 h 94"/>
                <a:gd name="T40" fmla="*/ 7 w 57"/>
                <a:gd name="T41" fmla="*/ 93 h 94"/>
                <a:gd name="T42" fmla="*/ 11 w 57"/>
                <a:gd name="T43" fmla="*/ 94 h 94"/>
                <a:gd name="T44" fmla="*/ 16 w 57"/>
                <a:gd name="T45" fmla="*/ 91 h 94"/>
                <a:gd name="T46" fmla="*/ 30 w 57"/>
                <a:gd name="T47" fmla="*/ 69 h 94"/>
                <a:gd name="T48" fmla="*/ 54 w 57"/>
                <a:gd name="T49" fmla="*/ 6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" h="94">
                  <a:moveTo>
                    <a:pt x="54" y="69"/>
                  </a:moveTo>
                  <a:cubicBezTo>
                    <a:pt x="56" y="69"/>
                    <a:pt x="57" y="68"/>
                    <a:pt x="57" y="67"/>
                  </a:cubicBezTo>
                  <a:cubicBezTo>
                    <a:pt x="57" y="50"/>
                    <a:pt x="57" y="50"/>
                    <a:pt x="57" y="50"/>
                  </a:cubicBezTo>
                  <a:cubicBezTo>
                    <a:pt x="57" y="35"/>
                    <a:pt x="49" y="23"/>
                    <a:pt x="39" y="23"/>
                  </a:cubicBezTo>
                  <a:cubicBezTo>
                    <a:pt x="37" y="23"/>
                    <a:pt x="36" y="23"/>
                    <a:pt x="35" y="23"/>
                  </a:cubicBezTo>
                  <a:cubicBezTo>
                    <a:pt x="39" y="21"/>
                    <a:pt x="42" y="17"/>
                    <a:pt x="42" y="12"/>
                  </a:cubicBezTo>
                  <a:cubicBezTo>
                    <a:pt x="42" y="5"/>
                    <a:pt x="36" y="0"/>
                    <a:pt x="29" y="0"/>
                  </a:cubicBezTo>
                  <a:cubicBezTo>
                    <a:pt x="22" y="0"/>
                    <a:pt x="17" y="5"/>
                    <a:pt x="17" y="12"/>
                  </a:cubicBezTo>
                  <a:cubicBezTo>
                    <a:pt x="17" y="19"/>
                    <a:pt x="22" y="25"/>
                    <a:pt x="29" y="25"/>
                  </a:cubicBezTo>
                  <a:cubicBezTo>
                    <a:pt x="30" y="25"/>
                    <a:pt x="31" y="25"/>
                    <a:pt x="33" y="24"/>
                  </a:cubicBezTo>
                  <a:cubicBezTo>
                    <a:pt x="30" y="26"/>
                    <a:pt x="27" y="29"/>
                    <a:pt x="25" y="33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4" y="38"/>
                    <a:pt x="2" y="39"/>
                    <a:pt x="1" y="40"/>
                  </a:cubicBezTo>
                  <a:cubicBezTo>
                    <a:pt x="0" y="42"/>
                    <a:pt x="0" y="44"/>
                    <a:pt x="1" y="46"/>
                  </a:cubicBezTo>
                  <a:cubicBezTo>
                    <a:pt x="1" y="49"/>
                    <a:pt x="4" y="51"/>
                    <a:pt x="7" y="51"/>
                  </a:cubicBezTo>
                  <a:cubicBezTo>
                    <a:pt x="8" y="51"/>
                    <a:pt x="8" y="51"/>
                    <a:pt x="9" y="51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9"/>
                    <a:pt x="21" y="50"/>
                    <a:pt x="21" y="51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3" y="87"/>
                    <a:pt x="4" y="91"/>
                    <a:pt x="7" y="93"/>
                  </a:cubicBezTo>
                  <a:cubicBezTo>
                    <a:pt x="8" y="94"/>
                    <a:pt x="9" y="94"/>
                    <a:pt x="11" y="94"/>
                  </a:cubicBezTo>
                  <a:cubicBezTo>
                    <a:pt x="13" y="94"/>
                    <a:pt x="15" y="93"/>
                    <a:pt x="16" y="91"/>
                  </a:cubicBezTo>
                  <a:cubicBezTo>
                    <a:pt x="30" y="69"/>
                    <a:pt x="30" y="69"/>
                    <a:pt x="30" y="69"/>
                  </a:cubicBezTo>
                  <a:lnTo>
                    <a:pt x="54" y="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/>
            <p:cNvSpPr/>
            <p:nvPr/>
          </p:nvSpPr>
          <p:spPr>
            <a:xfrm>
              <a:off x="3875" y="2147"/>
              <a:ext cx="77" cy="86"/>
            </a:xfrm>
            <a:custGeom>
              <a:avLst/>
              <a:gdLst>
                <a:gd name="T0" fmla="*/ 32 w 32"/>
                <a:gd name="T1" fmla="*/ 34 h 36"/>
                <a:gd name="T2" fmla="*/ 32 w 32"/>
                <a:gd name="T3" fmla="*/ 2 h 36"/>
                <a:gd name="T4" fmla="*/ 30 w 32"/>
                <a:gd name="T5" fmla="*/ 0 h 36"/>
                <a:gd name="T6" fmla="*/ 28 w 32"/>
                <a:gd name="T7" fmla="*/ 2 h 36"/>
                <a:gd name="T8" fmla="*/ 28 w 32"/>
                <a:gd name="T9" fmla="*/ 32 h 36"/>
                <a:gd name="T10" fmla="*/ 2 w 32"/>
                <a:gd name="T11" fmla="*/ 32 h 36"/>
                <a:gd name="T12" fmla="*/ 0 w 32"/>
                <a:gd name="T13" fmla="*/ 34 h 36"/>
                <a:gd name="T14" fmla="*/ 2 w 32"/>
                <a:gd name="T15" fmla="*/ 36 h 36"/>
                <a:gd name="T16" fmla="*/ 30 w 32"/>
                <a:gd name="T17" fmla="*/ 36 h 36"/>
                <a:gd name="T18" fmla="*/ 32 w 32"/>
                <a:gd name="T19" fmla="*/ 3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6">
                  <a:moveTo>
                    <a:pt x="32" y="34"/>
                  </a:move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ubicBezTo>
                    <a:pt x="29" y="0"/>
                    <a:pt x="28" y="1"/>
                    <a:pt x="28" y="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1" y="32"/>
                    <a:pt x="0" y="33"/>
                    <a:pt x="0" y="34"/>
                  </a:cubicBezTo>
                  <a:cubicBezTo>
                    <a:pt x="0" y="35"/>
                    <a:pt x="1" y="36"/>
                    <a:pt x="2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1" y="36"/>
                    <a:pt x="32" y="35"/>
                    <a:pt x="32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" name="组合"/>
          <p:cNvGrpSpPr/>
          <p:nvPr/>
        </p:nvGrpSpPr>
        <p:grpSpPr>
          <a:xfrm>
            <a:off x="6555261" y="2368820"/>
            <a:ext cx="809625" cy="2160587"/>
            <a:chOff x="3975" y="1421"/>
            <a:chExt cx="510" cy="1361"/>
          </a:xfrm>
        </p:grpSpPr>
        <p:sp>
          <p:nvSpPr>
            <p:cNvPr id="16" name="AutoShape 11"/>
            <p:cNvSpPr>
              <a:spLocks noChangeAspect="1" noChangeArrowheads="1" noTextEdit="1"/>
            </p:cNvSpPr>
            <p:nvPr/>
          </p:nvSpPr>
          <p:spPr>
            <a:xfrm>
              <a:off x="3975" y="1421"/>
              <a:ext cx="510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3"/>
            <p:cNvSpPr/>
            <p:nvPr/>
          </p:nvSpPr>
          <p:spPr>
            <a:xfrm>
              <a:off x="4188" y="2459"/>
              <a:ext cx="122" cy="140"/>
            </a:xfrm>
            <a:custGeom>
              <a:avLst/>
              <a:gdLst>
                <a:gd name="T0" fmla="*/ 41 w 51"/>
                <a:gd name="T1" fmla="*/ 29 h 59"/>
                <a:gd name="T2" fmla="*/ 27 w 51"/>
                <a:gd name="T3" fmla="*/ 48 h 59"/>
                <a:gd name="T4" fmla="*/ 9 w 51"/>
                <a:gd name="T5" fmla="*/ 57 h 59"/>
                <a:gd name="T6" fmla="*/ 0 w 51"/>
                <a:gd name="T7" fmla="*/ 48 h 59"/>
                <a:gd name="T8" fmla="*/ 17 w 51"/>
                <a:gd name="T9" fmla="*/ 7 h 59"/>
                <a:gd name="T10" fmla="*/ 39 w 51"/>
                <a:gd name="T11" fmla="*/ 1 h 59"/>
                <a:gd name="T12" fmla="*/ 45 w 51"/>
                <a:gd name="T13" fmla="*/ 4 h 59"/>
                <a:gd name="T14" fmla="*/ 45 w 51"/>
                <a:gd name="T15" fmla="*/ 3 h 59"/>
                <a:gd name="T16" fmla="*/ 41 w 51"/>
                <a:gd name="T17" fmla="*/ 2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59">
                  <a:moveTo>
                    <a:pt x="41" y="29"/>
                  </a:moveTo>
                  <a:cubicBezTo>
                    <a:pt x="37" y="36"/>
                    <a:pt x="33" y="42"/>
                    <a:pt x="27" y="48"/>
                  </a:cubicBezTo>
                  <a:cubicBezTo>
                    <a:pt x="23" y="52"/>
                    <a:pt x="16" y="59"/>
                    <a:pt x="9" y="57"/>
                  </a:cubicBezTo>
                  <a:cubicBezTo>
                    <a:pt x="3" y="56"/>
                    <a:pt x="0" y="54"/>
                    <a:pt x="0" y="48"/>
                  </a:cubicBezTo>
                  <a:cubicBezTo>
                    <a:pt x="0" y="36"/>
                    <a:pt x="9" y="15"/>
                    <a:pt x="17" y="7"/>
                  </a:cubicBezTo>
                  <a:cubicBezTo>
                    <a:pt x="24" y="1"/>
                    <a:pt x="30" y="0"/>
                    <a:pt x="39" y="1"/>
                  </a:cubicBezTo>
                  <a:cubicBezTo>
                    <a:pt x="41" y="2"/>
                    <a:pt x="44" y="3"/>
                    <a:pt x="45" y="4"/>
                  </a:cubicBezTo>
                  <a:cubicBezTo>
                    <a:pt x="45" y="4"/>
                    <a:pt x="45" y="3"/>
                    <a:pt x="45" y="3"/>
                  </a:cubicBezTo>
                  <a:cubicBezTo>
                    <a:pt x="51" y="11"/>
                    <a:pt x="45" y="22"/>
                    <a:pt x="41" y="29"/>
                  </a:cubicBezTo>
                </a:path>
              </a:pathLst>
            </a:custGeom>
            <a:solidFill>
              <a:srgbClr val="3256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4"/>
            <p:cNvSpPr/>
            <p:nvPr/>
          </p:nvSpPr>
          <p:spPr>
            <a:xfrm>
              <a:off x="4164" y="2065"/>
              <a:ext cx="134" cy="444"/>
            </a:xfrm>
            <a:custGeom>
              <a:avLst/>
              <a:gdLst>
                <a:gd name="T0" fmla="*/ 39 w 56"/>
                <a:gd name="T1" fmla="*/ 187 h 187"/>
                <a:gd name="T2" fmla="*/ 25 w 56"/>
                <a:gd name="T3" fmla="*/ 177 h 187"/>
                <a:gd name="T4" fmla="*/ 2 w 56"/>
                <a:gd name="T5" fmla="*/ 109 h 187"/>
                <a:gd name="T6" fmla="*/ 1 w 56"/>
                <a:gd name="T7" fmla="*/ 101 h 187"/>
                <a:gd name="T8" fmla="*/ 20 w 56"/>
                <a:gd name="T9" fmla="*/ 13 h 187"/>
                <a:gd name="T10" fmla="*/ 38 w 56"/>
                <a:gd name="T11" fmla="*/ 2 h 187"/>
                <a:gd name="T12" fmla="*/ 49 w 56"/>
                <a:gd name="T13" fmla="*/ 19 h 187"/>
                <a:gd name="T14" fmla="*/ 31 w 56"/>
                <a:gd name="T15" fmla="*/ 103 h 187"/>
                <a:gd name="T16" fmla="*/ 53 w 56"/>
                <a:gd name="T17" fmla="*/ 167 h 187"/>
                <a:gd name="T18" fmla="*/ 44 w 56"/>
                <a:gd name="T19" fmla="*/ 186 h 187"/>
                <a:gd name="T20" fmla="*/ 39 w 56"/>
                <a:gd name="T21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" h="187">
                  <a:moveTo>
                    <a:pt x="39" y="187"/>
                  </a:moveTo>
                  <a:cubicBezTo>
                    <a:pt x="33" y="187"/>
                    <a:pt x="28" y="183"/>
                    <a:pt x="25" y="177"/>
                  </a:cubicBezTo>
                  <a:cubicBezTo>
                    <a:pt x="2" y="109"/>
                    <a:pt x="2" y="109"/>
                    <a:pt x="2" y="109"/>
                  </a:cubicBezTo>
                  <a:cubicBezTo>
                    <a:pt x="1" y="106"/>
                    <a:pt x="0" y="104"/>
                    <a:pt x="1" y="101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2" y="5"/>
                    <a:pt x="29" y="0"/>
                    <a:pt x="38" y="2"/>
                  </a:cubicBezTo>
                  <a:cubicBezTo>
                    <a:pt x="46" y="3"/>
                    <a:pt x="51" y="11"/>
                    <a:pt x="49" y="19"/>
                  </a:cubicBezTo>
                  <a:cubicBezTo>
                    <a:pt x="31" y="103"/>
                    <a:pt x="31" y="103"/>
                    <a:pt x="31" y="103"/>
                  </a:cubicBezTo>
                  <a:cubicBezTo>
                    <a:pt x="53" y="167"/>
                    <a:pt x="53" y="167"/>
                    <a:pt x="53" y="167"/>
                  </a:cubicBezTo>
                  <a:cubicBezTo>
                    <a:pt x="56" y="175"/>
                    <a:pt x="52" y="183"/>
                    <a:pt x="44" y="186"/>
                  </a:cubicBezTo>
                  <a:cubicBezTo>
                    <a:pt x="43" y="186"/>
                    <a:pt x="41" y="187"/>
                    <a:pt x="39" y="187"/>
                  </a:cubicBezTo>
                  <a:close/>
                </a:path>
              </a:pathLst>
            </a:custGeom>
            <a:solidFill>
              <a:srgbClr val="FD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"/>
            <p:cNvSpPr/>
            <p:nvPr/>
          </p:nvSpPr>
          <p:spPr>
            <a:xfrm>
              <a:off x="4217" y="2426"/>
              <a:ext cx="67" cy="90"/>
            </a:xfrm>
            <a:custGeom>
              <a:avLst/>
              <a:gdLst>
                <a:gd name="T0" fmla="*/ 25 w 28"/>
                <a:gd name="T1" fmla="*/ 2 h 38"/>
                <a:gd name="T2" fmla="*/ 0 w 28"/>
                <a:gd name="T3" fmla="*/ 17 h 38"/>
                <a:gd name="T4" fmla="*/ 5 w 28"/>
                <a:gd name="T5" fmla="*/ 32 h 38"/>
                <a:gd name="T6" fmla="*/ 18 w 28"/>
                <a:gd name="T7" fmla="*/ 37 h 38"/>
                <a:gd name="T8" fmla="*/ 24 w 28"/>
                <a:gd name="T9" fmla="*/ 16 h 38"/>
                <a:gd name="T10" fmla="*/ 28 w 28"/>
                <a:gd name="T11" fmla="*/ 6 h 38"/>
                <a:gd name="T12" fmla="*/ 28 w 28"/>
                <a:gd name="T13" fmla="*/ 1 h 38"/>
                <a:gd name="T14" fmla="*/ 25 w 28"/>
                <a:gd name="T15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8">
                  <a:moveTo>
                    <a:pt x="25" y="2"/>
                  </a:moveTo>
                  <a:cubicBezTo>
                    <a:pt x="23" y="12"/>
                    <a:pt x="10" y="20"/>
                    <a:pt x="0" y="17"/>
                  </a:cubicBezTo>
                  <a:cubicBezTo>
                    <a:pt x="0" y="19"/>
                    <a:pt x="3" y="31"/>
                    <a:pt x="5" y="32"/>
                  </a:cubicBezTo>
                  <a:cubicBezTo>
                    <a:pt x="8" y="34"/>
                    <a:pt x="14" y="38"/>
                    <a:pt x="18" y="37"/>
                  </a:cubicBezTo>
                  <a:cubicBezTo>
                    <a:pt x="23" y="36"/>
                    <a:pt x="22" y="21"/>
                    <a:pt x="24" y="16"/>
                  </a:cubicBezTo>
                  <a:cubicBezTo>
                    <a:pt x="25" y="13"/>
                    <a:pt x="28" y="10"/>
                    <a:pt x="28" y="6"/>
                  </a:cubicBezTo>
                  <a:cubicBezTo>
                    <a:pt x="28" y="4"/>
                    <a:pt x="28" y="3"/>
                    <a:pt x="28" y="1"/>
                  </a:cubicBezTo>
                  <a:cubicBezTo>
                    <a:pt x="28" y="1"/>
                    <a:pt x="26" y="0"/>
                    <a:pt x="25" y="2"/>
                  </a:cubicBezTo>
                  <a:close/>
                </a:path>
              </a:pathLst>
            </a:custGeom>
            <a:solidFill>
              <a:srgbClr val="3256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6"/>
            <p:cNvSpPr/>
            <p:nvPr/>
          </p:nvSpPr>
          <p:spPr>
            <a:xfrm>
              <a:off x="4190" y="2478"/>
              <a:ext cx="113" cy="121"/>
            </a:xfrm>
            <a:custGeom>
              <a:avLst/>
              <a:gdLst>
                <a:gd name="T0" fmla="*/ 40 w 47"/>
                <a:gd name="T1" fmla="*/ 21 h 51"/>
                <a:gd name="T2" fmla="*/ 46 w 47"/>
                <a:gd name="T3" fmla="*/ 0 h 51"/>
                <a:gd name="T4" fmla="*/ 40 w 47"/>
                <a:gd name="T5" fmla="*/ 16 h 51"/>
                <a:gd name="T6" fmla="*/ 25 w 47"/>
                <a:gd name="T7" fmla="*/ 36 h 51"/>
                <a:gd name="T8" fmla="*/ 5 w 47"/>
                <a:gd name="T9" fmla="*/ 46 h 51"/>
                <a:gd name="T10" fmla="*/ 0 w 47"/>
                <a:gd name="T11" fmla="*/ 44 h 51"/>
                <a:gd name="T12" fmla="*/ 8 w 47"/>
                <a:gd name="T13" fmla="*/ 49 h 51"/>
                <a:gd name="T14" fmla="*/ 26 w 47"/>
                <a:gd name="T15" fmla="*/ 40 h 51"/>
                <a:gd name="T16" fmla="*/ 40 w 47"/>
                <a:gd name="T17" fmla="*/ 2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51">
                  <a:moveTo>
                    <a:pt x="40" y="21"/>
                  </a:moveTo>
                  <a:cubicBezTo>
                    <a:pt x="43" y="15"/>
                    <a:pt x="47" y="7"/>
                    <a:pt x="46" y="0"/>
                  </a:cubicBezTo>
                  <a:cubicBezTo>
                    <a:pt x="45" y="6"/>
                    <a:pt x="42" y="12"/>
                    <a:pt x="40" y="16"/>
                  </a:cubicBezTo>
                  <a:cubicBezTo>
                    <a:pt x="36" y="23"/>
                    <a:pt x="31" y="30"/>
                    <a:pt x="25" y="36"/>
                  </a:cubicBezTo>
                  <a:cubicBezTo>
                    <a:pt x="20" y="41"/>
                    <a:pt x="13" y="49"/>
                    <a:pt x="5" y="46"/>
                  </a:cubicBezTo>
                  <a:cubicBezTo>
                    <a:pt x="3" y="46"/>
                    <a:pt x="1" y="45"/>
                    <a:pt x="0" y="44"/>
                  </a:cubicBezTo>
                  <a:cubicBezTo>
                    <a:pt x="1" y="47"/>
                    <a:pt x="4" y="48"/>
                    <a:pt x="8" y="49"/>
                  </a:cubicBezTo>
                  <a:cubicBezTo>
                    <a:pt x="15" y="51"/>
                    <a:pt x="22" y="44"/>
                    <a:pt x="26" y="40"/>
                  </a:cubicBezTo>
                  <a:cubicBezTo>
                    <a:pt x="32" y="34"/>
                    <a:pt x="36" y="28"/>
                    <a:pt x="40" y="21"/>
                  </a:cubicBezTo>
                </a:path>
              </a:pathLst>
            </a:custGeom>
            <a:solidFill>
              <a:srgbClr val="1C39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7"/>
            <p:cNvSpPr/>
            <p:nvPr/>
          </p:nvSpPr>
          <p:spPr>
            <a:xfrm>
              <a:off x="4217" y="2507"/>
              <a:ext cx="33" cy="23"/>
            </a:xfrm>
            <a:custGeom>
              <a:avLst/>
              <a:gdLst>
                <a:gd name="T0" fmla="*/ 13 w 14"/>
                <a:gd name="T1" fmla="*/ 10 h 10"/>
                <a:gd name="T2" fmla="*/ 13 w 14"/>
                <a:gd name="T3" fmla="*/ 10 h 10"/>
                <a:gd name="T4" fmla="*/ 12 w 14"/>
                <a:gd name="T5" fmla="*/ 9 h 10"/>
                <a:gd name="T6" fmla="*/ 9 w 14"/>
                <a:gd name="T7" fmla="*/ 5 h 10"/>
                <a:gd name="T8" fmla="*/ 1 w 14"/>
                <a:gd name="T9" fmla="*/ 4 h 10"/>
                <a:gd name="T10" fmla="*/ 0 w 14"/>
                <a:gd name="T11" fmla="*/ 3 h 10"/>
                <a:gd name="T12" fmla="*/ 0 w 14"/>
                <a:gd name="T13" fmla="*/ 2 h 10"/>
                <a:gd name="T14" fmla="*/ 11 w 14"/>
                <a:gd name="T15" fmla="*/ 3 h 10"/>
                <a:gd name="T16" fmla="*/ 14 w 14"/>
                <a:gd name="T17" fmla="*/ 9 h 10"/>
                <a:gd name="T18" fmla="*/ 13 w 14"/>
                <a:gd name="T1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0">
                  <a:moveTo>
                    <a:pt x="13" y="1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13" y="10"/>
                    <a:pt x="12" y="10"/>
                    <a:pt x="12" y="9"/>
                  </a:cubicBezTo>
                  <a:cubicBezTo>
                    <a:pt x="12" y="7"/>
                    <a:pt x="11" y="5"/>
                    <a:pt x="9" y="5"/>
                  </a:cubicBezTo>
                  <a:cubicBezTo>
                    <a:pt x="7" y="3"/>
                    <a:pt x="3" y="3"/>
                    <a:pt x="1" y="4"/>
                  </a:cubicBezTo>
                  <a:cubicBezTo>
                    <a:pt x="1" y="4"/>
                    <a:pt x="0" y="4"/>
                    <a:pt x="0" y="3"/>
                  </a:cubicBezTo>
                  <a:cubicBezTo>
                    <a:pt x="0" y="3"/>
                    <a:pt x="0" y="2"/>
                    <a:pt x="0" y="2"/>
                  </a:cubicBezTo>
                  <a:cubicBezTo>
                    <a:pt x="3" y="0"/>
                    <a:pt x="7" y="1"/>
                    <a:pt x="11" y="3"/>
                  </a:cubicBezTo>
                  <a:cubicBezTo>
                    <a:pt x="13" y="5"/>
                    <a:pt x="14" y="7"/>
                    <a:pt x="14" y="9"/>
                  </a:cubicBezTo>
                  <a:cubicBezTo>
                    <a:pt x="14" y="10"/>
                    <a:pt x="14" y="10"/>
                    <a:pt x="13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8"/>
            <p:cNvSpPr/>
            <p:nvPr/>
          </p:nvSpPr>
          <p:spPr>
            <a:xfrm>
              <a:off x="4210" y="2521"/>
              <a:ext cx="36" cy="24"/>
            </a:xfrm>
            <a:custGeom>
              <a:avLst/>
              <a:gdLst>
                <a:gd name="T0" fmla="*/ 14 w 15"/>
                <a:gd name="T1" fmla="*/ 10 h 10"/>
                <a:gd name="T2" fmla="*/ 14 w 15"/>
                <a:gd name="T3" fmla="*/ 10 h 10"/>
                <a:gd name="T4" fmla="*/ 13 w 15"/>
                <a:gd name="T5" fmla="*/ 9 h 10"/>
                <a:gd name="T6" fmla="*/ 10 w 15"/>
                <a:gd name="T7" fmla="*/ 4 h 10"/>
                <a:gd name="T8" fmla="*/ 1 w 15"/>
                <a:gd name="T9" fmla="*/ 3 h 10"/>
                <a:gd name="T10" fmla="*/ 0 w 15"/>
                <a:gd name="T11" fmla="*/ 3 h 10"/>
                <a:gd name="T12" fmla="*/ 1 w 15"/>
                <a:gd name="T13" fmla="*/ 1 h 10"/>
                <a:gd name="T14" fmla="*/ 11 w 15"/>
                <a:gd name="T15" fmla="*/ 3 h 10"/>
                <a:gd name="T16" fmla="*/ 15 w 15"/>
                <a:gd name="T17" fmla="*/ 9 h 10"/>
                <a:gd name="T18" fmla="*/ 14 w 15"/>
                <a:gd name="T1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0">
                  <a:moveTo>
                    <a:pt x="14" y="10"/>
                  </a:moveTo>
                  <a:cubicBezTo>
                    <a:pt x="14" y="10"/>
                    <a:pt x="14" y="10"/>
                    <a:pt x="14" y="10"/>
                  </a:cubicBezTo>
                  <a:cubicBezTo>
                    <a:pt x="13" y="10"/>
                    <a:pt x="13" y="9"/>
                    <a:pt x="13" y="9"/>
                  </a:cubicBezTo>
                  <a:cubicBezTo>
                    <a:pt x="13" y="7"/>
                    <a:pt x="11" y="5"/>
                    <a:pt x="10" y="4"/>
                  </a:cubicBezTo>
                  <a:cubicBezTo>
                    <a:pt x="7" y="3"/>
                    <a:pt x="4" y="2"/>
                    <a:pt x="1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3" y="0"/>
                    <a:pt x="8" y="1"/>
                    <a:pt x="11" y="3"/>
                  </a:cubicBezTo>
                  <a:cubicBezTo>
                    <a:pt x="13" y="4"/>
                    <a:pt x="15" y="6"/>
                    <a:pt x="15" y="9"/>
                  </a:cubicBezTo>
                  <a:cubicBezTo>
                    <a:pt x="15" y="9"/>
                    <a:pt x="14" y="10"/>
                    <a:pt x="14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9"/>
            <p:cNvSpPr/>
            <p:nvPr/>
          </p:nvSpPr>
          <p:spPr>
            <a:xfrm>
              <a:off x="4202" y="2535"/>
              <a:ext cx="36" cy="21"/>
            </a:xfrm>
            <a:custGeom>
              <a:avLst/>
              <a:gdLst>
                <a:gd name="T0" fmla="*/ 14 w 15"/>
                <a:gd name="T1" fmla="*/ 9 h 9"/>
                <a:gd name="T2" fmla="*/ 14 w 15"/>
                <a:gd name="T3" fmla="*/ 9 h 9"/>
                <a:gd name="T4" fmla="*/ 13 w 15"/>
                <a:gd name="T5" fmla="*/ 8 h 9"/>
                <a:gd name="T6" fmla="*/ 10 w 15"/>
                <a:gd name="T7" fmla="*/ 4 h 9"/>
                <a:gd name="T8" fmla="*/ 2 w 15"/>
                <a:gd name="T9" fmla="*/ 3 h 9"/>
                <a:gd name="T10" fmla="*/ 0 w 15"/>
                <a:gd name="T11" fmla="*/ 2 h 9"/>
                <a:gd name="T12" fmla="*/ 1 w 15"/>
                <a:gd name="T13" fmla="*/ 1 h 9"/>
                <a:gd name="T14" fmla="*/ 11 w 15"/>
                <a:gd name="T15" fmla="*/ 2 h 9"/>
                <a:gd name="T16" fmla="*/ 15 w 15"/>
                <a:gd name="T17" fmla="*/ 8 h 9"/>
                <a:gd name="T18" fmla="*/ 14 w 15"/>
                <a:gd name="T1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9">
                  <a:moveTo>
                    <a:pt x="14" y="9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13" y="9"/>
                    <a:pt x="13" y="9"/>
                    <a:pt x="13" y="8"/>
                  </a:cubicBezTo>
                  <a:cubicBezTo>
                    <a:pt x="13" y="6"/>
                    <a:pt x="11" y="5"/>
                    <a:pt x="10" y="4"/>
                  </a:cubicBezTo>
                  <a:cubicBezTo>
                    <a:pt x="7" y="2"/>
                    <a:pt x="4" y="2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3" y="4"/>
                    <a:pt x="15" y="6"/>
                    <a:pt x="15" y="8"/>
                  </a:cubicBezTo>
                  <a:cubicBezTo>
                    <a:pt x="15" y="9"/>
                    <a:pt x="14" y="9"/>
                    <a:pt x="14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0"/>
            <p:cNvSpPr/>
            <p:nvPr/>
          </p:nvSpPr>
          <p:spPr>
            <a:xfrm>
              <a:off x="4195" y="2547"/>
              <a:ext cx="36" cy="24"/>
            </a:xfrm>
            <a:custGeom>
              <a:avLst/>
              <a:gdLst>
                <a:gd name="T0" fmla="*/ 14 w 15"/>
                <a:gd name="T1" fmla="*/ 10 h 10"/>
                <a:gd name="T2" fmla="*/ 14 w 15"/>
                <a:gd name="T3" fmla="*/ 10 h 10"/>
                <a:gd name="T4" fmla="*/ 13 w 15"/>
                <a:gd name="T5" fmla="*/ 9 h 10"/>
                <a:gd name="T6" fmla="*/ 10 w 15"/>
                <a:gd name="T7" fmla="*/ 4 h 10"/>
                <a:gd name="T8" fmla="*/ 2 w 15"/>
                <a:gd name="T9" fmla="*/ 3 h 10"/>
                <a:gd name="T10" fmla="*/ 0 w 15"/>
                <a:gd name="T11" fmla="*/ 3 h 10"/>
                <a:gd name="T12" fmla="*/ 1 w 15"/>
                <a:gd name="T13" fmla="*/ 1 h 10"/>
                <a:gd name="T14" fmla="*/ 11 w 15"/>
                <a:gd name="T15" fmla="*/ 3 h 10"/>
                <a:gd name="T16" fmla="*/ 15 w 15"/>
                <a:gd name="T17" fmla="*/ 9 h 10"/>
                <a:gd name="T18" fmla="*/ 14 w 15"/>
                <a:gd name="T1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0">
                  <a:moveTo>
                    <a:pt x="14" y="10"/>
                  </a:moveTo>
                  <a:cubicBezTo>
                    <a:pt x="14" y="10"/>
                    <a:pt x="14" y="10"/>
                    <a:pt x="14" y="10"/>
                  </a:cubicBezTo>
                  <a:cubicBezTo>
                    <a:pt x="13" y="10"/>
                    <a:pt x="13" y="10"/>
                    <a:pt x="13" y="9"/>
                  </a:cubicBezTo>
                  <a:cubicBezTo>
                    <a:pt x="13" y="7"/>
                    <a:pt x="11" y="5"/>
                    <a:pt x="10" y="4"/>
                  </a:cubicBezTo>
                  <a:cubicBezTo>
                    <a:pt x="7" y="3"/>
                    <a:pt x="4" y="2"/>
                    <a:pt x="2" y="3"/>
                  </a:cubicBezTo>
                  <a:cubicBezTo>
                    <a:pt x="1" y="3"/>
                    <a:pt x="1" y="3"/>
                    <a:pt x="0" y="3"/>
                  </a:cubicBezTo>
                  <a:cubicBezTo>
                    <a:pt x="0" y="2"/>
                    <a:pt x="0" y="2"/>
                    <a:pt x="1" y="1"/>
                  </a:cubicBezTo>
                  <a:cubicBezTo>
                    <a:pt x="4" y="0"/>
                    <a:pt x="8" y="1"/>
                    <a:pt x="11" y="3"/>
                  </a:cubicBezTo>
                  <a:cubicBezTo>
                    <a:pt x="13" y="4"/>
                    <a:pt x="15" y="7"/>
                    <a:pt x="15" y="9"/>
                  </a:cubicBezTo>
                  <a:cubicBezTo>
                    <a:pt x="15" y="10"/>
                    <a:pt x="14" y="10"/>
                    <a:pt x="14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1"/>
            <p:cNvSpPr/>
            <p:nvPr/>
          </p:nvSpPr>
          <p:spPr>
            <a:xfrm>
              <a:off x="3973" y="2200"/>
              <a:ext cx="74" cy="233"/>
            </a:xfrm>
            <a:custGeom>
              <a:avLst/>
              <a:gdLst>
                <a:gd name="T0" fmla="*/ 26 w 31"/>
                <a:gd name="T1" fmla="*/ 98 h 98"/>
                <a:gd name="T2" fmla="*/ 7 w 31"/>
                <a:gd name="T3" fmla="*/ 96 h 98"/>
                <a:gd name="T4" fmla="*/ 0 w 31"/>
                <a:gd name="T5" fmla="*/ 88 h 98"/>
                <a:gd name="T6" fmla="*/ 13 w 31"/>
                <a:gd name="T7" fmla="*/ 0 h 98"/>
                <a:gd name="T8" fmla="*/ 31 w 31"/>
                <a:gd name="T9" fmla="*/ 2 h 98"/>
                <a:gd name="T10" fmla="*/ 26 w 31"/>
                <a:gd name="T11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98">
                  <a:moveTo>
                    <a:pt x="26" y="98"/>
                  </a:moveTo>
                  <a:cubicBezTo>
                    <a:pt x="7" y="96"/>
                    <a:pt x="7" y="96"/>
                    <a:pt x="7" y="96"/>
                  </a:cubicBezTo>
                  <a:cubicBezTo>
                    <a:pt x="3" y="96"/>
                    <a:pt x="0" y="92"/>
                    <a:pt x="0" y="88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31" y="2"/>
                    <a:pt x="31" y="2"/>
                    <a:pt x="31" y="2"/>
                  </a:cubicBezTo>
                  <a:lnTo>
                    <a:pt x="26" y="98"/>
                  </a:lnTo>
                  <a:close/>
                </a:path>
              </a:pathLst>
            </a:custGeom>
            <a:solidFill>
              <a:srgbClr val="A81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2"/>
            <p:cNvSpPr/>
            <p:nvPr/>
          </p:nvSpPr>
          <p:spPr>
            <a:xfrm>
              <a:off x="4035" y="2160"/>
              <a:ext cx="91" cy="273"/>
            </a:xfrm>
            <a:custGeom>
              <a:avLst/>
              <a:gdLst>
                <a:gd name="T0" fmla="*/ 0 w 38"/>
                <a:gd name="T1" fmla="*/ 115 h 115"/>
                <a:gd name="T2" fmla="*/ 29 w 38"/>
                <a:gd name="T3" fmla="*/ 98 h 115"/>
                <a:gd name="T4" fmla="*/ 33 w 38"/>
                <a:gd name="T5" fmla="*/ 92 h 115"/>
                <a:gd name="T6" fmla="*/ 38 w 38"/>
                <a:gd name="T7" fmla="*/ 0 h 115"/>
                <a:gd name="T8" fmla="*/ 5 w 38"/>
                <a:gd name="T9" fmla="*/ 19 h 115"/>
                <a:gd name="T10" fmla="*/ 0 w 38"/>
                <a:gd name="T11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15">
                  <a:moveTo>
                    <a:pt x="0" y="115"/>
                  </a:moveTo>
                  <a:cubicBezTo>
                    <a:pt x="29" y="98"/>
                    <a:pt x="29" y="98"/>
                    <a:pt x="29" y="98"/>
                  </a:cubicBezTo>
                  <a:cubicBezTo>
                    <a:pt x="31" y="97"/>
                    <a:pt x="33" y="95"/>
                    <a:pt x="33" y="92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5" y="19"/>
                    <a:pt x="5" y="19"/>
                    <a:pt x="5" y="19"/>
                  </a:cubicBezTo>
                  <a:lnTo>
                    <a:pt x="0" y="115"/>
                  </a:lnTo>
                  <a:close/>
                </a:path>
              </a:pathLst>
            </a:custGeom>
            <a:solidFill>
              <a:srgbClr val="9414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3"/>
            <p:cNvSpPr/>
            <p:nvPr/>
          </p:nvSpPr>
          <p:spPr>
            <a:xfrm>
              <a:off x="4004" y="2160"/>
              <a:ext cx="122" cy="45"/>
            </a:xfrm>
            <a:custGeom>
              <a:avLst/>
              <a:gdLst>
                <a:gd name="T0" fmla="*/ 0 w 122"/>
                <a:gd name="T1" fmla="*/ 40 h 45"/>
                <a:gd name="T2" fmla="*/ 62 w 122"/>
                <a:gd name="T3" fmla="*/ 4 h 45"/>
                <a:gd name="T4" fmla="*/ 122 w 122"/>
                <a:gd name="T5" fmla="*/ 0 h 45"/>
                <a:gd name="T6" fmla="*/ 43 w 122"/>
                <a:gd name="T7" fmla="*/ 45 h 45"/>
                <a:gd name="T8" fmla="*/ 0 w 122"/>
                <a:gd name="T9" fmla="*/ 4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45">
                  <a:moveTo>
                    <a:pt x="0" y="40"/>
                  </a:moveTo>
                  <a:lnTo>
                    <a:pt x="62" y="4"/>
                  </a:lnTo>
                  <a:lnTo>
                    <a:pt x="122" y="0"/>
                  </a:lnTo>
                  <a:lnTo>
                    <a:pt x="43" y="4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DE6A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4"/>
            <p:cNvSpPr/>
            <p:nvPr/>
          </p:nvSpPr>
          <p:spPr>
            <a:xfrm>
              <a:off x="4073" y="2141"/>
              <a:ext cx="22" cy="38"/>
            </a:xfrm>
            <a:custGeom>
              <a:avLst/>
              <a:gdLst>
                <a:gd name="T0" fmla="*/ 1 w 9"/>
                <a:gd name="T1" fmla="*/ 0 h 16"/>
                <a:gd name="T2" fmla="*/ 8 w 9"/>
                <a:gd name="T3" fmla="*/ 13 h 16"/>
                <a:gd name="T4" fmla="*/ 2 w 9"/>
                <a:gd name="T5" fmla="*/ 15 h 16"/>
                <a:gd name="T6" fmla="*/ 0 w 9"/>
                <a:gd name="T7" fmla="*/ 3 h 16"/>
                <a:gd name="T8" fmla="*/ 1 w 9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6">
                  <a:moveTo>
                    <a:pt x="1" y="0"/>
                  </a:moveTo>
                  <a:cubicBezTo>
                    <a:pt x="1" y="0"/>
                    <a:pt x="9" y="3"/>
                    <a:pt x="8" y="13"/>
                  </a:cubicBezTo>
                  <a:cubicBezTo>
                    <a:pt x="8" y="13"/>
                    <a:pt x="6" y="16"/>
                    <a:pt x="2" y="15"/>
                  </a:cubicBezTo>
                  <a:cubicBezTo>
                    <a:pt x="2" y="15"/>
                    <a:pt x="5" y="7"/>
                    <a:pt x="0" y="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9414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5"/>
            <p:cNvSpPr/>
            <p:nvPr/>
          </p:nvSpPr>
          <p:spPr>
            <a:xfrm>
              <a:off x="4042" y="1882"/>
              <a:ext cx="144" cy="233"/>
            </a:xfrm>
            <a:custGeom>
              <a:avLst/>
              <a:gdLst>
                <a:gd name="T0" fmla="*/ 38 w 144"/>
                <a:gd name="T1" fmla="*/ 233 h 233"/>
                <a:gd name="T2" fmla="*/ 0 w 144"/>
                <a:gd name="T3" fmla="*/ 204 h 233"/>
                <a:gd name="T4" fmla="*/ 101 w 144"/>
                <a:gd name="T5" fmla="*/ 0 h 233"/>
                <a:gd name="T6" fmla="*/ 144 w 144"/>
                <a:gd name="T7" fmla="*/ 33 h 233"/>
                <a:gd name="T8" fmla="*/ 38 w 144"/>
                <a:gd name="T9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233">
                  <a:moveTo>
                    <a:pt x="38" y="233"/>
                  </a:moveTo>
                  <a:lnTo>
                    <a:pt x="0" y="204"/>
                  </a:lnTo>
                  <a:lnTo>
                    <a:pt x="101" y="0"/>
                  </a:lnTo>
                  <a:lnTo>
                    <a:pt x="144" y="33"/>
                  </a:lnTo>
                  <a:lnTo>
                    <a:pt x="38" y="233"/>
                  </a:lnTo>
                  <a:close/>
                </a:path>
              </a:pathLst>
            </a:custGeom>
            <a:solidFill>
              <a:srgbClr val="FD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>
            <a:xfrm>
              <a:off x="4265" y="1773"/>
              <a:ext cx="57" cy="73"/>
            </a:xfrm>
            <a:prstGeom prst="rect">
              <a:avLst/>
            </a:prstGeom>
            <a:solidFill>
              <a:srgbClr val="FD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7"/>
            <p:cNvSpPr/>
            <p:nvPr/>
          </p:nvSpPr>
          <p:spPr>
            <a:xfrm>
              <a:off x="4155" y="1449"/>
              <a:ext cx="265" cy="321"/>
            </a:xfrm>
            <a:custGeom>
              <a:avLst/>
              <a:gdLst>
                <a:gd name="T0" fmla="*/ 61 w 111"/>
                <a:gd name="T1" fmla="*/ 135 h 135"/>
                <a:gd name="T2" fmla="*/ 54 w 111"/>
                <a:gd name="T3" fmla="*/ 135 h 135"/>
                <a:gd name="T4" fmla="*/ 10 w 111"/>
                <a:gd name="T5" fmla="*/ 101 h 135"/>
                <a:gd name="T6" fmla="*/ 1 w 111"/>
                <a:gd name="T7" fmla="*/ 42 h 135"/>
                <a:gd name="T8" fmla="*/ 15 w 111"/>
                <a:gd name="T9" fmla="*/ 26 h 135"/>
                <a:gd name="T10" fmla="*/ 52 w 111"/>
                <a:gd name="T11" fmla="*/ 0 h 135"/>
                <a:gd name="T12" fmla="*/ 110 w 111"/>
                <a:gd name="T13" fmla="*/ 55 h 135"/>
                <a:gd name="T14" fmla="*/ 106 w 111"/>
                <a:gd name="T15" fmla="*/ 80 h 135"/>
                <a:gd name="T16" fmla="*/ 100 w 111"/>
                <a:gd name="T17" fmla="*/ 112 h 135"/>
                <a:gd name="T18" fmla="*/ 61 w 111"/>
                <a:gd name="T19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135">
                  <a:moveTo>
                    <a:pt x="61" y="135"/>
                  </a:moveTo>
                  <a:cubicBezTo>
                    <a:pt x="54" y="135"/>
                    <a:pt x="54" y="135"/>
                    <a:pt x="54" y="135"/>
                  </a:cubicBezTo>
                  <a:cubicBezTo>
                    <a:pt x="40" y="125"/>
                    <a:pt x="10" y="131"/>
                    <a:pt x="10" y="10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0" y="33"/>
                    <a:pt x="6" y="26"/>
                    <a:pt x="15" y="26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9" y="0"/>
                    <a:pt x="111" y="48"/>
                    <a:pt x="110" y="55"/>
                  </a:cubicBezTo>
                  <a:cubicBezTo>
                    <a:pt x="106" y="80"/>
                    <a:pt x="106" y="80"/>
                    <a:pt x="106" y="80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76" y="130"/>
                    <a:pt x="61" y="135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8"/>
            <p:cNvSpPr/>
            <p:nvPr/>
          </p:nvSpPr>
          <p:spPr>
            <a:xfrm>
              <a:off x="4171" y="1492"/>
              <a:ext cx="209" cy="302"/>
            </a:xfrm>
            <a:custGeom>
              <a:avLst/>
              <a:gdLst>
                <a:gd name="T0" fmla="*/ 0 w 87"/>
                <a:gd name="T1" fmla="*/ 40 h 127"/>
                <a:gd name="T2" fmla="*/ 0 w 87"/>
                <a:gd name="T3" fmla="*/ 81 h 127"/>
                <a:gd name="T4" fmla="*/ 41 w 87"/>
                <a:gd name="T5" fmla="*/ 126 h 127"/>
                <a:gd name="T6" fmla="*/ 87 w 87"/>
                <a:gd name="T7" fmla="*/ 82 h 127"/>
                <a:gd name="T8" fmla="*/ 87 w 87"/>
                <a:gd name="T9" fmla="*/ 32 h 127"/>
                <a:gd name="T10" fmla="*/ 5 w 87"/>
                <a:gd name="T11" fmla="*/ 20 h 127"/>
                <a:gd name="T12" fmla="*/ 0 w 87"/>
                <a:gd name="T13" fmla="*/ 4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127">
                  <a:moveTo>
                    <a:pt x="0" y="40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104"/>
                    <a:pt x="18" y="125"/>
                    <a:pt x="41" y="126"/>
                  </a:cubicBezTo>
                  <a:cubicBezTo>
                    <a:pt x="66" y="127"/>
                    <a:pt x="87" y="107"/>
                    <a:pt x="87" y="82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75" y="3"/>
                    <a:pt x="20" y="0"/>
                    <a:pt x="5" y="20"/>
                  </a:cubicBezTo>
                  <a:cubicBezTo>
                    <a:pt x="1" y="26"/>
                    <a:pt x="0" y="33"/>
                    <a:pt x="0" y="40"/>
                  </a:cubicBezTo>
                  <a:close/>
                </a:path>
              </a:pathLst>
            </a:custGeom>
            <a:solidFill>
              <a:srgbClr val="FD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29"/>
            <p:cNvSpPr/>
            <p:nvPr/>
          </p:nvSpPr>
          <p:spPr>
            <a:xfrm>
              <a:off x="4370" y="1616"/>
              <a:ext cx="38" cy="73"/>
            </a:xfrm>
            <a:custGeom>
              <a:avLst/>
              <a:gdLst>
                <a:gd name="T0" fmla="*/ 0 w 16"/>
                <a:gd name="T1" fmla="*/ 3 h 31"/>
                <a:gd name="T2" fmla="*/ 0 w 16"/>
                <a:gd name="T3" fmla="*/ 29 h 31"/>
                <a:gd name="T4" fmla="*/ 11 w 16"/>
                <a:gd name="T5" fmla="*/ 25 h 31"/>
                <a:gd name="T6" fmla="*/ 15 w 16"/>
                <a:gd name="T7" fmla="*/ 8 h 31"/>
                <a:gd name="T8" fmla="*/ 5 w 16"/>
                <a:gd name="T9" fmla="*/ 2 h 31"/>
                <a:gd name="T10" fmla="*/ 0 w 16"/>
                <a:gd name="T11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1">
                  <a:moveTo>
                    <a:pt x="0" y="3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9" y="31"/>
                    <a:pt x="11" y="25"/>
                  </a:cubicBezTo>
                  <a:cubicBezTo>
                    <a:pt x="13" y="22"/>
                    <a:pt x="14" y="14"/>
                    <a:pt x="15" y="8"/>
                  </a:cubicBezTo>
                  <a:cubicBezTo>
                    <a:pt x="16" y="3"/>
                    <a:pt x="10" y="0"/>
                    <a:pt x="5" y="2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D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0"/>
            <p:cNvSpPr/>
            <p:nvPr/>
          </p:nvSpPr>
          <p:spPr>
            <a:xfrm>
              <a:off x="4207" y="1704"/>
              <a:ext cx="106" cy="52"/>
            </a:xfrm>
            <a:custGeom>
              <a:avLst/>
              <a:gdLst>
                <a:gd name="T0" fmla="*/ 0 w 44"/>
                <a:gd name="T1" fmla="*/ 3 h 22"/>
                <a:gd name="T2" fmla="*/ 44 w 44"/>
                <a:gd name="T3" fmla="*/ 0 h 22"/>
                <a:gd name="T4" fmla="*/ 23 w 44"/>
                <a:gd name="T5" fmla="*/ 21 h 22"/>
                <a:gd name="T6" fmla="*/ 0 w 44"/>
                <a:gd name="T7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22">
                  <a:moveTo>
                    <a:pt x="0" y="3"/>
                  </a:moveTo>
                  <a:cubicBezTo>
                    <a:pt x="0" y="3"/>
                    <a:pt x="22" y="2"/>
                    <a:pt x="44" y="0"/>
                  </a:cubicBezTo>
                  <a:cubicBezTo>
                    <a:pt x="44" y="0"/>
                    <a:pt x="43" y="18"/>
                    <a:pt x="23" y="21"/>
                  </a:cubicBezTo>
                  <a:cubicBezTo>
                    <a:pt x="23" y="21"/>
                    <a:pt x="1" y="22"/>
                    <a:pt x="0" y="3"/>
                  </a:cubicBezTo>
                  <a:close/>
                </a:path>
              </a:pathLst>
            </a:custGeom>
            <a:solidFill>
              <a:srgbClr val="C177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1"/>
            <p:cNvSpPr/>
            <p:nvPr/>
          </p:nvSpPr>
          <p:spPr>
            <a:xfrm>
              <a:off x="4353" y="1590"/>
              <a:ext cx="34" cy="76"/>
            </a:xfrm>
            <a:custGeom>
              <a:avLst/>
              <a:gdLst>
                <a:gd name="T0" fmla="*/ 34 w 34"/>
                <a:gd name="T1" fmla="*/ 0 h 76"/>
                <a:gd name="T2" fmla="*/ 27 w 34"/>
                <a:gd name="T3" fmla="*/ 76 h 76"/>
                <a:gd name="T4" fmla="*/ 10 w 34"/>
                <a:gd name="T5" fmla="*/ 73 h 76"/>
                <a:gd name="T6" fmla="*/ 0 w 34"/>
                <a:gd name="T7" fmla="*/ 0 h 76"/>
                <a:gd name="T8" fmla="*/ 34 w 34"/>
                <a:gd name="T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76">
                  <a:moveTo>
                    <a:pt x="34" y="0"/>
                  </a:moveTo>
                  <a:lnTo>
                    <a:pt x="27" y="76"/>
                  </a:lnTo>
                  <a:lnTo>
                    <a:pt x="10" y="73"/>
                  </a:lnTo>
                  <a:lnTo>
                    <a:pt x="0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2"/>
            <p:cNvSpPr/>
            <p:nvPr/>
          </p:nvSpPr>
          <p:spPr>
            <a:xfrm>
              <a:off x="4152" y="1421"/>
              <a:ext cx="266" cy="166"/>
            </a:xfrm>
            <a:custGeom>
              <a:avLst/>
              <a:gdLst>
                <a:gd name="T0" fmla="*/ 65 w 111"/>
                <a:gd name="T1" fmla="*/ 6 h 70"/>
                <a:gd name="T2" fmla="*/ 59 w 111"/>
                <a:gd name="T3" fmla="*/ 6 h 70"/>
                <a:gd name="T4" fmla="*/ 59 w 111"/>
                <a:gd name="T5" fmla="*/ 5 h 70"/>
                <a:gd name="T6" fmla="*/ 54 w 111"/>
                <a:gd name="T7" fmla="*/ 0 h 70"/>
                <a:gd name="T8" fmla="*/ 50 w 111"/>
                <a:gd name="T9" fmla="*/ 5 h 70"/>
                <a:gd name="T10" fmla="*/ 50 w 111"/>
                <a:gd name="T11" fmla="*/ 6 h 70"/>
                <a:gd name="T12" fmla="*/ 46 w 111"/>
                <a:gd name="T13" fmla="*/ 6 h 70"/>
                <a:gd name="T14" fmla="*/ 0 w 111"/>
                <a:gd name="T15" fmla="*/ 56 h 70"/>
                <a:gd name="T16" fmla="*/ 0 w 111"/>
                <a:gd name="T17" fmla="*/ 70 h 70"/>
                <a:gd name="T18" fmla="*/ 111 w 111"/>
                <a:gd name="T19" fmla="*/ 70 h 70"/>
                <a:gd name="T20" fmla="*/ 111 w 111"/>
                <a:gd name="T21" fmla="*/ 56 h 70"/>
                <a:gd name="T22" fmla="*/ 65 w 111"/>
                <a:gd name="T23" fmla="*/ 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70">
                  <a:moveTo>
                    <a:pt x="65" y="6"/>
                  </a:moveTo>
                  <a:cubicBezTo>
                    <a:pt x="59" y="6"/>
                    <a:pt x="59" y="6"/>
                    <a:pt x="59" y="6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9" y="3"/>
                    <a:pt x="57" y="0"/>
                    <a:pt x="54" y="0"/>
                  </a:cubicBezTo>
                  <a:cubicBezTo>
                    <a:pt x="52" y="0"/>
                    <a:pt x="50" y="3"/>
                    <a:pt x="50" y="5"/>
                  </a:cubicBezTo>
                  <a:cubicBezTo>
                    <a:pt x="50" y="5"/>
                    <a:pt x="50" y="5"/>
                    <a:pt x="50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21" y="6"/>
                    <a:pt x="0" y="28"/>
                    <a:pt x="0" y="56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11" y="70"/>
                    <a:pt x="111" y="70"/>
                    <a:pt x="111" y="70"/>
                  </a:cubicBezTo>
                  <a:cubicBezTo>
                    <a:pt x="111" y="56"/>
                    <a:pt x="111" y="56"/>
                    <a:pt x="111" y="56"/>
                  </a:cubicBezTo>
                  <a:cubicBezTo>
                    <a:pt x="111" y="28"/>
                    <a:pt x="91" y="6"/>
                    <a:pt x="65" y="6"/>
                  </a:cubicBezTo>
                  <a:close/>
                </a:path>
              </a:pathLst>
            </a:custGeom>
            <a:solidFill>
              <a:srgbClr val="5184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3"/>
            <p:cNvSpPr/>
            <p:nvPr/>
          </p:nvSpPr>
          <p:spPr>
            <a:xfrm>
              <a:off x="4138" y="1549"/>
              <a:ext cx="280" cy="62"/>
            </a:xfrm>
            <a:custGeom>
              <a:avLst/>
              <a:gdLst>
                <a:gd name="T0" fmla="*/ 78 w 117"/>
                <a:gd name="T1" fmla="*/ 26 h 26"/>
                <a:gd name="T2" fmla="*/ 7 w 117"/>
                <a:gd name="T3" fmla="*/ 26 h 26"/>
                <a:gd name="T4" fmla="*/ 5 w 117"/>
                <a:gd name="T5" fmla="*/ 17 h 26"/>
                <a:gd name="T6" fmla="*/ 6 w 117"/>
                <a:gd name="T7" fmla="*/ 16 h 26"/>
                <a:gd name="T8" fmla="*/ 117 w 117"/>
                <a:gd name="T9" fmla="*/ 16 h 26"/>
                <a:gd name="T10" fmla="*/ 117 w 117"/>
                <a:gd name="T11" fmla="*/ 16 h 26"/>
                <a:gd name="T12" fmla="*/ 78 w 117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26">
                  <a:moveTo>
                    <a:pt x="78" y="26"/>
                  </a:moveTo>
                  <a:cubicBezTo>
                    <a:pt x="7" y="26"/>
                    <a:pt x="7" y="26"/>
                    <a:pt x="7" y="26"/>
                  </a:cubicBezTo>
                  <a:cubicBezTo>
                    <a:pt x="2" y="26"/>
                    <a:pt x="0" y="19"/>
                    <a:pt x="5" y="17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27" y="0"/>
                    <a:pt x="79" y="5"/>
                    <a:pt x="117" y="16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05" y="23"/>
                    <a:pt x="92" y="26"/>
                    <a:pt x="78" y="26"/>
                  </a:cubicBezTo>
                  <a:close/>
                </a:path>
              </a:pathLst>
            </a:custGeom>
            <a:solidFill>
              <a:srgbClr val="5F9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4"/>
            <p:cNvSpPr/>
            <p:nvPr/>
          </p:nvSpPr>
          <p:spPr>
            <a:xfrm>
              <a:off x="4222" y="2112"/>
              <a:ext cx="198" cy="580"/>
            </a:xfrm>
            <a:custGeom>
              <a:avLst/>
              <a:gdLst>
                <a:gd name="T0" fmla="*/ 17 w 83"/>
                <a:gd name="T1" fmla="*/ 244 h 244"/>
                <a:gd name="T2" fmla="*/ 13 w 83"/>
                <a:gd name="T3" fmla="*/ 244 h 244"/>
                <a:gd name="T4" fmla="*/ 2 w 83"/>
                <a:gd name="T5" fmla="*/ 226 h 244"/>
                <a:gd name="T6" fmla="*/ 52 w 83"/>
                <a:gd name="T7" fmla="*/ 13 h 244"/>
                <a:gd name="T8" fmla="*/ 70 w 83"/>
                <a:gd name="T9" fmla="*/ 2 h 244"/>
                <a:gd name="T10" fmla="*/ 81 w 83"/>
                <a:gd name="T11" fmla="*/ 20 h 244"/>
                <a:gd name="T12" fmla="*/ 31 w 83"/>
                <a:gd name="T13" fmla="*/ 233 h 244"/>
                <a:gd name="T14" fmla="*/ 17 w 83"/>
                <a:gd name="T15" fmla="*/ 24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" h="244">
                  <a:moveTo>
                    <a:pt x="17" y="244"/>
                  </a:moveTo>
                  <a:cubicBezTo>
                    <a:pt x="16" y="244"/>
                    <a:pt x="14" y="244"/>
                    <a:pt x="13" y="244"/>
                  </a:cubicBezTo>
                  <a:cubicBezTo>
                    <a:pt x="5" y="242"/>
                    <a:pt x="0" y="234"/>
                    <a:pt x="2" y="226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4" y="5"/>
                    <a:pt x="62" y="0"/>
                    <a:pt x="70" y="2"/>
                  </a:cubicBezTo>
                  <a:cubicBezTo>
                    <a:pt x="78" y="4"/>
                    <a:pt x="83" y="12"/>
                    <a:pt x="81" y="20"/>
                  </a:cubicBezTo>
                  <a:cubicBezTo>
                    <a:pt x="31" y="233"/>
                    <a:pt x="31" y="233"/>
                    <a:pt x="31" y="233"/>
                  </a:cubicBezTo>
                  <a:cubicBezTo>
                    <a:pt x="30" y="240"/>
                    <a:pt x="23" y="244"/>
                    <a:pt x="17" y="244"/>
                  </a:cubicBezTo>
                  <a:close/>
                </a:path>
              </a:pathLst>
            </a:custGeom>
            <a:solidFill>
              <a:srgbClr val="FD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5"/>
            <p:cNvSpPr/>
            <p:nvPr/>
          </p:nvSpPr>
          <p:spPr>
            <a:xfrm>
              <a:off x="4171" y="2202"/>
              <a:ext cx="87" cy="100"/>
            </a:xfrm>
            <a:custGeom>
              <a:avLst/>
              <a:gdLst>
                <a:gd name="T0" fmla="*/ 87 w 87"/>
                <a:gd name="T1" fmla="*/ 17 h 100"/>
                <a:gd name="T2" fmla="*/ 17 w 87"/>
                <a:gd name="T3" fmla="*/ 0 h 100"/>
                <a:gd name="T4" fmla="*/ 0 w 87"/>
                <a:gd name="T5" fmla="*/ 86 h 100"/>
                <a:gd name="T6" fmla="*/ 70 w 87"/>
                <a:gd name="T7" fmla="*/ 100 h 100"/>
                <a:gd name="T8" fmla="*/ 87 w 87"/>
                <a:gd name="T9" fmla="*/ 1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00">
                  <a:moveTo>
                    <a:pt x="87" y="17"/>
                  </a:moveTo>
                  <a:lnTo>
                    <a:pt x="17" y="0"/>
                  </a:lnTo>
                  <a:lnTo>
                    <a:pt x="0" y="86"/>
                  </a:lnTo>
                  <a:lnTo>
                    <a:pt x="70" y="10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FBB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6"/>
            <p:cNvSpPr/>
            <p:nvPr/>
          </p:nvSpPr>
          <p:spPr>
            <a:xfrm>
              <a:off x="4308" y="2233"/>
              <a:ext cx="86" cy="107"/>
            </a:xfrm>
            <a:custGeom>
              <a:avLst/>
              <a:gdLst>
                <a:gd name="T0" fmla="*/ 17 w 86"/>
                <a:gd name="T1" fmla="*/ 0 h 107"/>
                <a:gd name="T2" fmla="*/ 0 w 86"/>
                <a:gd name="T3" fmla="*/ 79 h 107"/>
                <a:gd name="T4" fmla="*/ 65 w 86"/>
                <a:gd name="T5" fmla="*/ 107 h 107"/>
                <a:gd name="T6" fmla="*/ 86 w 86"/>
                <a:gd name="T7" fmla="*/ 17 h 107"/>
                <a:gd name="T8" fmla="*/ 17 w 86"/>
                <a:gd name="T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107">
                  <a:moveTo>
                    <a:pt x="17" y="0"/>
                  </a:moveTo>
                  <a:lnTo>
                    <a:pt x="0" y="79"/>
                  </a:lnTo>
                  <a:lnTo>
                    <a:pt x="65" y="107"/>
                  </a:lnTo>
                  <a:lnTo>
                    <a:pt x="86" y="1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BB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7"/>
            <p:cNvSpPr/>
            <p:nvPr/>
          </p:nvSpPr>
          <p:spPr>
            <a:xfrm>
              <a:off x="4131" y="1801"/>
              <a:ext cx="321" cy="356"/>
            </a:xfrm>
            <a:custGeom>
              <a:avLst/>
              <a:gdLst>
                <a:gd name="T0" fmla="*/ 134 w 134"/>
                <a:gd name="T1" fmla="*/ 40 h 150"/>
                <a:gd name="T2" fmla="*/ 122 w 134"/>
                <a:gd name="T3" fmla="*/ 13 h 150"/>
                <a:gd name="T4" fmla="*/ 103 w 134"/>
                <a:gd name="T5" fmla="*/ 0 h 150"/>
                <a:gd name="T6" fmla="*/ 31 w 134"/>
                <a:gd name="T7" fmla="*/ 0 h 150"/>
                <a:gd name="T8" fmla="*/ 16 w 134"/>
                <a:gd name="T9" fmla="*/ 9 h 150"/>
                <a:gd name="T10" fmla="*/ 0 w 134"/>
                <a:gd name="T11" fmla="*/ 42 h 150"/>
                <a:gd name="T12" fmla="*/ 19 w 134"/>
                <a:gd name="T13" fmla="*/ 59 h 150"/>
                <a:gd name="T14" fmla="*/ 22 w 134"/>
                <a:gd name="T15" fmla="*/ 54 h 150"/>
                <a:gd name="T16" fmla="*/ 29 w 134"/>
                <a:gd name="T17" fmla="*/ 117 h 150"/>
                <a:gd name="T18" fmla="*/ 23 w 134"/>
                <a:gd name="T19" fmla="*/ 147 h 150"/>
                <a:gd name="T20" fmla="*/ 124 w 134"/>
                <a:gd name="T21" fmla="*/ 150 h 150"/>
                <a:gd name="T22" fmla="*/ 114 w 134"/>
                <a:gd name="T23" fmla="*/ 61 h 150"/>
                <a:gd name="T24" fmla="*/ 120 w 134"/>
                <a:gd name="T25" fmla="*/ 47 h 150"/>
                <a:gd name="T26" fmla="*/ 134 w 134"/>
                <a:gd name="T27" fmla="*/ 4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150">
                  <a:moveTo>
                    <a:pt x="134" y="40"/>
                  </a:moveTo>
                  <a:cubicBezTo>
                    <a:pt x="122" y="13"/>
                    <a:pt x="122" y="13"/>
                    <a:pt x="122" y="13"/>
                  </a:cubicBezTo>
                  <a:cubicBezTo>
                    <a:pt x="119" y="5"/>
                    <a:pt x="112" y="0"/>
                    <a:pt x="10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5" y="0"/>
                    <a:pt x="19" y="3"/>
                    <a:pt x="16" y="9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124" y="150"/>
                    <a:pt x="124" y="150"/>
                    <a:pt x="124" y="150"/>
                  </a:cubicBezTo>
                  <a:cubicBezTo>
                    <a:pt x="114" y="61"/>
                    <a:pt x="114" y="61"/>
                    <a:pt x="114" y="61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34" y="40"/>
                  </a:lnTo>
                  <a:close/>
                </a:path>
              </a:pathLst>
            </a:custGeom>
            <a:solidFill>
              <a:srgbClr val="3256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8"/>
            <p:cNvSpPr/>
            <p:nvPr/>
          </p:nvSpPr>
          <p:spPr>
            <a:xfrm>
              <a:off x="4176" y="2640"/>
              <a:ext cx="127" cy="161"/>
            </a:xfrm>
            <a:custGeom>
              <a:avLst/>
              <a:gdLst>
                <a:gd name="T0" fmla="*/ 21 w 53"/>
                <a:gd name="T1" fmla="*/ 0 h 68"/>
                <a:gd name="T2" fmla="*/ 4 w 53"/>
                <a:gd name="T3" fmla="*/ 45 h 68"/>
                <a:gd name="T4" fmla="*/ 34 w 53"/>
                <a:gd name="T5" fmla="*/ 56 h 68"/>
                <a:gd name="T6" fmla="*/ 49 w 53"/>
                <a:gd name="T7" fmla="*/ 34 h 68"/>
                <a:gd name="T8" fmla="*/ 53 w 53"/>
                <a:gd name="T9" fmla="*/ 5 h 68"/>
                <a:gd name="T10" fmla="*/ 21 w 53"/>
                <a:gd name="T11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68">
                  <a:moveTo>
                    <a:pt x="21" y="0"/>
                  </a:moveTo>
                  <a:cubicBezTo>
                    <a:pt x="21" y="0"/>
                    <a:pt x="0" y="36"/>
                    <a:pt x="4" y="45"/>
                  </a:cubicBezTo>
                  <a:cubicBezTo>
                    <a:pt x="6" y="52"/>
                    <a:pt x="14" y="68"/>
                    <a:pt x="34" y="56"/>
                  </a:cubicBezTo>
                  <a:cubicBezTo>
                    <a:pt x="43" y="52"/>
                    <a:pt x="48" y="43"/>
                    <a:pt x="49" y="34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41" y="8"/>
                    <a:pt x="30" y="7"/>
                    <a:pt x="21" y="0"/>
                  </a:cubicBezTo>
                  <a:close/>
                </a:path>
              </a:pathLst>
            </a:custGeom>
            <a:solidFill>
              <a:srgbClr val="3256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39"/>
            <p:cNvSpPr/>
            <p:nvPr/>
          </p:nvSpPr>
          <p:spPr>
            <a:xfrm>
              <a:off x="4226" y="2656"/>
              <a:ext cx="55" cy="24"/>
            </a:xfrm>
            <a:custGeom>
              <a:avLst/>
              <a:gdLst>
                <a:gd name="T0" fmla="*/ 22 w 23"/>
                <a:gd name="T1" fmla="*/ 10 h 10"/>
                <a:gd name="T2" fmla="*/ 21 w 23"/>
                <a:gd name="T3" fmla="*/ 9 h 10"/>
                <a:gd name="T4" fmla="*/ 2 w 23"/>
                <a:gd name="T5" fmla="*/ 5 h 10"/>
                <a:gd name="T6" fmla="*/ 0 w 23"/>
                <a:gd name="T7" fmla="*/ 4 h 10"/>
                <a:gd name="T8" fmla="*/ 1 w 23"/>
                <a:gd name="T9" fmla="*/ 3 h 10"/>
                <a:gd name="T10" fmla="*/ 23 w 23"/>
                <a:gd name="T11" fmla="*/ 8 h 10"/>
                <a:gd name="T12" fmla="*/ 23 w 23"/>
                <a:gd name="T13" fmla="*/ 9 h 10"/>
                <a:gd name="T14" fmla="*/ 22 w 23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10">
                  <a:moveTo>
                    <a:pt x="22" y="10"/>
                  </a:moveTo>
                  <a:cubicBezTo>
                    <a:pt x="22" y="10"/>
                    <a:pt x="21" y="10"/>
                    <a:pt x="21" y="9"/>
                  </a:cubicBezTo>
                  <a:cubicBezTo>
                    <a:pt x="12" y="2"/>
                    <a:pt x="2" y="5"/>
                    <a:pt x="2" y="5"/>
                  </a:cubicBezTo>
                  <a:cubicBezTo>
                    <a:pt x="1" y="5"/>
                    <a:pt x="0" y="5"/>
                    <a:pt x="0" y="4"/>
                  </a:cubicBezTo>
                  <a:cubicBezTo>
                    <a:pt x="0" y="4"/>
                    <a:pt x="0" y="3"/>
                    <a:pt x="1" y="3"/>
                  </a:cubicBezTo>
                  <a:cubicBezTo>
                    <a:pt x="1" y="3"/>
                    <a:pt x="12" y="0"/>
                    <a:pt x="23" y="8"/>
                  </a:cubicBezTo>
                  <a:cubicBezTo>
                    <a:pt x="23" y="8"/>
                    <a:pt x="23" y="9"/>
                    <a:pt x="23" y="9"/>
                  </a:cubicBezTo>
                  <a:cubicBezTo>
                    <a:pt x="22" y="9"/>
                    <a:pt x="22" y="10"/>
                    <a:pt x="2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0"/>
            <p:cNvSpPr/>
            <p:nvPr/>
          </p:nvSpPr>
          <p:spPr>
            <a:xfrm>
              <a:off x="4222" y="2670"/>
              <a:ext cx="55" cy="22"/>
            </a:xfrm>
            <a:custGeom>
              <a:avLst/>
              <a:gdLst>
                <a:gd name="T0" fmla="*/ 22 w 23"/>
                <a:gd name="T1" fmla="*/ 9 h 9"/>
                <a:gd name="T2" fmla="*/ 21 w 23"/>
                <a:gd name="T3" fmla="*/ 9 h 9"/>
                <a:gd name="T4" fmla="*/ 2 w 23"/>
                <a:gd name="T5" fmla="*/ 5 h 9"/>
                <a:gd name="T6" fmla="*/ 0 w 23"/>
                <a:gd name="T7" fmla="*/ 4 h 9"/>
                <a:gd name="T8" fmla="*/ 1 w 23"/>
                <a:gd name="T9" fmla="*/ 3 h 9"/>
                <a:gd name="T10" fmla="*/ 23 w 23"/>
                <a:gd name="T11" fmla="*/ 8 h 9"/>
                <a:gd name="T12" fmla="*/ 23 w 23"/>
                <a:gd name="T13" fmla="*/ 9 h 9"/>
                <a:gd name="T14" fmla="*/ 22 w 23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9">
                  <a:moveTo>
                    <a:pt x="22" y="9"/>
                  </a:moveTo>
                  <a:cubicBezTo>
                    <a:pt x="22" y="9"/>
                    <a:pt x="22" y="9"/>
                    <a:pt x="21" y="9"/>
                  </a:cubicBezTo>
                  <a:cubicBezTo>
                    <a:pt x="12" y="2"/>
                    <a:pt x="2" y="5"/>
                    <a:pt x="2" y="5"/>
                  </a:cubicBezTo>
                  <a:cubicBezTo>
                    <a:pt x="1" y="5"/>
                    <a:pt x="1" y="5"/>
                    <a:pt x="0" y="4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2" y="3"/>
                    <a:pt x="13" y="0"/>
                    <a:pt x="23" y="8"/>
                  </a:cubicBezTo>
                  <a:cubicBezTo>
                    <a:pt x="23" y="8"/>
                    <a:pt x="23" y="9"/>
                    <a:pt x="23" y="9"/>
                  </a:cubicBezTo>
                  <a:cubicBezTo>
                    <a:pt x="23" y="9"/>
                    <a:pt x="22" y="9"/>
                    <a:pt x="2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1"/>
            <p:cNvSpPr/>
            <p:nvPr/>
          </p:nvSpPr>
          <p:spPr>
            <a:xfrm>
              <a:off x="4217" y="2685"/>
              <a:ext cx="55" cy="21"/>
            </a:xfrm>
            <a:custGeom>
              <a:avLst/>
              <a:gdLst>
                <a:gd name="T0" fmla="*/ 22 w 23"/>
                <a:gd name="T1" fmla="*/ 9 h 9"/>
                <a:gd name="T2" fmla="*/ 21 w 23"/>
                <a:gd name="T3" fmla="*/ 9 h 9"/>
                <a:gd name="T4" fmla="*/ 2 w 23"/>
                <a:gd name="T5" fmla="*/ 5 h 9"/>
                <a:gd name="T6" fmla="*/ 1 w 23"/>
                <a:gd name="T7" fmla="*/ 4 h 9"/>
                <a:gd name="T8" fmla="*/ 1 w 23"/>
                <a:gd name="T9" fmla="*/ 3 h 9"/>
                <a:gd name="T10" fmla="*/ 23 w 23"/>
                <a:gd name="T11" fmla="*/ 7 h 9"/>
                <a:gd name="T12" fmla="*/ 23 w 23"/>
                <a:gd name="T13" fmla="*/ 9 h 9"/>
                <a:gd name="T14" fmla="*/ 22 w 23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9">
                  <a:moveTo>
                    <a:pt x="22" y="9"/>
                  </a:moveTo>
                  <a:cubicBezTo>
                    <a:pt x="22" y="9"/>
                    <a:pt x="22" y="9"/>
                    <a:pt x="21" y="9"/>
                  </a:cubicBezTo>
                  <a:cubicBezTo>
                    <a:pt x="12" y="2"/>
                    <a:pt x="2" y="5"/>
                    <a:pt x="2" y="5"/>
                  </a:cubicBezTo>
                  <a:cubicBezTo>
                    <a:pt x="1" y="5"/>
                    <a:pt x="1" y="5"/>
                    <a:pt x="1" y="4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2" y="3"/>
                    <a:pt x="13" y="0"/>
                    <a:pt x="23" y="7"/>
                  </a:cubicBezTo>
                  <a:cubicBezTo>
                    <a:pt x="23" y="8"/>
                    <a:pt x="23" y="8"/>
                    <a:pt x="23" y="9"/>
                  </a:cubicBezTo>
                  <a:cubicBezTo>
                    <a:pt x="23" y="9"/>
                    <a:pt x="22" y="9"/>
                    <a:pt x="2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2"/>
            <p:cNvSpPr/>
            <p:nvPr/>
          </p:nvSpPr>
          <p:spPr>
            <a:xfrm>
              <a:off x="4212" y="2699"/>
              <a:ext cx="55" cy="21"/>
            </a:xfrm>
            <a:custGeom>
              <a:avLst/>
              <a:gdLst>
                <a:gd name="T0" fmla="*/ 22 w 23"/>
                <a:gd name="T1" fmla="*/ 9 h 9"/>
                <a:gd name="T2" fmla="*/ 21 w 23"/>
                <a:gd name="T3" fmla="*/ 9 h 9"/>
                <a:gd name="T4" fmla="*/ 2 w 23"/>
                <a:gd name="T5" fmla="*/ 5 h 9"/>
                <a:gd name="T6" fmla="*/ 1 w 23"/>
                <a:gd name="T7" fmla="*/ 4 h 9"/>
                <a:gd name="T8" fmla="*/ 1 w 23"/>
                <a:gd name="T9" fmla="*/ 3 h 9"/>
                <a:gd name="T10" fmla="*/ 23 w 23"/>
                <a:gd name="T11" fmla="*/ 7 h 9"/>
                <a:gd name="T12" fmla="*/ 23 w 23"/>
                <a:gd name="T13" fmla="*/ 9 h 9"/>
                <a:gd name="T14" fmla="*/ 22 w 23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9">
                  <a:moveTo>
                    <a:pt x="22" y="9"/>
                  </a:moveTo>
                  <a:cubicBezTo>
                    <a:pt x="22" y="9"/>
                    <a:pt x="22" y="9"/>
                    <a:pt x="21" y="9"/>
                  </a:cubicBezTo>
                  <a:cubicBezTo>
                    <a:pt x="12" y="2"/>
                    <a:pt x="2" y="5"/>
                    <a:pt x="2" y="5"/>
                  </a:cubicBezTo>
                  <a:cubicBezTo>
                    <a:pt x="1" y="5"/>
                    <a:pt x="1" y="5"/>
                    <a:pt x="1" y="4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2" y="3"/>
                    <a:pt x="13" y="0"/>
                    <a:pt x="23" y="7"/>
                  </a:cubicBezTo>
                  <a:cubicBezTo>
                    <a:pt x="23" y="8"/>
                    <a:pt x="23" y="8"/>
                    <a:pt x="23" y="9"/>
                  </a:cubicBezTo>
                  <a:cubicBezTo>
                    <a:pt x="23" y="9"/>
                    <a:pt x="22" y="9"/>
                    <a:pt x="2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3"/>
            <p:cNvSpPr/>
            <p:nvPr/>
          </p:nvSpPr>
          <p:spPr>
            <a:xfrm>
              <a:off x="4210" y="2711"/>
              <a:ext cx="52" cy="24"/>
            </a:xfrm>
            <a:custGeom>
              <a:avLst/>
              <a:gdLst>
                <a:gd name="T0" fmla="*/ 21 w 22"/>
                <a:gd name="T1" fmla="*/ 10 h 10"/>
                <a:gd name="T2" fmla="*/ 21 w 22"/>
                <a:gd name="T3" fmla="*/ 10 h 10"/>
                <a:gd name="T4" fmla="*/ 1 w 22"/>
                <a:gd name="T5" fmla="*/ 6 h 10"/>
                <a:gd name="T6" fmla="*/ 0 w 22"/>
                <a:gd name="T7" fmla="*/ 5 h 10"/>
                <a:gd name="T8" fmla="*/ 0 w 22"/>
                <a:gd name="T9" fmla="*/ 4 h 10"/>
                <a:gd name="T10" fmla="*/ 22 w 22"/>
                <a:gd name="T11" fmla="*/ 8 h 10"/>
                <a:gd name="T12" fmla="*/ 22 w 22"/>
                <a:gd name="T13" fmla="*/ 10 h 10"/>
                <a:gd name="T14" fmla="*/ 21 w 22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0">
                  <a:moveTo>
                    <a:pt x="21" y="10"/>
                  </a:moveTo>
                  <a:cubicBezTo>
                    <a:pt x="21" y="10"/>
                    <a:pt x="21" y="10"/>
                    <a:pt x="21" y="10"/>
                  </a:cubicBezTo>
                  <a:cubicBezTo>
                    <a:pt x="11" y="3"/>
                    <a:pt x="1" y="6"/>
                    <a:pt x="1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12" y="0"/>
                    <a:pt x="22" y="8"/>
                  </a:cubicBezTo>
                  <a:cubicBezTo>
                    <a:pt x="22" y="9"/>
                    <a:pt x="22" y="9"/>
                    <a:pt x="22" y="10"/>
                  </a:cubicBezTo>
                  <a:cubicBezTo>
                    <a:pt x="22" y="10"/>
                    <a:pt x="22" y="10"/>
                    <a:pt x="21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4"/>
            <p:cNvSpPr/>
            <p:nvPr/>
          </p:nvSpPr>
          <p:spPr>
            <a:xfrm>
              <a:off x="4183" y="2739"/>
              <a:ext cx="106" cy="62"/>
            </a:xfrm>
            <a:custGeom>
              <a:avLst/>
              <a:gdLst>
                <a:gd name="T0" fmla="*/ 33 w 44"/>
                <a:gd name="T1" fmla="*/ 10 h 26"/>
                <a:gd name="T2" fmla="*/ 0 w 44"/>
                <a:gd name="T3" fmla="*/ 0 h 26"/>
                <a:gd name="T4" fmla="*/ 1 w 44"/>
                <a:gd name="T5" fmla="*/ 3 h 26"/>
                <a:gd name="T6" fmla="*/ 31 w 44"/>
                <a:gd name="T7" fmla="*/ 14 h 26"/>
                <a:gd name="T8" fmla="*/ 44 w 44"/>
                <a:gd name="T9" fmla="*/ 0 h 26"/>
                <a:gd name="T10" fmla="*/ 33 w 44"/>
                <a:gd name="T11" fmla="*/ 1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6">
                  <a:moveTo>
                    <a:pt x="33" y="10"/>
                  </a:moveTo>
                  <a:cubicBezTo>
                    <a:pt x="13" y="21"/>
                    <a:pt x="4" y="8"/>
                    <a:pt x="0" y="0"/>
                  </a:cubicBezTo>
                  <a:cubicBezTo>
                    <a:pt x="0" y="1"/>
                    <a:pt x="0" y="2"/>
                    <a:pt x="1" y="3"/>
                  </a:cubicBezTo>
                  <a:cubicBezTo>
                    <a:pt x="3" y="10"/>
                    <a:pt x="11" y="26"/>
                    <a:pt x="31" y="14"/>
                  </a:cubicBezTo>
                  <a:cubicBezTo>
                    <a:pt x="37" y="11"/>
                    <a:pt x="41" y="6"/>
                    <a:pt x="44" y="0"/>
                  </a:cubicBezTo>
                  <a:cubicBezTo>
                    <a:pt x="41" y="4"/>
                    <a:pt x="38" y="7"/>
                    <a:pt x="33" y="10"/>
                  </a:cubicBezTo>
                  <a:close/>
                </a:path>
              </a:pathLst>
            </a:custGeom>
            <a:solidFill>
              <a:srgbClr val="1C39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5"/>
            <p:cNvSpPr/>
            <p:nvPr/>
          </p:nvSpPr>
          <p:spPr>
            <a:xfrm>
              <a:off x="4162" y="2150"/>
              <a:ext cx="266" cy="164"/>
            </a:xfrm>
            <a:custGeom>
              <a:avLst/>
              <a:gdLst>
                <a:gd name="T0" fmla="*/ 24 w 266"/>
                <a:gd name="T1" fmla="*/ 0 h 164"/>
                <a:gd name="T2" fmla="*/ 0 w 266"/>
                <a:gd name="T3" fmla="*/ 126 h 164"/>
                <a:gd name="T4" fmla="*/ 103 w 266"/>
                <a:gd name="T5" fmla="*/ 143 h 164"/>
                <a:gd name="T6" fmla="*/ 136 w 266"/>
                <a:gd name="T7" fmla="*/ 36 h 164"/>
                <a:gd name="T8" fmla="*/ 129 w 266"/>
                <a:gd name="T9" fmla="*/ 143 h 164"/>
                <a:gd name="T10" fmla="*/ 242 w 266"/>
                <a:gd name="T11" fmla="*/ 164 h 164"/>
                <a:gd name="T12" fmla="*/ 266 w 266"/>
                <a:gd name="T13" fmla="*/ 7 h 164"/>
                <a:gd name="T14" fmla="*/ 24 w 266"/>
                <a:gd name="T15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6" h="164">
                  <a:moveTo>
                    <a:pt x="24" y="0"/>
                  </a:moveTo>
                  <a:lnTo>
                    <a:pt x="0" y="126"/>
                  </a:lnTo>
                  <a:lnTo>
                    <a:pt x="103" y="143"/>
                  </a:lnTo>
                  <a:lnTo>
                    <a:pt x="136" y="36"/>
                  </a:lnTo>
                  <a:lnTo>
                    <a:pt x="129" y="143"/>
                  </a:lnTo>
                  <a:lnTo>
                    <a:pt x="242" y="164"/>
                  </a:lnTo>
                  <a:lnTo>
                    <a:pt x="266" y="7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1C39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6"/>
            <p:cNvSpPr/>
            <p:nvPr/>
          </p:nvSpPr>
          <p:spPr>
            <a:xfrm>
              <a:off x="4339" y="1901"/>
              <a:ext cx="148" cy="154"/>
            </a:xfrm>
            <a:custGeom>
              <a:avLst/>
              <a:gdLst>
                <a:gd name="T0" fmla="*/ 50 w 62"/>
                <a:gd name="T1" fmla="*/ 65 h 65"/>
                <a:gd name="T2" fmla="*/ 45 w 62"/>
                <a:gd name="T3" fmla="*/ 64 h 65"/>
                <a:gd name="T4" fmla="*/ 0 w 62"/>
                <a:gd name="T5" fmla="*/ 45 h 65"/>
                <a:gd name="T6" fmla="*/ 8 w 62"/>
                <a:gd name="T7" fmla="*/ 24 h 65"/>
                <a:gd name="T8" fmla="*/ 31 w 62"/>
                <a:gd name="T9" fmla="*/ 33 h 65"/>
                <a:gd name="T10" fmla="*/ 22 w 62"/>
                <a:gd name="T11" fmla="*/ 9 h 65"/>
                <a:gd name="T12" fmla="*/ 43 w 62"/>
                <a:gd name="T13" fmla="*/ 0 h 65"/>
                <a:gd name="T14" fmla="*/ 60 w 62"/>
                <a:gd name="T15" fmla="*/ 49 h 65"/>
                <a:gd name="T16" fmla="*/ 58 w 62"/>
                <a:gd name="T17" fmla="*/ 62 h 65"/>
                <a:gd name="T18" fmla="*/ 50 w 62"/>
                <a:gd name="T19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5">
                  <a:moveTo>
                    <a:pt x="50" y="65"/>
                  </a:moveTo>
                  <a:cubicBezTo>
                    <a:pt x="48" y="65"/>
                    <a:pt x="47" y="65"/>
                    <a:pt x="45" y="64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2" y="53"/>
                    <a:pt x="61" y="58"/>
                    <a:pt x="58" y="62"/>
                  </a:cubicBezTo>
                  <a:cubicBezTo>
                    <a:pt x="56" y="64"/>
                    <a:pt x="53" y="65"/>
                    <a:pt x="50" y="65"/>
                  </a:cubicBezTo>
                  <a:close/>
                </a:path>
              </a:pathLst>
            </a:custGeom>
            <a:solidFill>
              <a:srgbClr val="FD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7"/>
            <p:cNvSpPr/>
            <p:nvPr/>
          </p:nvSpPr>
          <p:spPr>
            <a:xfrm>
              <a:off x="4262" y="1915"/>
              <a:ext cx="96" cy="93"/>
            </a:xfrm>
            <a:custGeom>
              <a:avLst/>
              <a:gdLst>
                <a:gd name="T0" fmla="*/ 40 w 40"/>
                <a:gd name="T1" fmla="*/ 18 h 39"/>
                <a:gd name="T2" fmla="*/ 19 w 40"/>
                <a:gd name="T3" fmla="*/ 0 h 39"/>
                <a:gd name="T4" fmla="*/ 5 w 40"/>
                <a:gd name="T5" fmla="*/ 3 h 39"/>
                <a:gd name="T6" fmla="*/ 1 w 40"/>
                <a:gd name="T7" fmla="*/ 22 h 39"/>
                <a:gd name="T8" fmla="*/ 9 w 40"/>
                <a:gd name="T9" fmla="*/ 34 h 39"/>
                <a:gd name="T10" fmla="*/ 32 w 40"/>
                <a:gd name="T11" fmla="*/ 39 h 39"/>
                <a:gd name="T12" fmla="*/ 40 w 40"/>
                <a:gd name="T13" fmla="*/ 1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39">
                  <a:moveTo>
                    <a:pt x="40" y="18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8"/>
                    <a:pt x="3" y="33"/>
                    <a:pt x="9" y="34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40" y="18"/>
                  </a:lnTo>
                  <a:close/>
                </a:path>
              </a:pathLst>
            </a:custGeom>
            <a:solidFill>
              <a:srgbClr val="FD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48"/>
            <p:cNvSpPr/>
            <p:nvPr/>
          </p:nvSpPr>
          <p:spPr>
            <a:xfrm>
              <a:off x="4016" y="2084"/>
              <a:ext cx="74" cy="95"/>
            </a:xfrm>
            <a:custGeom>
              <a:avLst/>
              <a:gdLst>
                <a:gd name="T0" fmla="*/ 19 w 74"/>
                <a:gd name="T1" fmla="*/ 16 h 95"/>
                <a:gd name="T2" fmla="*/ 0 w 74"/>
                <a:gd name="T3" fmla="*/ 54 h 95"/>
                <a:gd name="T4" fmla="*/ 19 w 74"/>
                <a:gd name="T5" fmla="*/ 88 h 95"/>
                <a:gd name="T6" fmla="*/ 50 w 74"/>
                <a:gd name="T7" fmla="*/ 95 h 95"/>
                <a:gd name="T8" fmla="*/ 64 w 74"/>
                <a:gd name="T9" fmla="*/ 78 h 95"/>
                <a:gd name="T10" fmla="*/ 60 w 74"/>
                <a:gd name="T11" fmla="*/ 61 h 95"/>
                <a:gd name="T12" fmla="*/ 74 w 74"/>
                <a:gd name="T13" fmla="*/ 54 h 95"/>
                <a:gd name="T14" fmla="*/ 71 w 74"/>
                <a:gd name="T15" fmla="*/ 35 h 95"/>
                <a:gd name="T16" fmla="*/ 67 w 74"/>
                <a:gd name="T17" fmla="*/ 9 h 95"/>
                <a:gd name="T18" fmla="*/ 26 w 74"/>
                <a:gd name="T19" fmla="*/ 0 h 95"/>
                <a:gd name="T20" fmla="*/ 19 w 74"/>
                <a:gd name="T21" fmla="*/ 16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95">
                  <a:moveTo>
                    <a:pt x="19" y="16"/>
                  </a:moveTo>
                  <a:lnTo>
                    <a:pt x="0" y="54"/>
                  </a:lnTo>
                  <a:lnTo>
                    <a:pt x="19" y="88"/>
                  </a:lnTo>
                  <a:lnTo>
                    <a:pt x="50" y="95"/>
                  </a:lnTo>
                  <a:lnTo>
                    <a:pt x="64" y="78"/>
                  </a:lnTo>
                  <a:lnTo>
                    <a:pt x="60" y="61"/>
                  </a:lnTo>
                  <a:lnTo>
                    <a:pt x="74" y="54"/>
                  </a:lnTo>
                  <a:lnTo>
                    <a:pt x="71" y="35"/>
                  </a:lnTo>
                  <a:lnTo>
                    <a:pt x="67" y="9"/>
                  </a:lnTo>
                  <a:lnTo>
                    <a:pt x="26" y="0"/>
                  </a:lnTo>
                  <a:lnTo>
                    <a:pt x="19" y="16"/>
                  </a:lnTo>
                  <a:close/>
                </a:path>
              </a:pathLst>
            </a:custGeom>
            <a:solidFill>
              <a:srgbClr val="FDD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49"/>
            <p:cNvSpPr/>
            <p:nvPr/>
          </p:nvSpPr>
          <p:spPr>
            <a:xfrm>
              <a:off x="4040" y="2141"/>
              <a:ext cx="28" cy="52"/>
            </a:xfrm>
            <a:custGeom>
              <a:avLst/>
              <a:gdLst>
                <a:gd name="T0" fmla="*/ 7 w 12"/>
                <a:gd name="T1" fmla="*/ 0 h 22"/>
                <a:gd name="T2" fmla="*/ 0 w 12"/>
                <a:gd name="T3" fmla="*/ 19 h 22"/>
                <a:gd name="T4" fmla="*/ 5 w 12"/>
                <a:gd name="T5" fmla="*/ 21 h 22"/>
                <a:gd name="T6" fmla="*/ 12 w 12"/>
                <a:gd name="T7" fmla="*/ 3 h 22"/>
                <a:gd name="T8" fmla="*/ 7 w 12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2">
                  <a:moveTo>
                    <a:pt x="7" y="0"/>
                  </a:moveTo>
                  <a:cubicBezTo>
                    <a:pt x="7" y="0"/>
                    <a:pt x="0" y="5"/>
                    <a:pt x="0" y="19"/>
                  </a:cubicBezTo>
                  <a:cubicBezTo>
                    <a:pt x="1" y="21"/>
                    <a:pt x="3" y="22"/>
                    <a:pt x="5" y="21"/>
                  </a:cubicBezTo>
                  <a:cubicBezTo>
                    <a:pt x="5" y="21"/>
                    <a:pt x="9" y="7"/>
                    <a:pt x="12" y="3"/>
                  </a:cubicBezTo>
                  <a:cubicBezTo>
                    <a:pt x="12" y="3"/>
                    <a:pt x="11" y="0"/>
                    <a:pt x="7" y="0"/>
                  </a:cubicBezTo>
                  <a:close/>
                </a:path>
              </a:pathLst>
            </a:custGeom>
            <a:solidFill>
              <a:srgbClr val="9414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0"/>
            <p:cNvSpPr/>
            <p:nvPr/>
          </p:nvSpPr>
          <p:spPr>
            <a:xfrm>
              <a:off x="4224" y="2597"/>
              <a:ext cx="86" cy="64"/>
            </a:xfrm>
            <a:custGeom>
              <a:avLst/>
              <a:gdLst>
                <a:gd name="T0" fmla="*/ 77 w 86"/>
                <a:gd name="T1" fmla="*/ 57 h 64"/>
                <a:gd name="T2" fmla="*/ 86 w 86"/>
                <a:gd name="T3" fmla="*/ 14 h 64"/>
                <a:gd name="T4" fmla="*/ 12 w 86"/>
                <a:gd name="T5" fmla="*/ 0 h 64"/>
                <a:gd name="T6" fmla="*/ 0 w 86"/>
                <a:gd name="T7" fmla="*/ 45 h 64"/>
                <a:gd name="T8" fmla="*/ 29 w 86"/>
                <a:gd name="T9" fmla="*/ 62 h 64"/>
                <a:gd name="T10" fmla="*/ 62 w 86"/>
                <a:gd name="T11" fmla="*/ 64 h 64"/>
                <a:gd name="T12" fmla="*/ 77 w 86"/>
                <a:gd name="T13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64">
                  <a:moveTo>
                    <a:pt x="77" y="57"/>
                  </a:moveTo>
                  <a:lnTo>
                    <a:pt x="86" y="14"/>
                  </a:lnTo>
                  <a:lnTo>
                    <a:pt x="12" y="0"/>
                  </a:lnTo>
                  <a:lnTo>
                    <a:pt x="0" y="45"/>
                  </a:lnTo>
                  <a:lnTo>
                    <a:pt x="29" y="62"/>
                  </a:lnTo>
                  <a:lnTo>
                    <a:pt x="62" y="64"/>
                  </a:lnTo>
                  <a:lnTo>
                    <a:pt x="77" y="57"/>
                  </a:lnTo>
                  <a:close/>
                </a:path>
              </a:pathLst>
            </a:custGeom>
            <a:solidFill>
              <a:srgbClr val="3256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58193" y="2279457"/>
            <a:ext cx="1473750" cy="228375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40045" y="4867309"/>
            <a:ext cx="1188000" cy="1188000"/>
          </a:xfrm>
          <a:prstGeom prst="rect">
            <a:avLst/>
          </a:prstGeom>
        </p:spPr>
      </p:pic>
      <p:cxnSp>
        <p:nvCxnSpPr>
          <p:cNvPr id="63" name="直接连接符 62"/>
          <p:cNvCxnSpPr>
            <a:stCxn id="8" idx="6"/>
            <a:endCxn id="4" idx="1"/>
          </p:cNvCxnSpPr>
          <p:nvPr/>
        </p:nvCxnSpPr>
        <p:spPr>
          <a:xfrm>
            <a:off x="3721919" y="1137583"/>
            <a:ext cx="957353" cy="851482"/>
          </a:xfrm>
          <a:prstGeom prst="line">
            <a:avLst/>
          </a:prstGeom>
          <a:ln w="38100">
            <a:solidFill>
              <a:srgbClr val="8DD9D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stCxn id="61" idx="3"/>
            <a:endCxn id="4" idx="3"/>
          </p:cNvCxnSpPr>
          <p:nvPr/>
        </p:nvCxnSpPr>
        <p:spPr>
          <a:xfrm flipV="1">
            <a:off x="3728045" y="4853599"/>
            <a:ext cx="951227" cy="607710"/>
          </a:xfrm>
          <a:prstGeom prst="line">
            <a:avLst/>
          </a:prstGeom>
          <a:ln w="38100">
            <a:solidFill>
              <a:srgbClr val="8DD9D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"/>
          <p:cNvGrpSpPr/>
          <p:nvPr/>
        </p:nvGrpSpPr>
        <p:grpSpPr>
          <a:xfrm>
            <a:off x="8686151" y="637688"/>
            <a:ext cx="1181833" cy="1181833"/>
            <a:chOff x="3642" y="1962"/>
            <a:chExt cx="396" cy="396"/>
          </a:xfrm>
        </p:grpSpPr>
        <p:sp>
          <p:nvSpPr>
            <p:cNvPr id="67" name="AutoShape 3"/>
            <p:cNvSpPr>
              <a:spLocks noChangeAspect="1" noChangeArrowheads="1" noTextEdit="1"/>
            </p:cNvSpPr>
            <p:nvPr/>
          </p:nvSpPr>
          <p:spPr>
            <a:xfrm>
              <a:off x="3642" y="1962"/>
              <a:ext cx="396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Oval 5"/>
            <p:cNvSpPr>
              <a:spLocks noChangeArrowheads="1"/>
            </p:cNvSpPr>
            <p:nvPr/>
          </p:nvSpPr>
          <p:spPr>
            <a:xfrm>
              <a:off x="3642" y="1962"/>
              <a:ext cx="398" cy="398"/>
            </a:xfrm>
            <a:prstGeom prst="ellipse">
              <a:avLst/>
            </a:prstGeom>
            <a:solidFill>
              <a:srgbClr val="A9DB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6"/>
            <p:cNvSpPr/>
            <p:nvPr/>
          </p:nvSpPr>
          <p:spPr>
            <a:xfrm>
              <a:off x="3743" y="2171"/>
              <a:ext cx="86" cy="103"/>
            </a:xfrm>
            <a:custGeom>
              <a:avLst/>
              <a:gdLst>
                <a:gd name="T0" fmla="*/ 2 w 36"/>
                <a:gd name="T1" fmla="*/ 43 h 43"/>
                <a:gd name="T2" fmla="*/ 4 w 36"/>
                <a:gd name="T3" fmla="*/ 41 h 43"/>
                <a:gd name="T4" fmla="*/ 4 w 36"/>
                <a:gd name="T5" fmla="*/ 4 h 43"/>
                <a:gd name="T6" fmla="*/ 34 w 36"/>
                <a:gd name="T7" fmla="*/ 4 h 43"/>
                <a:gd name="T8" fmla="*/ 36 w 36"/>
                <a:gd name="T9" fmla="*/ 2 h 43"/>
                <a:gd name="T10" fmla="*/ 34 w 36"/>
                <a:gd name="T11" fmla="*/ 0 h 43"/>
                <a:gd name="T12" fmla="*/ 2 w 36"/>
                <a:gd name="T13" fmla="*/ 0 h 43"/>
                <a:gd name="T14" fmla="*/ 0 w 36"/>
                <a:gd name="T15" fmla="*/ 2 h 43"/>
                <a:gd name="T16" fmla="*/ 0 w 36"/>
                <a:gd name="T17" fmla="*/ 41 h 43"/>
                <a:gd name="T18" fmla="*/ 2 w 36"/>
                <a:gd name="T1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43">
                  <a:moveTo>
                    <a:pt x="2" y="43"/>
                  </a:moveTo>
                  <a:cubicBezTo>
                    <a:pt x="3" y="43"/>
                    <a:pt x="4" y="42"/>
                    <a:pt x="4" y="4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4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2"/>
                    <a:pt x="1" y="43"/>
                    <a:pt x="2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7"/>
            <p:cNvSpPr/>
            <p:nvPr/>
          </p:nvSpPr>
          <p:spPr>
            <a:xfrm>
              <a:off x="3750" y="2056"/>
              <a:ext cx="34" cy="112"/>
            </a:xfrm>
            <a:custGeom>
              <a:avLst/>
              <a:gdLst>
                <a:gd name="T0" fmla="*/ 7 w 14"/>
                <a:gd name="T1" fmla="*/ 47 h 47"/>
                <a:gd name="T2" fmla="*/ 14 w 14"/>
                <a:gd name="T3" fmla="*/ 40 h 47"/>
                <a:gd name="T4" fmla="*/ 14 w 14"/>
                <a:gd name="T5" fmla="*/ 7 h 47"/>
                <a:gd name="T6" fmla="*/ 7 w 14"/>
                <a:gd name="T7" fmla="*/ 0 h 47"/>
                <a:gd name="T8" fmla="*/ 0 w 14"/>
                <a:gd name="T9" fmla="*/ 7 h 47"/>
                <a:gd name="T10" fmla="*/ 0 w 14"/>
                <a:gd name="T11" fmla="*/ 40 h 47"/>
                <a:gd name="T12" fmla="*/ 7 w 14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47">
                  <a:moveTo>
                    <a:pt x="7" y="47"/>
                  </a:moveTo>
                  <a:cubicBezTo>
                    <a:pt x="11" y="47"/>
                    <a:pt x="14" y="43"/>
                    <a:pt x="14" y="40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3" y="47"/>
                    <a:pt x="7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8"/>
            <p:cNvSpPr/>
            <p:nvPr/>
          </p:nvSpPr>
          <p:spPr>
            <a:xfrm>
              <a:off x="3796" y="2048"/>
              <a:ext cx="136" cy="226"/>
            </a:xfrm>
            <a:custGeom>
              <a:avLst/>
              <a:gdLst>
                <a:gd name="T0" fmla="*/ 54 w 57"/>
                <a:gd name="T1" fmla="*/ 69 h 94"/>
                <a:gd name="T2" fmla="*/ 57 w 57"/>
                <a:gd name="T3" fmla="*/ 67 h 94"/>
                <a:gd name="T4" fmla="*/ 57 w 57"/>
                <a:gd name="T5" fmla="*/ 50 h 94"/>
                <a:gd name="T6" fmla="*/ 39 w 57"/>
                <a:gd name="T7" fmla="*/ 23 h 94"/>
                <a:gd name="T8" fmla="*/ 35 w 57"/>
                <a:gd name="T9" fmla="*/ 23 h 94"/>
                <a:gd name="T10" fmla="*/ 42 w 57"/>
                <a:gd name="T11" fmla="*/ 12 h 94"/>
                <a:gd name="T12" fmla="*/ 29 w 57"/>
                <a:gd name="T13" fmla="*/ 0 h 94"/>
                <a:gd name="T14" fmla="*/ 17 w 57"/>
                <a:gd name="T15" fmla="*/ 12 h 94"/>
                <a:gd name="T16" fmla="*/ 29 w 57"/>
                <a:gd name="T17" fmla="*/ 25 h 94"/>
                <a:gd name="T18" fmla="*/ 33 w 57"/>
                <a:gd name="T19" fmla="*/ 24 h 94"/>
                <a:gd name="T20" fmla="*/ 25 w 57"/>
                <a:gd name="T21" fmla="*/ 33 h 94"/>
                <a:gd name="T22" fmla="*/ 6 w 57"/>
                <a:gd name="T23" fmla="*/ 37 h 94"/>
                <a:gd name="T24" fmla="*/ 1 w 57"/>
                <a:gd name="T25" fmla="*/ 40 h 94"/>
                <a:gd name="T26" fmla="*/ 1 w 57"/>
                <a:gd name="T27" fmla="*/ 46 h 94"/>
                <a:gd name="T28" fmla="*/ 7 w 57"/>
                <a:gd name="T29" fmla="*/ 51 h 94"/>
                <a:gd name="T30" fmla="*/ 9 w 57"/>
                <a:gd name="T31" fmla="*/ 51 h 94"/>
                <a:gd name="T32" fmla="*/ 21 w 57"/>
                <a:gd name="T33" fmla="*/ 48 h 94"/>
                <a:gd name="T34" fmla="*/ 21 w 57"/>
                <a:gd name="T35" fmla="*/ 51 h 94"/>
                <a:gd name="T36" fmla="*/ 21 w 57"/>
                <a:gd name="T37" fmla="*/ 56 h 94"/>
                <a:gd name="T38" fmla="*/ 5 w 57"/>
                <a:gd name="T39" fmla="*/ 83 h 94"/>
                <a:gd name="T40" fmla="*/ 7 w 57"/>
                <a:gd name="T41" fmla="*/ 93 h 94"/>
                <a:gd name="T42" fmla="*/ 11 w 57"/>
                <a:gd name="T43" fmla="*/ 94 h 94"/>
                <a:gd name="T44" fmla="*/ 16 w 57"/>
                <a:gd name="T45" fmla="*/ 91 h 94"/>
                <a:gd name="T46" fmla="*/ 30 w 57"/>
                <a:gd name="T47" fmla="*/ 69 h 94"/>
                <a:gd name="T48" fmla="*/ 54 w 57"/>
                <a:gd name="T49" fmla="*/ 6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" h="94">
                  <a:moveTo>
                    <a:pt x="54" y="69"/>
                  </a:moveTo>
                  <a:cubicBezTo>
                    <a:pt x="56" y="69"/>
                    <a:pt x="57" y="68"/>
                    <a:pt x="57" y="67"/>
                  </a:cubicBezTo>
                  <a:cubicBezTo>
                    <a:pt x="57" y="50"/>
                    <a:pt x="57" y="50"/>
                    <a:pt x="57" y="50"/>
                  </a:cubicBezTo>
                  <a:cubicBezTo>
                    <a:pt x="57" y="35"/>
                    <a:pt x="49" y="23"/>
                    <a:pt x="39" y="23"/>
                  </a:cubicBezTo>
                  <a:cubicBezTo>
                    <a:pt x="37" y="23"/>
                    <a:pt x="36" y="23"/>
                    <a:pt x="35" y="23"/>
                  </a:cubicBezTo>
                  <a:cubicBezTo>
                    <a:pt x="39" y="21"/>
                    <a:pt x="42" y="17"/>
                    <a:pt x="42" y="12"/>
                  </a:cubicBezTo>
                  <a:cubicBezTo>
                    <a:pt x="42" y="5"/>
                    <a:pt x="36" y="0"/>
                    <a:pt x="29" y="0"/>
                  </a:cubicBezTo>
                  <a:cubicBezTo>
                    <a:pt x="22" y="0"/>
                    <a:pt x="17" y="5"/>
                    <a:pt x="17" y="12"/>
                  </a:cubicBezTo>
                  <a:cubicBezTo>
                    <a:pt x="17" y="19"/>
                    <a:pt x="22" y="25"/>
                    <a:pt x="29" y="25"/>
                  </a:cubicBezTo>
                  <a:cubicBezTo>
                    <a:pt x="30" y="25"/>
                    <a:pt x="31" y="25"/>
                    <a:pt x="33" y="24"/>
                  </a:cubicBezTo>
                  <a:cubicBezTo>
                    <a:pt x="30" y="26"/>
                    <a:pt x="27" y="29"/>
                    <a:pt x="25" y="33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4" y="38"/>
                    <a:pt x="2" y="39"/>
                    <a:pt x="1" y="40"/>
                  </a:cubicBezTo>
                  <a:cubicBezTo>
                    <a:pt x="0" y="42"/>
                    <a:pt x="0" y="44"/>
                    <a:pt x="1" y="46"/>
                  </a:cubicBezTo>
                  <a:cubicBezTo>
                    <a:pt x="1" y="49"/>
                    <a:pt x="4" y="51"/>
                    <a:pt x="7" y="51"/>
                  </a:cubicBezTo>
                  <a:cubicBezTo>
                    <a:pt x="8" y="51"/>
                    <a:pt x="8" y="51"/>
                    <a:pt x="9" y="51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9"/>
                    <a:pt x="21" y="50"/>
                    <a:pt x="21" y="51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3" y="87"/>
                    <a:pt x="4" y="91"/>
                    <a:pt x="7" y="93"/>
                  </a:cubicBezTo>
                  <a:cubicBezTo>
                    <a:pt x="8" y="94"/>
                    <a:pt x="9" y="94"/>
                    <a:pt x="11" y="94"/>
                  </a:cubicBezTo>
                  <a:cubicBezTo>
                    <a:pt x="13" y="94"/>
                    <a:pt x="15" y="93"/>
                    <a:pt x="16" y="91"/>
                  </a:cubicBezTo>
                  <a:cubicBezTo>
                    <a:pt x="30" y="69"/>
                    <a:pt x="30" y="69"/>
                    <a:pt x="30" y="69"/>
                  </a:cubicBezTo>
                  <a:lnTo>
                    <a:pt x="54" y="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9"/>
            <p:cNvSpPr/>
            <p:nvPr/>
          </p:nvSpPr>
          <p:spPr>
            <a:xfrm>
              <a:off x="3875" y="2147"/>
              <a:ext cx="77" cy="86"/>
            </a:xfrm>
            <a:custGeom>
              <a:avLst/>
              <a:gdLst>
                <a:gd name="T0" fmla="*/ 32 w 32"/>
                <a:gd name="T1" fmla="*/ 34 h 36"/>
                <a:gd name="T2" fmla="*/ 32 w 32"/>
                <a:gd name="T3" fmla="*/ 2 h 36"/>
                <a:gd name="T4" fmla="*/ 30 w 32"/>
                <a:gd name="T5" fmla="*/ 0 h 36"/>
                <a:gd name="T6" fmla="*/ 28 w 32"/>
                <a:gd name="T7" fmla="*/ 2 h 36"/>
                <a:gd name="T8" fmla="*/ 28 w 32"/>
                <a:gd name="T9" fmla="*/ 32 h 36"/>
                <a:gd name="T10" fmla="*/ 2 w 32"/>
                <a:gd name="T11" fmla="*/ 32 h 36"/>
                <a:gd name="T12" fmla="*/ 0 w 32"/>
                <a:gd name="T13" fmla="*/ 34 h 36"/>
                <a:gd name="T14" fmla="*/ 2 w 32"/>
                <a:gd name="T15" fmla="*/ 36 h 36"/>
                <a:gd name="T16" fmla="*/ 30 w 32"/>
                <a:gd name="T17" fmla="*/ 36 h 36"/>
                <a:gd name="T18" fmla="*/ 32 w 32"/>
                <a:gd name="T19" fmla="*/ 3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6">
                  <a:moveTo>
                    <a:pt x="32" y="34"/>
                  </a:move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ubicBezTo>
                    <a:pt x="29" y="0"/>
                    <a:pt x="28" y="1"/>
                    <a:pt x="28" y="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1" y="32"/>
                    <a:pt x="0" y="33"/>
                    <a:pt x="0" y="34"/>
                  </a:cubicBezTo>
                  <a:cubicBezTo>
                    <a:pt x="0" y="35"/>
                    <a:pt x="1" y="36"/>
                    <a:pt x="2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1" y="36"/>
                    <a:pt x="32" y="35"/>
                    <a:pt x="32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73" name="图片 7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79984" y="4852864"/>
            <a:ext cx="1188000" cy="1188000"/>
          </a:xfrm>
          <a:prstGeom prst="rect">
            <a:avLst/>
          </a:prstGeom>
        </p:spPr>
      </p:pic>
      <p:cxnSp>
        <p:nvCxnSpPr>
          <p:cNvPr id="74" name="直接连接符 73"/>
          <p:cNvCxnSpPr>
            <a:stCxn id="4" idx="7"/>
            <a:endCxn id="68" idx="2"/>
          </p:cNvCxnSpPr>
          <p:nvPr/>
        </p:nvCxnSpPr>
        <p:spPr>
          <a:xfrm flipV="1">
            <a:off x="7543806" y="1231589"/>
            <a:ext cx="1142345" cy="757476"/>
          </a:xfrm>
          <a:prstGeom prst="line">
            <a:avLst/>
          </a:prstGeom>
          <a:ln w="38100">
            <a:solidFill>
              <a:srgbClr val="8DD9D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>
            <a:stCxn id="4" idx="5"/>
            <a:endCxn id="73" idx="1"/>
          </p:cNvCxnSpPr>
          <p:nvPr/>
        </p:nvCxnSpPr>
        <p:spPr>
          <a:xfrm>
            <a:off x="7543806" y="4853599"/>
            <a:ext cx="1136178" cy="593265"/>
          </a:xfrm>
          <a:prstGeom prst="line">
            <a:avLst/>
          </a:prstGeom>
          <a:ln w="38100">
            <a:solidFill>
              <a:srgbClr val="8DD9D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图片 8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746159" y="3037963"/>
            <a:ext cx="675000" cy="483750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748186" y="3100657"/>
            <a:ext cx="720000" cy="47250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790914" y="1208015"/>
            <a:ext cx="641250" cy="517500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858414" y="5264542"/>
            <a:ext cx="506250" cy="416250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290962" y="166091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建立评估体系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8726520" y="2077373"/>
            <a:ext cx="26539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4857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构建可量化的指标，评估反思性数据整理对</a:t>
            </a:r>
            <a:r>
              <a:rPr lang="en-US" altLang="zh-CN" sz="1600" dirty="0">
                <a:solidFill>
                  <a:srgbClr val="4857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AI</a:t>
            </a:r>
            <a:r>
              <a:rPr lang="zh-CN" altLang="en-US" sz="1600" dirty="0">
                <a:solidFill>
                  <a:srgbClr val="4857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输出公平性的影响，以及设计者观念转变的程度</a:t>
            </a:r>
            <a:endParaRPr lang="zh-CN" altLang="en-US" sz="1600" dirty="0">
              <a:solidFill>
                <a:srgbClr val="485766"/>
              </a:solidFill>
              <a:latin typeface="Myriad Pro Light" panose="020B0403030403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850350" y="154864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开发支持工具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280129" y="1950844"/>
            <a:ext cx="27546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4857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设计辅助工具，如“反思提示器”或“偏见检测仪表盘”，帮助设计者在整理数据时更便捷地进行自我审视</a:t>
            </a:r>
            <a:endParaRPr lang="zh-CN" altLang="en-US" sz="1600" dirty="0">
              <a:solidFill>
                <a:srgbClr val="485766"/>
              </a:solidFill>
              <a:latin typeface="Myriad Pro Light" panose="020B0403030403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4979889" y="649100"/>
            <a:ext cx="2672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未来发展方向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FF5F11-CE74-31AC-5154-723DA21522CA}"/>
              </a:ext>
            </a:extLst>
          </p:cNvPr>
          <p:cNvSpPr txBox="1"/>
          <p:nvPr/>
        </p:nvSpPr>
        <p:spPr>
          <a:xfrm>
            <a:off x="688801" y="392545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扩展应用场景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4A9846-7854-F17C-1FA9-DEC334CC8999}"/>
              </a:ext>
            </a:extLst>
          </p:cNvPr>
          <p:cNvSpPr txBox="1"/>
          <p:nvPr/>
        </p:nvSpPr>
        <p:spPr>
          <a:xfrm>
            <a:off x="118580" y="4327646"/>
            <a:ext cx="2754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4857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将该方法从创意设计领域扩展到医疗、教育、法律等其他高风险</a:t>
            </a:r>
            <a:r>
              <a:rPr lang="en-US" altLang="zh-CN" sz="1600" dirty="0">
                <a:solidFill>
                  <a:srgbClr val="4857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AI</a:t>
            </a:r>
            <a:r>
              <a:rPr lang="zh-CN" altLang="en-US" sz="1600" dirty="0">
                <a:solidFill>
                  <a:srgbClr val="4857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应用领域</a:t>
            </a:r>
            <a:endParaRPr lang="zh-CN" altLang="en-US" sz="1600" dirty="0">
              <a:solidFill>
                <a:srgbClr val="485766"/>
              </a:solidFill>
              <a:latin typeface="Myriad Pro Light" panose="020B0403030403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4B852B-74B5-9134-AE66-3A76C79C3D42}"/>
              </a:ext>
            </a:extLst>
          </p:cNvPr>
          <p:cNvSpPr txBox="1"/>
          <p:nvPr/>
        </p:nvSpPr>
        <p:spPr>
          <a:xfrm>
            <a:off x="10053474" y="405105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485766"/>
                </a:solidFill>
                <a:latin typeface="Myriad Pro Light" panose="020B0403030403020204" pitchFamily="34" charset="0"/>
                <a:ea typeface="微软雅黑" panose="020B0503020204020204" pitchFamily="34" charset="-122"/>
              </a:rPr>
              <a:t>跨学科合作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36BB81-7284-3313-5C72-8324D895A36C}"/>
              </a:ext>
            </a:extLst>
          </p:cNvPr>
          <p:cNvSpPr txBox="1"/>
          <p:nvPr/>
        </p:nvSpPr>
        <p:spPr>
          <a:xfrm>
            <a:off x="9611323" y="4473842"/>
            <a:ext cx="23406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4857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结合社会学、心理学、伦理学等领域的理论，深化对意识形态如何在人机协作中运作的理解</a:t>
            </a:r>
            <a:endParaRPr lang="zh-CN" altLang="en-US" sz="1600" dirty="0">
              <a:solidFill>
                <a:srgbClr val="485766"/>
              </a:solidFill>
              <a:latin typeface="Myriad Pro Light" panose="020B0403030403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229248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FB827-B789-C7CE-82D8-03D84C3A8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1E926E-6A4B-A2CE-7959-DCBE88E3C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9B928A-E154-DFEA-B3F5-31A7AC8EA925}"/>
              </a:ext>
            </a:extLst>
          </p:cNvPr>
          <p:cNvSpPr txBox="1"/>
          <p:nvPr/>
        </p:nvSpPr>
        <p:spPr>
          <a:xfrm>
            <a:off x="3341718" y="2485008"/>
            <a:ext cx="4860320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sz="6000" b="1">
                <a:solidFill>
                  <a:prstClr val="black"/>
                </a:solidFill>
                <a:latin typeface="阿里巴巴普惠体 Light" pitchFamily="18" charset="-122"/>
                <a:ea typeface="阿里巴巴普惠体 Light" pitchFamily="18" charset="-122"/>
                <a:cs typeface="阿里巴巴普惠体 Light" pitchFamily="18" charset="-122"/>
                <a:sym typeface="Times New Roman"/>
              </a:rPr>
              <a:t>感谢聆听！</a:t>
            </a:r>
            <a:endParaRPr lang="en-US" altLang="zh-CN" sz="6000" b="1" dirty="0">
              <a:solidFill>
                <a:prstClr val="black"/>
              </a:solidFill>
              <a:latin typeface="阿里巴巴普惠体 Light" pitchFamily="18" charset="-122"/>
              <a:ea typeface="阿里巴巴普惠体 Light" pitchFamily="18" charset="-122"/>
              <a:cs typeface="阿里巴巴普惠体 Light" pitchFamily="18" charset="-122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54592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786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8/9)*(#ppt_y-(#ppt_y+0.1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 fmla="1+(8/9)*(1-0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Uigh" typeface="Microsoft Uighur"/>
        <a:font script="Beng" typeface="Vrinda"/>
        <a:font script="Thai" typeface="Angsana New"/>
        <a:font script="Mlym" typeface="Kartika"/>
        <a:font script="Yiii" typeface="Microsoft Yi Baiti"/>
        <a:font script="Cher" typeface="Plantagenet Cherokee"/>
        <a:font script="Orya" typeface="Kalinga"/>
        <a:font script="Geor" typeface="Sylfaen"/>
        <a:font script="Gujr" typeface="Shruti"/>
        <a:font script="Viet" typeface="Times New Roman"/>
        <a:font script="Arab" typeface="Times New Roman"/>
        <a:font script="Hebr" typeface="Times New Roman"/>
        <a:font script="Telu" typeface="Gautami"/>
        <a:font script="Ethi" typeface="Nyala"/>
        <a:font script="Jpan" typeface="ＭＳ Ｐゴシック"/>
        <a:font script="Sinh" typeface="Iskoola Pota"/>
        <a:font script="Taml" typeface="Latha"/>
        <a:font script="Deva" typeface="Mangal"/>
        <a:font script="Knda" typeface="Tunga"/>
        <a:font script="Tibt" typeface="Microsoft Himalaya"/>
        <a:font script="Khmr" typeface="MoolBoran"/>
        <a:font script="Hant" typeface="新細明體"/>
        <a:font script="Laoo" typeface="DokChampa"/>
        <a:font script="Mong" typeface="Mongolian Baiti"/>
        <a:font script="Hans" typeface="宋体"/>
        <a:font script="Guru" typeface="Raavi"/>
        <a:font script="Thaa" typeface="MV Boli"/>
        <a:font script="Cans" typeface="Euphemia"/>
        <a:font script="Hang" typeface="맑은 고딕"/>
        <a:font script="Syrc" typeface="Estrangelo Edessa"/>
      </a:majorFont>
      <a:minorFont>
        <a:latin typeface="Calibri"/>
        <a:ea typeface=""/>
        <a:cs typeface=""/>
        <a:font script="Uigh" typeface="Microsoft Uighur"/>
        <a:font script="Beng" typeface="Vrinda"/>
        <a:font script="Thai" typeface="Cordia New"/>
        <a:font script="Mlym" typeface="Kartika"/>
        <a:font script="Yiii" typeface="Microsoft Yi Baiti"/>
        <a:font script="Cher" typeface="Plantagenet Cherokee"/>
        <a:font script="Orya" typeface="Kalinga"/>
        <a:font script="Geor" typeface="Sylfaen"/>
        <a:font script="Gujr" typeface="Shruti"/>
        <a:font script="Viet" typeface="Arial"/>
        <a:font script="Arab" typeface="Arial"/>
        <a:font script="Hebr" typeface="Arial"/>
        <a:font script="Telu" typeface="Gautami"/>
        <a:font script="Ethi" typeface="Nyala"/>
        <a:font script="Jpan" typeface="ＭＳ Ｐゴシック"/>
        <a:font script="Sinh" typeface="Iskoola Pota"/>
        <a:font script="Taml" typeface="Latha"/>
        <a:font script="Deva" typeface="Mangal"/>
        <a:font script="Knda" typeface="Tunga"/>
        <a:font script="Tibt" typeface="Microsoft Himalaya"/>
        <a:font script="Khmr" typeface="DaunPenh"/>
        <a:font script="Hant" typeface="新細明體"/>
        <a:font script="Laoo" typeface="DokChampa"/>
        <a:font script="Mong" typeface="Mongolian Baiti"/>
        <a:font script="Hans" typeface="宋体"/>
        <a:font script="Guru" typeface="Raavi"/>
        <a:font script="Thaa" typeface="MV Boli"/>
        <a:font script="Cans" typeface="Euphemia"/>
        <a:font script="Hang" typeface="맑은 고딕"/>
        <a:font script="Syrc" typeface="Estrangelo Edess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Uigh" typeface="Microsoft Uighur"/>
        <a:font script="Beng" typeface="Vrinda"/>
        <a:font script="Thai" typeface="Angsana New"/>
        <a:font script="Mlym" typeface="Kartika"/>
        <a:font script="Yiii" typeface="Microsoft Yi Baiti"/>
        <a:font script="Cher" typeface="Plantagenet Cherokee"/>
        <a:font script="Orya" typeface="Kalinga"/>
        <a:font script="Geor" typeface="Sylfaen"/>
        <a:font script="Gujr" typeface="Shruti"/>
        <a:font script="Viet" typeface="Times New Roman"/>
        <a:font script="Arab" typeface="Times New Roman"/>
        <a:font script="Hebr" typeface="Times New Roman"/>
        <a:font script="Telu" typeface="Gautami"/>
        <a:font script="Ethi" typeface="Nyala"/>
        <a:font script="Jpan" typeface="ＭＳ Ｐゴシック"/>
        <a:font script="Sinh" typeface="Iskoola Pota"/>
        <a:font script="Taml" typeface="Latha"/>
        <a:font script="Deva" typeface="Mangal"/>
        <a:font script="Knda" typeface="Tunga"/>
        <a:font script="Tibt" typeface="Microsoft Himalaya"/>
        <a:font script="Khmr" typeface="MoolBoran"/>
        <a:font script="Hant" typeface="新細明體"/>
        <a:font script="Laoo" typeface="DokChampa"/>
        <a:font script="Mong" typeface="Mongolian Baiti"/>
        <a:font script="Hans" typeface="宋体"/>
        <a:font script="Guru" typeface="Raavi"/>
        <a:font script="Thaa" typeface="MV Boli"/>
        <a:font script="Cans" typeface="Euphemia"/>
        <a:font script="Hang" typeface="맑은 고딕"/>
        <a:font script="Syrc" typeface="Estrangelo Edessa"/>
      </a:majorFont>
      <a:minorFont>
        <a:latin typeface="Calibri"/>
        <a:ea typeface=""/>
        <a:cs typeface=""/>
        <a:font script="Uigh" typeface="Microsoft Uighur"/>
        <a:font script="Beng" typeface="Vrinda"/>
        <a:font script="Thai" typeface="Cordia New"/>
        <a:font script="Mlym" typeface="Kartika"/>
        <a:font script="Yiii" typeface="Microsoft Yi Baiti"/>
        <a:font script="Cher" typeface="Plantagenet Cherokee"/>
        <a:font script="Orya" typeface="Kalinga"/>
        <a:font script="Geor" typeface="Sylfaen"/>
        <a:font script="Gujr" typeface="Shruti"/>
        <a:font script="Viet" typeface="Arial"/>
        <a:font script="Arab" typeface="Arial"/>
        <a:font script="Hebr" typeface="Arial"/>
        <a:font script="Telu" typeface="Gautami"/>
        <a:font script="Ethi" typeface="Nyala"/>
        <a:font script="Jpan" typeface="ＭＳ Ｐゴシック"/>
        <a:font script="Sinh" typeface="Iskoola Pota"/>
        <a:font script="Taml" typeface="Latha"/>
        <a:font script="Deva" typeface="Mangal"/>
        <a:font script="Knda" typeface="Tunga"/>
        <a:font script="Tibt" typeface="Microsoft Himalaya"/>
        <a:font script="Khmr" typeface="DaunPenh"/>
        <a:font script="Hant" typeface="新細明體"/>
        <a:font script="Laoo" typeface="DokChampa"/>
        <a:font script="Mong" typeface="Mongolian Baiti"/>
        <a:font script="Hans" typeface="宋体"/>
        <a:font script="Guru" typeface="Raavi"/>
        <a:font script="Thaa" typeface="MV Boli"/>
        <a:font script="Cans" typeface="Euphemia"/>
        <a:font script="Hang" typeface="맑은 고딕"/>
        <a:font script="Syrc" typeface="Estrangelo Edess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941</Words>
  <Application>Microsoft Office PowerPoint</Application>
  <PresentationFormat>宽屏</PresentationFormat>
  <Paragraphs>112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Myriad Pro Light</vt:lpstr>
      <vt:lpstr>阿里巴巴普惠体 Light</vt:lpstr>
      <vt:lpstr>华文细黑</vt:lpstr>
      <vt:lpstr>微软雅黑</vt:lpstr>
      <vt:lpstr>Arial</vt:lpstr>
      <vt:lpstr>Calibri</vt:lpstr>
      <vt:lpstr>Calibri Light</vt:lpstr>
      <vt:lpstr>Times New Roman</vt:lpstr>
      <vt:lpstr>Office 主题</vt:lpstr>
      <vt:lpstr>PowerPoint 演示文稿</vt:lpstr>
      <vt:lpstr>PowerPoint 演示文稿</vt:lpstr>
      <vt:lpstr>研究背景</vt:lpstr>
      <vt:lpstr>研究问题</vt:lpstr>
      <vt:lpstr>调研方法</vt:lpstr>
      <vt:lpstr>调研结论</vt:lpstr>
      <vt:lpstr>从用户界面设计到AI设计问题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LFPPT网 www.LFPPT.com</Manager>
  <Company>LFPPT网 www.LFPPT.com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LFPPT网 www.LFPPT.com</dc:title>
  <dc:subject>LFPPT网 www.LFPPT.com</dc:subject>
  <dc:creator>LFPPT网 www.LFPPT.com</dc:creator>
  <cp:keywords>LFPPT网 www.LFPPT.com</cp:keywords>
  <dc:description>LFPPT网 www.LFPPT.com</dc:description>
  <cp:lastModifiedBy>Elysium go</cp:lastModifiedBy>
  <cp:revision>101</cp:revision>
  <dcterms:created xsi:type="dcterms:W3CDTF">2021-11-16T11:12:21Z</dcterms:created>
  <dcterms:modified xsi:type="dcterms:W3CDTF">2026-03-12T09:13:29Z</dcterms:modified>
  <cp:category>LFPPT网 www.LFPPT.com</cp:category>
</cp:coreProperties>
</file>