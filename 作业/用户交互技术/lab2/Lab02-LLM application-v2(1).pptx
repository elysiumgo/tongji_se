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8" r:id="rId2"/>
    <p:sldId id="397" r:id="rId3"/>
    <p:sldId id="398" r:id="rId4"/>
    <p:sldId id="399" r:id="rId5"/>
    <p:sldId id="403" r:id="rId6"/>
    <p:sldId id="404" r:id="rId7"/>
    <p:sldId id="415" r:id="rId8"/>
    <p:sldId id="414" r:id="rId9"/>
    <p:sldId id="412" r:id="rId10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 userDrawn="1">
          <p15:clr>
            <a:srgbClr val="A4A3A4"/>
          </p15:clr>
        </p15:guide>
        <p15:guide id="2" pos="213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FF"/>
    <a:srgbClr val="660066"/>
    <a:srgbClr val="6600FF"/>
    <a:srgbClr val="3333FF"/>
    <a:srgbClr val="6666FF"/>
    <a:srgbClr val="006600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08" autoAdjust="0"/>
    <p:restoredTop sz="92829" autoAdjust="0"/>
  </p:normalViewPr>
  <p:slideViewPr>
    <p:cSldViewPr>
      <p:cViewPr varScale="1">
        <p:scale>
          <a:sx n="79" d="100"/>
          <a:sy n="79" d="100"/>
        </p:scale>
        <p:origin x="21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742" y="78"/>
      </p:cViewPr>
      <p:guideLst>
        <p:guide orient="horz" pos="3132"/>
        <p:guide pos="213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D52EE9-1AFC-46DC-A690-7697F0C53593}" type="datetimeFigureOut">
              <a:rPr lang="zh-CN" altLang="en-US" smtClean="0"/>
              <a:pPr/>
              <a:t>2026/2/28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59ABA-B2AE-4EA8-A9A1-1E943E7A4FE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6996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23EEA-7051-4912-9424-949F339942D5}" type="datetimeFigureOut">
              <a:rPr lang="en-US" smtClean="0"/>
              <a:pPr/>
              <a:t>2/28/26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B1227F-4C66-4D65-B3F3-15EFF23329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45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24008"/>
            <a:ext cx="8534400" cy="1470025"/>
          </a:xfrm>
          <a:ln cap="rnd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05200"/>
            <a:ext cx="6400800" cy="2057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50000"/>
            </a:schemeClr>
          </a:solidFill>
        </p:spPr>
        <p:txBody>
          <a:bodyPr>
            <a:normAutofit/>
          </a:bodyPr>
          <a:lstStyle>
            <a:lvl1pPr>
              <a:defRPr lang="en-US" sz="4400" b="0" kern="1200" cap="none" spc="0" dirty="0">
                <a:ln w="0"/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lvl2pPr>
              <a:defRPr sz="240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defRPr>
            </a:lvl2pPr>
            <a:lvl3pPr>
              <a:defRPr sz="200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defRPr>
            </a:lvl3pPr>
            <a:lvl4pPr>
              <a:defRPr sz="180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defRPr>
            </a:lvl4pPr>
            <a:lvl5pPr>
              <a:defRPr sz="180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03773"/>
            <a:ext cx="9144000" cy="35423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algn="just"/>
            <a:r>
              <a:rPr lang="en-US" dirty="0"/>
              <a:t>HCI							                   Dr. Shuang LIANG, </a:t>
            </a:r>
            <a:r>
              <a:rPr lang="en-US" dirty="0" err="1"/>
              <a:t>TongJi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03773"/>
            <a:ext cx="9144000" cy="35423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algn="just"/>
            <a:r>
              <a:rPr lang="en-US" dirty="0"/>
              <a:t>HCI							                   Dr. Shuang LIANG, </a:t>
            </a:r>
            <a:r>
              <a:rPr lang="en-US" dirty="0" err="1"/>
              <a:t>TongJi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6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6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03773"/>
            <a:ext cx="9144000" cy="35423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algn="just"/>
            <a:r>
              <a:rPr lang="en-US" dirty="0"/>
              <a:t>HCI							                   Dr. Shuang LIANG, </a:t>
            </a:r>
            <a:r>
              <a:rPr lang="en-US" dirty="0" err="1"/>
              <a:t>TongJi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lang="en-US" sz="2800" kern="1200" dirty="0" smtClean="0">
          <a:solidFill>
            <a:schemeClr val="accent1">
              <a:lumMod val="50000"/>
            </a:schemeClr>
          </a:solidFill>
          <a:latin typeface="Calibri" pitchFamily="34" charset="0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lang="en-US" sz="2400" kern="1200" dirty="0" smtClean="0">
          <a:solidFill>
            <a:schemeClr val="accent1">
              <a:lumMod val="50000"/>
            </a:schemeClr>
          </a:solidFill>
          <a:latin typeface="Calibri" pitchFamily="34" charset="0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lang="en-US" sz="2000" kern="1200" dirty="0" smtClean="0">
          <a:solidFill>
            <a:schemeClr val="accent1">
              <a:lumMod val="50000"/>
            </a:schemeClr>
          </a:solidFill>
          <a:latin typeface="Calibri" pitchFamily="34" charset="0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lang="en-US" sz="1800" kern="1200" dirty="0" smtClean="0">
          <a:solidFill>
            <a:schemeClr val="accent1">
              <a:lumMod val="50000"/>
            </a:schemeClr>
          </a:solidFill>
          <a:latin typeface="Calibri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lang="en-US" sz="1800" kern="1200" dirty="0">
          <a:solidFill>
            <a:schemeClr val="accent1">
              <a:lumMod val="50000"/>
            </a:schemeClr>
          </a:solidFill>
          <a:latin typeface="Calibri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elp.aliyun.com/zh/model-studio/developer-reference/get-api-key?spm=a2c4g.11186623.0.0.74b04823Yw4aeD" TargetMode="Externa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UDM/ChatGLM2-6B/blob/main/web_demo.py" TargetMode="External"/><Relationship Id="rId2" Type="http://schemas.openxmlformats.org/officeDocument/2006/relationships/hyperlink" Target="https://www.gradio.app/guides/quickstar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csdn.net/weixin_42426841/article/details/142128223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4400" dirty="0"/>
              <a:t>LLM application</a:t>
            </a:r>
            <a:endParaRPr lang="en-US" dirty="0">
              <a:cs typeface="Latha" pitchFamily="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Dr. Shuang LIANG</a:t>
            </a:r>
          </a:p>
          <a:p>
            <a:endParaRPr lang="en-US" dirty="0"/>
          </a:p>
          <a:p>
            <a:r>
              <a:rPr lang="en-US" dirty="0"/>
              <a:t>School of </a:t>
            </a:r>
            <a:r>
              <a:rPr lang="en-US" altLang="zh-CN" dirty="0"/>
              <a:t>Computer Science and Technology</a:t>
            </a:r>
            <a:endParaRPr lang="en-US" dirty="0"/>
          </a:p>
          <a:p>
            <a:r>
              <a:rPr lang="en-US" dirty="0" err="1"/>
              <a:t>TongJi</a:t>
            </a:r>
            <a:r>
              <a:rPr lang="en-US" dirty="0"/>
              <a:t> University</a:t>
            </a:r>
          </a:p>
        </p:txBody>
      </p:sp>
    </p:spTree>
    <p:extLst>
      <p:ext uri="{BB962C8B-B14F-4D97-AF65-F5344CB8AC3E}">
        <p14:creationId xmlns:p14="http://schemas.microsoft.com/office/powerpoint/2010/main" val="2984291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ChatGPT</a:t>
            </a:r>
            <a:r>
              <a:rPr lang="en-US" altLang="zh-CN" dirty="0"/>
              <a:t> training process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just"/>
            <a:r>
              <a:rPr lang="en-US"/>
              <a:t>HCI							                   Dr. Shuang LIANG, TongJi</a:t>
            </a:r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87D862B-8A56-4A31-874F-C11091B65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12776"/>
            <a:ext cx="8446328" cy="466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686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gradio</a:t>
            </a:r>
            <a:r>
              <a:rPr lang="zh-CN" altLang="en-US" dirty="0"/>
              <a:t> </a:t>
            </a:r>
            <a:r>
              <a:rPr lang="en-US" altLang="zh-CN" dirty="0"/>
              <a:t>framework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just"/>
            <a:r>
              <a:rPr lang="en-US"/>
              <a:t>HCI							                   Dr. Shuang LIANG, TongJi</a:t>
            </a:r>
            <a:endParaRPr lang="en-US" dirty="0"/>
          </a:p>
        </p:txBody>
      </p:sp>
      <p:pic>
        <p:nvPicPr>
          <p:cNvPr id="1026" name="Picture 2" descr="如何使用Gradio为机器学习模型建立GUI如果你曾经建立过一个机器学习模型，你可能会想 &quot;嗯，这很酷，但其他人怎么能看 - 掘金">
            <a:extLst>
              <a:ext uri="{FF2B5EF4-FFF2-40B4-BE49-F238E27FC236}">
                <a16:creationId xmlns:a16="http://schemas.microsoft.com/office/drawing/2014/main" id="{A900CE5A-B0FE-97B1-9E18-28718921A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28800"/>
            <a:ext cx="3924436" cy="147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0ECB4FB-11DC-BDB0-48B5-8C7CE5D1DEDD}"/>
              </a:ext>
            </a:extLst>
          </p:cNvPr>
          <p:cNvSpPr txBox="1"/>
          <p:nvPr/>
        </p:nvSpPr>
        <p:spPr>
          <a:xfrm>
            <a:off x="0" y="4147967"/>
            <a:ext cx="87581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libri" pitchFamily="34" charset="0"/>
                <a:cs typeface="Calibri" pitchFamily="34" charset="0"/>
              </a:rPr>
              <a:t>A Python library for quickly creating and sharing user interfaces for machine learning models. It simplifies the process of building a user interface (UI).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libri" pitchFamily="34" charset="0"/>
                <a:cs typeface="Calibri" pitchFamily="34" charset="0"/>
              </a:rPr>
              <a:t>Supports multiple types of input and output components, such as text boxes, image uploaders, sliders, and more.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0902C5-8F9D-4321-F65E-81D69DDFF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1426897"/>
            <a:ext cx="4517401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124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call</a:t>
            </a:r>
            <a:r>
              <a:rPr lang="zh-CN" altLang="en-US" dirty="0"/>
              <a:t> </a:t>
            </a:r>
            <a:r>
              <a:rPr lang="en-US" altLang="zh-CN" dirty="0"/>
              <a:t>LLM</a:t>
            </a:r>
            <a:r>
              <a:rPr lang="zh-CN" altLang="en-US" dirty="0"/>
              <a:t> </a:t>
            </a:r>
            <a:r>
              <a:rPr lang="en-US" altLang="zh-CN" dirty="0"/>
              <a:t>API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 err="1"/>
              <a:t>gradio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just"/>
            <a:r>
              <a:rPr lang="en-US"/>
              <a:t>HCI							                   Dr. Shuang LIANG, TongJi</a:t>
            </a:r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D783DA-28F8-4CC6-86BC-AA22BBE1BFEC}"/>
              </a:ext>
            </a:extLst>
          </p:cNvPr>
          <p:cNvSpPr txBox="1"/>
          <p:nvPr/>
        </p:nvSpPr>
        <p:spPr>
          <a:xfrm>
            <a:off x="192950" y="1351508"/>
            <a:ext cx="87581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You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can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follow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the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steps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below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to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use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LLM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and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its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API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in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CN" sz="2400" dirty="0" err="1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gradio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:</a:t>
            </a:r>
          </a:p>
          <a:p>
            <a:endParaRPr lang="en-US" altLang="zh-CN" sz="2400" dirty="0">
              <a:solidFill>
                <a:schemeClr val="accent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endParaRPr lang="en-US" altLang="zh-CN" sz="2400" dirty="0">
              <a:solidFill>
                <a:schemeClr val="accent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Acquire </a:t>
            </a:r>
            <a:r>
              <a:rPr lang="en-US" altLang="zh-CN" sz="2400" dirty="0" err="1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llm</a:t>
            </a:r>
            <a:r>
              <a:rPr lang="en-US" altLang="zh-CN" sz="2400" dirty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CN" sz="2400" dirty="0" err="1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api</a:t>
            </a:r>
            <a:r>
              <a:rPr lang="en-US" altLang="zh-CN" sz="2400" dirty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 key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install</a:t>
            </a:r>
            <a:r>
              <a:rPr lang="zh-CN" altLang="en-US" sz="2400" dirty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CN" sz="2400" dirty="0" err="1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gradio</a:t>
            </a:r>
            <a:endParaRPr lang="en-US" altLang="zh-CN" sz="2400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Design your </a:t>
            </a:r>
            <a:r>
              <a:rPr lang="en-US" altLang="zh-CN" sz="2400" dirty="0" err="1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gradio</a:t>
            </a:r>
            <a:r>
              <a:rPr lang="en-US" altLang="zh-CN" sz="2400" dirty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 app with python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 err="1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call&amp;run</a:t>
            </a:r>
            <a:r>
              <a:rPr lang="zh-CN" altLang="en-US" sz="2400" dirty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LLM</a:t>
            </a:r>
            <a:r>
              <a:rPr lang="zh-CN" altLang="en-US" sz="2400" dirty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API</a:t>
            </a:r>
            <a:r>
              <a:rPr lang="zh-CN" altLang="en-US" sz="2400" dirty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in</a:t>
            </a:r>
            <a:r>
              <a:rPr lang="zh-CN" altLang="en-US" sz="2400" dirty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  </a:t>
            </a:r>
            <a:r>
              <a:rPr lang="en-US" altLang="zh-CN" sz="2400" dirty="0" err="1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gradio</a:t>
            </a:r>
            <a:r>
              <a:rPr lang="zh-CN" altLang="en-US" sz="2400" dirty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772417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Acquire </a:t>
            </a:r>
            <a:r>
              <a:rPr lang="en-US" altLang="zh-CN" dirty="0" err="1"/>
              <a:t>llm</a:t>
            </a:r>
            <a:r>
              <a:rPr lang="en-US" altLang="zh-CN" dirty="0"/>
              <a:t> </a:t>
            </a:r>
            <a:r>
              <a:rPr lang="en-US" altLang="zh-CN" dirty="0" err="1"/>
              <a:t>api</a:t>
            </a:r>
            <a:r>
              <a:rPr lang="en-US" altLang="zh-CN" dirty="0"/>
              <a:t> key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just"/>
            <a:r>
              <a:rPr lang="en-US"/>
              <a:t>HCI							                   Dr. Shuang LIANG, TongJi</a:t>
            </a:r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1C09CC-3B3E-4641-943F-EFDAF9D54D40}"/>
              </a:ext>
            </a:extLst>
          </p:cNvPr>
          <p:cNvSpPr txBox="1"/>
          <p:nvPr/>
        </p:nvSpPr>
        <p:spPr>
          <a:xfrm>
            <a:off x="172701" y="1052736"/>
            <a:ext cx="9001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可以通过以下方式来获取</a:t>
            </a:r>
            <a:r>
              <a:rPr lang="en-US" altLang="zh-CN" sz="2400" dirty="0"/>
              <a:t>API key(</a:t>
            </a:r>
            <a:r>
              <a:rPr lang="zh-CN" altLang="en-US" sz="2400" dirty="0"/>
              <a:t>以</a:t>
            </a:r>
            <a:r>
              <a:rPr lang="en-US" altLang="zh-CN" sz="2400" dirty="0" err="1"/>
              <a:t>Qwen</a:t>
            </a:r>
            <a:r>
              <a:rPr lang="zh-CN" altLang="en-US" sz="2400" dirty="0"/>
              <a:t>为例</a:t>
            </a:r>
            <a:r>
              <a:rPr lang="en-US" altLang="zh-CN" sz="2400" dirty="0"/>
              <a:t>):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D8ED2ED-44F4-3C0D-9418-192BF68DA5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137"/>
          <a:stretch/>
        </p:blipFill>
        <p:spPr>
          <a:xfrm>
            <a:off x="35496" y="1520012"/>
            <a:ext cx="2396420" cy="218907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A40C948-BAED-3698-1C96-146F0149E1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806"/>
          <a:stretch/>
        </p:blipFill>
        <p:spPr>
          <a:xfrm>
            <a:off x="3275857" y="1652737"/>
            <a:ext cx="2396420" cy="1904723"/>
          </a:xfrm>
          <a:prstGeom prst="rect">
            <a:avLst/>
          </a:prstGeom>
        </p:spPr>
      </p:pic>
      <p:sp>
        <p:nvSpPr>
          <p:cNvPr id="11" name="箭头: 右 10">
            <a:extLst>
              <a:ext uri="{FF2B5EF4-FFF2-40B4-BE49-F238E27FC236}">
                <a16:creationId xmlns:a16="http://schemas.microsoft.com/office/drawing/2014/main" id="{A238ED95-D0A2-11B0-204F-F7C4C8FC59F3}"/>
              </a:ext>
            </a:extLst>
          </p:cNvPr>
          <p:cNvSpPr/>
          <p:nvPr/>
        </p:nvSpPr>
        <p:spPr>
          <a:xfrm>
            <a:off x="2431916" y="2362782"/>
            <a:ext cx="843940" cy="4846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F6ECDC3-EB88-A1EE-783E-CD9D600EBF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8904"/>
          <a:stretch/>
        </p:blipFill>
        <p:spPr>
          <a:xfrm>
            <a:off x="6804248" y="1612868"/>
            <a:ext cx="1872208" cy="2003361"/>
          </a:xfrm>
          <a:prstGeom prst="rect">
            <a:avLst/>
          </a:prstGeom>
        </p:spPr>
      </p:pic>
      <p:sp>
        <p:nvSpPr>
          <p:cNvPr id="14" name="箭头: 右 13">
            <a:extLst>
              <a:ext uri="{FF2B5EF4-FFF2-40B4-BE49-F238E27FC236}">
                <a16:creationId xmlns:a16="http://schemas.microsoft.com/office/drawing/2014/main" id="{DCD3195F-88AA-D888-9004-2C4179158772}"/>
              </a:ext>
            </a:extLst>
          </p:cNvPr>
          <p:cNvSpPr/>
          <p:nvPr/>
        </p:nvSpPr>
        <p:spPr>
          <a:xfrm>
            <a:off x="5940152" y="2276872"/>
            <a:ext cx="843940" cy="4846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54C45CA-3C1F-A1DB-D38B-0C9289E026B7}"/>
              </a:ext>
            </a:extLst>
          </p:cNvPr>
          <p:cNvSpPr txBox="1"/>
          <p:nvPr/>
        </p:nvSpPr>
        <p:spPr>
          <a:xfrm>
            <a:off x="143000" y="3754565"/>
            <a:ext cx="9001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后续跟随该教程继续便可获取到</a:t>
            </a:r>
            <a:r>
              <a:rPr lang="en-US" altLang="zh-CN" sz="2400" dirty="0"/>
              <a:t>API</a:t>
            </a:r>
            <a:r>
              <a:rPr lang="zh-CN" altLang="en-US" sz="2400" dirty="0"/>
              <a:t>：</a:t>
            </a:r>
            <a:r>
              <a:rPr lang="en-US" altLang="zh-CN" sz="2400" dirty="0">
                <a:hlinkClick r:id="rId5"/>
              </a:rPr>
              <a:t>https://help.aliyun.com/zh/model-studio/developer-reference/get-api-key?spm=a2c4g.11186623.0.0.74b04823Yw4aeD</a:t>
            </a:r>
            <a:endParaRPr lang="en-US" altLang="zh-CN" sz="2400" dirty="0"/>
          </a:p>
          <a:p>
            <a:endParaRPr lang="en-US" altLang="zh-CN" sz="2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1304C63-633B-2A43-9879-9AB2CD919CF0}"/>
              </a:ext>
            </a:extLst>
          </p:cNvPr>
          <p:cNvSpPr txBox="1"/>
          <p:nvPr/>
        </p:nvSpPr>
        <p:spPr>
          <a:xfrm>
            <a:off x="35496" y="5283340"/>
            <a:ext cx="9001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PS</a:t>
            </a:r>
            <a:r>
              <a:rPr lang="zh-CN" altLang="en-US" sz="2400" dirty="0"/>
              <a:t>：同济大学</a:t>
            </a:r>
            <a:r>
              <a:rPr lang="en-US" altLang="zh-CN" sz="2400" dirty="0"/>
              <a:t>AI</a:t>
            </a:r>
            <a:r>
              <a:rPr lang="zh-CN" altLang="en-US" sz="2400" dirty="0"/>
              <a:t>应用创新平台好像也可以获取到</a:t>
            </a:r>
            <a:r>
              <a:rPr lang="en-US" altLang="zh-CN" sz="2400" dirty="0"/>
              <a:t>API Key</a:t>
            </a:r>
            <a:r>
              <a:rPr lang="zh-CN" altLang="en-US" sz="2400" dirty="0"/>
              <a:t>，若有兴趣也可以尝试一下</a:t>
            </a:r>
            <a:endParaRPr lang="en-US" altLang="zh-CN" sz="2400" dirty="0"/>
          </a:p>
          <a:p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664305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install </a:t>
            </a:r>
            <a:r>
              <a:rPr lang="en-US" altLang="zh-CN" dirty="0" err="1"/>
              <a:t>gradio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just"/>
            <a:r>
              <a:rPr lang="en-US"/>
              <a:t>HCI							                   Dr. Shuang LIANG, TongJi</a:t>
            </a:r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4F81EEA-D700-6CC8-0A77-A54F8877A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138387"/>
            <a:ext cx="5328592" cy="17293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5D4CA64-1CE0-3E7F-8148-225DC11DC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72" y="3510047"/>
            <a:ext cx="7704856" cy="169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660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AAA57-7DFE-1C4F-4F9C-2EC579265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AB4FC-1FF5-466A-7DB5-74BB464B6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Design your </a:t>
            </a:r>
            <a:r>
              <a:rPr lang="en-US" altLang="zh-CN" dirty="0" err="1"/>
              <a:t>gradio</a:t>
            </a:r>
            <a:r>
              <a:rPr lang="en-US" altLang="zh-CN" dirty="0"/>
              <a:t> app with python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5EE120-0C87-EEB3-48D0-42817809A5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just"/>
            <a:r>
              <a:rPr lang="en-US"/>
              <a:t>HCI							                   Dr. Shuang LIANG, TongJi</a:t>
            </a:r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CD063B-C9BD-B6D8-FBB7-3A2E56C3F07F}"/>
              </a:ext>
            </a:extLst>
          </p:cNvPr>
          <p:cNvSpPr txBox="1"/>
          <p:nvPr/>
        </p:nvSpPr>
        <p:spPr>
          <a:xfrm>
            <a:off x="143000" y="2060848"/>
            <a:ext cx="9001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可以参考的网址：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hlinkClick r:id="rId2"/>
              </a:rPr>
              <a:t>https://www.gradio.app/guides/quickstart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hlinkClick r:id="rId3"/>
              </a:rPr>
              <a:t>https://github.com/THUDM/ChatGLM2-6B/blob/main/web_demo.py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hlinkClick r:id="rId4"/>
              </a:rPr>
              <a:t>https://blog.csdn.net/weixin_42426841/article/details/142128223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66545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Assignment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just"/>
            <a:r>
              <a:rPr lang="en-US"/>
              <a:t>HCI							                   Dr. Shuang LIANG, TongJi</a:t>
            </a:r>
            <a:endParaRPr 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AEAC230-AE3B-4BEC-B74C-B71253A0B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306957"/>
            <a:ext cx="8020594" cy="4804259"/>
          </a:xfrm>
        </p:spPr>
        <p:txBody>
          <a:bodyPr>
            <a:normAutofit/>
          </a:bodyPr>
          <a:lstStyle/>
          <a:p>
            <a:pPr marL="457200" lvl="0" indent="-457200">
              <a:buClr>
                <a:srgbClr val="E48312"/>
              </a:buClr>
              <a:buFont typeface="+mj-lt"/>
              <a:buAutoNum type="arabicPeriod"/>
            </a:pPr>
            <a:r>
              <a:rPr lang="zh-CN" altLang="en-US" sz="1800" dirty="0">
                <a:solidFill>
                  <a:schemeClr val="tx1"/>
                </a:solidFill>
              </a:rPr>
              <a:t>尝试使用</a:t>
            </a:r>
            <a:r>
              <a:rPr lang="en-US" altLang="zh-CN" sz="1800" dirty="0" err="1">
                <a:solidFill>
                  <a:schemeClr val="tx1"/>
                </a:solidFill>
              </a:rPr>
              <a:t>gradio</a:t>
            </a:r>
            <a:r>
              <a:rPr lang="zh-CN" altLang="en-US" sz="1800" dirty="0">
                <a:solidFill>
                  <a:schemeClr val="tx1"/>
                </a:solidFill>
              </a:rPr>
              <a:t>等软件，构建一个</a:t>
            </a:r>
            <a:r>
              <a:rPr lang="en-US" altLang="zh-CN" sz="1800" dirty="0">
                <a:solidFill>
                  <a:schemeClr val="tx1"/>
                </a:solidFill>
              </a:rPr>
              <a:t>LLM</a:t>
            </a:r>
            <a:r>
              <a:rPr lang="zh-CN" altLang="en-US" sz="1800" dirty="0">
                <a:solidFill>
                  <a:schemeClr val="tx1"/>
                </a:solidFill>
              </a:rPr>
              <a:t>的用户可视化页面，并且通过调用</a:t>
            </a:r>
            <a:r>
              <a:rPr lang="en-US" altLang="zh-CN" sz="1800" dirty="0">
                <a:solidFill>
                  <a:schemeClr val="tx1"/>
                </a:solidFill>
              </a:rPr>
              <a:t>API</a:t>
            </a:r>
            <a:r>
              <a:rPr lang="zh-CN" altLang="en-US" sz="1800" dirty="0">
                <a:solidFill>
                  <a:schemeClr val="tx1"/>
                </a:solidFill>
              </a:rPr>
              <a:t>的方式来调用不同的</a:t>
            </a:r>
            <a:r>
              <a:rPr lang="en-US" altLang="zh-CN" sz="1800" dirty="0">
                <a:solidFill>
                  <a:schemeClr val="tx1"/>
                </a:solidFill>
              </a:rPr>
              <a:t>LLM</a:t>
            </a:r>
            <a:r>
              <a:rPr lang="zh-CN" altLang="en-US" sz="1800" dirty="0">
                <a:solidFill>
                  <a:schemeClr val="tx1"/>
                </a:solidFill>
              </a:rPr>
              <a:t>模型（至少两个不同的公司的</a:t>
            </a:r>
            <a:r>
              <a:rPr lang="en-US" altLang="zh-CN" sz="1800" dirty="0">
                <a:solidFill>
                  <a:schemeClr val="tx1"/>
                </a:solidFill>
              </a:rPr>
              <a:t>LLM</a:t>
            </a:r>
            <a:r>
              <a:rPr lang="zh-CN" altLang="en-US" sz="1800" dirty="0">
                <a:solidFill>
                  <a:schemeClr val="tx1"/>
                </a:solidFill>
              </a:rPr>
              <a:t>模型）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457200" lvl="0" indent="-457200">
              <a:buClr>
                <a:srgbClr val="E48312"/>
              </a:buClr>
              <a:buFont typeface="+mj-lt"/>
              <a:buAutoNum type="arabicPeriod"/>
            </a:pPr>
            <a:r>
              <a:rPr lang="zh-CN" altLang="en-US" sz="1800" dirty="0">
                <a:solidFill>
                  <a:schemeClr val="tx1"/>
                </a:solidFill>
              </a:rPr>
              <a:t>构建用户可视化的页面时，需要满足以下内容（总分</a:t>
            </a:r>
            <a:r>
              <a:rPr lang="en-US" altLang="zh-CN" sz="1800" dirty="0">
                <a:solidFill>
                  <a:schemeClr val="tx1"/>
                </a:solidFill>
              </a:rPr>
              <a:t>5</a:t>
            </a:r>
            <a:r>
              <a:rPr lang="zh-CN" altLang="en-US" sz="1800" dirty="0">
                <a:solidFill>
                  <a:schemeClr val="tx1"/>
                </a:solidFill>
              </a:rPr>
              <a:t>分）：</a:t>
            </a:r>
          </a:p>
          <a:p>
            <a:pPr marL="0" lvl="0" indent="0">
              <a:buClr>
                <a:srgbClr val="E48312"/>
              </a:buClr>
              <a:buNone/>
            </a:pPr>
            <a:r>
              <a:rPr lang="en-US" sz="1800" dirty="0">
                <a:solidFill>
                  <a:schemeClr val="tx1"/>
                </a:solidFill>
              </a:rPr>
              <a:t>	</a:t>
            </a:r>
            <a:r>
              <a:rPr lang="zh-CN" altLang="en-US" sz="1800" dirty="0">
                <a:solidFill>
                  <a:schemeClr val="tx1"/>
                </a:solidFill>
              </a:rPr>
              <a:t>基础对话功能：可以成功的调用</a:t>
            </a:r>
            <a:r>
              <a:rPr lang="en-US" altLang="zh-CN" sz="1800" dirty="0">
                <a:solidFill>
                  <a:schemeClr val="tx1"/>
                </a:solidFill>
              </a:rPr>
              <a:t>LLM</a:t>
            </a:r>
            <a:r>
              <a:rPr lang="zh-CN" altLang="en-US" sz="1800" dirty="0">
                <a:solidFill>
                  <a:schemeClr val="tx1"/>
                </a:solidFill>
              </a:rPr>
              <a:t>模型的</a:t>
            </a:r>
            <a:r>
              <a:rPr lang="en-US" altLang="zh-CN" sz="1800" dirty="0">
                <a:solidFill>
                  <a:schemeClr val="tx1"/>
                </a:solidFill>
              </a:rPr>
              <a:t>API</a:t>
            </a:r>
            <a:r>
              <a:rPr lang="zh-CN" altLang="en-US" sz="1800" dirty="0">
                <a:solidFill>
                  <a:schemeClr val="tx1"/>
                </a:solidFill>
              </a:rPr>
              <a:t>来回答用户的问题，存在基本的输入输出的页面，不要求可以进行多轮对话。</a:t>
            </a:r>
            <a:r>
              <a:rPr lang="zh-CN" altLang="en-US" sz="1800" dirty="0">
                <a:solidFill>
                  <a:srgbClr val="FF0000"/>
                </a:solidFill>
              </a:rPr>
              <a:t>（必须）</a:t>
            </a:r>
            <a:r>
              <a:rPr lang="en-US" altLang="zh-CN" sz="1800" dirty="0">
                <a:solidFill>
                  <a:schemeClr val="tx1"/>
                </a:solidFill>
              </a:rPr>
              <a:t>4</a:t>
            </a:r>
            <a:r>
              <a:rPr lang="zh-CN" altLang="en-US" sz="1800" dirty="0">
                <a:solidFill>
                  <a:schemeClr val="tx1"/>
                </a:solidFill>
              </a:rPr>
              <a:t>分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marL="0" lvl="0" indent="0">
              <a:buClr>
                <a:srgbClr val="E48312"/>
              </a:buClr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	</a:t>
            </a:r>
            <a:r>
              <a:rPr lang="zh-CN" altLang="en-US" sz="1800" dirty="0">
                <a:solidFill>
                  <a:schemeClr val="tx1"/>
                </a:solidFill>
              </a:rPr>
              <a:t>多轮对话功能：在同一个对话下，记录同该用户之前的对话内容，一同输入给大模型，从而实现多轮对话功能。（可选，</a:t>
            </a:r>
            <a:r>
              <a:rPr lang="en-US" altLang="zh-CN" sz="1800" dirty="0">
                <a:solidFill>
                  <a:schemeClr val="tx1"/>
                </a:solidFill>
              </a:rPr>
              <a:t>3</a:t>
            </a:r>
            <a:r>
              <a:rPr lang="zh-CN" altLang="en-US" sz="1800" dirty="0">
                <a:solidFill>
                  <a:schemeClr val="tx1"/>
                </a:solidFill>
              </a:rPr>
              <a:t>选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即可）记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分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0" indent="0">
              <a:buClr>
                <a:srgbClr val="E48312"/>
              </a:buClr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	</a:t>
            </a:r>
            <a:r>
              <a:rPr lang="zh-CN" altLang="en-US" sz="1800" dirty="0">
                <a:solidFill>
                  <a:schemeClr val="tx1"/>
                </a:solidFill>
              </a:rPr>
              <a:t>历史记录功能：可以记录用户之前同</a:t>
            </a:r>
            <a:r>
              <a:rPr lang="en-US" altLang="zh-CN" sz="1800" dirty="0">
                <a:solidFill>
                  <a:schemeClr val="tx1"/>
                </a:solidFill>
              </a:rPr>
              <a:t>LLM</a:t>
            </a:r>
            <a:r>
              <a:rPr lang="zh-CN" altLang="en-US" sz="1800" dirty="0">
                <a:solidFill>
                  <a:schemeClr val="tx1"/>
                </a:solidFill>
              </a:rPr>
              <a:t>的对话历史记录，并且可以选择之前的历史记录继续聊天（可选，</a:t>
            </a:r>
            <a:r>
              <a:rPr lang="en-US" altLang="zh-CN" sz="1800" dirty="0">
                <a:solidFill>
                  <a:schemeClr val="tx1"/>
                </a:solidFill>
              </a:rPr>
              <a:t>3</a:t>
            </a:r>
            <a:r>
              <a:rPr lang="zh-CN" altLang="en-US" sz="1800" dirty="0">
                <a:solidFill>
                  <a:schemeClr val="tx1"/>
                </a:solidFill>
              </a:rPr>
              <a:t>选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即可）记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分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0" indent="0">
              <a:buClr>
                <a:srgbClr val="E48312"/>
              </a:buClr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	</a:t>
            </a:r>
            <a:r>
              <a:rPr lang="zh-CN" altLang="en-US" sz="1800" dirty="0">
                <a:solidFill>
                  <a:schemeClr val="tx1"/>
                </a:solidFill>
              </a:rPr>
              <a:t>其他可选的能够提升用户交互体验的内容（可选，</a:t>
            </a:r>
            <a:r>
              <a:rPr lang="en-US" altLang="zh-CN" sz="1800" dirty="0">
                <a:solidFill>
                  <a:schemeClr val="tx1"/>
                </a:solidFill>
              </a:rPr>
              <a:t> 3</a:t>
            </a:r>
            <a:r>
              <a:rPr lang="zh-CN" altLang="en-US" sz="1800" dirty="0">
                <a:solidFill>
                  <a:schemeClr val="tx1"/>
                </a:solidFill>
              </a:rPr>
              <a:t>选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即可）记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分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0" indent="0">
              <a:buClr>
                <a:srgbClr val="E48312"/>
              </a:buClr>
              <a:buNone/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>
              <a:buClr>
                <a:srgbClr val="E48312"/>
              </a:buClr>
              <a:buNone/>
            </a:pPr>
            <a:endParaRPr lang="en-US" altLang="zh-CN" sz="1800" dirty="0">
              <a:solidFill>
                <a:srgbClr val="FF0000"/>
              </a:solidFill>
            </a:endParaRPr>
          </a:p>
          <a:p>
            <a:pPr marL="0" lvl="0" indent="0">
              <a:buClr>
                <a:srgbClr val="E48312"/>
              </a:buClr>
              <a:buNone/>
            </a:pPr>
            <a:r>
              <a:rPr lang="en-US" sz="1800" dirty="0">
                <a:solidFill>
                  <a:schemeClr val="tx1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862173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Report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just"/>
            <a:r>
              <a:rPr lang="en-US"/>
              <a:t>HCI							                   Dr. Shuang LIANG, TongJi</a:t>
            </a:r>
            <a:endParaRPr 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54F0D2B-ADCE-4A56-9CE3-2A38BDA33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595" y="1196752"/>
            <a:ext cx="8618809" cy="5092291"/>
          </a:xfrm>
        </p:spPr>
        <p:txBody>
          <a:bodyPr>
            <a:normAutofit/>
          </a:bodyPr>
          <a:lstStyle/>
          <a:p>
            <a:r>
              <a:rPr lang="en-US" sz="1800" dirty="0"/>
              <a:t>The report should answer the following questions (in English)</a:t>
            </a:r>
            <a:r>
              <a:rPr lang="zh-CN" altLang="en-US" sz="1800" dirty="0"/>
              <a:t>，总分</a:t>
            </a:r>
            <a:r>
              <a:rPr lang="en-US" altLang="zh-CN" sz="1800" dirty="0"/>
              <a:t>5</a:t>
            </a:r>
            <a:r>
              <a:rPr lang="zh-CN" altLang="en-US" sz="1800" dirty="0"/>
              <a:t>分</a:t>
            </a:r>
            <a:r>
              <a:rPr lang="en-US" sz="1800" dirty="0"/>
              <a:t>:</a:t>
            </a:r>
          </a:p>
          <a:p>
            <a:pPr marL="200025" lvl="1" indent="0">
              <a:buNone/>
            </a:pPr>
            <a:r>
              <a:rPr lang="en-US" altLang="zh-CN" sz="1600" dirty="0"/>
              <a:t>1. </a:t>
            </a:r>
            <a:r>
              <a:rPr lang="zh-CN" altLang="en-US" sz="1600" dirty="0"/>
              <a:t>不同模型在进行</a:t>
            </a:r>
            <a:r>
              <a:rPr lang="en-US" altLang="zh-CN" sz="1600" dirty="0"/>
              <a:t>API</a:t>
            </a:r>
            <a:r>
              <a:rPr lang="zh-CN" altLang="en-US" sz="1600" dirty="0"/>
              <a:t>调用的时候是否有区别，如果有区别，区别在什么地方；</a:t>
            </a:r>
            <a:r>
              <a:rPr lang="en-US" altLang="zh-CN" sz="1600" dirty="0"/>
              <a:t>1</a:t>
            </a:r>
            <a:r>
              <a:rPr lang="zh-CN" altLang="en-US" sz="1600" dirty="0"/>
              <a:t>分</a:t>
            </a:r>
            <a:endParaRPr lang="en-US" altLang="zh-CN" sz="1600" dirty="0"/>
          </a:p>
          <a:p>
            <a:pPr marL="200025" lvl="1" indent="0">
              <a:buNone/>
            </a:pPr>
            <a:r>
              <a:rPr lang="en-US" altLang="zh-CN" sz="1600" dirty="0"/>
              <a:t>2. </a:t>
            </a:r>
            <a:r>
              <a:rPr lang="zh-CN" altLang="en-US" sz="1600" dirty="0"/>
              <a:t>自己在设计用户交互页面时的思路，自己为什么要这样子设计自己的页面，页面当中的组件的作用都是什么；</a:t>
            </a:r>
            <a:r>
              <a:rPr lang="en-US" altLang="zh-CN" sz="1600" dirty="0"/>
              <a:t>1</a:t>
            </a:r>
            <a:r>
              <a:rPr lang="zh-CN" altLang="en-US" sz="1600" dirty="0"/>
              <a:t>分</a:t>
            </a:r>
            <a:endParaRPr lang="en-US" altLang="zh-CN" sz="1600" dirty="0"/>
          </a:p>
          <a:p>
            <a:pPr marL="200025" lvl="1" indent="0">
              <a:buNone/>
            </a:pPr>
            <a:r>
              <a:rPr lang="en-US" altLang="zh-CN" sz="1600" dirty="0"/>
              <a:t>3. </a:t>
            </a:r>
            <a:r>
              <a:rPr lang="zh-CN" altLang="en-US" sz="1600" dirty="0"/>
              <a:t>大模型当中存在许多可以调整的参数（例如：采样温度、核采样阈值等）这些参数对大模型生成的回答有什么影响；</a:t>
            </a:r>
            <a:r>
              <a:rPr lang="en-US" altLang="zh-CN" sz="1600" dirty="0"/>
              <a:t>1</a:t>
            </a:r>
            <a:r>
              <a:rPr lang="zh-CN" altLang="en-US" sz="1600" dirty="0"/>
              <a:t>分</a:t>
            </a:r>
            <a:endParaRPr lang="en-US" altLang="zh-CN" sz="1600" dirty="0"/>
          </a:p>
          <a:p>
            <a:pPr marL="200025" lvl="1" indent="0">
              <a:buNone/>
            </a:pPr>
            <a:r>
              <a:rPr lang="en-US" altLang="zh-CN" sz="1600" dirty="0"/>
              <a:t>4. </a:t>
            </a:r>
            <a:r>
              <a:rPr lang="zh-CN" altLang="en-US" sz="1600" dirty="0"/>
              <a:t>不同的提示词对大模型的输出会产生不同的区别 ，在面对日常使用和专业问题的时候，你会更推荐什么风格的提示词书写方法呢？</a:t>
            </a:r>
            <a:r>
              <a:rPr lang="en-US" altLang="zh-CN" sz="1600" dirty="0"/>
              <a:t>1</a:t>
            </a:r>
            <a:r>
              <a:rPr lang="zh-CN" altLang="en-US" sz="1600" dirty="0"/>
              <a:t>分</a:t>
            </a:r>
            <a:endParaRPr lang="en-US" altLang="zh-CN" sz="1600" dirty="0"/>
          </a:p>
          <a:p>
            <a:pPr marL="200025" lvl="1" indent="0">
              <a:buNone/>
            </a:pPr>
            <a:r>
              <a:rPr lang="en-US" altLang="zh-CN" sz="1600" dirty="0"/>
              <a:t>5. </a:t>
            </a:r>
            <a:r>
              <a:rPr lang="zh-CN" altLang="en-US" sz="1600" dirty="0"/>
              <a:t>至多不超过</a:t>
            </a:r>
            <a:r>
              <a:rPr lang="en-US" altLang="zh-CN" sz="1600" dirty="0"/>
              <a:t>6</a:t>
            </a:r>
            <a:r>
              <a:rPr lang="zh-CN" altLang="en-US" sz="1600" dirty="0"/>
              <a:t>页（不含封面等，只算正文部分），</a:t>
            </a:r>
            <a:r>
              <a:rPr lang="en-US" altLang="zh-CN" sz="1600" dirty="0"/>
              <a:t>in English</a:t>
            </a:r>
            <a:r>
              <a:rPr lang="zh-CN" altLang="en-US" sz="1600" dirty="0"/>
              <a:t>；</a:t>
            </a:r>
            <a:r>
              <a:rPr lang="en-US" altLang="zh-CN" sz="1600" dirty="0"/>
              <a:t>1</a:t>
            </a:r>
            <a:r>
              <a:rPr lang="zh-CN" altLang="en-US" sz="1600" dirty="0"/>
              <a:t>分</a:t>
            </a:r>
            <a:endParaRPr lang="en-US" altLang="zh-CN" sz="1600" dirty="0"/>
          </a:p>
          <a:p>
            <a:pPr marL="200025" lvl="1" indent="0">
              <a:buNone/>
            </a:pP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/>
              <a:t>Submit your work (code and report)</a:t>
            </a:r>
          </a:p>
          <a:p>
            <a:pPr lvl="1"/>
            <a:r>
              <a:rPr lang="en-US" altLang="zh-CN" sz="1600" dirty="0"/>
              <a:t>Prepare a readme file to illustrate how to run your program</a:t>
            </a:r>
          </a:p>
          <a:p>
            <a:pPr lvl="1"/>
            <a:r>
              <a:rPr lang="en-US" altLang="zh-CN" sz="1600" dirty="0"/>
              <a:t>Compress all the codes and the report into a zip file: </a:t>
            </a:r>
            <a:r>
              <a:rPr lang="en-US" altLang="zh-CN" sz="1600" dirty="0">
                <a:solidFill>
                  <a:srgbClr val="FF0000"/>
                </a:solidFill>
              </a:rPr>
              <a:t>ID_name_lab2.zip</a:t>
            </a:r>
          </a:p>
          <a:p>
            <a:pPr lvl="1"/>
            <a:r>
              <a:rPr lang="en-US" sz="1600" dirty="0"/>
              <a:t>Submitted to </a:t>
            </a:r>
            <a:r>
              <a:rPr lang="en-US" sz="1600" dirty="0" err="1"/>
              <a:t>canvas.tongji.edu.cn</a:t>
            </a:r>
            <a:endParaRPr lang="en-US" sz="1600" dirty="0"/>
          </a:p>
          <a:p>
            <a:pPr lvl="1"/>
            <a:endParaRPr lang="en-US" sz="1600" dirty="0"/>
          </a:p>
          <a:p>
            <a:r>
              <a:rPr lang="en-US" altLang="zh-CN" sz="1800" dirty="0"/>
              <a:t>Deadline</a:t>
            </a:r>
            <a:r>
              <a:rPr lang="zh-CN" altLang="en-US" sz="1800" dirty="0"/>
              <a:t>，晚交一天扣</a:t>
            </a:r>
            <a:r>
              <a:rPr lang="en-US" altLang="zh-CN" sz="1800" dirty="0"/>
              <a:t>1</a:t>
            </a:r>
            <a:r>
              <a:rPr lang="zh-CN" altLang="en-US" sz="1800" dirty="0"/>
              <a:t>分</a:t>
            </a:r>
            <a:endParaRPr lang="en-US" altLang="zh-CN" sz="1800" dirty="0"/>
          </a:p>
          <a:p>
            <a:pPr lvl="1"/>
            <a:r>
              <a:rPr lang="en-US" altLang="zh-CN" sz="1600" dirty="0"/>
              <a:t>2026</a:t>
            </a:r>
            <a:r>
              <a:rPr lang="zh-CN" altLang="en-US" sz="1600" dirty="0"/>
              <a:t>年</a:t>
            </a:r>
            <a:r>
              <a:rPr lang="en-US" altLang="zh-CN" sz="1600" dirty="0"/>
              <a:t>4</a:t>
            </a:r>
            <a:r>
              <a:rPr lang="zh-CN" altLang="en-US" sz="1600" dirty="0"/>
              <a:t>月</a:t>
            </a:r>
            <a:r>
              <a:rPr lang="en-US" altLang="zh-CN" sz="1600" dirty="0"/>
              <a:t>28</a:t>
            </a:r>
            <a:r>
              <a:rPr lang="zh-CN" altLang="en-US" sz="1600" dirty="0"/>
              <a:t>日</a:t>
            </a:r>
            <a:r>
              <a:rPr lang="en-US" altLang="zh-CN" sz="1600" dirty="0"/>
              <a:t>23:59</a:t>
            </a:r>
          </a:p>
          <a:p>
            <a:pPr lvl="1"/>
            <a:endParaRPr lang="en-US" sz="1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F27DB7A-94BF-4FFE-83E8-7E6F8B2FE573}"/>
              </a:ext>
            </a:extLst>
          </p:cNvPr>
          <p:cNvSpPr txBox="1"/>
          <p:nvPr/>
        </p:nvSpPr>
        <p:spPr>
          <a:xfrm>
            <a:off x="6156176" y="6104377"/>
            <a:ext cx="288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人一组，完成上述任务</a:t>
            </a:r>
          </a:p>
        </p:txBody>
      </p:sp>
    </p:spTree>
    <p:extLst>
      <p:ext uri="{BB962C8B-B14F-4D97-AF65-F5344CB8AC3E}">
        <p14:creationId xmlns:p14="http://schemas.microsoft.com/office/powerpoint/2010/main" val="1243614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ook">
      <a:dk1>
        <a:sysClr val="windowText" lastClr="000000"/>
      </a:dk1>
      <a:lt1>
        <a:sysClr val="window" lastClr="FFFFFF"/>
      </a:lt1>
      <a:dk2>
        <a:srgbClr val="000082"/>
      </a:dk2>
      <a:lt2>
        <a:srgbClr val="F3F3FF"/>
      </a:lt2>
      <a:accent1>
        <a:srgbClr val="828200"/>
      </a:accent1>
      <a:accent2>
        <a:srgbClr val="1B582B"/>
      </a:accent2>
      <a:accent3>
        <a:srgbClr val="009FEC"/>
      </a:accent3>
      <a:accent4>
        <a:srgbClr val="00BDBD"/>
      </a:accent4>
      <a:accent5>
        <a:srgbClr val="7C5BAE"/>
      </a:accent5>
      <a:accent6>
        <a:srgbClr val="0055AA"/>
      </a:accent6>
      <a:hlink>
        <a:srgbClr val="FC9658"/>
      </a:hlink>
      <a:folHlink>
        <a:srgbClr val="E800E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7830</TotalTime>
  <Words>816</Words>
  <Application>Microsoft Macintosh PowerPoint</Application>
  <PresentationFormat>全屏显示(4:3)</PresentationFormat>
  <Paragraphs>61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Arial</vt:lpstr>
      <vt:lpstr>Calibri</vt:lpstr>
      <vt:lpstr>Latha</vt:lpstr>
      <vt:lpstr>Office Theme</vt:lpstr>
      <vt:lpstr>LLM application</vt:lpstr>
      <vt:lpstr>ChatGPT training process</vt:lpstr>
      <vt:lpstr>gradio framework</vt:lpstr>
      <vt:lpstr>Steps to call LLM API in gradio</vt:lpstr>
      <vt:lpstr>Acquire llm api key</vt:lpstr>
      <vt:lpstr>install gradio</vt:lpstr>
      <vt:lpstr>Design your gradio app with python</vt:lpstr>
      <vt:lpstr>Assignment</vt:lpstr>
      <vt:lpstr>Report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Yichen Wei</dc:creator>
  <cp:lastModifiedBy>Tim Deng</cp:lastModifiedBy>
  <cp:revision>325</cp:revision>
  <cp:lastPrinted>2013-09-10T08:29:36Z</cp:lastPrinted>
  <dcterms:created xsi:type="dcterms:W3CDTF">2006-08-16T00:00:00Z</dcterms:created>
  <dcterms:modified xsi:type="dcterms:W3CDTF">2026-02-28T07:44:27Z</dcterms:modified>
</cp:coreProperties>
</file>