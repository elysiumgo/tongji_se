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8"/>
  </p:notesMasterIdLst>
  <p:sldIdLst>
    <p:sldId id="256" r:id="rId2"/>
    <p:sldId id="300" r:id="rId3"/>
    <p:sldId id="481" r:id="rId4"/>
    <p:sldId id="259" r:id="rId5"/>
    <p:sldId id="257" r:id="rId6"/>
    <p:sldId id="258" r:id="rId7"/>
    <p:sldId id="576" r:id="rId8"/>
    <p:sldId id="577" r:id="rId9"/>
    <p:sldId id="578" r:id="rId10"/>
    <p:sldId id="580" r:id="rId11"/>
    <p:sldId id="581" r:id="rId12"/>
    <p:sldId id="582" r:id="rId13"/>
    <p:sldId id="583" r:id="rId14"/>
    <p:sldId id="262" r:id="rId15"/>
    <p:sldId id="263" r:id="rId16"/>
    <p:sldId id="273" r:id="rId17"/>
    <p:sldId id="264" r:id="rId18"/>
    <p:sldId id="301" r:id="rId19"/>
    <p:sldId id="487" r:id="rId20"/>
    <p:sldId id="584" r:id="rId21"/>
    <p:sldId id="585" r:id="rId22"/>
    <p:sldId id="586" r:id="rId23"/>
    <p:sldId id="596" r:id="rId24"/>
    <p:sldId id="598" r:id="rId25"/>
    <p:sldId id="601" r:id="rId26"/>
    <p:sldId id="492" r:id="rId27"/>
    <p:sldId id="488" r:id="rId28"/>
    <p:sldId id="261" r:id="rId29"/>
    <p:sldId id="265" r:id="rId30"/>
    <p:sldId id="272" r:id="rId31"/>
    <p:sldId id="489" r:id="rId32"/>
    <p:sldId id="490" r:id="rId33"/>
    <p:sldId id="491" r:id="rId34"/>
    <p:sldId id="275" r:id="rId35"/>
    <p:sldId id="302" r:id="rId36"/>
    <p:sldId id="274" r:id="rId37"/>
    <p:sldId id="602" r:id="rId38"/>
    <p:sldId id="277" r:id="rId39"/>
    <p:sldId id="296" r:id="rId40"/>
    <p:sldId id="297" r:id="rId41"/>
    <p:sldId id="617" r:id="rId42"/>
    <p:sldId id="278" r:id="rId43"/>
    <p:sldId id="619" r:id="rId44"/>
    <p:sldId id="294" r:id="rId45"/>
    <p:sldId id="587" r:id="rId46"/>
    <p:sldId id="618" r:id="rId47"/>
    <p:sldId id="590" r:id="rId48"/>
    <p:sldId id="591" r:id="rId49"/>
    <p:sldId id="266" r:id="rId50"/>
    <p:sldId id="267" r:id="rId51"/>
    <p:sldId id="303" r:id="rId52"/>
    <p:sldId id="299" r:id="rId53"/>
    <p:sldId id="268" r:id="rId54"/>
    <p:sldId id="304" r:id="rId55"/>
    <p:sldId id="269" r:id="rId56"/>
    <p:sldId id="280" r:id="rId57"/>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42" userDrawn="1">
          <p15:clr>
            <a:srgbClr val="A4A3A4"/>
          </p15:clr>
        </p15:guide>
        <p15:guide id="2" pos="290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75"/>
    <p:restoredTop sz="82731"/>
  </p:normalViewPr>
  <p:slideViewPr>
    <p:cSldViewPr showGuides="1">
      <p:cViewPr varScale="1">
        <p:scale>
          <a:sx n="100" d="100"/>
          <a:sy n="100" d="100"/>
        </p:scale>
        <p:origin x="656" y="64"/>
      </p:cViewPr>
      <p:guideLst>
        <p:guide orient="horz" pos="2142"/>
        <p:guide pos="2903"/>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丰夏 韩" userId="3be62ff0eff9a3aa" providerId="LiveId" clId="{E16E0426-98D8-492E-ADEE-1B2701297515}"/>
    <pc:docChg chg="modSld">
      <pc:chgData name="丰夏 韩" userId="3be62ff0eff9a3aa" providerId="LiveId" clId="{E16E0426-98D8-492E-ADEE-1B2701297515}" dt="2025-09-15T03:42:50.137" v="23" actId="1076"/>
      <pc:docMkLst>
        <pc:docMk/>
      </pc:docMkLst>
      <pc:sldChg chg="modSp mod">
        <pc:chgData name="丰夏 韩" userId="3be62ff0eff9a3aa" providerId="LiveId" clId="{E16E0426-98D8-492E-ADEE-1B2701297515}" dt="2025-09-15T03:42:50.137" v="23" actId="1076"/>
        <pc:sldMkLst>
          <pc:docMk/>
          <pc:sldMk cId="0" sldId="259"/>
        </pc:sldMkLst>
        <pc:spChg chg="mod">
          <ac:chgData name="丰夏 韩" userId="3be62ff0eff9a3aa" providerId="LiveId" clId="{E16E0426-98D8-492E-ADEE-1B2701297515}" dt="2025-09-15T03:42:50.137" v="23" actId="1076"/>
          <ac:spMkLst>
            <pc:docMk/>
            <pc:sldMk cId="0" sldId="259"/>
            <ac:spMk id="6147" creationId="{00000000-0000-0000-0000-000000000000}"/>
          </ac:spMkLst>
        </pc:spChg>
      </pc:sldChg>
      <pc:sldChg chg="modSp">
        <pc:chgData name="丰夏 韩" userId="3be62ff0eff9a3aa" providerId="LiveId" clId="{E16E0426-98D8-492E-ADEE-1B2701297515}" dt="2025-09-15T03:13:28.216" v="1" actId="20577"/>
        <pc:sldMkLst>
          <pc:docMk/>
          <pc:sldMk cId="0" sldId="305"/>
        </pc:sldMkLst>
        <pc:spChg chg="mod">
          <ac:chgData name="丰夏 韩" userId="3be62ff0eff9a3aa" providerId="LiveId" clId="{E16E0426-98D8-492E-ADEE-1B2701297515}" dt="2025-09-15T03:13:28.216" v="1" actId="20577"/>
          <ac:spMkLst>
            <pc:docMk/>
            <pc:sldMk cId="0" sldId="305"/>
            <ac:spMk id="12" creationId="{00000000-0000-0000-0000-000000000000}"/>
          </ac:spMkLst>
        </pc:spChg>
      </pc:sldChg>
      <pc:sldChg chg="modSp mod">
        <pc:chgData name="丰夏 韩" userId="3be62ff0eff9a3aa" providerId="LiveId" clId="{E16E0426-98D8-492E-ADEE-1B2701297515}" dt="2025-09-15T03:23:16.639" v="22"/>
        <pc:sldMkLst>
          <pc:docMk/>
          <pc:sldMk cId="0" sldId="486"/>
        </pc:sldMkLst>
        <pc:spChg chg="mod">
          <ac:chgData name="丰夏 韩" userId="3be62ff0eff9a3aa" providerId="LiveId" clId="{E16E0426-98D8-492E-ADEE-1B2701297515}" dt="2025-09-15T03:23:16.639" v="22"/>
          <ac:spMkLst>
            <pc:docMk/>
            <pc:sldMk cId="0" sldId="486"/>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7723A25E-2A8F-40DE-8A69-B9A098A0A121}" type="datetimeFigureOut">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2025/9/15</a:t>
            </a:fld>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lstStyle/>
          <a:p>
            <a:pPr lvl="0" algn="r"/>
            <a:fld id="{9A0DB2DC-4C9A-4742-B13C-FB6460FD3503}" type="slidenum">
              <a:rPr lang="zh-CN" altLang="en-US" sz="1200" dirty="0"/>
              <a:t>‹#›</a:t>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a:ln>
            <a:solidFill>
              <a:srgbClr val="000000">
                <a:alpha val="100000"/>
              </a:srgbClr>
            </a:solidFill>
            <a:miter lim="800000"/>
          </a:ln>
        </p:spPr>
      </p:sp>
      <p:sp>
        <p:nvSpPr>
          <p:cNvPr id="5123" name="备注占位符 2"/>
          <p:cNvSpPr>
            <a:spLocks noGrp="1"/>
          </p:cNvSpPr>
          <p:nvPr>
            <p:ph type="body" idx="1"/>
          </p:nvPr>
        </p:nvSpPr>
        <p:spPr>
          <a:noFill/>
          <a:ln>
            <a:noFill/>
          </a:ln>
        </p:spPr>
        <p:txBody>
          <a:bodyPr wrap="square" lIns="91440" tIns="45720" rIns="91440" bIns="45720" anchor="t" anchorCtr="0"/>
          <a:lstStyle/>
          <a:p>
            <a:pPr lvl="0"/>
            <a:endParaRPr lang="zh-CN" altLang="en-US" dirty="0"/>
          </a:p>
        </p:txBody>
      </p:sp>
      <p:sp>
        <p:nvSpPr>
          <p:cNvPr id="512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t>1</a:t>
            </a:fld>
            <a:endParaRPr lang="zh-CN" alt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TextEdit="1"/>
          </p:cNvSpPr>
          <p:nvPr>
            <p:ph type="sldImg"/>
          </p:nvPr>
        </p:nvSpPr>
        <p:spPr>
          <a:ln>
            <a:solidFill>
              <a:srgbClr val="000000"/>
            </a:solidFill>
            <a:miter/>
          </a:ln>
        </p:spPr>
      </p:sp>
      <p:sp>
        <p:nvSpPr>
          <p:cNvPr id="15363" name="备注占位符 2"/>
          <p:cNvSpPr>
            <a:spLocks noGrp="1"/>
          </p:cNvSpPr>
          <p:nvPr>
            <p:ph type="body" idx="1"/>
          </p:nvPr>
        </p:nvSpPr>
        <p:spPr>
          <a:noFill/>
          <a:ln>
            <a:noFill/>
          </a:ln>
        </p:spPr>
        <p:txBody>
          <a:bodyPr wrap="square" lIns="91440" tIns="45720" rIns="91440" bIns="45720" anchor="t" anchorCtr="0"/>
          <a:lstStyle/>
          <a:p>
            <a:pPr lvl="0"/>
            <a:endParaRPr lang="zh-CN" altLang="en-US" dirty="0"/>
          </a:p>
        </p:txBody>
      </p:sp>
      <p:sp>
        <p:nvSpPr>
          <p:cNvPr id="1536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t>2</a:t>
            </a:fld>
            <a:endParaRPr lang="zh-CN" alt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TextEdit="1"/>
          </p:cNvSpPr>
          <p:nvPr>
            <p:ph type="sldImg"/>
          </p:nvPr>
        </p:nvSpPr>
        <p:spPr>
          <a:ln>
            <a:solidFill>
              <a:srgbClr val="000000">
                <a:alpha val="100000"/>
              </a:srgbClr>
            </a:solidFill>
            <a:miter lim="800000"/>
          </a:ln>
        </p:spPr>
      </p:sp>
      <p:sp>
        <p:nvSpPr>
          <p:cNvPr id="20483" name="备注占位符 2"/>
          <p:cNvSpPr>
            <a:spLocks noGrp="1"/>
          </p:cNvSpPr>
          <p:nvPr>
            <p:ph type="body" idx="1"/>
          </p:nvPr>
        </p:nvSpPr>
        <p:spPr>
          <a:noFill/>
          <a:ln>
            <a:noFill/>
          </a:ln>
        </p:spPr>
        <p:txBody>
          <a:bodyPr wrap="square" lIns="91440" tIns="45720" rIns="91440" bIns="45720" anchor="t" anchorCtr="0"/>
          <a:lstStyle/>
          <a:p>
            <a:pPr lvl="0"/>
            <a:endParaRPr lang="zh-CN" altLang="en-US" dirty="0"/>
          </a:p>
        </p:txBody>
      </p:sp>
      <p:sp>
        <p:nvSpPr>
          <p:cNvPr id="2048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t>6</a:t>
            </a:fld>
            <a:endParaRPr lang="zh-CN" altLang="en-US"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a:ln>
            <a:solidFill>
              <a:srgbClr val="000000">
                <a:alpha val="100000"/>
              </a:srgbClr>
            </a:solidFill>
            <a:miter lim="800000"/>
          </a:ln>
        </p:spPr>
      </p:sp>
      <p:sp>
        <p:nvSpPr>
          <p:cNvPr id="23555" name="备注占位符 2"/>
          <p:cNvSpPr>
            <a:spLocks noGrp="1"/>
          </p:cNvSpPr>
          <p:nvPr>
            <p:ph type="body" idx="1"/>
          </p:nvPr>
        </p:nvSpPr>
        <p:spPr>
          <a:noFill/>
          <a:ln>
            <a:noFill/>
          </a:ln>
        </p:spPr>
        <p:txBody>
          <a:bodyPr wrap="square" lIns="91440" tIns="45720" rIns="91440" bIns="45720" anchor="t" anchorCtr="0"/>
          <a:lstStyle/>
          <a:p>
            <a:pPr lvl="0"/>
            <a:endParaRPr lang="zh-CN" altLang="en-US" dirty="0"/>
          </a:p>
        </p:txBody>
      </p:sp>
      <p:sp>
        <p:nvSpPr>
          <p:cNvPr id="23556" name="幻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zh-CN" sz="1200" dirty="0"/>
              <a:t>8</a:t>
            </a:fld>
            <a:endParaRPr lang="zh-CN" altLang="zh-CN"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a:ln>
            <a:solidFill>
              <a:srgbClr val="000000">
                <a:alpha val="100000"/>
              </a:srgbClr>
            </a:solidFill>
            <a:miter lim="800000"/>
          </a:ln>
        </p:spPr>
      </p:sp>
      <p:sp>
        <p:nvSpPr>
          <p:cNvPr id="26627" name="备注占位符 2"/>
          <p:cNvSpPr>
            <a:spLocks noGrp="1"/>
          </p:cNvSpPr>
          <p:nvPr>
            <p:ph type="body" idx="1"/>
          </p:nvPr>
        </p:nvSpPr>
        <p:spPr>
          <a:noFill/>
          <a:ln>
            <a:noFill/>
          </a:ln>
        </p:spPr>
        <p:txBody>
          <a:bodyPr wrap="square" lIns="91440" tIns="45720" rIns="91440" bIns="45720" anchor="t" anchorCtr="0"/>
          <a:lstStyle/>
          <a:p>
            <a:pPr lvl="0"/>
            <a:endParaRPr lang="zh-CN" altLang="en-US" dirty="0"/>
          </a:p>
        </p:txBody>
      </p:sp>
      <p:sp>
        <p:nvSpPr>
          <p:cNvPr id="26628" name="幻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zh-CN" sz="1200" dirty="0"/>
              <a:t>10</a:t>
            </a:fld>
            <a:endParaRPr lang="zh-CN" altLang="zh-CN" sz="12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TextEdit="1"/>
          </p:cNvSpPr>
          <p:nvPr>
            <p:ph type="sldImg"/>
          </p:nvPr>
        </p:nvSpPr>
        <p:spPr>
          <a:ln>
            <a:solidFill>
              <a:srgbClr val="000000">
                <a:alpha val="100000"/>
              </a:srgbClr>
            </a:solidFill>
            <a:miter lim="800000"/>
          </a:ln>
        </p:spPr>
      </p:sp>
      <p:sp>
        <p:nvSpPr>
          <p:cNvPr id="28675" name="备注占位符 2"/>
          <p:cNvSpPr>
            <a:spLocks noGrp="1"/>
          </p:cNvSpPr>
          <p:nvPr>
            <p:ph type="body" idx="1"/>
          </p:nvPr>
        </p:nvSpPr>
        <p:spPr>
          <a:noFill/>
          <a:ln>
            <a:noFill/>
          </a:ln>
        </p:spPr>
        <p:txBody>
          <a:bodyPr wrap="square" lIns="91440" tIns="45720" rIns="91440" bIns="45720" anchor="t" anchorCtr="0"/>
          <a:lstStyle/>
          <a:p>
            <a:pPr lvl="0"/>
            <a:endParaRPr lang="zh-CN" altLang="en-US" dirty="0"/>
          </a:p>
        </p:txBody>
      </p:sp>
      <p:sp>
        <p:nvSpPr>
          <p:cNvPr id="28676" name="幻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zh-CN" sz="1200" dirty="0"/>
              <a:t>11</a:t>
            </a:fld>
            <a:endParaRPr lang="zh-CN" altLang="zh-CN" sz="12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p:cNvSpPr>
            <a:spLocks noGrp="1" noRot="1" noChangeAspect="1" noTextEdit="1"/>
          </p:cNvSpPr>
          <p:nvPr>
            <p:ph type="sldImg"/>
          </p:nvPr>
        </p:nvSpPr>
        <p:spPr>
          <a:ln>
            <a:solidFill>
              <a:srgbClr val="000000">
                <a:alpha val="100000"/>
              </a:srgbClr>
            </a:solidFill>
            <a:miter lim="800000"/>
          </a:ln>
        </p:spPr>
      </p:sp>
      <p:sp>
        <p:nvSpPr>
          <p:cNvPr id="30723" name="备注占位符 2"/>
          <p:cNvSpPr>
            <a:spLocks noGrp="1"/>
          </p:cNvSpPr>
          <p:nvPr>
            <p:ph type="body" idx="1"/>
          </p:nvPr>
        </p:nvSpPr>
        <p:spPr>
          <a:noFill/>
          <a:ln>
            <a:noFill/>
          </a:ln>
        </p:spPr>
        <p:txBody>
          <a:bodyPr wrap="square" lIns="91440" tIns="45720" rIns="91440" bIns="45720" anchor="t" anchorCtr="0"/>
          <a:lstStyle/>
          <a:p>
            <a:pPr lvl="0"/>
            <a:r>
              <a:rPr lang="en-US" altLang="zh-CN" b="1" i="1" dirty="0"/>
              <a:t>Data encapsulation</a:t>
            </a:r>
            <a:r>
              <a:rPr lang="en-US" altLang="zh-CN" dirty="0"/>
              <a:t>: </a:t>
            </a:r>
            <a:r>
              <a:rPr lang="en-US" altLang="zh-CN" dirty="0">
                <a:latin typeface="Arial" panose="020B0604020202020204" pitchFamily="34" charset="0"/>
              </a:rPr>
              <a:t>OOP ties the data closely to a particular class and its objects. There is no need of “global data types” as in POP and hence data will not flow freely around the program. </a:t>
            </a:r>
            <a:r>
              <a:rPr lang="en-US" altLang="zh-CN" b="1" i="1" dirty="0">
                <a:latin typeface="Arial" panose="020B0604020202020204" pitchFamily="34" charset="0"/>
              </a:rPr>
              <a:t>This makes sure there will be no ‘accidental modification’ of critical data.</a:t>
            </a:r>
          </a:p>
          <a:p>
            <a:pPr lvl="0"/>
            <a:endParaRPr lang="en-US" altLang="zh-CN" b="1" i="1" dirty="0">
              <a:latin typeface="Arial" panose="020B0604020202020204" pitchFamily="34" charset="0"/>
            </a:endParaRPr>
          </a:p>
          <a:p>
            <a:pPr lvl="0"/>
            <a:r>
              <a:rPr lang="en-US" altLang="zh-CN" b="1" i="1" dirty="0">
                <a:latin typeface="Arial" panose="020B0604020202020204" pitchFamily="34" charset="0"/>
              </a:rPr>
              <a:t>Code resusability: </a:t>
            </a:r>
            <a:r>
              <a:rPr lang="en-US" altLang="zh-CN" dirty="0">
                <a:latin typeface="Arial" panose="020B0604020202020204" pitchFamily="34" charset="0"/>
              </a:rPr>
              <a:t>This simply means, a piece of code written earlier in a program can be used later. This is made possible by a feature of classes named </a:t>
            </a:r>
            <a:r>
              <a:rPr lang="en-US" altLang="zh-CN" b="1" dirty="0">
                <a:latin typeface="Arial" panose="020B0604020202020204" pitchFamily="34" charset="0"/>
              </a:rPr>
              <a:t>“inheritance”.</a:t>
            </a:r>
            <a:endParaRPr lang="zh-CN" altLang="en-US" dirty="0"/>
          </a:p>
        </p:txBody>
      </p:sp>
      <p:sp>
        <p:nvSpPr>
          <p:cNvPr id="30724" name="幻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zh-CN" sz="1200" dirty="0"/>
              <a:t>12</a:t>
            </a:fld>
            <a:endParaRPr lang="zh-CN" altLang="zh-CN" sz="12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p:cNvSpPr>
            <a:spLocks noGrp="1" noRot="1" noChangeAspect="1" noTextEdit="1"/>
          </p:cNvSpPr>
          <p:nvPr>
            <p:ph type="sldImg"/>
          </p:nvPr>
        </p:nvSpPr>
        <p:spPr>
          <a:ln>
            <a:solidFill>
              <a:srgbClr val="000000">
                <a:alpha val="100000"/>
              </a:srgbClr>
            </a:solidFill>
            <a:miter lim="800000"/>
          </a:ln>
        </p:spPr>
      </p:sp>
      <p:sp>
        <p:nvSpPr>
          <p:cNvPr id="32771" name="备注占位符 2"/>
          <p:cNvSpPr>
            <a:spLocks noGrp="1"/>
          </p:cNvSpPr>
          <p:nvPr>
            <p:ph type="body" idx="1"/>
          </p:nvPr>
        </p:nvSpPr>
        <p:spPr>
          <a:noFill/>
          <a:ln>
            <a:noFill/>
          </a:ln>
        </p:spPr>
        <p:txBody>
          <a:bodyPr wrap="square" lIns="91440" tIns="45720" rIns="91440" bIns="45720" anchor="t" anchorCtr="0"/>
          <a:lstStyle/>
          <a:p>
            <a:pPr lvl="0"/>
            <a:endParaRPr lang="zh-CN" altLang="en-US" dirty="0"/>
          </a:p>
        </p:txBody>
      </p:sp>
      <p:sp>
        <p:nvSpPr>
          <p:cNvPr id="32772" name="幻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zh-CN" sz="1200" dirty="0"/>
              <a:t>13</a:t>
            </a:fld>
            <a:endParaRPr lang="zh-CN" altLang="zh-CN" sz="12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TextEdit="1"/>
          </p:cNvSpPr>
          <p:nvPr>
            <p:ph type="sldImg"/>
          </p:nvPr>
        </p:nvSpPr>
        <p:spPr>
          <a:ln>
            <a:solidFill>
              <a:srgbClr val="000000">
                <a:alpha val="100000"/>
              </a:srgbClr>
            </a:solidFill>
            <a:miter lim="800000"/>
          </a:ln>
        </p:spPr>
      </p:sp>
      <p:sp>
        <p:nvSpPr>
          <p:cNvPr id="47107" name="备注占位符 2"/>
          <p:cNvSpPr>
            <a:spLocks noGrp="1"/>
          </p:cNvSpPr>
          <p:nvPr>
            <p:ph type="body" idx="1"/>
          </p:nvPr>
        </p:nvSpPr>
        <p:spPr>
          <a:noFill/>
          <a:ln>
            <a:noFill/>
          </a:ln>
        </p:spPr>
        <p:txBody>
          <a:bodyPr wrap="square" lIns="91440" tIns="45720" rIns="91440" bIns="45720" anchor="t" anchorCtr="0"/>
          <a:lstStyle/>
          <a:p>
            <a:pPr lvl="0"/>
            <a:endParaRPr lang="zh-CN" altLang="en-US" dirty="0"/>
          </a:p>
        </p:txBody>
      </p:sp>
      <p:sp>
        <p:nvSpPr>
          <p:cNvPr id="47108"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t>22</a:t>
            </a:fld>
            <a:endParaRPr lang="zh-CN" altLang="en-US" sz="12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TextEdit="1"/>
          </p:cNvSpPr>
          <p:nvPr>
            <p:ph type="sldImg"/>
          </p:nvPr>
        </p:nvSpPr>
        <p:spPr>
          <a:ln>
            <a:solidFill>
              <a:srgbClr val="000000">
                <a:alpha val="100000"/>
              </a:srgbClr>
            </a:solidFill>
            <a:miter lim="800000"/>
          </a:ln>
        </p:spPr>
      </p:sp>
      <p:sp>
        <p:nvSpPr>
          <p:cNvPr id="49155" name="备注占位符 2"/>
          <p:cNvSpPr>
            <a:spLocks noGrp="1"/>
          </p:cNvSpPr>
          <p:nvPr>
            <p:ph type="body" idx="1"/>
          </p:nvPr>
        </p:nvSpPr>
        <p:spPr>
          <a:noFill/>
          <a:ln>
            <a:noFill/>
          </a:ln>
        </p:spPr>
        <p:txBody>
          <a:bodyPr wrap="square" lIns="91440" tIns="45720" rIns="91440" bIns="45720" anchor="t" anchorCtr="0"/>
          <a:lstStyle/>
          <a:p>
            <a:pPr lvl="0"/>
            <a:endParaRPr lang="zh-CN" altLang="en-US" dirty="0"/>
          </a:p>
        </p:txBody>
      </p:sp>
      <p:sp>
        <p:nvSpPr>
          <p:cNvPr id="49156" name="幻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zh-CN" sz="1200" dirty="0"/>
              <a:t>23</a:t>
            </a:fld>
            <a:endParaRPr lang="zh-CN" altLang="zh-CN" sz="12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a:ln>
            <a:solidFill>
              <a:srgbClr val="000000">
                <a:alpha val="100000"/>
              </a:srgbClr>
            </a:solidFill>
            <a:miter lim="800000"/>
          </a:ln>
        </p:spPr>
      </p:sp>
      <p:sp>
        <p:nvSpPr>
          <p:cNvPr id="51203" name="备注占位符 2"/>
          <p:cNvSpPr>
            <a:spLocks noGrp="1"/>
          </p:cNvSpPr>
          <p:nvPr>
            <p:ph type="body" idx="1"/>
          </p:nvPr>
        </p:nvSpPr>
        <p:spPr>
          <a:noFill/>
          <a:ln>
            <a:noFill/>
          </a:ln>
        </p:spPr>
        <p:txBody>
          <a:bodyPr wrap="square" lIns="91440" tIns="45720" rIns="91440" bIns="45720" anchor="t" anchorCtr="0"/>
          <a:lstStyle/>
          <a:p>
            <a:pPr lvl="0"/>
            <a:endParaRPr lang="zh-CN" altLang="en-US" dirty="0"/>
          </a:p>
        </p:txBody>
      </p:sp>
      <p:sp>
        <p:nvSpPr>
          <p:cNvPr id="51204" name="幻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zh-CN" sz="1200" dirty="0"/>
              <a:t>24</a:t>
            </a:fld>
            <a:endParaRPr lang="zh-CN" altLang="zh-CN" sz="12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a:ln>
            <a:solidFill>
              <a:srgbClr val="000000">
                <a:alpha val="100000"/>
              </a:srgbClr>
            </a:solidFill>
            <a:miter lim="800000"/>
          </a:ln>
        </p:spPr>
      </p:sp>
      <p:sp>
        <p:nvSpPr>
          <p:cNvPr id="53251" name="备注占位符 2"/>
          <p:cNvSpPr>
            <a:spLocks noGrp="1"/>
          </p:cNvSpPr>
          <p:nvPr>
            <p:ph type="body" idx="1"/>
          </p:nvPr>
        </p:nvSpPr>
        <p:spPr>
          <a:noFill/>
          <a:ln>
            <a:noFill/>
          </a:ln>
        </p:spPr>
        <p:txBody>
          <a:bodyPr wrap="square" lIns="91440" tIns="45720" rIns="91440" bIns="45720" anchor="t" anchorCtr="0"/>
          <a:lstStyle/>
          <a:p>
            <a:pPr lvl="0"/>
            <a:endParaRPr lang="zh-CN" altLang="en-US" dirty="0"/>
          </a:p>
        </p:txBody>
      </p:sp>
      <p:sp>
        <p:nvSpPr>
          <p:cNvPr id="53252" name="幻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zh-CN" sz="1200" dirty="0"/>
              <a:t>25</a:t>
            </a:fld>
            <a:endParaRPr lang="zh-CN" altLang="zh-CN" sz="12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p:cNvSpPr>
            <a:spLocks noGrp="1" noRot="1" noChangeAspect="1" noTextEdit="1"/>
          </p:cNvSpPr>
          <p:nvPr>
            <p:ph type="sldImg"/>
          </p:nvPr>
        </p:nvSpPr>
        <p:spPr>
          <a:ln>
            <a:solidFill>
              <a:srgbClr val="000000">
                <a:alpha val="100000"/>
              </a:srgbClr>
            </a:solidFill>
            <a:miter lim="800000"/>
          </a:ln>
        </p:spPr>
      </p:sp>
      <p:sp>
        <p:nvSpPr>
          <p:cNvPr id="55299" name="备注占位符 2"/>
          <p:cNvSpPr>
            <a:spLocks noGrp="1"/>
          </p:cNvSpPr>
          <p:nvPr>
            <p:ph type="body" idx="1"/>
          </p:nvPr>
        </p:nvSpPr>
        <p:spPr>
          <a:noFill/>
          <a:ln>
            <a:noFill/>
          </a:ln>
        </p:spPr>
        <p:txBody>
          <a:bodyPr wrap="square" lIns="91440" tIns="45720" rIns="91440" bIns="45720" anchor="t" anchorCtr="0"/>
          <a:lstStyle/>
          <a:p>
            <a:pPr lvl="0"/>
            <a:endParaRPr lang="zh-CN" altLang="en-US" dirty="0"/>
          </a:p>
        </p:txBody>
      </p:sp>
      <p:sp>
        <p:nvSpPr>
          <p:cNvPr id="55300"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t>26</a:t>
            </a:fld>
            <a:endParaRPr lang="zh-CN" altLang="en-US" sz="12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a:ln>
            <a:solidFill>
              <a:srgbClr val="000000">
                <a:alpha val="100000"/>
              </a:srgbClr>
            </a:solidFill>
            <a:miter lim="800000"/>
          </a:ln>
        </p:spPr>
      </p:sp>
      <p:sp>
        <p:nvSpPr>
          <p:cNvPr id="58371" name="备注占位符 2"/>
          <p:cNvSpPr>
            <a:spLocks noGrp="1"/>
          </p:cNvSpPr>
          <p:nvPr>
            <p:ph type="body" idx="1"/>
          </p:nvPr>
        </p:nvSpPr>
        <p:spPr>
          <a:noFill/>
          <a:ln>
            <a:noFill/>
          </a:ln>
        </p:spPr>
        <p:txBody>
          <a:bodyPr wrap="square" lIns="91440" tIns="45720" rIns="91440" bIns="45720" anchor="t" anchorCtr="0"/>
          <a:lstStyle/>
          <a:p>
            <a:pPr lvl="0"/>
            <a:r>
              <a:rPr lang="zh-CN" altLang="en-US" b="1" dirty="0"/>
              <a:t>函数声明</a:t>
            </a:r>
            <a:r>
              <a:rPr lang="zh-CN" altLang="en-US" dirty="0"/>
              <a:t>不包含任何函数体，负责使用函数前告诉编译器函数的名称和参数类型，不分配内存或者代码空间，可以声明多次，支持分离编译特性。</a:t>
            </a:r>
            <a:endParaRPr lang="en-US" altLang="zh-CN" dirty="0"/>
          </a:p>
          <a:p>
            <a:pPr lvl="0"/>
            <a:r>
              <a:rPr lang="zh-CN" altLang="en-US" b="1" dirty="0"/>
              <a:t>函数定义</a:t>
            </a:r>
            <a:r>
              <a:rPr lang="zh-CN" altLang="en-US" dirty="0"/>
              <a:t>则包含了函数的具体实现，会为函数分配代码空间，在编译阶段会编译成实际代码，所以只能定义一次，否则编译报错。</a:t>
            </a:r>
          </a:p>
        </p:txBody>
      </p:sp>
      <p:sp>
        <p:nvSpPr>
          <p:cNvPr id="58372"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t>28</a:t>
            </a:fld>
            <a:endParaRPr lang="zh-CN" altLang="en-US" sz="12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a:ln>
            <a:solidFill>
              <a:srgbClr val="000000">
                <a:alpha val="100000"/>
              </a:srgbClr>
            </a:solidFill>
            <a:miter lim="800000"/>
          </a:ln>
        </p:spPr>
      </p:sp>
      <p:sp>
        <p:nvSpPr>
          <p:cNvPr id="60419" name="备注占位符 2"/>
          <p:cNvSpPr>
            <a:spLocks noGrp="1"/>
          </p:cNvSpPr>
          <p:nvPr>
            <p:ph type="body" idx="1"/>
          </p:nvPr>
        </p:nvSpPr>
        <p:spPr>
          <a:noFill/>
          <a:ln>
            <a:noFill/>
          </a:ln>
        </p:spPr>
        <p:txBody>
          <a:bodyPr wrap="square" lIns="91440" tIns="45720" rIns="91440" bIns="45720" anchor="t" anchorCtr="0"/>
          <a:lstStyle/>
          <a:p>
            <a:pPr lvl="0"/>
            <a:r>
              <a:rPr lang="zh-CN" altLang="en-US" dirty="0"/>
              <a:t>关键字</a:t>
            </a:r>
            <a:r>
              <a:rPr lang="en-US" altLang="zh-CN" dirty="0"/>
              <a:t>extern</a:t>
            </a:r>
            <a:r>
              <a:rPr lang="zh-CN" altLang="en-US" dirty="0"/>
              <a:t>支持跨文件使用变量或者函数，声明变量或函数在其他文件中定义，看到</a:t>
            </a:r>
            <a:r>
              <a:rPr lang="en-US" altLang="zh-CN" dirty="0"/>
              <a:t>extern</a:t>
            </a:r>
            <a:r>
              <a:rPr lang="zh-CN" altLang="en-US" dirty="0"/>
              <a:t>编译器不为其分配内存或者生成代码，作用是拓展变量或者函数的作用域。</a:t>
            </a:r>
            <a:endParaRPr lang="en-US" altLang="zh-CN" dirty="0"/>
          </a:p>
          <a:p>
            <a:pPr lvl="0"/>
            <a:r>
              <a:rPr lang="en-US" altLang="zh-CN" dirty="0"/>
              <a:t>C++</a:t>
            </a:r>
            <a:r>
              <a:rPr lang="zh-CN" altLang="en-US" dirty="0"/>
              <a:t>更多通过把变量和函数放在头文件，需要的地方包含该头文件。</a:t>
            </a:r>
          </a:p>
        </p:txBody>
      </p:sp>
      <p:sp>
        <p:nvSpPr>
          <p:cNvPr id="60420"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t>29</a:t>
            </a:fld>
            <a:endParaRPr lang="zh-CN" altLang="en-US" sz="12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ln>
            <a:solidFill>
              <a:srgbClr val="000000">
                <a:alpha val="100000"/>
              </a:srgbClr>
            </a:solidFill>
            <a:miter lim="800000"/>
          </a:ln>
        </p:spPr>
      </p:sp>
      <p:sp>
        <p:nvSpPr>
          <p:cNvPr id="62467" name="备注占位符 2"/>
          <p:cNvSpPr>
            <a:spLocks noGrp="1"/>
          </p:cNvSpPr>
          <p:nvPr>
            <p:ph type="body" idx="1"/>
          </p:nvPr>
        </p:nvSpPr>
        <p:spPr>
          <a:noFill/>
          <a:ln>
            <a:noFill/>
          </a:ln>
        </p:spPr>
        <p:txBody>
          <a:bodyPr wrap="square" lIns="91440" tIns="45720" rIns="91440" bIns="45720" anchor="t" anchorCtr="0"/>
          <a:lstStyle/>
          <a:p>
            <a:pPr lvl="0"/>
            <a:r>
              <a:rPr lang="en-US" altLang="zh-CN" b="1" dirty="0"/>
              <a:t>static local variable</a:t>
            </a:r>
            <a:r>
              <a:rPr lang="zh-CN" altLang="en-US" dirty="0"/>
              <a:t>：在函数内部定义的变量，与局部变量生命周期不一样，延长至整个程序的执行期；常见用途是可以在函数的不同调用过程中记住变量的值。静态局部变量只能在函数内部访问，函数外部不可见。</a:t>
            </a:r>
            <a:endParaRPr lang="en-US" altLang="zh-CN" dirty="0"/>
          </a:p>
          <a:p>
            <a:pPr lvl="0"/>
            <a:r>
              <a:rPr lang="en-US" altLang="zh-CN" b="1" dirty="0"/>
              <a:t>static global variable</a:t>
            </a:r>
            <a:r>
              <a:rPr lang="zh-CN" altLang="en-US" b="1" dirty="0"/>
              <a:t>：</a:t>
            </a:r>
            <a:r>
              <a:rPr lang="zh-CN" altLang="en-US" dirty="0"/>
              <a:t>在函数外部定义的变量：它的生命周期与整个程序执行期一样长，静态全局变量作用域仅限于定义它的文件内部，其他文件无法访问。</a:t>
            </a:r>
            <a:endParaRPr lang="en-US" altLang="zh-CN" dirty="0"/>
          </a:p>
          <a:p>
            <a:pPr lvl="0"/>
            <a:r>
              <a:rPr lang="en-US" altLang="zh-CN" dirty="0"/>
              <a:t>extern</a:t>
            </a:r>
            <a:r>
              <a:rPr lang="zh-CN" altLang="zh-CN" dirty="0"/>
              <a:t>和</a:t>
            </a:r>
            <a:r>
              <a:rPr lang="en-US" altLang="zh-CN" dirty="0"/>
              <a:t>static</a:t>
            </a:r>
            <a:r>
              <a:rPr lang="zh-CN" altLang="zh-CN" b="1" dirty="0"/>
              <a:t>影响变量作用域</a:t>
            </a:r>
            <a:r>
              <a:rPr lang="zh-CN" altLang="zh-CN" dirty="0"/>
              <a:t>以及</a:t>
            </a:r>
            <a:r>
              <a:rPr lang="zh-CN" altLang="zh-CN" b="1" dirty="0"/>
              <a:t>延长变量生命周期</a:t>
            </a:r>
            <a:r>
              <a:rPr lang="zh-CN" altLang="zh-CN" dirty="0"/>
              <a:t>。</a:t>
            </a:r>
          </a:p>
          <a:p>
            <a:pPr lvl="0"/>
            <a:endParaRPr lang="zh-CN" altLang="en-US" dirty="0"/>
          </a:p>
        </p:txBody>
      </p:sp>
      <p:sp>
        <p:nvSpPr>
          <p:cNvPr id="62468"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t>30</a:t>
            </a:fld>
            <a:endParaRPr lang="zh-CN" altLang="en-US" sz="120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a:ln>
            <a:solidFill>
              <a:srgbClr val="000000">
                <a:alpha val="100000"/>
              </a:srgbClr>
            </a:solidFill>
            <a:miter lim="800000"/>
          </a:ln>
        </p:spPr>
      </p:sp>
      <p:sp>
        <p:nvSpPr>
          <p:cNvPr id="64515" name="备注占位符 2"/>
          <p:cNvSpPr>
            <a:spLocks noGrp="1"/>
          </p:cNvSpPr>
          <p:nvPr>
            <p:ph type="body" idx="1"/>
          </p:nvPr>
        </p:nvSpPr>
        <p:spPr>
          <a:noFill/>
          <a:ln>
            <a:noFill/>
          </a:ln>
        </p:spPr>
        <p:txBody>
          <a:bodyPr wrap="square" lIns="91440" tIns="45720" rIns="91440" bIns="45720" anchor="t" anchorCtr="0"/>
          <a:lstStyle/>
          <a:p>
            <a:pPr lvl="0"/>
            <a:r>
              <a:rPr lang="zh-CN" altLang="en-US" dirty="0"/>
              <a:t>几种常见的表达式：赋值、算数表达式、逻辑表达式、条件表达式、递增递减：</a:t>
            </a:r>
          </a:p>
          <a:p>
            <a:pPr lvl="0"/>
            <a:r>
              <a:rPr lang="zh-CN" altLang="en-US" dirty="0"/>
              <a:t>前置形式递增：原值先递增，再被拿来用；</a:t>
            </a:r>
            <a:r>
              <a:rPr lang="en-US" altLang="zh-CN" dirty="0"/>
              <a:t>y1=6, x=6</a:t>
            </a:r>
            <a:r>
              <a:rPr lang="zh-CN" altLang="en-US" dirty="0"/>
              <a:t>；</a:t>
            </a:r>
          </a:p>
          <a:p>
            <a:pPr lvl="0"/>
            <a:r>
              <a:rPr lang="zh-CN" altLang="en-US" dirty="0"/>
              <a:t>后置形式递增：原值先供给表达式运算，然后才递增。</a:t>
            </a:r>
            <a:r>
              <a:rPr lang="en-US" altLang="zh-CN" dirty="0"/>
              <a:t>y2=5, x=6.</a:t>
            </a:r>
          </a:p>
          <a:p>
            <a:pPr lvl="0"/>
            <a:endParaRPr lang="zh-CN" altLang="en-US" dirty="0"/>
          </a:p>
        </p:txBody>
      </p:sp>
      <p:sp>
        <p:nvSpPr>
          <p:cNvPr id="64516"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t>31</a:t>
            </a:fld>
            <a:endParaRPr lang="zh-CN" altLang="en-US" sz="1200"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a:ln>
            <a:solidFill>
              <a:srgbClr val="000000">
                <a:alpha val="100000"/>
              </a:srgbClr>
            </a:solidFill>
            <a:miter lim="800000"/>
          </a:ln>
        </p:spPr>
      </p:sp>
      <p:sp>
        <p:nvSpPr>
          <p:cNvPr id="66563" name="备注占位符 2"/>
          <p:cNvSpPr>
            <a:spLocks noGrp="1"/>
          </p:cNvSpPr>
          <p:nvPr>
            <p:ph type="body" idx="1"/>
          </p:nvPr>
        </p:nvSpPr>
        <p:spPr>
          <a:noFill/>
          <a:ln>
            <a:noFill/>
          </a:ln>
        </p:spPr>
        <p:txBody>
          <a:bodyPr wrap="square" lIns="91440" tIns="45720" rIns="91440" bIns="45720" anchor="t" anchorCtr="0"/>
          <a:lstStyle/>
          <a:p>
            <a:pPr lvl="0"/>
            <a:r>
              <a:rPr lang="zh-CN" altLang="en-US" dirty="0"/>
              <a:t>如果要控制语句的执行方式，学会去写条件语句和循环语句。</a:t>
            </a:r>
          </a:p>
          <a:p>
            <a:pPr lvl="0"/>
            <a:endParaRPr lang="zh-CN" altLang="en-US" dirty="0"/>
          </a:p>
        </p:txBody>
      </p:sp>
      <p:sp>
        <p:nvSpPr>
          <p:cNvPr id="6656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t>32</a:t>
            </a:fld>
            <a:endParaRPr lang="zh-CN" altLang="en-US" sz="12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幻灯片图像占位符 1"/>
          <p:cNvSpPr>
            <a:spLocks noGrp="1" noRot="1" noChangeAspect="1" noTextEdit="1"/>
          </p:cNvSpPr>
          <p:nvPr>
            <p:ph type="sldImg"/>
          </p:nvPr>
        </p:nvSpPr>
        <p:spPr>
          <a:ln>
            <a:solidFill>
              <a:srgbClr val="000000">
                <a:alpha val="100000"/>
              </a:srgbClr>
            </a:solidFill>
            <a:miter lim="800000"/>
          </a:ln>
        </p:spPr>
      </p:sp>
      <p:sp>
        <p:nvSpPr>
          <p:cNvPr id="69635" name="备注占位符 2"/>
          <p:cNvSpPr>
            <a:spLocks noGrp="1"/>
          </p:cNvSpPr>
          <p:nvPr>
            <p:ph type="body" idx="1"/>
          </p:nvPr>
        </p:nvSpPr>
        <p:spPr>
          <a:noFill/>
          <a:ln>
            <a:noFill/>
          </a:ln>
        </p:spPr>
        <p:txBody>
          <a:bodyPr wrap="square" lIns="91440" tIns="45720" rIns="91440" bIns="45720" anchor="t" anchorCtr="0"/>
          <a:lstStyle/>
          <a:p>
            <a:pPr lvl="0"/>
            <a:r>
              <a:rPr lang="en-US" altLang="zh-CN" dirty="0"/>
              <a:t>main</a:t>
            </a:r>
            <a:r>
              <a:rPr lang="zh-CN" altLang="en-US" dirty="0"/>
              <a:t>有两个参数，</a:t>
            </a:r>
            <a:r>
              <a:rPr lang="en-US" altLang="zh-CN" dirty="0"/>
              <a:t>int argc</a:t>
            </a:r>
            <a:r>
              <a:rPr lang="zh-CN" altLang="en-US" dirty="0"/>
              <a:t>代表命令行参数的个数；</a:t>
            </a:r>
            <a:r>
              <a:rPr lang="en-US" altLang="zh-CN" dirty="0"/>
              <a:t>char* argv[] </a:t>
            </a:r>
            <a:r>
              <a:rPr lang="zh-CN" altLang="en-US" dirty="0"/>
              <a:t>字符指针数组，每个元素指向命令行中以空格分割的字符串。</a:t>
            </a:r>
          </a:p>
          <a:p>
            <a:pPr lvl="0"/>
            <a:r>
              <a:rPr lang="zh-CN" altLang="en-US" dirty="0"/>
              <a:t>命令行参数允许用户在命令行提供一些程序执行的配置选项，比如运行图像处理程序，可以在命令行指定输入文件和图片大小。</a:t>
            </a:r>
          </a:p>
          <a:p>
            <a:pPr lvl="0"/>
            <a:r>
              <a:rPr lang="zh-CN" altLang="en-US" dirty="0"/>
              <a:t>默认情况</a:t>
            </a:r>
            <a:r>
              <a:rPr lang="en-US" altLang="zh-CN" dirty="0"/>
              <a:t>argv[0]</a:t>
            </a:r>
            <a:r>
              <a:rPr lang="zh-CN" altLang="en-US" dirty="0"/>
              <a:t>存放</a:t>
            </a:r>
            <a:r>
              <a:rPr lang="en-US" altLang="zh-CN" dirty="0"/>
              <a:t>exe</a:t>
            </a:r>
            <a:r>
              <a:rPr lang="zh-CN" altLang="en-US" dirty="0"/>
              <a:t>文件名和路径，</a:t>
            </a:r>
            <a:r>
              <a:rPr lang="en-US" altLang="zh-CN" dirty="0"/>
              <a:t>argc=1</a:t>
            </a:r>
            <a:r>
              <a:rPr lang="zh-CN" altLang="en-US" dirty="0"/>
              <a:t>。从</a:t>
            </a:r>
            <a:r>
              <a:rPr lang="en-US" altLang="zh-CN" dirty="0"/>
              <a:t>argv[1]</a:t>
            </a:r>
            <a:r>
              <a:rPr lang="zh-CN" altLang="en-US" dirty="0"/>
              <a:t>开始存储指向命令行参数字符串的指针。</a:t>
            </a:r>
            <a:endParaRPr lang="en-US" altLang="zh-CN" dirty="0"/>
          </a:p>
          <a:p>
            <a:pPr lvl="0"/>
            <a:r>
              <a:rPr lang="en-US" altLang="zh-CN" dirty="0"/>
              <a:t>Main</a:t>
            </a:r>
            <a:r>
              <a:rPr lang="zh-CN" altLang="en-US" dirty="0"/>
              <a:t>返回</a:t>
            </a:r>
            <a:r>
              <a:rPr lang="en-US" altLang="zh-CN" dirty="0"/>
              <a:t>int</a:t>
            </a:r>
            <a:r>
              <a:rPr lang="zh-CN" altLang="en-US" dirty="0"/>
              <a:t>，</a:t>
            </a:r>
            <a:r>
              <a:rPr lang="en-US" altLang="zh-CN" dirty="0"/>
              <a:t>=0</a:t>
            </a:r>
            <a:r>
              <a:rPr lang="zh-CN" altLang="en-US" dirty="0"/>
              <a:t>成功执行。</a:t>
            </a:r>
          </a:p>
          <a:p>
            <a:pPr lvl="0"/>
            <a:endParaRPr lang="zh-CN" altLang="en-US" dirty="0"/>
          </a:p>
        </p:txBody>
      </p:sp>
      <p:sp>
        <p:nvSpPr>
          <p:cNvPr id="69636"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t>34</a:t>
            </a:fld>
            <a:endParaRPr lang="zh-CN" altLang="en-US" sz="120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TextEdit="1"/>
          </p:cNvSpPr>
          <p:nvPr>
            <p:ph type="sldImg"/>
          </p:nvPr>
        </p:nvSpPr>
        <p:spPr>
          <a:ln>
            <a:solidFill>
              <a:srgbClr val="000000">
                <a:alpha val="100000"/>
              </a:srgbClr>
            </a:solidFill>
            <a:miter lim="800000"/>
          </a:ln>
        </p:spPr>
      </p:sp>
      <p:sp>
        <p:nvSpPr>
          <p:cNvPr id="72707" name="备注占位符 2"/>
          <p:cNvSpPr>
            <a:spLocks noGrp="1"/>
          </p:cNvSpPr>
          <p:nvPr>
            <p:ph type="body" idx="1"/>
          </p:nvPr>
        </p:nvSpPr>
        <p:spPr>
          <a:noFill/>
          <a:ln>
            <a:noFill/>
          </a:ln>
        </p:spPr>
        <p:txBody>
          <a:bodyPr wrap="square" lIns="91440" tIns="45720" rIns="91440" bIns="45720" anchor="t" anchorCtr="0"/>
          <a:lstStyle/>
          <a:p>
            <a:pPr lvl="0"/>
            <a:r>
              <a:rPr lang="zh-CN" altLang="en-US" dirty="0"/>
              <a:t>对比</a:t>
            </a:r>
            <a:r>
              <a:rPr lang="en-US" altLang="zh-CN" dirty="0"/>
              <a:t>C++</a:t>
            </a:r>
            <a:r>
              <a:rPr lang="zh-CN" altLang="en-US" dirty="0"/>
              <a:t>相比</a:t>
            </a:r>
            <a:r>
              <a:rPr lang="en-US" altLang="zh-CN" dirty="0"/>
              <a:t>C</a:t>
            </a:r>
            <a:r>
              <a:rPr lang="zh-CN" altLang="en-US" dirty="0"/>
              <a:t>的新特性：</a:t>
            </a:r>
          </a:p>
          <a:p>
            <a:pPr lvl="0"/>
            <a:r>
              <a:rPr lang="zh-CN" altLang="en-US" b="1" dirty="0"/>
              <a:t>头文件：</a:t>
            </a:r>
            <a:r>
              <a:rPr lang="en-US" altLang="zh-CN" dirty="0"/>
              <a:t>C++</a:t>
            </a:r>
            <a:r>
              <a:rPr lang="zh-CN" altLang="en-US" dirty="0"/>
              <a:t>标准库不带</a:t>
            </a:r>
            <a:r>
              <a:rPr lang="en-US" altLang="zh-CN" dirty="0"/>
              <a:t>.h</a:t>
            </a:r>
            <a:r>
              <a:rPr lang="zh-CN" altLang="en-US" dirty="0"/>
              <a:t>扩展名，包含特定的模板类</a:t>
            </a:r>
            <a:r>
              <a:rPr lang="en-US" altLang="zh-CN" dirty="0"/>
              <a:t>vector</a:t>
            </a:r>
            <a:r>
              <a:rPr lang="zh-CN" altLang="en-US" dirty="0"/>
              <a:t>，使用命名空间；</a:t>
            </a:r>
          </a:p>
          <a:p>
            <a:pPr lvl="0"/>
            <a:r>
              <a:rPr lang="zh-CN" altLang="en-US" b="1" dirty="0"/>
              <a:t>数组定义和赋值：</a:t>
            </a:r>
            <a:r>
              <a:rPr lang="zh-CN" altLang="en-US" dirty="0"/>
              <a:t>定义时不指定大小，通过</a:t>
            </a:r>
            <a:r>
              <a:rPr lang="en-US" altLang="zh-CN" dirty="0"/>
              <a:t>push_back</a:t>
            </a:r>
            <a:r>
              <a:rPr lang="zh-CN" altLang="en-US" dirty="0"/>
              <a:t>赋值，因为</a:t>
            </a:r>
            <a:r>
              <a:rPr lang="en-US" altLang="zh-CN" dirty="0"/>
              <a:t>C++</a:t>
            </a:r>
            <a:r>
              <a:rPr lang="zh-CN" altLang="en-US" dirty="0"/>
              <a:t>可以实现自动内存管理</a:t>
            </a:r>
          </a:p>
          <a:p>
            <a:pPr lvl="0"/>
            <a:r>
              <a:rPr lang="zh-CN" altLang="en-US" b="1" dirty="0"/>
              <a:t>输出数组元素：</a:t>
            </a:r>
            <a:r>
              <a:rPr lang="en-US" altLang="zh-CN" dirty="0"/>
              <a:t>for</a:t>
            </a:r>
            <a:r>
              <a:rPr lang="zh-CN" altLang="en-US" dirty="0"/>
              <a:t>循环</a:t>
            </a:r>
            <a:r>
              <a:rPr lang="en-US" altLang="zh-CN" dirty="0"/>
              <a:t>v.size()</a:t>
            </a:r>
            <a:r>
              <a:rPr lang="zh-CN" altLang="en-US" dirty="0"/>
              <a:t>界定</a:t>
            </a:r>
            <a:r>
              <a:rPr lang="en-US" altLang="zh-CN" dirty="0"/>
              <a:t>vector</a:t>
            </a:r>
            <a:r>
              <a:rPr lang="zh-CN" altLang="en-US" dirty="0"/>
              <a:t>的大小，避免越界访问</a:t>
            </a:r>
          </a:p>
          <a:p>
            <a:pPr lvl="0"/>
            <a:r>
              <a:rPr lang="zh-CN" altLang="en-US" b="1" dirty="0"/>
              <a:t>输出语句：</a:t>
            </a:r>
            <a:r>
              <a:rPr lang="en-US" altLang="zh-CN" dirty="0"/>
              <a:t>printf</a:t>
            </a:r>
            <a:r>
              <a:rPr lang="zh-CN" altLang="en-US" dirty="0"/>
              <a:t>要给格式控制符，</a:t>
            </a:r>
            <a:r>
              <a:rPr lang="en-US" altLang="zh-CN" dirty="0"/>
              <a:t>cout</a:t>
            </a:r>
            <a:r>
              <a:rPr lang="zh-CN" altLang="en-US" dirty="0"/>
              <a:t>不需要，</a:t>
            </a:r>
            <a:r>
              <a:rPr lang="en-US" altLang="zh-CN" dirty="0"/>
              <a:t>C++</a:t>
            </a:r>
            <a:r>
              <a:rPr lang="zh-CN" altLang="en-US" dirty="0"/>
              <a:t>它会提供</a:t>
            </a:r>
            <a:r>
              <a:rPr lang="en-US" altLang="zh-CN" dirty="0"/>
              <a:t>typeid()</a:t>
            </a:r>
            <a:r>
              <a:rPr lang="zh-CN" altLang="en-US" dirty="0"/>
              <a:t>函数检测存储数据类型</a:t>
            </a:r>
          </a:p>
          <a:p>
            <a:pPr lvl="0"/>
            <a:r>
              <a:rPr lang="zh-CN" altLang="en-US" dirty="0"/>
              <a:t>总结：</a:t>
            </a:r>
            <a:r>
              <a:rPr lang="en-US" altLang="zh-CN" dirty="0"/>
              <a:t>C++</a:t>
            </a:r>
            <a:r>
              <a:rPr lang="zh-CN" altLang="en-US" dirty="0"/>
              <a:t>引入很多新的库函数，提供通用的模板类，在兼容</a:t>
            </a:r>
            <a:r>
              <a:rPr lang="en-US" altLang="zh-CN" dirty="0"/>
              <a:t>C</a:t>
            </a:r>
            <a:r>
              <a:rPr lang="zh-CN" altLang="en-US" dirty="0"/>
              <a:t>的同时，极大简化了程序开发，提升了性能。</a:t>
            </a:r>
          </a:p>
          <a:p>
            <a:pPr lvl="0"/>
            <a:endParaRPr lang="zh-CN" altLang="en-US" dirty="0"/>
          </a:p>
        </p:txBody>
      </p:sp>
      <p:sp>
        <p:nvSpPr>
          <p:cNvPr id="72708"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t>36</a:t>
            </a:fld>
            <a:endParaRPr lang="zh-CN" altLang="en-US" sz="12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a:ln>
            <a:solidFill>
              <a:srgbClr val="000000">
                <a:alpha val="100000"/>
              </a:srgbClr>
            </a:solidFill>
            <a:miter lim="800000"/>
          </a:ln>
        </p:spPr>
      </p:sp>
      <p:sp>
        <p:nvSpPr>
          <p:cNvPr id="74755" name="备注占位符 2"/>
          <p:cNvSpPr>
            <a:spLocks noGrp="1"/>
          </p:cNvSpPr>
          <p:nvPr>
            <p:ph type="body" idx="1"/>
          </p:nvPr>
        </p:nvSpPr>
        <p:spPr>
          <a:noFill/>
          <a:ln>
            <a:noFill/>
          </a:ln>
        </p:spPr>
        <p:txBody>
          <a:bodyPr wrap="square" lIns="91440" tIns="45720" rIns="91440" bIns="45720" anchor="t" anchorCtr="0"/>
          <a:lstStyle/>
          <a:p>
            <a:pPr lvl="0"/>
            <a:r>
              <a:rPr lang="en-US" altLang="zh-CN" dirty="0"/>
              <a:t>Namespace</a:t>
            </a:r>
            <a:r>
              <a:rPr lang="zh-CN" altLang="en-US" dirty="0"/>
              <a:t>解决全局作用域中的命名冲突问题</a:t>
            </a:r>
          </a:p>
        </p:txBody>
      </p:sp>
      <p:sp>
        <p:nvSpPr>
          <p:cNvPr id="74756" name="幻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zh-CN" sz="1200" dirty="0"/>
              <a:t>37</a:t>
            </a:fld>
            <a:endParaRPr lang="zh-CN" altLang="zh-CN"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TextEdit="1"/>
          </p:cNvSpPr>
          <p:nvPr>
            <p:ph type="sldImg"/>
          </p:nvPr>
        </p:nvSpPr>
        <p:spPr>
          <a:ln>
            <a:solidFill>
              <a:srgbClr val="000000">
                <a:alpha val="100000"/>
              </a:srgbClr>
            </a:solidFill>
            <a:miter lim="800000"/>
          </a:ln>
        </p:spPr>
      </p:sp>
      <p:sp>
        <p:nvSpPr>
          <p:cNvPr id="76803" name="备注占位符 2"/>
          <p:cNvSpPr>
            <a:spLocks noGrp="1"/>
          </p:cNvSpPr>
          <p:nvPr>
            <p:ph type="body" idx="1"/>
          </p:nvPr>
        </p:nvSpPr>
        <p:spPr>
          <a:noFill/>
          <a:ln>
            <a:noFill/>
          </a:ln>
        </p:spPr>
        <p:txBody>
          <a:bodyPr wrap="square" lIns="91440" tIns="45720" rIns="91440" bIns="45720" anchor="t" anchorCtr="0"/>
          <a:lstStyle/>
          <a:p>
            <a:pPr lvl="0"/>
            <a:r>
              <a:rPr lang="en-US" altLang="zh-CN" dirty="0"/>
              <a:t>namespace</a:t>
            </a:r>
            <a:r>
              <a:rPr lang="zh-CN" altLang="en-US" dirty="0"/>
              <a:t>在</a:t>
            </a:r>
            <a:r>
              <a:rPr lang="en-US" altLang="zh-CN" dirty="0"/>
              <a:t>project</a:t>
            </a:r>
            <a:r>
              <a:rPr lang="zh-CN" altLang="en-US" dirty="0"/>
              <a:t>和文件里的变量函数之间增加一层：</a:t>
            </a:r>
            <a:r>
              <a:rPr lang="en-US" altLang="zh-CN" dirty="0"/>
              <a:t>project</a:t>
            </a:r>
            <a:r>
              <a:rPr lang="zh-CN" altLang="en-US" dirty="0"/>
              <a:t>下面会有若干个</a:t>
            </a:r>
            <a:r>
              <a:rPr lang="en-US" altLang="zh-CN" dirty="0"/>
              <a:t>namespace</a:t>
            </a:r>
            <a:r>
              <a:rPr lang="zh-CN" altLang="en-US" dirty="0"/>
              <a:t>，</a:t>
            </a:r>
            <a:r>
              <a:rPr lang="zh-CN" altLang="en-US" b="1" dirty="0"/>
              <a:t>每个</a:t>
            </a:r>
            <a:r>
              <a:rPr lang="en-US" altLang="zh-CN" b="1" dirty="0"/>
              <a:t>namespace</a:t>
            </a:r>
            <a:r>
              <a:rPr lang="zh-CN" altLang="en-US" b="1" dirty="0"/>
              <a:t>包装了对应库的所有标识符，告诉编译器当前作用域使用特定</a:t>
            </a:r>
            <a:r>
              <a:rPr lang="en-US" altLang="zh-CN" b="1" dirty="0"/>
              <a:t>namespace</a:t>
            </a:r>
            <a:r>
              <a:rPr lang="zh-CN" altLang="en-US" b="1" dirty="0"/>
              <a:t>中的标识符。</a:t>
            </a:r>
          </a:p>
          <a:p>
            <a:pPr lvl="0"/>
            <a:r>
              <a:rPr lang="zh-CN" altLang="en-US" dirty="0"/>
              <a:t>常见的</a:t>
            </a:r>
            <a:r>
              <a:rPr lang="en-US" altLang="zh-CN" dirty="0"/>
              <a:t>namespace</a:t>
            </a:r>
            <a:r>
              <a:rPr lang="zh-CN" altLang="en-US" dirty="0"/>
              <a:t>就是</a:t>
            </a:r>
            <a:r>
              <a:rPr lang="en-US" altLang="zh-CN" dirty="0"/>
              <a:t>std</a:t>
            </a:r>
            <a:r>
              <a:rPr lang="zh-CN" altLang="en-US" dirty="0"/>
              <a:t>：包装了</a:t>
            </a:r>
            <a:r>
              <a:rPr lang="en-US" altLang="zh-CN" dirty="0"/>
              <a:t>C++</a:t>
            </a:r>
            <a:r>
              <a:rPr lang="zh-CN" altLang="en-US" dirty="0"/>
              <a:t>标准库的所有标识符。</a:t>
            </a:r>
          </a:p>
          <a:p>
            <a:pPr lvl="0"/>
            <a:endParaRPr lang="zh-CN" altLang="en-US" dirty="0"/>
          </a:p>
        </p:txBody>
      </p:sp>
      <p:sp>
        <p:nvSpPr>
          <p:cNvPr id="7680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t>38</a:t>
            </a:fld>
            <a:endParaRPr lang="zh-CN" altLang="en-US" sz="1200"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a:ln>
            <a:solidFill>
              <a:srgbClr val="000000">
                <a:alpha val="100000"/>
              </a:srgbClr>
            </a:solidFill>
            <a:miter lim="800000"/>
          </a:ln>
        </p:spPr>
      </p:sp>
      <p:sp>
        <p:nvSpPr>
          <p:cNvPr id="78851" name="备注占位符 2"/>
          <p:cNvSpPr>
            <a:spLocks noGrp="1"/>
          </p:cNvSpPr>
          <p:nvPr>
            <p:ph type="body" idx="1"/>
          </p:nvPr>
        </p:nvSpPr>
        <p:spPr>
          <a:noFill/>
          <a:ln>
            <a:noFill/>
          </a:ln>
        </p:spPr>
        <p:txBody>
          <a:bodyPr wrap="square" lIns="91440" tIns="45720" rIns="91440" bIns="45720" anchor="t" anchorCtr="0"/>
          <a:lstStyle/>
          <a:p>
            <a:pPr lvl="0"/>
            <a:r>
              <a:rPr lang="zh-CN" altLang="en-US" dirty="0"/>
              <a:t>如果要调用所创建的</a:t>
            </a:r>
            <a:r>
              <a:rPr lang="en-US" altLang="zh-CN" dirty="0"/>
              <a:t>namespace</a:t>
            </a:r>
            <a:r>
              <a:rPr lang="zh-CN" altLang="en-US" dirty="0"/>
              <a:t>里的函数或变量，有几种不同的写法，最简单的就是</a:t>
            </a:r>
            <a:r>
              <a:rPr lang="en-US" altLang="zh-CN" dirty="0"/>
              <a:t>using </a:t>
            </a:r>
            <a:r>
              <a:rPr lang="zh-CN" altLang="en-US" dirty="0"/>
              <a:t>某个</a:t>
            </a:r>
            <a:r>
              <a:rPr lang="en-US" altLang="zh-CN" dirty="0"/>
              <a:t>namespace</a:t>
            </a:r>
            <a:r>
              <a:rPr lang="zh-CN" altLang="en-US" dirty="0"/>
              <a:t>，避免冗余的前缀。</a:t>
            </a:r>
          </a:p>
          <a:p>
            <a:pPr lvl="0"/>
            <a:endParaRPr lang="zh-CN" altLang="en-US" dirty="0"/>
          </a:p>
        </p:txBody>
      </p:sp>
      <p:sp>
        <p:nvSpPr>
          <p:cNvPr id="78852"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t>39</a:t>
            </a:fld>
            <a:endParaRPr lang="zh-CN" altLang="en-US"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幻灯片图像占位符 1"/>
          <p:cNvSpPr>
            <a:spLocks noGrp="1" noRot="1" noChangeAspect="1" noTextEdit="1"/>
          </p:cNvSpPr>
          <p:nvPr>
            <p:ph type="sldImg"/>
          </p:nvPr>
        </p:nvSpPr>
        <p:spPr>
          <a:ln>
            <a:solidFill>
              <a:srgbClr val="000000">
                <a:alpha val="100000"/>
              </a:srgbClr>
            </a:solidFill>
            <a:miter lim="800000"/>
          </a:ln>
        </p:spPr>
      </p:sp>
      <p:sp>
        <p:nvSpPr>
          <p:cNvPr id="81923" name="备注占位符 2"/>
          <p:cNvSpPr>
            <a:spLocks noGrp="1"/>
          </p:cNvSpPr>
          <p:nvPr>
            <p:ph type="body" idx="1"/>
          </p:nvPr>
        </p:nvSpPr>
        <p:spPr>
          <a:noFill/>
          <a:ln>
            <a:noFill/>
          </a:ln>
        </p:spPr>
        <p:txBody>
          <a:bodyPr wrap="square" lIns="91440" tIns="45720" rIns="91440" bIns="45720" anchor="t" anchorCtr="0"/>
          <a:lstStyle/>
          <a:p>
            <a:pPr lvl="0"/>
            <a:endParaRPr lang="zh-CN" altLang="en-US" dirty="0"/>
          </a:p>
        </p:txBody>
      </p:sp>
      <p:sp>
        <p:nvSpPr>
          <p:cNvPr id="81924" name="幻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zh-CN" sz="1200" dirty="0"/>
              <a:t>41</a:t>
            </a:fld>
            <a:endParaRPr lang="zh-CN" altLang="zh-CN" sz="1200"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a:ln>
            <a:solidFill>
              <a:srgbClr val="000000">
                <a:alpha val="100000"/>
              </a:srgbClr>
            </a:solidFill>
            <a:miter lim="800000"/>
          </a:ln>
        </p:spPr>
      </p:sp>
      <p:sp>
        <p:nvSpPr>
          <p:cNvPr id="83971" name="备注占位符 2"/>
          <p:cNvSpPr>
            <a:spLocks noGrp="1"/>
          </p:cNvSpPr>
          <p:nvPr>
            <p:ph type="body" idx="1"/>
          </p:nvPr>
        </p:nvSpPr>
        <p:spPr>
          <a:noFill/>
          <a:ln>
            <a:noFill/>
          </a:ln>
        </p:spPr>
        <p:txBody>
          <a:bodyPr wrap="square" lIns="91440" tIns="45720" rIns="91440" bIns="45720" anchor="t" anchorCtr="0"/>
          <a:lstStyle/>
          <a:p>
            <a:pPr lvl="0"/>
            <a:endParaRPr lang="zh-CN" altLang="en-US" dirty="0"/>
          </a:p>
        </p:txBody>
      </p:sp>
      <p:sp>
        <p:nvSpPr>
          <p:cNvPr id="83972"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t>42</a:t>
            </a:fld>
            <a:endParaRPr lang="zh-CN" altLang="en-US" sz="1200"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a:ln>
            <a:solidFill>
              <a:srgbClr val="000000">
                <a:alpha val="100000"/>
              </a:srgbClr>
            </a:solidFill>
            <a:miter lim="800000"/>
          </a:ln>
        </p:spPr>
      </p:sp>
      <p:sp>
        <p:nvSpPr>
          <p:cNvPr id="86019" name="备注占位符 2"/>
          <p:cNvSpPr>
            <a:spLocks noGrp="1"/>
          </p:cNvSpPr>
          <p:nvPr>
            <p:ph type="body" idx="1"/>
          </p:nvPr>
        </p:nvSpPr>
        <p:spPr>
          <a:noFill/>
          <a:ln>
            <a:noFill/>
          </a:ln>
        </p:spPr>
        <p:txBody>
          <a:bodyPr wrap="square" lIns="91440" tIns="45720" rIns="91440" bIns="45720" anchor="t" anchorCtr="0"/>
          <a:lstStyle/>
          <a:p>
            <a:pPr lvl="0"/>
            <a:r>
              <a:rPr lang="en-US" altLang="zh-CN" dirty="0"/>
              <a:t>C++</a:t>
            </a:r>
            <a:r>
              <a:rPr lang="zh-CN" altLang="en-US" dirty="0"/>
              <a:t>模板类</a:t>
            </a:r>
            <a:r>
              <a:rPr lang="en-US" altLang="zh-CN" dirty="0"/>
              <a:t>Vector</a:t>
            </a:r>
            <a:r>
              <a:rPr lang="zh-CN" altLang="en-US" dirty="0"/>
              <a:t>的简化定义：通过看它的内部实现，可以明白为什么它能实现动态的数组管理。</a:t>
            </a:r>
            <a:endParaRPr lang="en-US" altLang="zh-CN" dirty="0"/>
          </a:p>
          <a:p>
            <a:pPr lvl="0"/>
            <a:endParaRPr lang="en-US" altLang="zh-CN" dirty="0"/>
          </a:p>
          <a:p>
            <a:pPr lvl="0"/>
            <a:r>
              <a:rPr lang="en-US" altLang="zh-CN" b="1" dirty="0"/>
              <a:t>1</a:t>
            </a:r>
            <a:r>
              <a:rPr lang="zh-CN" altLang="en-US" b="1" dirty="0"/>
              <a:t>）</a:t>
            </a:r>
            <a:r>
              <a:rPr lang="en-US" altLang="zh-CN" b="1" dirty="0"/>
              <a:t>template&lt;typename T&gt;</a:t>
            </a:r>
            <a:r>
              <a:rPr lang="zh-CN" altLang="en-US" b="1" dirty="0"/>
              <a:t>表示下面定义的是名为</a:t>
            </a:r>
            <a:r>
              <a:rPr lang="en-US" altLang="zh-CN" b="1" dirty="0"/>
              <a:t>Vector</a:t>
            </a:r>
            <a:r>
              <a:rPr lang="zh-CN" altLang="en-US" b="1" dirty="0"/>
              <a:t>的模板类，</a:t>
            </a:r>
            <a:r>
              <a:rPr lang="zh-CN" altLang="en-US" dirty="0"/>
              <a:t>通过使用模板，可以使用同一份代码处理不同数据类型的数组。</a:t>
            </a:r>
            <a:r>
              <a:rPr lang="en-US" altLang="zh-CN" dirty="0"/>
              <a:t>&lt;typename T&gt;</a:t>
            </a:r>
            <a:r>
              <a:rPr lang="zh-CN" altLang="en-US" dirty="0"/>
              <a:t>负责告诉编译器在实例化模板时使用什么类型替换</a:t>
            </a:r>
            <a:r>
              <a:rPr lang="zh-CN" altLang="en-US" b="1" dirty="0"/>
              <a:t>模板参数</a:t>
            </a:r>
            <a:r>
              <a:rPr lang="en-US" altLang="zh-CN" b="1" dirty="0"/>
              <a:t>T</a:t>
            </a:r>
            <a:r>
              <a:rPr lang="zh-CN" altLang="en-US" dirty="0"/>
              <a:t>。比如创建一个存储整数的动态数组：</a:t>
            </a:r>
            <a:r>
              <a:rPr lang="en-US" altLang="zh-CN" dirty="0"/>
              <a:t>Vector&lt;int&gt;</a:t>
            </a:r>
            <a:r>
              <a:rPr lang="zh-CN" altLang="en-US" dirty="0"/>
              <a:t>，创建一个双精度浮点数的数组：</a:t>
            </a:r>
            <a:r>
              <a:rPr lang="en-US" altLang="zh-CN" dirty="0"/>
              <a:t>Vector&lt;double&gt;</a:t>
            </a:r>
            <a:r>
              <a:rPr lang="zh-CN" altLang="en-US" dirty="0"/>
              <a:t>。不必为每种数据类型都编写一个不同的类，提高了代码的重用性和灵活性。</a:t>
            </a:r>
            <a:endParaRPr lang="en-US" altLang="zh-CN" dirty="0"/>
          </a:p>
          <a:p>
            <a:pPr lvl="0"/>
            <a:endParaRPr lang="en-US" altLang="zh-CN" dirty="0"/>
          </a:p>
          <a:p>
            <a:pPr lvl="0"/>
            <a:r>
              <a:rPr lang="en-US" altLang="zh-CN" b="1" dirty="0"/>
              <a:t>2</a:t>
            </a:r>
            <a:r>
              <a:rPr lang="zh-CN" altLang="en-US" b="1" dirty="0"/>
              <a:t>）</a:t>
            </a:r>
            <a:r>
              <a:rPr lang="en-US" altLang="zh-CN" dirty="0"/>
              <a:t>data member</a:t>
            </a:r>
            <a:r>
              <a:rPr lang="zh-CN" altLang="en-US" dirty="0"/>
              <a:t>：</a:t>
            </a:r>
            <a:r>
              <a:rPr lang="en-US" altLang="zh-CN" dirty="0"/>
              <a:t>T* p: </a:t>
            </a:r>
            <a:r>
              <a:rPr lang="zh-CN" altLang="en-US" dirty="0"/>
              <a:t>指针用于指向动态数组，</a:t>
            </a:r>
            <a:r>
              <a:rPr lang="en-US" altLang="zh-CN" dirty="0"/>
              <a:t>int size: </a:t>
            </a:r>
            <a:r>
              <a:rPr lang="zh-CN" altLang="en-US" dirty="0"/>
              <a:t>表示当前存储的元素数量。</a:t>
            </a:r>
            <a:endParaRPr lang="en-US" altLang="zh-CN" dirty="0"/>
          </a:p>
          <a:p>
            <a:pPr lvl="0"/>
            <a:r>
              <a:rPr lang="en-US" altLang="zh-CN" dirty="0"/>
              <a:t>Member function: Vector() : p(nullptr), size(0) {}:</a:t>
            </a:r>
            <a:r>
              <a:rPr lang="zh-CN" altLang="en-US" dirty="0"/>
              <a:t>构造函数，用于初始化</a:t>
            </a:r>
            <a:r>
              <a:rPr lang="en-US" altLang="zh-CN" dirty="0"/>
              <a:t>Vector</a:t>
            </a:r>
            <a:r>
              <a:rPr lang="zh-CN" altLang="en-US" dirty="0"/>
              <a:t>类的对象。</a:t>
            </a:r>
            <a:r>
              <a:rPr lang="en-US" altLang="zh-CN" dirty="0"/>
              <a:t>~Vector():</a:t>
            </a:r>
            <a:r>
              <a:rPr lang="zh-CN" altLang="en-US" dirty="0"/>
              <a:t>析构函数，用于在对象被销毁时释放动态分配的内存。</a:t>
            </a:r>
            <a:endParaRPr lang="en-US" altLang="zh-CN" dirty="0"/>
          </a:p>
          <a:p>
            <a:pPr lvl="0"/>
            <a:r>
              <a:rPr lang="en-US" altLang="zh-CN" b="1" dirty="0"/>
              <a:t>push_back(): </a:t>
            </a:r>
            <a:r>
              <a:rPr lang="zh-CN" altLang="en-US" dirty="0"/>
              <a:t>用于在向量末尾添加一个元素，并相应地增加</a:t>
            </a:r>
            <a:r>
              <a:rPr lang="en-US" altLang="zh-CN" dirty="0"/>
              <a:t>size</a:t>
            </a:r>
            <a:r>
              <a:rPr lang="zh-CN" altLang="en-US" dirty="0"/>
              <a:t>。</a:t>
            </a:r>
            <a:r>
              <a:rPr lang="en-US" altLang="zh-CN" dirty="0"/>
              <a:t>::</a:t>
            </a:r>
            <a:r>
              <a:rPr lang="zh-CN" altLang="en-US" dirty="0"/>
              <a:t>类模板的作用域标识符</a:t>
            </a:r>
            <a:endParaRPr lang="en-US" altLang="zh-CN" dirty="0"/>
          </a:p>
          <a:p>
            <a:pPr lvl="0"/>
            <a:r>
              <a:rPr lang="zh-CN" altLang="en-US" dirty="0"/>
              <a:t>首先创建一个新的指针，指向新分配的内存块（</a:t>
            </a:r>
            <a:r>
              <a:rPr lang="en-US" altLang="zh-CN" dirty="0"/>
              <a:t>new</a:t>
            </a:r>
            <a:r>
              <a:rPr lang="zh-CN" altLang="en-US" dirty="0"/>
              <a:t>在堆上动态分配内存），该内存块容纳比原来多一个元素的数据；</a:t>
            </a:r>
            <a:endParaRPr lang="en-US" altLang="zh-CN" dirty="0"/>
          </a:p>
          <a:p>
            <a:pPr lvl="0"/>
            <a:r>
              <a:rPr lang="zh-CN" altLang="en-US" dirty="0"/>
              <a:t>通过遍历</a:t>
            </a:r>
            <a:r>
              <a:rPr lang="en-US" altLang="zh-CN" dirty="0"/>
              <a:t>p</a:t>
            </a:r>
            <a:r>
              <a:rPr lang="zh-CN" altLang="en-US" dirty="0"/>
              <a:t>指向的原始内存块，将其中的元素挨个复制到 </a:t>
            </a:r>
            <a:r>
              <a:rPr lang="en-US" altLang="zh-CN" dirty="0"/>
              <a:t>new_p </a:t>
            </a:r>
            <a:r>
              <a:rPr lang="zh-CN" altLang="en-US" dirty="0"/>
              <a:t>指向的新内存块中。</a:t>
            </a:r>
            <a:endParaRPr lang="en-US" altLang="zh-CN" dirty="0"/>
          </a:p>
          <a:p>
            <a:pPr lvl="0"/>
            <a:r>
              <a:rPr lang="zh-CN" altLang="en-US" dirty="0"/>
              <a:t>将要添加的新元素 </a:t>
            </a:r>
            <a:r>
              <a:rPr lang="en-US" altLang="zh-CN" dirty="0"/>
              <a:t>value </a:t>
            </a:r>
            <a:r>
              <a:rPr lang="zh-CN" altLang="en-US" dirty="0"/>
              <a:t>复制到新内存块中，并且增加 </a:t>
            </a:r>
            <a:r>
              <a:rPr lang="en-US" altLang="zh-CN" dirty="0"/>
              <a:t>size </a:t>
            </a:r>
            <a:r>
              <a:rPr lang="zh-CN" altLang="en-US" dirty="0"/>
              <a:t>的值。</a:t>
            </a:r>
            <a:endParaRPr lang="en-US" altLang="zh-CN" dirty="0"/>
          </a:p>
          <a:p>
            <a:pPr lvl="0"/>
            <a:r>
              <a:rPr lang="zh-CN" altLang="en-US" dirty="0"/>
              <a:t>释放了原来</a:t>
            </a:r>
            <a:r>
              <a:rPr lang="en-US" altLang="zh-CN" dirty="0"/>
              <a:t>p</a:t>
            </a:r>
            <a:r>
              <a:rPr lang="zh-CN" altLang="en-US" dirty="0"/>
              <a:t>指向的内存块，因为我们已经将原有的元素复制到了新的内存块中。</a:t>
            </a:r>
            <a:endParaRPr lang="en-US" altLang="zh-CN" dirty="0"/>
          </a:p>
          <a:p>
            <a:pPr lvl="0"/>
            <a:r>
              <a:rPr lang="zh-CN" altLang="en-US" dirty="0"/>
              <a:t>将原来的指针 </a:t>
            </a:r>
            <a:r>
              <a:rPr lang="en-US" altLang="zh-CN" dirty="0"/>
              <a:t>p </a:t>
            </a:r>
            <a:r>
              <a:rPr lang="zh-CN" altLang="en-US" dirty="0"/>
              <a:t>指向新的内存块 </a:t>
            </a:r>
            <a:r>
              <a:rPr lang="en-US" altLang="zh-CN" dirty="0"/>
              <a:t>new_p</a:t>
            </a:r>
            <a:r>
              <a:rPr lang="zh-CN" altLang="en-US" dirty="0"/>
              <a:t>。</a:t>
            </a:r>
          </a:p>
          <a:p>
            <a:pPr lvl="0"/>
            <a:r>
              <a:rPr lang="en-US" altLang="zh-CN" b="1" dirty="0"/>
              <a:t>int get_size() const: </a:t>
            </a:r>
            <a:r>
              <a:rPr lang="zh-CN" altLang="en-US" dirty="0"/>
              <a:t>用于获取向量中存储的元素数量（</a:t>
            </a:r>
            <a:r>
              <a:rPr lang="en-US" altLang="zh-CN" dirty="0"/>
              <a:t>size </a:t>
            </a:r>
            <a:r>
              <a:rPr lang="zh-CN" altLang="en-US" dirty="0"/>
              <a:t>的值）。</a:t>
            </a:r>
          </a:p>
          <a:p>
            <a:pPr lvl="0"/>
            <a:r>
              <a:rPr lang="en-US" altLang="zh-CN" b="1" dirty="0"/>
              <a:t>T&amp; operator[](int index): </a:t>
            </a:r>
            <a:r>
              <a:rPr lang="zh-CN" altLang="en-US" dirty="0"/>
              <a:t>运算符重载函数，允许使用类似数组访问方式来访问向量中的元素。</a:t>
            </a:r>
            <a:r>
              <a:rPr lang="en-US" altLang="zh-CN" dirty="0"/>
              <a:t>index</a:t>
            </a:r>
            <a:r>
              <a:rPr lang="zh-CN" altLang="en-US" dirty="0"/>
              <a:t>表示要访问的元素的索引。</a:t>
            </a:r>
          </a:p>
          <a:p>
            <a:pPr lvl="0"/>
            <a:endParaRPr lang="zh-CN" altLang="en-US" dirty="0"/>
          </a:p>
        </p:txBody>
      </p:sp>
      <p:sp>
        <p:nvSpPr>
          <p:cNvPr id="86020"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t>43</a:t>
            </a:fld>
            <a:endParaRPr lang="zh-CN" altLang="en-US" sz="1200"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TextEdit="1"/>
          </p:cNvSpPr>
          <p:nvPr>
            <p:ph type="sldImg"/>
          </p:nvPr>
        </p:nvSpPr>
        <p:spPr>
          <a:ln>
            <a:solidFill>
              <a:srgbClr val="000000">
                <a:alpha val="100000"/>
              </a:srgbClr>
            </a:solidFill>
            <a:miter lim="800000"/>
          </a:ln>
        </p:spPr>
      </p:sp>
      <p:sp>
        <p:nvSpPr>
          <p:cNvPr id="88067" name="备注占位符 2"/>
          <p:cNvSpPr>
            <a:spLocks noGrp="1"/>
          </p:cNvSpPr>
          <p:nvPr>
            <p:ph type="body" idx="1"/>
          </p:nvPr>
        </p:nvSpPr>
        <p:spPr>
          <a:noFill/>
          <a:ln>
            <a:noFill/>
          </a:ln>
        </p:spPr>
        <p:txBody>
          <a:bodyPr wrap="square" lIns="91440" tIns="45720" rIns="91440" bIns="45720" anchor="t" anchorCtr="0"/>
          <a:lstStyle/>
          <a:p>
            <a:pPr lvl="0"/>
            <a:r>
              <a:rPr lang="en-US" altLang="zh-CN" dirty="0"/>
              <a:t>string</a:t>
            </a:r>
            <a:r>
              <a:rPr lang="zh-CN" altLang="en-US" dirty="0"/>
              <a:t> </a:t>
            </a:r>
            <a:r>
              <a:rPr lang="en-US" altLang="zh-CN" dirty="0"/>
              <a:t>class</a:t>
            </a:r>
            <a:r>
              <a:rPr lang="zh-CN" altLang="en-US" dirty="0"/>
              <a:t> </a:t>
            </a:r>
            <a:r>
              <a:rPr lang="en-US" altLang="zh-CN" dirty="0"/>
              <a:t>library</a:t>
            </a:r>
            <a:r>
              <a:rPr lang="zh-CN" altLang="en-US" dirty="0"/>
              <a:t>是</a:t>
            </a:r>
            <a:r>
              <a:rPr lang="en-US" altLang="zh-CN" dirty="0"/>
              <a:t>C++</a:t>
            </a:r>
            <a:r>
              <a:rPr lang="zh-CN" altLang="en-US" dirty="0"/>
              <a:t>特有的字符串类型，要使用必须首先包括相应的头文件</a:t>
            </a:r>
            <a:r>
              <a:rPr lang="en-US" altLang="zh-CN" dirty="0"/>
              <a:t>#include&lt;string&gt;</a:t>
            </a:r>
          </a:p>
          <a:p>
            <a:pPr lvl="0"/>
            <a:endParaRPr lang="en-US" altLang="zh-CN" dirty="0"/>
          </a:p>
          <a:p>
            <a:pPr lvl="0"/>
            <a:r>
              <a:rPr lang="en-US" altLang="zh-CN" dirty="0"/>
              <a:t>***string</a:t>
            </a:r>
            <a:r>
              <a:rPr lang="zh-CN" altLang="en-US" dirty="0"/>
              <a:t>可以使用多种方式进行初始化：使用字符串常量初始化；使用现有的字符串对象初始化新的字符串；创建一个空字符串；可以根据需要选择不同的初始化方法。</a:t>
            </a:r>
            <a:endParaRPr lang="en-US" altLang="zh-CN" dirty="0"/>
          </a:p>
          <a:p>
            <a:pPr lvl="0"/>
            <a:endParaRPr lang="zh-CN" altLang="en-US" dirty="0"/>
          </a:p>
          <a:p>
            <a:pPr lvl="0"/>
            <a:r>
              <a:rPr lang="zh-CN" altLang="en-US" dirty="0"/>
              <a:t>***在</a:t>
            </a:r>
            <a:r>
              <a:rPr lang="en-US" altLang="zh-CN" dirty="0"/>
              <a:t>string</a:t>
            </a:r>
            <a:r>
              <a:rPr lang="zh-CN" altLang="en-US" dirty="0"/>
              <a:t>当中支持一些非常重要的运算符和</a:t>
            </a:r>
            <a:r>
              <a:rPr lang="en-US" altLang="zh-CN" dirty="0"/>
              <a:t>member function</a:t>
            </a:r>
            <a:r>
              <a:rPr lang="zh-CN" altLang="en-US" dirty="0"/>
              <a:t>：</a:t>
            </a:r>
          </a:p>
          <a:p>
            <a:pPr lvl="0"/>
            <a:r>
              <a:rPr lang="zh-CN" altLang="en-US" dirty="0"/>
              <a:t>运算符：等号赋值做</a:t>
            </a:r>
            <a:r>
              <a:rPr lang="en-US" altLang="zh-CN" dirty="0"/>
              <a:t>string copy</a:t>
            </a:r>
            <a:r>
              <a:rPr lang="zh-CN" altLang="en-US" dirty="0"/>
              <a:t>，从右边拷贝给左边的</a:t>
            </a:r>
            <a:r>
              <a:rPr lang="en-US" altLang="zh-CN" dirty="0"/>
              <a:t>string</a:t>
            </a:r>
            <a:r>
              <a:rPr lang="zh-CN" altLang="en-US" dirty="0"/>
              <a:t>。</a:t>
            </a:r>
            <a:r>
              <a:rPr lang="en-US" altLang="zh-CN" dirty="0"/>
              <a:t>+=</a:t>
            </a:r>
            <a:r>
              <a:rPr lang="zh-CN" altLang="en-US" dirty="0"/>
              <a:t>做的是</a:t>
            </a:r>
            <a:r>
              <a:rPr lang="en-US" altLang="zh-CN" dirty="0"/>
              <a:t>string cat</a:t>
            </a:r>
            <a:r>
              <a:rPr lang="zh-CN" altLang="en-US" dirty="0"/>
              <a:t>，把原来的</a:t>
            </a:r>
            <a:r>
              <a:rPr lang="en-US" altLang="zh-CN" dirty="0"/>
              <a:t>string</a:t>
            </a:r>
            <a:r>
              <a:rPr lang="zh-CN" altLang="en-US" dirty="0"/>
              <a:t>再加上</a:t>
            </a:r>
            <a:r>
              <a:rPr lang="en-US" altLang="zh-CN" dirty="0"/>
              <a:t>+=</a:t>
            </a:r>
            <a:r>
              <a:rPr lang="zh-CN" altLang="en-US" dirty="0"/>
              <a:t>右边的东西形成一个新的</a:t>
            </a:r>
            <a:r>
              <a:rPr lang="en-US" altLang="zh-CN" dirty="0"/>
              <a:t>string</a:t>
            </a:r>
            <a:r>
              <a:rPr lang="zh-CN" altLang="en-US" dirty="0"/>
              <a:t>。</a:t>
            </a:r>
            <a:r>
              <a:rPr lang="en-US" altLang="zh-CN" dirty="0"/>
              <a:t>string</a:t>
            </a:r>
            <a:r>
              <a:rPr lang="zh-CN" altLang="en-US" dirty="0"/>
              <a:t>也支持用方括弧访问</a:t>
            </a:r>
            <a:r>
              <a:rPr lang="en-US" altLang="zh-CN" dirty="0"/>
              <a:t>string</a:t>
            </a:r>
            <a:r>
              <a:rPr lang="zh-CN" altLang="en-US" dirty="0"/>
              <a:t>当中的某一个字符。</a:t>
            </a:r>
          </a:p>
          <a:p>
            <a:pPr lvl="0"/>
            <a:r>
              <a:rPr lang="zh-CN" altLang="en-US" dirty="0"/>
              <a:t>函数：</a:t>
            </a:r>
            <a:r>
              <a:rPr lang="en-US" altLang="zh-CN" dirty="0"/>
              <a:t>assign()</a:t>
            </a:r>
            <a:r>
              <a:rPr lang="zh-CN" altLang="en-US" dirty="0"/>
              <a:t>将字符串的内容替换为指定的内容。</a:t>
            </a:r>
            <a:r>
              <a:rPr lang="en-US" altLang="zh-CN" dirty="0"/>
              <a:t>append()</a:t>
            </a:r>
            <a:r>
              <a:rPr lang="zh-CN" altLang="en-US" dirty="0"/>
              <a:t>将指定内容附加到字符串的末尾。</a:t>
            </a:r>
            <a:r>
              <a:rPr lang="en-US" altLang="zh-CN" dirty="0"/>
              <a:t>at()</a:t>
            </a:r>
            <a:r>
              <a:rPr lang="zh-CN" altLang="en-US" dirty="0"/>
              <a:t>访问字符串中特定位置的字符。</a:t>
            </a:r>
            <a:r>
              <a:rPr lang="en-US" altLang="zh-CN" dirty="0"/>
              <a:t>empty()</a:t>
            </a:r>
            <a:r>
              <a:rPr lang="zh-CN" altLang="en-US" dirty="0"/>
              <a:t>函数用于检查字符串是否为空。</a:t>
            </a:r>
            <a:r>
              <a:rPr lang="en-US" altLang="zh-CN" dirty="0"/>
              <a:t>size()</a:t>
            </a:r>
            <a:r>
              <a:rPr lang="zh-CN" altLang="en-US" dirty="0"/>
              <a:t>获取字符串的大小。</a:t>
            </a:r>
            <a:r>
              <a:rPr lang="en-US" altLang="zh-CN" dirty="0"/>
              <a:t>Find()</a:t>
            </a:r>
            <a:r>
              <a:rPr lang="zh-CN" altLang="en-US" dirty="0"/>
              <a:t>就是在字符串当中去查找，</a:t>
            </a:r>
            <a:r>
              <a:rPr lang="en-US" altLang="zh-CN" dirty="0"/>
              <a:t>swap()</a:t>
            </a:r>
            <a:r>
              <a:rPr lang="zh-CN" altLang="en-US" dirty="0"/>
              <a:t>就是做字符串交换。</a:t>
            </a:r>
          </a:p>
          <a:p>
            <a:pPr lvl="0"/>
            <a:endParaRPr lang="en-US" altLang="zh-CN" dirty="0"/>
          </a:p>
          <a:p>
            <a:pPr lvl="0"/>
            <a:r>
              <a:rPr lang="en-US" altLang="zh-CN" dirty="0"/>
              <a:t>C-string()</a:t>
            </a:r>
            <a:r>
              <a:rPr lang="zh-CN" altLang="en-US" dirty="0"/>
              <a:t>：</a:t>
            </a:r>
            <a:r>
              <a:rPr lang="en-US" altLang="zh-CN" dirty="0"/>
              <a:t>string</a:t>
            </a:r>
            <a:r>
              <a:rPr lang="zh-CN" altLang="en-US" dirty="0"/>
              <a:t>是一个类，跟标准</a:t>
            </a:r>
            <a:r>
              <a:rPr lang="en-US" altLang="zh-CN" dirty="0"/>
              <a:t>C</a:t>
            </a:r>
            <a:r>
              <a:rPr lang="zh-CN" altLang="en-US" dirty="0"/>
              <a:t>定义的字符串</a:t>
            </a:r>
            <a:r>
              <a:rPr lang="en-US" altLang="zh-CN" dirty="0"/>
              <a:t>char* </a:t>
            </a:r>
            <a:r>
              <a:rPr lang="zh-CN" altLang="en-US" dirty="0"/>
              <a:t>是两个不同的东西。比如</a:t>
            </a:r>
            <a:r>
              <a:rPr lang="en-US" altLang="zh-CN" dirty="0"/>
              <a:t>string</a:t>
            </a:r>
            <a:r>
              <a:rPr lang="zh-CN" altLang="en-US" dirty="0"/>
              <a:t>类型的</a:t>
            </a:r>
            <a:r>
              <a:rPr lang="en-US" altLang="zh-CN" dirty="0"/>
              <a:t>hello</a:t>
            </a:r>
            <a:r>
              <a:rPr lang="zh-CN" altLang="en-US" dirty="0"/>
              <a:t>和</a:t>
            </a:r>
            <a:r>
              <a:rPr lang="en-US" altLang="zh-CN" dirty="0"/>
              <a:t>char*</a:t>
            </a:r>
            <a:r>
              <a:rPr lang="zh-CN" altLang="en-US" dirty="0"/>
              <a:t>类型的</a:t>
            </a:r>
            <a:r>
              <a:rPr lang="en-US" altLang="zh-CN" dirty="0"/>
              <a:t>hello</a:t>
            </a:r>
            <a:r>
              <a:rPr lang="zh-CN" altLang="en-US" dirty="0"/>
              <a:t>：</a:t>
            </a:r>
            <a:r>
              <a:rPr lang="en-US" altLang="zh-CN" dirty="0"/>
              <a:t>char*</a:t>
            </a:r>
            <a:r>
              <a:rPr lang="zh-CN" altLang="en-US" dirty="0"/>
              <a:t>的</a:t>
            </a:r>
            <a:r>
              <a:rPr lang="en-US" altLang="zh-CN" dirty="0"/>
              <a:t>hello</a:t>
            </a:r>
            <a:r>
              <a:rPr lang="zh-CN" altLang="en-US" dirty="0"/>
              <a:t>在</a:t>
            </a:r>
            <a:r>
              <a:rPr lang="en-US" altLang="zh-CN" dirty="0"/>
              <a:t>memory</a:t>
            </a:r>
            <a:r>
              <a:rPr lang="zh-CN" altLang="en-US" dirty="0"/>
              <a:t>中占</a:t>
            </a:r>
            <a:r>
              <a:rPr lang="en-US" altLang="zh-CN" dirty="0"/>
              <a:t>6</a:t>
            </a:r>
            <a:r>
              <a:rPr lang="zh-CN" altLang="en-US" dirty="0"/>
              <a:t>个字节，</a:t>
            </a:r>
            <a:r>
              <a:rPr lang="en-US" altLang="zh-CN" dirty="0"/>
              <a:t>h</a:t>
            </a:r>
            <a:r>
              <a:rPr lang="zh-CN" altLang="en-US" dirty="0"/>
              <a:t>，</a:t>
            </a:r>
            <a:r>
              <a:rPr lang="en-US" altLang="zh-CN" dirty="0"/>
              <a:t>e</a:t>
            </a:r>
            <a:r>
              <a:rPr lang="zh-CN" altLang="en-US" dirty="0"/>
              <a:t>，</a:t>
            </a:r>
            <a:r>
              <a:rPr lang="en-US" altLang="zh-CN" dirty="0"/>
              <a:t>l</a:t>
            </a:r>
            <a:r>
              <a:rPr lang="zh-CN" altLang="en-US" dirty="0"/>
              <a:t>，</a:t>
            </a:r>
            <a:r>
              <a:rPr lang="en-US" altLang="zh-CN" dirty="0"/>
              <a:t>l</a:t>
            </a:r>
            <a:r>
              <a:rPr lang="zh-CN" altLang="en-US" dirty="0"/>
              <a:t>， </a:t>
            </a:r>
            <a:r>
              <a:rPr lang="en-US" altLang="zh-CN" dirty="0"/>
              <a:t>o </a:t>
            </a:r>
            <a:r>
              <a:rPr lang="zh-CN" altLang="en-US" dirty="0"/>
              <a:t>再加斜杠零，但</a:t>
            </a:r>
            <a:r>
              <a:rPr lang="en-US" altLang="zh-CN" dirty="0"/>
              <a:t>C++</a:t>
            </a:r>
            <a:r>
              <a:rPr lang="zh-CN" altLang="en-US" dirty="0"/>
              <a:t>当中一个 </a:t>
            </a:r>
            <a:r>
              <a:rPr lang="en-US" altLang="zh-CN" dirty="0"/>
              <a:t>string</a:t>
            </a:r>
            <a:r>
              <a:rPr lang="zh-CN" altLang="en-US" dirty="0"/>
              <a:t>类型的</a:t>
            </a:r>
            <a:r>
              <a:rPr lang="en-US" altLang="zh-CN" dirty="0"/>
              <a:t>HELLO</a:t>
            </a:r>
            <a:r>
              <a:rPr lang="zh-CN" altLang="en-US" dirty="0"/>
              <a:t>它的大小肯定要大于</a:t>
            </a:r>
            <a:r>
              <a:rPr lang="en-US" altLang="zh-CN" dirty="0"/>
              <a:t>6</a:t>
            </a:r>
            <a:r>
              <a:rPr lang="zh-CN" altLang="en-US" dirty="0"/>
              <a:t>个字节。作为一个类，除了存储</a:t>
            </a:r>
            <a:r>
              <a:rPr lang="en-US" altLang="zh-CN" dirty="0"/>
              <a:t>hello</a:t>
            </a:r>
            <a:r>
              <a:rPr lang="zh-CN" altLang="en-US" dirty="0"/>
              <a:t>字符串之外，还要去存</a:t>
            </a:r>
            <a:r>
              <a:rPr lang="en-US" altLang="zh-CN" dirty="0"/>
              <a:t>size</a:t>
            </a:r>
            <a:r>
              <a:rPr lang="zh-CN" altLang="en-US" dirty="0"/>
              <a:t>等信息，所以如果去看</a:t>
            </a:r>
            <a:r>
              <a:rPr lang="en-US" altLang="zh-CN" b="1" dirty="0"/>
              <a:t>size of string</a:t>
            </a:r>
            <a:r>
              <a:rPr lang="zh-CN" altLang="en-US" b="1" dirty="0"/>
              <a:t>（”</a:t>
            </a:r>
            <a:r>
              <a:rPr lang="en-US" altLang="zh-CN" b="1" dirty="0"/>
              <a:t>hello”</a:t>
            </a:r>
            <a:r>
              <a:rPr lang="zh-CN" altLang="en-US" b="1" dirty="0"/>
              <a:t>）是大于</a:t>
            </a:r>
            <a:r>
              <a:rPr lang="en-US" altLang="zh-CN" b="1" dirty="0"/>
              <a:t>6</a:t>
            </a:r>
            <a:r>
              <a:rPr lang="zh-CN" altLang="en-US" b="1" dirty="0"/>
              <a:t>个字节的</a:t>
            </a:r>
            <a:r>
              <a:rPr lang="zh-CN" altLang="en-US" dirty="0"/>
              <a:t>。</a:t>
            </a:r>
          </a:p>
          <a:p>
            <a:pPr lvl="0"/>
            <a:r>
              <a:rPr lang="zh-CN" altLang="en-US" dirty="0"/>
              <a:t>所以</a:t>
            </a:r>
            <a:r>
              <a:rPr lang="en-US" altLang="zh-CN" dirty="0"/>
              <a:t>C++</a:t>
            </a:r>
            <a:r>
              <a:rPr lang="zh-CN" altLang="en-US" dirty="0"/>
              <a:t>的</a:t>
            </a:r>
            <a:r>
              <a:rPr lang="en-US" altLang="zh-CN" dirty="0"/>
              <a:t>string</a:t>
            </a:r>
            <a:r>
              <a:rPr lang="zh-CN" altLang="en-US" dirty="0"/>
              <a:t>会支持一个</a:t>
            </a:r>
            <a:r>
              <a:rPr lang="en-US" altLang="zh-CN" dirty="0"/>
              <a:t>member function</a:t>
            </a:r>
            <a:r>
              <a:rPr lang="zh-CN" altLang="en-US" dirty="0"/>
              <a:t>叫做</a:t>
            </a:r>
            <a:r>
              <a:rPr lang="en-US" altLang="zh-CN" dirty="0"/>
              <a:t>c-string()</a:t>
            </a:r>
            <a:r>
              <a:rPr lang="zh-CN" altLang="en-US" dirty="0"/>
              <a:t>：做的事情就是从</a:t>
            </a:r>
            <a:r>
              <a:rPr lang="en-US" altLang="zh-CN" dirty="0"/>
              <a:t>string</a:t>
            </a:r>
            <a:r>
              <a:rPr lang="zh-CN" altLang="en-US" dirty="0"/>
              <a:t>整个</a:t>
            </a:r>
            <a:r>
              <a:rPr lang="en-US" altLang="zh-CN" dirty="0"/>
              <a:t>memory</a:t>
            </a:r>
            <a:r>
              <a:rPr lang="zh-CN" altLang="en-US" dirty="0"/>
              <a:t>当中抽出里面</a:t>
            </a:r>
            <a:r>
              <a:rPr lang="en-US" altLang="zh-CN" dirty="0"/>
              <a:t>char*</a:t>
            </a:r>
            <a:r>
              <a:rPr lang="zh-CN" altLang="en-US" dirty="0"/>
              <a:t>的部分，也就只抽取出</a:t>
            </a:r>
            <a:r>
              <a:rPr lang="en-US" altLang="zh-CN" dirty="0"/>
              <a:t>6</a:t>
            </a:r>
            <a:r>
              <a:rPr lang="zh-CN" altLang="en-US" dirty="0"/>
              <a:t>个字节：</a:t>
            </a:r>
            <a:r>
              <a:rPr lang="en-US" altLang="zh-CN" dirty="0"/>
              <a:t>HELLO</a:t>
            </a:r>
            <a:r>
              <a:rPr lang="zh-CN" altLang="en-US" dirty="0"/>
              <a:t>，斜杠零，把这个东西的起始地址返回给</a:t>
            </a:r>
            <a:r>
              <a:rPr lang="en-US" altLang="zh-CN" dirty="0"/>
              <a:t>str()</a:t>
            </a:r>
            <a:r>
              <a:rPr lang="zh-CN" altLang="en-US" dirty="0"/>
              <a:t>这个函数。简单点理解就是把</a:t>
            </a:r>
            <a:r>
              <a:rPr lang="en-US" altLang="zh-CN" dirty="0"/>
              <a:t>C++</a:t>
            </a:r>
            <a:r>
              <a:rPr lang="zh-CN" altLang="en-US" dirty="0"/>
              <a:t>的 </a:t>
            </a:r>
            <a:r>
              <a:rPr lang="en-US" altLang="zh-CN" dirty="0"/>
              <a:t>string</a:t>
            </a:r>
            <a:r>
              <a:rPr lang="zh-CN" altLang="en-US" dirty="0"/>
              <a:t>类型强制转换成</a:t>
            </a:r>
            <a:r>
              <a:rPr lang="en-US" altLang="zh-CN" dirty="0"/>
              <a:t>C</a:t>
            </a:r>
            <a:r>
              <a:rPr lang="zh-CN" altLang="en-US" dirty="0"/>
              <a:t>当中的</a:t>
            </a:r>
            <a:r>
              <a:rPr lang="en-US" altLang="zh-CN" dirty="0"/>
              <a:t>char*, </a:t>
            </a:r>
            <a:r>
              <a:rPr lang="zh-CN" altLang="en-US" dirty="0"/>
              <a:t>使原来</a:t>
            </a:r>
            <a:r>
              <a:rPr lang="en-US" altLang="zh-CN" dirty="0"/>
              <a:t>C</a:t>
            </a:r>
            <a:r>
              <a:rPr lang="zh-CN" altLang="en-US" dirty="0"/>
              <a:t>当中的一些库函数仍然可以去使用。</a:t>
            </a:r>
          </a:p>
          <a:p>
            <a:pPr lvl="0"/>
            <a:endParaRPr lang="zh-CN" altLang="en-US" dirty="0"/>
          </a:p>
        </p:txBody>
      </p:sp>
      <p:sp>
        <p:nvSpPr>
          <p:cNvPr id="88068"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t>44</a:t>
            </a:fld>
            <a:endParaRPr lang="zh-CN" altLang="en-US" sz="1200"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p:cNvSpPr>
            <a:spLocks noGrp="1" noRot="1" noChangeAspect="1" noTextEdit="1"/>
          </p:cNvSpPr>
          <p:nvPr>
            <p:ph type="sldImg"/>
          </p:nvPr>
        </p:nvSpPr>
        <p:spPr>
          <a:ln>
            <a:solidFill>
              <a:srgbClr val="000000">
                <a:alpha val="100000"/>
              </a:srgbClr>
            </a:solidFill>
            <a:miter lim="800000"/>
          </a:ln>
        </p:spPr>
      </p:sp>
      <p:sp>
        <p:nvSpPr>
          <p:cNvPr id="90115" name="备注占位符 2"/>
          <p:cNvSpPr>
            <a:spLocks noGrp="1"/>
          </p:cNvSpPr>
          <p:nvPr>
            <p:ph type="body" idx="1"/>
          </p:nvPr>
        </p:nvSpPr>
        <p:spPr>
          <a:noFill/>
          <a:ln>
            <a:noFill/>
          </a:ln>
        </p:spPr>
        <p:txBody>
          <a:bodyPr wrap="square" lIns="91440" tIns="45720" rIns="91440" bIns="45720" anchor="t" anchorCtr="0"/>
          <a:lstStyle/>
          <a:p>
            <a:pPr lvl="0"/>
            <a:r>
              <a:rPr lang="zh-CN" altLang="en-US" dirty="0"/>
              <a:t>关于</a:t>
            </a:r>
            <a:r>
              <a:rPr lang="en-US" altLang="zh-CN" dirty="0"/>
              <a:t>C++</a:t>
            </a:r>
            <a:r>
              <a:rPr lang="zh-CN" altLang="en-US" dirty="0"/>
              <a:t>的输入和输出功能：</a:t>
            </a:r>
            <a:r>
              <a:rPr lang="en-US" altLang="zh-CN" dirty="0"/>
              <a:t>C</a:t>
            </a:r>
            <a:r>
              <a:rPr lang="zh-CN" altLang="en-US" dirty="0"/>
              <a:t>语言打印功能使用</a:t>
            </a:r>
            <a:r>
              <a:rPr lang="en-US" altLang="zh-CN" dirty="0"/>
              <a:t>printf</a:t>
            </a:r>
            <a:r>
              <a:rPr lang="zh-CN" altLang="en-US" dirty="0"/>
              <a:t>函数，可以使用格式字符串指定要打印的内容及其格式。这种方法存在潜在的安全风险，因为</a:t>
            </a:r>
            <a:r>
              <a:rPr lang="en-US" altLang="zh-CN" dirty="0"/>
              <a:t>printf</a:t>
            </a:r>
            <a:r>
              <a:rPr lang="zh-CN" altLang="en-US" dirty="0"/>
              <a:t>函数不会对传递给它的参数类型进行检查。如果格式字符串与实际传递的参数类型不匹配，比如定义一个整数</a:t>
            </a:r>
            <a:r>
              <a:rPr lang="en-US" altLang="zh-CN" dirty="0"/>
              <a:t>d</a:t>
            </a:r>
            <a:r>
              <a:rPr lang="zh-CN" altLang="en-US" dirty="0"/>
              <a:t>和字符串指针</a:t>
            </a:r>
            <a:r>
              <a:rPr lang="en-US" altLang="zh-CN" dirty="0"/>
              <a:t>s</a:t>
            </a:r>
            <a:r>
              <a:rPr lang="zh-CN" altLang="en-US" dirty="0"/>
              <a:t>。然后</a:t>
            </a:r>
            <a:r>
              <a:rPr lang="en-US" altLang="zh-CN" dirty="0"/>
              <a:t>printf</a:t>
            </a:r>
            <a:r>
              <a:rPr lang="zh-CN" altLang="en-US" dirty="0"/>
              <a:t>格式字符串</a:t>
            </a:r>
            <a:r>
              <a:rPr lang="en-US" altLang="zh-CN" dirty="0"/>
              <a:t>“%s”</a:t>
            </a:r>
            <a:r>
              <a:rPr lang="zh-CN" altLang="en-US" dirty="0"/>
              <a:t>指示要打印一个字符串，但提供的参数是整数</a:t>
            </a:r>
            <a:r>
              <a:rPr lang="en-US" altLang="zh-CN" dirty="0"/>
              <a:t>d</a:t>
            </a:r>
            <a:r>
              <a:rPr lang="zh-CN" altLang="en-US" dirty="0"/>
              <a:t>，这时</a:t>
            </a:r>
            <a:r>
              <a:rPr lang="en-US" altLang="zh-CN" dirty="0"/>
              <a:t>printf</a:t>
            </a:r>
            <a:r>
              <a:rPr lang="zh-CN" altLang="en-US" dirty="0"/>
              <a:t>无法正确解释参数， </a:t>
            </a:r>
            <a:r>
              <a:rPr lang="en-US" altLang="zh-CN" dirty="0"/>
              <a:t>“%s”</a:t>
            </a:r>
            <a:r>
              <a:rPr lang="zh-CN" altLang="en-US" dirty="0"/>
              <a:t>可能会尝试解释</a:t>
            </a:r>
            <a:r>
              <a:rPr lang="en-US" altLang="zh-CN" dirty="0"/>
              <a:t>d</a:t>
            </a:r>
            <a:r>
              <a:rPr lang="zh-CN" altLang="en-US" dirty="0"/>
              <a:t>指向的内存地址是不是个字符串，不同编译器可能产生不同结果，会导致程序崩溃或产生其他未定义的行为。</a:t>
            </a:r>
            <a:endParaRPr lang="en-US" altLang="zh-CN" dirty="0"/>
          </a:p>
          <a:p>
            <a:pPr lvl="0"/>
            <a:endParaRPr lang="zh-CN" altLang="en-US" dirty="0"/>
          </a:p>
          <a:p>
            <a:pPr lvl="0"/>
            <a:r>
              <a:rPr lang="zh-CN" altLang="en-US" dirty="0"/>
              <a:t>***</a:t>
            </a:r>
            <a:r>
              <a:rPr lang="en-US" altLang="zh-CN" dirty="0"/>
              <a:t>C++</a:t>
            </a:r>
            <a:r>
              <a:rPr lang="zh-CN" altLang="en-US" dirty="0"/>
              <a:t>为了提高安全性，它在</a:t>
            </a:r>
            <a:r>
              <a:rPr lang="en-US" altLang="zh-CN" dirty="0"/>
              <a:t>&lt;iostream&gt;</a:t>
            </a:r>
            <a:r>
              <a:rPr lang="zh-CN" altLang="en-US" dirty="0"/>
              <a:t>类里重载了</a:t>
            </a:r>
            <a:r>
              <a:rPr lang="en-US" altLang="zh-CN" dirty="0"/>
              <a:t>&lt;&lt;</a:t>
            </a:r>
            <a:r>
              <a:rPr lang="zh-CN" altLang="en-US" dirty="0"/>
              <a:t>和</a:t>
            </a:r>
            <a:r>
              <a:rPr lang="en-US" altLang="zh-CN" dirty="0"/>
              <a:t>&gt;&gt;</a:t>
            </a:r>
            <a:r>
              <a:rPr lang="zh-CN" altLang="en-US" dirty="0"/>
              <a:t>操作符，会根据变量的类型自动选择适当的输出格式，使输入输出流的对象</a:t>
            </a:r>
            <a:r>
              <a:rPr lang="en-US" altLang="zh-CN" dirty="0"/>
              <a:t>cin-cout</a:t>
            </a:r>
            <a:r>
              <a:rPr lang="zh-CN" altLang="en-US" dirty="0"/>
              <a:t>使用更加安全，减少了因格式字符串错误引起的潜在问题。</a:t>
            </a:r>
          </a:p>
        </p:txBody>
      </p:sp>
      <p:sp>
        <p:nvSpPr>
          <p:cNvPr id="90116" name="幻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zh-CN" sz="1200" dirty="0"/>
              <a:t>45</a:t>
            </a:fld>
            <a:endParaRPr lang="zh-CN" altLang="zh-CN" sz="1200"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a:ln>
            <a:solidFill>
              <a:srgbClr val="000000">
                <a:alpha val="100000"/>
              </a:srgbClr>
            </a:solidFill>
            <a:miter lim="800000"/>
          </a:ln>
        </p:spPr>
      </p:sp>
      <p:sp>
        <p:nvSpPr>
          <p:cNvPr id="92163" name="备注占位符 2"/>
          <p:cNvSpPr>
            <a:spLocks noGrp="1"/>
          </p:cNvSpPr>
          <p:nvPr>
            <p:ph type="body" idx="1"/>
          </p:nvPr>
        </p:nvSpPr>
        <p:spPr>
          <a:noFill/>
          <a:ln>
            <a:noFill/>
          </a:ln>
        </p:spPr>
        <p:txBody>
          <a:bodyPr wrap="square" lIns="91440" tIns="45720" rIns="91440" bIns="45720" anchor="t" anchorCtr="0"/>
          <a:lstStyle/>
          <a:p>
            <a:pPr lvl="0"/>
            <a:r>
              <a:rPr lang="zh-CN" altLang="en-US" dirty="0"/>
              <a:t>输入输出流：流通常指字节序列，是数据在程序和外部设备之间的传输媒介。</a:t>
            </a:r>
          </a:p>
          <a:p>
            <a:pPr lvl="0"/>
            <a:r>
              <a:rPr lang="zh-CN" altLang="en-US" dirty="0"/>
              <a:t>***输入是指数据从外部设备（如键盘或磁盘驱动器）传输到计算机内存的过程。</a:t>
            </a:r>
          </a:p>
          <a:p>
            <a:pPr lvl="0"/>
            <a:r>
              <a:rPr lang="zh-CN" altLang="en-US" dirty="0"/>
              <a:t>***输出是指将数据从计算机内存传输到外部设备（如显示器或打印机）的过程。</a:t>
            </a:r>
            <a:endParaRPr lang="en-US" altLang="zh-CN" dirty="0"/>
          </a:p>
          <a:p>
            <a:pPr lvl="0"/>
            <a:endParaRPr lang="zh-CN" altLang="en-US" dirty="0"/>
          </a:p>
          <a:p>
            <a:pPr lvl="0"/>
            <a:r>
              <a:rPr lang="zh-CN" altLang="en-US" dirty="0"/>
              <a:t>***</a:t>
            </a:r>
            <a:r>
              <a:rPr lang="en-US" altLang="zh-CN" dirty="0"/>
              <a:t>C++</a:t>
            </a:r>
            <a:r>
              <a:rPr lang="zh-CN" altLang="en-US" dirty="0"/>
              <a:t>的</a:t>
            </a:r>
            <a:r>
              <a:rPr lang="en-US" altLang="zh-CN" dirty="0"/>
              <a:t>iostream</a:t>
            </a:r>
            <a:r>
              <a:rPr lang="zh-CN" altLang="en-US" dirty="0"/>
              <a:t>库提供了用于处理输入和输出的类和函数。要使用</a:t>
            </a:r>
            <a:r>
              <a:rPr lang="en-US" altLang="zh-CN" dirty="0"/>
              <a:t>iostream</a:t>
            </a:r>
            <a:r>
              <a:rPr lang="zh-CN" altLang="en-US" dirty="0"/>
              <a:t>库中的输入输出流对象，要在程序开头包括</a:t>
            </a:r>
            <a:r>
              <a:rPr lang="en-US" altLang="zh-CN" dirty="0"/>
              <a:t>iostream</a:t>
            </a:r>
            <a:r>
              <a:rPr lang="zh-CN" altLang="en-US" dirty="0"/>
              <a:t>的头文件：</a:t>
            </a:r>
            <a:r>
              <a:rPr lang="en-US" altLang="zh-CN" dirty="0"/>
              <a:t>cin</a:t>
            </a:r>
            <a:r>
              <a:rPr lang="zh-CN" altLang="en-US" dirty="0"/>
              <a:t>是</a:t>
            </a:r>
            <a:r>
              <a:rPr lang="en-US" altLang="zh-CN" dirty="0"/>
              <a:t>C++</a:t>
            </a:r>
            <a:r>
              <a:rPr lang="zh-CN" altLang="en-US" dirty="0"/>
              <a:t>标准库中的标准输入流对象，</a:t>
            </a:r>
            <a:r>
              <a:rPr lang="en-US" altLang="zh-CN" dirty="0"/>
              <a:t>cout</a:t>
            </a:r>
            <a:r>
              <a:rPr lang="zh-CN" altLang="en-US" dirty="0"/>
              <a:t>是标准输出流对象，</a:t>
            </a:r>
            <a:r>
              <a:rPr lang="en-US" altLang="zh-CN" dirty="0"/>
              <a:t>cerr</a:t>
            </a:r>
            <a:r>
              <a:rPr lang="zh-CN" altLang="en-US" dirty="0"/>
              <a:t>是</a:t>
            </a:r>
            <a:r>
              <a:rPr lang="en-US" altLang="zh-CN" dirty="0"/>
              <a:t>C++</a:t>
            </a:r>
            <a:r>
              <a:rPr lang="zh-CN" altLang="en-US" dirty="0"/>
              <a:t>标准错误输出流对象，它和</a:t>
            </a:r>
            <a:r>
              <a:rPr lang="en-US" altLang="zh-CN" dirty="0"/>
              <a:t>cout</a:t>
            </a:r>
            <a:r>
              <a:rPr lang="zh-CN" altLang="en-US" dirty="0"/>
              <a:t>一样将都是错误消息定向输出到屏幕，但它是无缓冲的，消息会立即显示。（</a:t>
            </a:r>
            <a:r>
              <a:rPr lang="en-US" altLang="zh-CN" dirty="0"/>
              <a:t>cout</a:t>
            </a:r>
            <a:r>
              <a:rPr lang="zh-CN" altLang="en-US" dirty="0"/>
              <a:t>是要等缓冲区满或者看到换行符）</a:t>
            </a:r>
          </a:p>
          <a:p>
            <a:pPr lvl="0"/>
            <a:endParaRPr lang="zh-CN" altLang="en-US" dirty="0"/>
          </a:p>
        </p:txBody>
      </p:sp>
      <p:sp>
        <p:nvSpPr>
          <p:cNvPr id="9216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t>46</a:t>
            </a:fld>
            <a:endParaRPr lang="zh-CN" altLang="en-US" sz="1200"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p:cNvSpPr>
            <a:spLocks noGrp="1" noRot="1" noChangeAspect="1" noTextEdit="1"/>
          </p:cNvSpPr>
          <p:nvPr>
            <p:ph type="sldImg"/>
          </p:nvPr>
        </p:nvSpPr>
        <p:spPr>
          <a:ln>
            <a:solidFill>
              <a:srgbClr val="000000">
                <a:alpha val="100000"/>
              </a:srgbClr>
            </a:solidFill>
            <a:miter lim="800000"/>
          </a:ln>
        </p:spPr>
      </p:sp>
      <p:sp>
        <p:nvSpPr>
          <p:cNvPr id="94211" name="备注占位符 2"/>
          <p:cNvSpPr>
            <a:spLocks noGrp="1"/>
          </p:cNvSpPr>
          <p:nvPr>
            <p:ph type="body" idx="1"/>
          </p:nvPr>
        </p:nvSpPr>
        <p:spPr>
          <a:noFill/>
          <a:ln>
            <a:noFill/>
          </a:ln>
        </p:spPr>
        <p:txBody>
          <a:bodyPr wrap="square" lIns="91440" tIns="45720" rIns="91440" bIns="45720" anchor="t" anchorCtr="0"/>
          <a:lstStyle/>
          <a:p>
            <a:pPr lvl="0"/>
            <a:r>
              <a:rPr lang="en-US" altLang="zh-CN" dirty="0"/>
              <a:t>C++</a:t>
            </a:r>
            <a:r>
              <a:rPr lang="zh-CN" altLang="en-US" dirty="0"/>
              <a:t>中另外一种用于处理输入、输出流的类叫做</a:t>
            </a:r>
            <a:r>
              <a:rPr lang="en-US" altLang="zh-CN" dirty="0"/>
              <a:t>fstream</a:t>
            </a:r>
            <a:r>
              <a:rPr lang="zh-CN" altLang="en-US" dirty="0"/>
              <a:t>，</a:t>
            </a:r>
            <a:r>
              <a:rPr lang="en-US" altLang="zh-CN" dirty="0"/>
              <a:t>fstream</a:t>
            </a:r>
            <a:r>
              <a:rPr lang="zh-CN" altLang="en-US" dirty="0"/>
              <a:t>是</a:t>
            </a:r>
            <a:r>
              <a:rPr lang="en-US" altLang="zh-CN" dirty="0"/>
              <a:t>iostream</a:t>
            </a:r>
            <a:r>
              <a:rPr lang="zh-CN" altLang="en-US" dirty="0"/>
              <a:t>的子类，它继承了</a:t>
            </a:r>
            <a:r>
              <a:rPr lang="en-US" altLang="zh-CN" dirty="0"/>
              <a:t>iostream</a:t>
            </a:r>
            <a:r>
              <a:rPr lang="zh-CN" altLang="en-US" dirty="0"/>
              <a:t>的功能，同时增加了对文件进行读写操作的能力。</a:t>
            </a:r>
          </a:p>
          <a:p>
            <a:pPr lvl="0"/>
            <a:endParaRPr lang="zh-CN" altLang="en-US" dirty="0"/>
          </a:p>
          <a:p>
            <a:pPr lvl="0"/>
            <a:r>
              <a:rPr lang="zh-CN" altLang="en-US" dirty="0"/>
              <a:t>如果要向文件中写入数据，可以用</a:t>
            </a:r>
            <a:r>
              <a:rPr lang="en-US" altLang="zh-CN" dirty="0"/>
              <a:t>oftream</a:t>
            </a:r>
            <a:r>
              <a:rPr lang="zh-CN" altLang="en-US" dirty="0"/>
              <a:t>创建一个文件输出流对象</a:t>
            </a:r>
            <a:r>
              <a:rPr lang="en-US" altLang="zh-CN" dirty="0"/>
              <a:t>/</a:t>
            </a:r>
            <a:r>
              <a:rPr lang="zh-CN" altLang="en-US" dirty="0"/>
              <a:t>实例（</a:t>
            </a:r>
            <a:r>
              <a:rPr lang="en-US" altLang="zh-CN" dirty="0"/>
              <a:t>ofstream</a:t>
            </a:r>
            <a:r>
              <a:rPr lang="zh-CN" altLang="en-US" dirty="0"/>
              <a:t>是输出流的基类， </a:t>
            </a:r>
            <a:r>
              <a:rPr lang="en-US" altLang="zh-CN" dirty="0"/>
              <a:t>cout</a:t>
            </a:r>
            <a:r>
              <a:rPr lang="zh-CN" altLang="en-US" dirty="0"/>
              <a:t>就是</a:t>
            </a:r>
            <a:r>
              <a:rPr lang="en-US" altLang="zh-CN" dirty="0"/>
              <a:t>ostream</a:t>
            </a:r>
            <a:r>
              <a:rPr lang="zh-CN" altLang="en-US" dirty="0"/>
              <a:t>的一个实例）。如果要创建的用于输出的文件名已存在，并且我们不希望这个文件中原本的内容被丢弃，而是把新数据增加到该文件中，那我们可以使用附加模式（</a:t>
            </a:r>
            <a:r>
              <a:rPr lang="en-US" altLang="zh-CN" dirty="0"/>
              <a:t>append mode</a:t>
            </a:r>
            <a:r>
              <a:rPr lang="zh-CN" altLang="en-US" dirty="0"/>
              <a:t>）来打开文件，也就是给</a:t>
            </a:r>
            <a:r>
              <a:rPr lang="en-US" altLang="zh-CN" dirty="0"/>
              <a:t>ofstream</a:t>
            </a:r>
            <a:r>
              <a:rPr lang="zh-CN" altLang="en-US" dirty="0"/>
              <a:t>对象提供第二个参数：</a:t>
            </a:r>
            <a:r>
              <a:rPr lang="en-US" altLang="zh-CN" dirty="0"/>
              <a:t>ios_base::app</a:t>
            </a:r>
            <a:r>
              <a:rPr lang="zh-CN" altLang="en-US" dirty="0"/>
              <a:t>；</a:t>
            </a:r>
            <a:endParaRPr lang="en-US" altLang="zh-CN" dirty="0"/>
          </a:p>
          <a:p>
            <a:pPr lvl="0"/>
            <a:endParaRPr lang="zh-CN" altLang="en-US" dirty="0"/>
          </a:p>
          <a:p>
            <a:pPr lvl="0"/>
            <a:r>
              <a:rPr lang="zh-CN" altLang="en-US" dirty="0"/>
              <a:t>一旦创建了文件流对象，就可以对它们执行文件操作：要写入数据：使用</a:t>
            </a:r>
            <a:r>
              <a:rPr lang="en-US" altLang="zh-CN" dirty="0"/>
              <a:t>&lt;&lt;</a:t>
            </a:r>
            <a:r>
              <a:rPr lang="zh-CN" altLang="en-US" dirty="0"/>
              <a:t>运算符，就可以把输出信息定向到该文件。</a:t>
            </a:r>
          </a:p>
          <a:p>
            <a:pPr lvl="0"/>
            <a:r>
              <a:rPr lang="zh-CN" altLang="en-US" dirty="0"/>
              <a:t>***如果文件未能成功打开，文件流对象</a:t>
            </a:r>
            <a:r>
              <a:rPr lang="en-US" altLang="zh-CN" dirty="0"/>
              <a:t>OutFile</a:t>
            </a:r>
            <a:r>
              <a:rPr lang="zh-CN" altLang="en-US" dirty="0"/>
              <a:t>会被评估为</a:t>
            </a:r>
            <a:r>
              <a:rPr lang="en-US" altLang="zh-CN" dirty="0"/>
              <a:t>false</a:t>
            </a:r>
            <a:r>
              <a:rPr lang="zh-CN" altLang="en-US" dirty="0"/>
              <a:t>，可以使用条件语句检查文件操作是否成功。</a:t>
            </a:r>
          </a:p>
          <a:p>
            <a:pPr lvl="0"/>
            <a:endParaRPr lang="zh-CN" altLang="en-US" dirty="0"/>
          </a:p>
        </p:txBody>
      </p:sp>
      <p:sp>
        <p:nvSpPr>
          <p:cNvPr id="94212"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t>47</a:t>
            </a:fld>
            <a:endParaRPr lang="zh-CN" altLang="en-US" sz="1200"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p:cNvSpPr>
            <a:spLocks noGrp="1" noRot="1" noChangeAspect="1" noTextEdit="1"/>
          </p:cNvSpPr>
          <p:nvPr>
            <p:ph type="sldImg"/>
          </p:nvPr>
        </p:nvSpPr>
        <p:spPr>
          <a:ln>
            <a:solidFill>
              <a:srgbClr val="000000">
                <a:alpha val="100000"/>
              </a:srgbClr>
            </a:solidFill>
            <a:miter lim="800000"/>
          </a:ln>
        </p:spPr>
      </p:sp>
      <p:sp>
        <p:nvSpPr>
          <p:cNvPr id="96259" name="备注占位符 2"/>
          <p:cNvSpPr>
            <a:spLocks noGrp="1"/>
          </p:cNvSpPr>
          <p:nvPr>
            <p:ph type="body" idx="1"/>
          </p:nvPr>
        </p:nvSpPr>
        <p:spPr>
          <a:noFill/>
          <a:ln>
            <a:noFill/>
          </a:ln>
        </p:spPr>
        <p:txBody>
          <a:bodyPr wrap="square" lIns="91440" tIns="45720" rIns="91440" bIns="45720" anchor="t" anchorCtr="0"/>
          <a:lstStyle/>
          <a:p>
            <a:pPr lvl="0"/>
            <a:r>
              <a:rPr lang="zh-CN" altLang="en-US" dirty="0"/>
              <a:t>如果要读取一个文件内容，我们就定义一个</a:t>
            </a:r>
            <a:r>
              <a:rPr lang="en-US" altLang="zh-CN" dirty="0"/>
              <a:t>ifstream</a:t>
            </a:r>
            <a:r>
              <a:rPr lang="zh-CN" altLang="en-US" dirty="0"/>
              <a:t>的对象，并把文件名“</a:t>
            </a:r>
            <a:r>
              <a:rPr lang="en-US" altLang="zh-CN" dirty="0"/>
              <a:t>in.txt”</a:t>
            </a:r>
            <a:r>
              <a:rPr lang="zh-CN" altLang="en-US" dirty="0"/>
              <a:t>传入，同理如果文件未能成功打开，文件流对象</a:t>
            </a:r>
            <a:r>
              <a:rPr lang="en-US" altLang="zh-CN" dirty="0"/>
              <a:t>InFile</a:t>
            </a:r>
            <a:r>
              <a:rPr lang="zh-CN" altLang="en-US" dirty="0"/>
              <a:t>就会被评估为</a:t>
            </a:r>
            <a:r>
              <a:rPr lang="en-US" altLang="zh-CN" dirty="0"/>
              <a:t>false</a:t>
            </a:r>
            <a:r>
              <a:rPr lang="zh-CN" altLang="en-US" dirty="0"/>
              <a:t>。</a:t>
            </a:r>
            <a:endParaRPr lang="en-US" altLang="zh-CN" dirty="0"/>
          </a:p>
          <a:p>
            <a:pPr lvl="0"/>
            <a:endParaRPr lang="zh-CN" altLang="en-US" dirty="0"/>
          </a:p>
          <a:p>
            <a:pPr lvl="0"/>
            <a:r>
              <a:rPr lang="zh-CN" altLang="en-US" dirty="0"/>
              <a:t>***如果想要同时读写一个文件，我们就定义一个</a:t>
            </a:r>
            <a:r>
              <a:rPr lang="en-US" altLang="zh-CN" dirty="0"/>
              <a:t>fstream</a:t>
            </a:r>
            <a:r>
              <a:rPr lang="zh-CN" altLang="en-US" dirty="0"/>
              <a:t>的对象。如果去看</a:t>
            </a:r>
            <a:r>
              <a:rPr lang="en-US" altLang="zh-CN" dirty="0"/>
              <a:t>C++</a:t>
            </a:r>
            <a:r>
              <a:rPr lang="zh-CN" altLang="en-US" dirty="0"/>
              <a:t>的头文件，</a:t>
            </a:r>
            <a:r>
              <a:rPr lang="en-US" altLang="zh-CN" dirty="0"/>
              <a:t>fstream</a:t>
            </a:r>
            <a:r>
              <a:rPr lang="zh-CN" altLang="en-US" dirty="0"/>
              <a:t>其实就是由</a:t>
            </a:r>
            <a:r>
              <a:rPr lang="en-US" altLang="zh-CN" dirty="0"/>
              <a:t>ofstream </a:t>
            </a:r>
            <a:r>
              <a:rPr lang="zh-CN" altLang="en-US" dirty="0"/>
              <a:t>跟</a:t>
            </a:r>
            <a:r>
              <a:rPr lang="en-US" altLang="zh-CN" dirty="0"/>
              <a:t>ifstream</a:t>
            </a:r>
            <a:r>
              <a:rPr lang="zh-CN" altLang="en-US" dirty="0"/>
              <a:t>两个部分拼起来的，</a:t>
            </a:r>
            <a:r>
              <a:rPr lang="en-US" altLang="zh-CN" dirty="0"/>
              <a:t>ifstream</a:t>
            </a:r>
            <a:r>
              <a:rPr lang="zh-CN" altLang="en-US" dirty="0"/>
              <a:t>（输入文件流）用于从文件读取数据，</a:t>
            </a:r>
            <a:r>
              <a:rPr lang="en-US" altLang="zh-CN" dirty="0"/>
              <a:t>ofstream</a:t>
            </a:r>
            <a:r>
              <a:rPr lang="zh-CN" altLang="en-US" dirty="0"/>
              <a:t>（输出文件流）用于向文件写入数据， </a:t>
            </a:r>
            <a:r>
              <a:rPr lang="en-US" altLang="zh-CN" dirty="0"/>
              <a:t>fstream </a:t>
            </a:r>
            <a:r>
              <a:rPr lang="zh-CN" altLang="en-US" dirty="0"/>
              <a:t>综合了两种功能，支持在同一个文件上执行读取和写入操作，这些关于文件的处理都在</a:t>
            </a:r>
            <a:r>
              <a:rPr lang="en-US" altLang="zh-CN" dirty="0"/>
              <a:t>C ++</a:t>
            </a:r>
            <a:r>
              <a:rPr lang="zh-CN" altLang="en-US" dirty="0"/>
              <a:t>当中做了新的封装。</a:t>
            </a:r>
          </a:p>
          <a:p>
            <a:pPr lvl="0"/>
            <a:endParaRPr lang="zh-CN" altLang="en-US" dirty="0"/>
          </a:p>
        </p:txBody>
      </p:sp>
      <p:sp>
        <p:nvSpPr>
          <p:cNvPr id="96260" name="幻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zh-CN" sz="1200" dirty="0"/>
              <a:t>48</a:t>
            </a:fld>
            <a:endParaRPr lang="zh-CN" altLang="zh-CN" sz="1200"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p:cNvSpPr>
            <a:spLocks noGrp="1" noRot="1" noChangeAspect="1" noTextEdit="1"/>
          </p:cNvSpPr>
          <p:nvPr>
            <p:ph type="sldImg"/>
          </p:nvPr>
        </p:nvSpPr>
        <p:spPr>
          <a:ln>
            <a:solidFill>
              <a:srgbClr val="000000">
                <a:alpha val="100000"/>
              </a:srgbClr>
            </a:solidFill>
            <a:miter lim="800000"/>
          </a:ln>
        </p:spPr>
      </p:sp>
      <p:sp>
        <p:nvSpPr>
          <p:cNvPr id="89091" name="备注占位符 2"/>
          <p:cNvSpPr>
            <a:spLocks noGrp="1" noChangeArrowheads="1"/>
          </p:cNvSpPr>
          <p:nvPr>
            <p:ph type="body" idx="1"/>
          </p:nvPr>
        </p:nvSpPr>
        <p:spPr bwMode="auto"/>
        <p:txBody>
          <a:bodyPr wrap="square" lIns="91440" tIns="45720" rIns="91440" bIns="45720" numCol="1" rtlCol="0"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mn-lt"/>
                <a:ea typeface="+mn-ea"/>
                <a:cs typeface="+mn-cs"/>
              </a:rPr>
              <a:t>reference</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引用类的对象，便于修改对象的成员变量或调用成员函数。</a:t>
            </a:r>
            <a:endParaRPr kumimoji="0" lang="en-US" altLang="zh-CN" sz="1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lt"/>
                <a:ea typeface="+mn-ea"/>
                <a:cs typeface="+mn-cs"/>
              </a:rPr>
              <a:t>***第一行定义了两个</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int</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的变量，</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ix</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1200" b="0" i="0" u="none" strike="noStrike" kern="1200" cap="none" spc="0" normalizeH="0" baseline="0" noProof="0" dirty="0" err="1">
                <a:ln>
                  <a:noFill/>
                </a:ln>
                <a:solidFill>
                  <a:schemeClr val="tx1"/>
                </a:solidFill>
                <a:effectLst/>
                <a:uLnTx/>
                <a:uFillTx/>
                <a:latin typeface="+mn-lt"/>
                <a:ea typeface="+mn-ea"/>
                <a:cs typeface="+mn-cs"/>
              </a:rPr>
              <a:t>iy</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，分别取不同的值。</a:t>
            </a:r>
            <a:endParaRPr kumimoji="0" lang="en-US" altLang="zh-CN" sz="1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lt"/>
                <a:ea typeface="+mn-ea"/>
                <a:cs typeface="+mn-cs"/>
              </a:rPr>
              <a:t>***第二行</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int reference </a:t>
            </a:r>
            <a:r>
              <a:rPr kumimoji="0" lang="en-US" altLang="zh-CN" sz="1200" b="0" i="0" u="none" strike="noStrike" kern="1200" cap="none" spc="0" normalizeH="0" baseline="0" noProof="0" dirty="0" err="1">
                <a:ln>
                  <a:noFill/>
                </a:ln>
                <a:solidFill>
                  <a:schemeClr val="tx1"/>
                </a:solidFill>
                <a:effectLst/>
                <a:uLnTx/>
                <a:uFillTx/>
                <a:latin typeface="+mn-lt"/>
                <a:ea typeface="+mn-ea"/>
                <a:cs typeface="+mn-cs"/>
              </a:rPr>
              <a:t>rx</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代表的含义就是定义了一个</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reference </a:t>
            </a:r>
            <a:r>
              <a:rPr kumimoji="0" lang="en-US" altLang="zh-CN" sz="1200" b="0" i="0" u="none" strike="noStrike" kern="1200" cap="none" spc="0" normalizeH="0" baseline="0" noProof="0" dirty="0" err="1">
                <a:ln>
                  <a:noFill/>
                </a:ln>
                <a:solidFill>
                  <a:schemeClr val="tx1"/>
                </a:solidFill>
                <a:effectLst/>
                <a:uLnTx/>
                <a:uFillTx/>
                <a:latin typeface="+mn-lt"/>
                <a:ea typeface="+mn-ea"/>
                <a:cs typeface="+mn-cs"/>
              </a:rPr>
              <a:t>rX</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它被创建为</a:t>
            </a:r>
            <a:r>
              <a:rPr kumimoji="0" lang="en-US" altLang="zh-CN" sz="1200" b="0" i="0" u="none" strike="noStrike" kern="1200" cap="none" spc="0" normalizeH="0" baseline="0" noProof="0" dirty="0" err="1">
                <a:ln>
                  <a:noFill/>
                </a:ln>
                <a:solidFill>
                  <a:schemeClr val="tx1"/>
                </a:solidFill>
                <a:effectLst/>
                <a:uLnTx/>
                <a:uFillTx/>
                <a:latin typeface="+mn-lt"/>
                <a:ea typeface="+mn-ea"/>
                <a:cs typeface="+mn-cs"/>
              </a:rPr>
              <a:t>iX</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的引用，所谓引用怎么理解？</a:t>
            </a:r>
          </a:p>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lt"/>
                <a:ea typeface="+mn-ea"/>
                <a:cs typeface="+mn-cs"/>
              </a:rPr>
              <a:t>***看下面这句话：</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reference</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可以被视为变量的别名或者另一个名称，</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reference</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只是创建一个变量的别名，而不是创建一个新的变量。</a:t>
            </a:r>
            <a:r>
              <a:rPr kumimoji="0" lang="en-US" altLang="zh-CN" sz="1200" b="0" i="0" u="none" strike="noStrike" kern="1200" cap="none" spc="0" normalizeH="0" baseline="0" noProof="0" dirty="0" err="1">
                <a:ln>
                  <a:noFill/>
                </a:ln>
                <a:solidFill>
                  <a:schemeClr val="tx1"/>
                </a:solidFill>
                <a:effectLst/>
                <a:uLnTx/>
                <a:uFillTx/>
                <a:latin typeface="+mn-lt"/>
                <a:ea typeface="+mn-ea"/>
                <a:cs typeface="+mn-cs"/>
              </a:rPr>
              <a:t>rX</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本质上就是</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ix</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，它们是相同变量、占用相同内存，可以互换使用。</a:t>
            </a:r>
            <a:endParaRPr kumimoji="0" lang="en-US" altLang="zh-CN" sz="1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zh-CN" sz="1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lt"/>
                <a:ea typeface="+mn-ea"/>
                <a:cs typeface="+mn-cs"/>
              </a:rPr>
              <a:t>关于起别名</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C</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或</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C++</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也有其他语句起到类似的效果，比如</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typedef</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这个关键字，用于为已有的数据类型创建别名</a:t>
            </a:r>
          </a:p>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mn-lt"/>
                <a:ea typeface="+mn-ea"/>
                <a:cs typeface="+mn-cs"/>
              </a:rPr>
              <a:t>typedef int </a:t>
            </a:r>
            <a:r>
              <a:rPr kumimoji="0" lang="en-US" altLang="zh-CN" sz="1200" b="0" i="0" u="none" strike="noStrike" kern="1200" cap="none" spc="0" normalizeH="0" baseline="0" noProof="0" dirty="0" err="1">
                <a:ln>
                  <a:noFill/>
                </a:ln>
                <a:solidFill>
                  <a:schemeClr val="tx1"/>
                </a:solidFill>
                <a:effectLst/>
                <a:uLnTx/>
                <a:uFillTx/>
                <a:latin typeface="+mn-lt"/>
                <a:ea typeface="+mn-ea"/>
                <a:cs typeface="+mn-cs"/>
              </a:rPr>
              <a:t>MyInt</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可以使用</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typedef</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为</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int</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创建一个新的别名：</a:t>
            </a:r>
          </a:p>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dirty="0" err="1">
                <a:ln>
                  <a:noFill/>
                </a:ln>
                <a:solidFill>
                  <a:schemeClr val="tx1"/>
                </a:solidFill>
                <a:effectLst/>
                <a:uLnTx/>
                <a:uFillTx/>
                <a:latin typeface="+mn-lt"/>
                <a:ea typeface="+mn-ea"/>
                <a:cs typeface="+mn-cs"/>
              </a:rPr>
              <a:t>MyInt</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 num = 10;   // </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可以使用</a:t>
            </a:r>
            <a:r>
              <a:rPr kumimoji="0" lang="en-US" altLang="zh-CN" sz="1200" b="0" i="0" u="none" strike="noStrike" kern="1200" cap="none" spc="0" normalizeH="0" baseline="0" noProof="0" dirty="0" err="1">
                <a:ln>
                  <a:noFill/>
                </a:ln>
                <a:solidFill>
                  <a:schemeClr val="tx1"/>
                </a:solidFill>
                <a:effectLst/>
                <a:uLnTx/>
                <a:uFillTx/>
                <a:latin typeface="+mn-lt"/>
                <a:ea typeface="+mn-ea"/>
                <a:cs typeface="+mn-cs"/>
              </a:rPr>
              <a:t>MyInt</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来定义变量，就像使用</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int</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一样：</a:t>
            </a:r>
          </a:p>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mn-lt"/>
                <a:ea typeface="+mn-ea"/>
                <a:cs typeface="+mn-cs"/>
              </a:rPr>
              <a:t>typedef</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并不定义任何新的数据类型，只是给已有的数据类型起一个新的名字。类似的</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reference</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它并不产生新的东西，只是给已有的变量起一个别名。所以这里第</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4</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行</a:t>
            </a:r>
            <a:r>
              <a:rPr kumimoji="0" lang="en-US" altLang="zh-CN" sz="1200" b="0" i="0" u="none" strike="noStrike" kern="1200" cap="none" spc="0" normalizeH="0" baseline="0" noProof="0" dirty="0" err="1">
                <a:ln>
                  <a:noFill/>
                </a:ln>
                <a:solidFill>
                  <a:schemeClr val="tx1"/>
                </a:solidFill>
                <a:effectLst/>
                <a:uLnTx/>
                <a:uFillTx/>
                <a:latin typeface="+mn-lt"/>
                <a:ea typeface="+mn-ea"/>
                <a:cs typeface="+mn-cs"/>
              </a:rPr>
              <a:t>rx</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1200" b="0" i="0" u="none" strike="noStrike" kern="1200" cap="none" spc="0" normalizeH="0" baseline="0" noProof="0" dirty="0" err="1">
                <a:ln>
                  <a:noFill/>
                </a:ln>
                <a:solidFill>
                  <a:schemeClr val="tx1"/>
                </a:solidFill>
                <a:effectLst/>
                <a:uLnTx/>
                <a:uFillTx/>
                <a:latin typeface="+mn-lt"/>
                <a:ea typeface="+mn-ea"/>
                <a:cs typeface="+mn-cs"/>
              </a:rPr>
              <a:t>iY</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，这时</a:t>
            </a:r>
            <a:r>
              <a:rPr kumimoji="0" lang="en-US" altLang="zh-CN" sz="1200" b="0" i="0" u="none" strike="noStrike" kern="1200" cap="none" spc="0" normalizeH="0" baseline="0" noProof="0" dirty="0" err="1">
                <a:ln>
                  <a:noFill/>
                </a:ln>
                <a:solidFill>
                  <a:schemeClr val="tx1"/>
                </a:solidFill>
                <a:effectLst/>
                <a:uLnTx/>
                <a:uFillTx/>
                <a:latin typeface="+mn-lt"/>
                <a:ea typeface="+mn-ea"/>
                <a:cs typeface="+mn-cs"/>
              </a:rPr>
              <a:t>rX</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就是</a:t>
            </a:r>
            <a:r>
              <a:rPr kumimoji="0" lang="en-US" altLang="zh-CN" sz="1200" b="0" i="0" u="none" strike="noStrike" kern="1200" cap="none" spc="0" normalizeH="0" baseline="0" noProof="0" dirty="0" err="1">
                <a:ln>
                  <a:noFill/>
                </a:ln>
                <a:solidFill>
                  <a:schemeClr val="tx1"/>
                </a:solidFill>
                <a:effectLst/>
                <a:uLnTx/>
                <a:uFillTx/>
                <a:latin typeface="+mn-lt"/>
                <a:ea typeface="+mn-ea"/>
                <a:cs typeface="+mn-cs"/>
              </a:rPr>
              <a:t>iX</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，这行代码相当于是把</a:t>
            </a:r>
            <a:r>
              <a:rPr kumimoji="0" lang="en-US" altLang="zh-CN" sz="1200" b="0" i="0" u="none" strike="noStrike" kern="1200" cap="none" spc="0" normalizeH="0" baseline="0" noProof="0" dirty="0" err="1">
                <a:ln>
                  <a:noFill/>
                </a:ln>
                <a:solidFill>
                  <a:schemeClr val="tx1"/>
                </a:solidFill>
                <a:effectLst/>
                <a:uLnTx/>
                <a:uFillTx/>
                <a:latin typeface="+mn-lt"/>
                <a:ea typeface="+mn-ea"/>
                <a:cs typeface="+mn-cs"/>
              </a:rPr>
              <a:t>iY</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的结果赋值给</a:t>
            </a:r>
            <a:r>
              <a:rPr kumimoji="0" lang="en-US" altLang="zh-CN" sz="1200" b="0" i="0" u="none" strike="noStrike" kern="1200" cap="none" spc="0" normalizeH="0" baseline="0" noProof="0" dirty="0" err="1">
                <a:ln>
                  <a:noFill/>
                </a:ln>
                <a:solidFill>
                  <a:schemeClr val="tx1"/>
                </a:solidFill>
                <a:effectLst/>
                <a:uLnTx/>
                <a:uFillTx/>
                <a:latin typeface="+mn-lt"/>
                <a:ea typeface="+mn-ea"/>
                <a:cs typeface="+mn-cs"/>
              </a:rPr>
              <a:t>iX</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zh-CN" sz="1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reference</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与指针：第三行代码定义一个指针</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int* pi</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，赋予它已有变量的地址，</a:t>
            </a:r>
            <a:r>
              <a:rPr kumimoji="0" lang="en-US" altLang="zh-CN" sz="1200" b="0" i="0" u="none" strike="noStrike" kern="1200" cap="none" spc="0" normalizeH="0" baseline="0" noProof="0" dirty="0" err="1">
                <a:ln>
                  <a:noFill/>
                </a:ln>
                <a:solidFill>
                  <a:schemeClr val="tx1"/>
                </a:solidFill>
                <a:effectLst/>
                <a:uLnTx/>
                <a:uFillTx/>
                <a:latin typeface="+mn-lt"/>
                <a:ea typeface="+mn-ea"/>
                <a:cs typeface="+mn-cs"/>
              </a:rPr>
              <a:t>rX</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的地址意味着取的是</a:t>
            </a:r>
            <a:r>
              <a:rPr kumimoji="0" lang="en-US" altLang="zh-CN" sz="1200" b="0" i="0" u="none" strike="noStrike" kern="1200" cap="none" spc="0" normalizeH="0" baseline="0" noProof="0" dirty="0" err="1">
                <a:ln>
                  <a:noFill/>
                </a:ln>
                <a:solidFill>
                  <a:schemeClr val="tx1"/>
                </a:solidFill>
                <a:effectLst/>
                <a:uLnTx/>
                <a:uFillTx/>
                <a:latin typeface="+mn-lt"/>
                <a:ea typeface="+mn-ea"/>
                <a:cs typeface="+mn-cs"/>
              </a:rPr>
              <a:t>iX</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的地址，所以第三行定义的指针变量也指向了</a:t>
            </a:r>
            <a:r>
              <a:rPr kumimoji="0" lang="en-US" altLang="zh-CN" sz="1200" b="0" i="0" u="none" strike="noStrike" kern="1200" cap="none" spc="0" normalizeH="0" baseline="0" noProof="0" dirty="0" err="1">
                <a:ln>
                  <a:noFill/>
                </a:ln>
                <a:solidFill>
                  <a:schemeClr val="tx1"/>
                </a:solidFill>
                <a:effectLst/>
                <a:uLnTx/>
                <a:uFillTx/>
                <a:latin typeface="+mn-lt"/>
                <a:ea typeface="+mn-ea"/>
                <a:cs typeface="+mn-cs"/>
              </a:rPr>
              <a:t>iX</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。通过</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reference</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代表</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ix</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和通过指针*</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pi</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代表 </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ix</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的区别？</a:t>
            </a:r>
            <a:endParaRPr kumimoji="0" lang="en-US" altLang="zh-CN" sz="1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0" fontAlgn="base" latinLnBrk="0" hangingPunct="0">
              <a:lnSpc>
                <a:spcPct val="100000"/>
              </a:lnSpc>
              <a:spcBef>
                <a:spcPct val="30000"/>
              </a:spcBef>
              <a:spcAft>
                <a:spcPct val="0"/>
              </a:spcAft>
              <a:buClrTx/>
              <a:buSzTx/>
              <a:buFontTx/>
              <a:buAutoNum type="arabicParenR"/>
              <a:defRPr/>
            </a:pPr>
            <a:r>
              <a:rPr kumimoji="0" lang="zh-CN" altLang="en-US" sz="1200" b="0" i="0" u="none" strike="noStrike" kern="1200" cap="none" spc="0" normalizeH="0" baseline="0" noProof="0" dirty="0">
                <a:ln>
                  <a:noFill/>
                </a:ln>
                <a:solidFill>
                  <a:schemeClr val="tx1"/>
                </a:solidFill>
                <a:effectLst/>
                <a:uLnTx/>
                <a:uFillTx/>
                <a:latin typeface="+mn-lt"/>
                <a:ea typeface="+mn-ea"/>
                <a:cs typeface="+mn-cs"/>
              </a:rPr>
              <a:t>对于</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reference</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来说，一旦创建为一个变量的别名之后，就无法再</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reference</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其他变量。也就我已经定义了</a:t>
            </a:r>
            <a:r>
              <a:rPr kumimoji="0" lang="en-US" altLang="zh-CN" sz="1200" b="0" i="0" u="none" strike="noStrike" kern="1200" cap="none" spc="0" normalizeH="0" baseline="0" noProof="0" dirty="0" err="1">
                <a:ln>
                  <a:noFill/>
                </a:ln>
                <a:solidFill>
                  <a:schemeClr val="tx1"/>
                </a:solidFill>
                <a:effectLst/>
                <a:uLnTx/>
                <a:uFillTx/>
                <a:latin typeface="+mn-lt"/>
                <a:ea typeface="+mn-ea"/>
                <a:cs typeface="+mn-cs"/>
              </a:rPr>
              <a:t>rXreference</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200" b="0" i="0" u="none" strike="noStrike" kern="1200" cap="none" spc="0" normalizeH="0" baseline="0" noProof="0" dirty="0" err="1">
                <a:ln>
                  <a:noFill/>
                </a:ln>
                <a:solidFill>
                  <a:schemeClr val="tx1"/>
                </a:solidFill>
                <a:effectLst/>
                <a:uLnTx/>
                <a:uFillTx/>
                <a:latin typeface="+mn-lt"/>
                <a:ea typeface="+mn-ea"/>
                <a:cs typeface="+mn-cs"/>
              </a:rPr>
              <a:t>iX</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的话，将来就不能再</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reference </a:t>
            </a:r>
            <a:r>
              <a:rPr kumimoji="0" lang="en-US" altLang="zh-CN" sz="1200" b="0" i="0" u="none" strike="noStrike" kern="1200" cap="none" spc="0" normalizeH="0" baseline="0" noProof="0" dirty="0" err="1">
                <a:ln>
                  <a:noFill/>
                </a:ln>
                <a:solidFill>
                  <a:schemeClr val="tx1"/>
                </a:solidFill>
                <a:effectLst/>
                <a:uLnTx/>
                <a:uFillTx/>
                <a:latin typeface="+mn-lt"/>
                <a:ea typeface="+mn-ea"/>
                <a:cs typeface="+mn-cs"/>
              </a:rPr>
              <a:t>iY</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。但</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pointer</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指针可以在不同变量之间进行切换，比如我定义了</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int* pi = &amp;</a:t>
            </a:r>
            <a:r>
              <a:rPr kumimoji="0" lang="en-US" altLang="zh-CN" sz="1200" b="0" i="0" u="none" strike="noStrike" kern="1200" cap="none" spc="0" normalizeH="0" baseline="0" noProof="0" dirty="0" err="1">
                <a:ln>
                  <a:noFill/>
                </a:ln>
                <a:solidFill>
                  <a:schemeClr val="tx1"/>
                </a:solidFill>
                <a:effectLst/>
                <a:uLnTx/>
                <a:uFillTx/>
                <a:latin typeface="+mn-lt"/>
                <a:ea typeface="+mn-ea"/>
                <a:cs typeface="+mn-cs"/>
              </a:rPr>
              <a:t>rX</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，接着可以再写</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pi =&amp;</a:t>
            </a:r>
            <a:r>
              <a:rPr kumimoji="0" lang="en-US" altLang="zh-CN" sz="1200" b="0" i="0" u="none" strike="noStrike" kern="1200" cap="none" spc="0" normalizeH="0" baseline="0" noProof="0" dirty="0" err="1">
                <a:ln>
                  <a:noFill/>
                </a:ln>
                <a:solidFill>
                  <a:schemeClr val="tx1"/>
                </a:solidFill>
                <a:effectLst/>
                <a:uLnTx/>
                <a:uFillTx/>
                <a:latin typeface="+mn-lt"/>
                <a:ea typeface="+mn-ea"/>
                <a:cs typeface="+mn-cs"/>
              </a:rPr>
              <a:t>iY</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mn-lt"/>
                <a:ea typeface="+mn-ea"/>
                <a:cs typeface="+mn-cs"/>
              </a:rPr>
              <a:t>2) </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另外一点区别从</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memory</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的角度，</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reference</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它只是一个</a:t>
            </a:r>
            <a:r>
              <a:rPr kumimoji="0" lang="en-US" altLang="zh-CN" sz="1200" b="0" i="0" u="none" strike="noStrike" kern="1200" cap="none" spc="0" normalizeH="0" baseline="0" noProof="0" dirty="0" err="1">
                <a:ln>
                  <a:noFill/>
                </a:ln>
                <a:solidFill>
                  <a:schemeClr val="tx1"/>
                </a:solidFill>
                <a:effectLst/>
                <a:uLnTx/>
                <a:uFillTx/>
                <a:latin typeface="+mn-lt"/>
                <a:ea typeface="+mn-ea"/>
                <a:cs typeface="+mn-cs"/>
              </a:rPr>
              <a:t>aliar</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，所以</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reference</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对内存不会造成任何影响。比如这四行代码从内存的角度来说，</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ix</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会占</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4</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个字节，</a:t>
            </a:r>
            <a:r>
              <a:rPr kumimoji="0" lang="en-US" altLang="zh-CN" sz="1200" b="0" i="0" u="none" strike="noStrike" kern="1200" cap="none" spc="0" normalizeH="0" baseline="0" noProof="0" dirty="0" err="1">
                <a:ln>
                  <a:noFill/>
                </a:ln>
                <a:solidFill>
                  <a:schemeClr val="tx1"/>
                </a:solidFill>
                <a:effectLst/>
                <a:uLnTx/>
                <a:uFillTx/>
                <a:latin typeface="+mn-lt"/>
                <a:ea typeface="+mn-ea"/>
                <a:cs typeface="+mn-cs"/>
              </a:rPr>
              <a:t>iY</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会占</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4</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个字节，然后你定义</a:t>
            </a:r>
            <a:r>
              <a:rPr kumimoji="0" lang="en-US" altLang="zh-CN" sz="1200" b="0" i="0" u="none" strike="noStrike" kern="1200" cap="none" spc="0" normalizeH="0" baseline="0" noProof="0" dirty="0" err="1">
                <a:ln>
                  <a:noFill/>
                </a:ln>
                <a:solidFill>
                  <a:schemeClr val="tx1"/>
                </a:solidFill>
                <a:effectLst/>
                <a:uLnTx/>
                <a:uFillTx/>
                <a:latin typeface="+mn-lt"/>
                <a:ea typeface="+mn-ea"/>
                <a:cs typeface="+mn-cs"/>
              </a:rPr>
              <a:t>rX</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 reference ix</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，这时从</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memory</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角并不会为</a:t>
            </a:r>
            <a:r>
              <a:rPr kumimoji="0" lang="en-US" altLang="zh-CN" sz="1200" b="0" i="0" u="none" strike="noStrike" kern="1200" cap="none" spc="0" normalizeH="0" baseline="0" noProof="0" dirty="0" err="1">
                <a:ln>
                  <a:noFill/>
                </a:ln>
                <a:solidFill>
                  <a:schemeClr val="tx1"/>
                </a:solidFill>
                <a:effectLst/>
                <a:uLnTx/>
                <a:uFillTx/>
                <a:latin typeface="+mn-lt"/>
                <a:ea typeface="+mn-ea"/>
                <a:cs typeface="+mn-cs"/>
              </a:rPr>
              <a:t>rX</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分配任何内存，它只是给</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ix</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起一个别名叫做</a:t>
            </a:r>
            <a:r>
              <a:rPr kumimoji="0" lang="en-US" altLang="zh-CN" sz="1200" b="0" i="0" u="none" strike="noStrike" kern="1200" cap="none" spc="0" normalizeH="0" baseline="0" noProof="0" dirty="0" err="1">
                <a:ln>
                  <a:noFill/>
                </a:ln>
                <a:solidFill>
                  <a:schemeClr val="tx1"/>
                </a:solidFill>
                <a:effectLst/>
                <a:uLnTx/>
                <a:uFillTx/>
                <a:latin typeface="+mn-lt"/>
                <a:ea typeface="+mn-ea"/>
                <a:cs typeface="+mn-cs"/>
              </a:rPr>
              <a:t>rx</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memory</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仍然是占用了 </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8 </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个字节。</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而定义指针变量时，会为指针变量单独分配内存的，所以*</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pi</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会占四个字节，这四个字节里面存的是</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ix</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的地址。</a:t>
            </a: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dirty="0">
              <a:ln>
                <a:noFill/>
              </a:ln>
              <a:solidFill>
                <a:schemeClr val="tx1"/>
              </a:solidFill>
              <a:effectLst/>
              <a:uLnTx/>
              <a:uFillTx/>
              <a:latin typeface="+mn-lt"/>
              <a:ea typeface="+mn-ea"/>
              <a:cs typeface="+mn-cs"/>
            </a:endParaRPr>
          </a:p>
        </p:txBody>
      </p:sp>
      <p:sp>
        <p:nvSpPr>
          <p:cNvPr id="98308"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t>49</a:t>
            </a:fld>
            <a:endParaRPr lang="zh-CN" altLang="en-US" sz="1200"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幻灯片图像占位符 1"/>
          <p:cNvSpPr>
            <a:spLocks noGrp="1" noRot="1" noChangeAspect="1" noTextEdit="1"/>
          </p:cNvSpPr>
          <p:nvPr>
            <p:ph type="sldImg"/>
          </p:nvPr>
        </p:nvSpPr>
        <p:spPr>
          <a:ln>
            <a:solidFill>
              <a:srgbClr val="000000">
                <a:alpha val="100000"/>
              </a:srgbClr>
            </a:solidFill>
            <a:miter lim="800000"/>
          </a:ln>
        </p:spPr>
      </p:sp>
      <p:sp>
        <p:nvSpPr>
          <p:cNvPr id="100355" name="备注占位符 2"/>
          <p:cNvSpPr>
            <a:spLocks noGrp="1"/>
          </p:cNvSpPr>
          <p:nvPr>
            <p:ph type="body" idx="1"/>
          </p:nvPr>
        </p:nvSpPr>
        <p:spPr>
          <a:noFill/>
          <a:ln>
            <a:noFill/>
          </a:ln>
        </p:spPr>
        <p:txBody>
          <a:bodyPr wrap="square" lIns="91440" tIns="45720" rIns="91440" bIns="45720" anchor="t" anchorCtr="0"/>
          <a:lstStyle/>
          <a:p>
            <a:pPr lvl="0"/>
            <a:r>
              <a:rPr lang="en-US" altLang="zh-CN" dirty="0"/>
              <a:t>reference</a:t>
            </a:r>
            <a:r>
              <a:rPr lang="zh-CN" altLang="en-US" dirty="0"/>
              <a:t>有什么用？常见的应用场景是在</a:t>
            </a:r>
            <a:r>
              <a:rPr lang="en-US" altLang="zh-CN" dirty="0"/>
              <a:t>swap</a:t>
            </a:r>
            <a:r>
              <a:rPr lang="zh-CN" altLang="en-US" dirty="0"/>
              <a:t>做交换。采用</a:t>
            </a:r>
            <a:r>
              <a:rPr lang="en-US" altLang="zh-CN" dirty="0"/>
              <a:t>swap</a:t>
            </a:r>
            <a:r>
              <a:rPr lang="zh-CN" altLang="en-US" dirty="0"/>
              <a:t>函数作交换涉及问题：通过什么方式把参数传递给</a:t>
            </a:r>
            <a:r>
              <a:rPr lang="en-US" altLang="zh-CN" dirty="0"/>
              <a:t>swap</a:t>
            </a:r>
            <a:r>
              <a:rPr lang="zh-CN" altLang="en-US" dirty="0"/>
              <a:t>函数的。***函数的参数传递方式包括传值（</a:t>
            </a:r>
            <a:r>
              <a:rPr lang="en-US" altLang="zh-CN" dirty="0"/>
              <a:t>pass by value</a:t>
            </a:r>
            <a:r>
              <a:rPr lang="zh-CN" altLang="en-US" dirty="0"/>
              <a:t>）和传引用（</a:t>
            </a:r>
            <a:r>
              <a:rPr lang="en-US" altLang="zh-CN" dirty="0"/>
              <a:t>pass by reference</a:t>
            </a:r>
            <a:r>
              <a:rPr lang="zh-CN" altLang="en-US" dirty="0"/>
              <a:t>）。前两行代码都是</a:t>
            </a:r>
            <a:r>
              <a:rPr lang="en-US" altLang="zh-CN" dirty="0"/>
              <a:t>Pass by value</a:t>
            </a:r>
            <a:r>
              <a:rPr lang="zh-CN" altLang="en-US" dirty="0"/>
              <a:t>的方式：</a:t>
            </a:r>
            <a:endParaRPr lang="en-US" altLang="zh-CN" dirty="0"/>
          </a:p>
          <a:p>
            <a:pPr lvl="0"/>
            <a:endParaRPr lang="en-US" altLang="zh-CN" dirty="0"/>
          </a:p>
          <a:p>
            <a:pPr lvl="0"/>
            <a:r>
              <a:rPr lang="zh-CN" altLang="en-US" dirty="0"/>
              <a:t>第一行的</a:t>
            </a:r>
            <a:r>
              <a:rPr lang="en-US" altLang="zh-CN" dirty="0"/>
              <a:t>Swap</a:t>
            </a:r>
            <a:r>
              <a:rPr lang="zh-CN" altLang="en-US" dirty="0"/>
              <a:t>函数接收两个整数参数</a:t>
            </a:r>
            <a:r>
              <a:rPr lang="en-US" altLang="zh-CN" dirty="0"/>
              <a:t>iX </a:t>
            </a:r>
            <a:r>
              <a:rPr lang="zh-CN" altLang="en-US" dirty="0"/>
              <a:t>和 </a:t>
            </a:r>
            <a:r>
              <a:rPr lang="en-US" altLang="zh-CN" dirty="0"/>
              <a:t>iY</a:t>
            </a:r>
            <a:r>
              <a:rPr lang="zh-CN" altLang="en-US" dirty="0"/>
              <a:t>，但它们是通过值传递，只是参数的值传递给函数，而不是参数本身。函数在执行时操作的只是参数的副本，它交换的是形参的东西，而</a:t>
            </a:r>
            <a:r>
              <a:rPr lang="en-US" altLang="zh-CN" dirty="0"/>
              <a:t>swap</a:t>
            </a:r>
            <a:r>
              <a:rPr lang="zh-CN" altLang="en-US" dirty="0"/>
              <a:t>一结束所有形参的</a:t>
            </a:r>
            <a:r>
              <a:rPr lang="en-US" altLang="zh-CN" dirty="0"/>
              <a:t>memory</a:t>
            </a:r>
            <a:r>
              <a:rPr lang="zh-CN" altLang="en-US" dirty="0"/>
              <a:t>都会被释放，不会影响原始参数的值，所以这时交换并不能起到交换原始变量的效果。</a:t>
            </a:r>
            <a:endParaRPr lang="en-US" altLang="zh-CN" dirty="0"/>
          </a:p>
          <a:p>
            <a:pPr lvl="0"/>
            <a:endParaRPr lang="en-US" altLang="zh-CN" dirty="0"/>
          </a:p>
          <a:p>
            <a:pPr lvl="0"/>
            <a:r>
              <a:rPr lang="zh-CN" altLang="en-US" dirty="0"/>
              <a:t>***在</a:t>
            </a:r>
            <a:r>
              <a:rPr lang="en-US" altLang="zh-CN" dirty="0"/>
              <a:t>C</a:t>
            </a:r>
            <a:r>
              <a:rPr lang="zh-CN" altLang="en-US" dirty="0"/>
              <a:t>语言中要实现交换可以通过传递指针的方式：让</a:t>
            </a:r>
            <a:r>
              <a:rPr lang="en-US" altLang="zh-CN" dirty="0"/>
              <a:t>Swap</a:t>
            </a:r>
            <a:r>
              <a:rPr lang="zh-CN" altLang="en-US" dirty="0"/>
              <a:t>函数接受两个整数指针</a:t>
            </a:r>
            <a:r>
              <a:rPr lang="en-US" altLang="zh-CN" dirty="0"/>
              <a:t>pX</a:t>
            </a:r>
            <a:r>
              <a:rPr lang="zh-CN" altLang="en-US" dirty="0"/>
              <a:t>和</a:t>
            </a:r>
            <a:r>
              <a:rPr lang="en-US" altLang="zh-CN" dirty="0"/>
              <a:t>pY</a:t>
            </a:r>
            <a:r>
              <a:rPr lang="zh-CN" altLang="en-US" dirty="0"/>
              <a:t>，虽然也是通过值传递，但复制的是参数的地址：函数内部通过*</a:t>
            </a:r>
            <a:r>
              <a:rPr lang="en-US" altLang="zh-CN" dirty="0"/>
              <a:t>px</a:t>
            </a:r>
            <a:r>
              <a:rPr lang="zh-CN" altLang="en-US" dirty="0"/>
              <a:t>和*</a:t>
            </a:r>
            <a:r>
              <a:rPr lang="en-US" altLang="zh-CN" dirty="0"/>
              <a:t>py</a:t>
            </a:r>
            <a:r>
              <a:rPr lang="zh-CN" altLang="en-US" dirty="0"/>
              <a:t>可以访问和修改指针所指向的变量的值，使</a:t>
            </a:r>
            <a:r>
              <a:rPr lang="en-US" altLang="zh-CN" dirty="0"/>
              <a:t>swap</a:t>
            </a:r>
            <a:r>
              <a:rPr lang="zh-CN" altLang="en-US" dirty="0"/>
              <a:t>当中交换的是*</a:t>
            </a:r>
            <a:r>
              <a:rPr lang="en-US" altLang="zh-CN" dirty="0"/>
              <a:t>pX</a:t>
            </a:r>
            <a:r>
              <a:rPr lang="zh-CN" altLang="en-US" dirty="0"/>
              <a:t>跟*</a:t>
            </a:r>
            <a:r>
              <a:rPr lang="en-US" altLang="zh-CN" dirty="0"/>
              <a:t>pY</a:t>
            </a:r>
            <a:r>
              <a:rPr lang="zh-CN" altLang="en-US" dirty="0"/>
              <a:t>的内容，真正实现两个数的交换。</a:t>
            </a:r>
            <a:endParaRPr lang="en-US" altLang="zh-CN" dirty="0"/>
          </a:p>
          <a:p>
            <a:pPr lvl="0"/>
            <a:endParaRPr lang="en-US" altLang="zh-CN" dirty="0"/>
          </a:p>
          <a:p>
            <a:pPr lvl="0"/>
            <a:r>
              <a:rPr lang="zh-CN" altLang="en-US" dirty="0"/>
              <a:t>*** </a:t>
            </a:r>
            <a:r>
              <a:rPr lang="en-US" altLang="zh-CN" dirty="0"/>
              <a:t>C++</a:t>
            </a:r>
            <a:r>
              <a:rPr lang="zh-CN" altLang="en-US" dirty="0"/>
              <a:t>可以通过</a:t>
            </a:r>
            <a:r>
              <a:rPr lang="en-US" altLang="zh-CN" dirty="0"/>
              <a:t>pass by reference</a:t>
            </a:r>
            <a:r>
              <a:rPr lang="zh-CN" altLang="en-US" dirty="0"/>
              <a:t>的方式，让函数在执行时直接操作原始参数，而不是参数的副本，因为传递的就是实参本身，</a:t>
            </a:r>
            <a:r>
              <a:rPr lang="en-US" altLang="zh-CN" dirty="0"/>
              <a:t>swap</a:t>
            </a:r>
            <a:r>
              <a:rPr lang="zh-CN" altLang="en-US" dirty="0"/>
              <a:t>当中交换的也是原本的实参。对比</a:t>
            </a:r>
            <a:r>
              <a:rPr lang="en-US" altLang="zh-CN" dirty="0"/>
              <a:t>pointer</a:t>
            </a:r>
            <a:r>
              <a:rPr lang="zh-CN" altLang="en-US" dirty="0"/>
              <a:t>的代码，通过</a:t>
            </a:r>
            <a:r>
              <a:rPr lang="en-US" altLang="zh-CN" dirty="0"/>
              <a:t>reference</a:t>
            </a:r>
            <a:r>
              <a:rPr lang="zh-CN" altLang="en-US" dirty="0"/>
              <a:t>传递参数更直观，在函数内部可以像操作普通变量一样操作引用，不需要使用指针操作符*，减少了符号使代码更简洁。</a:t>
            </a:r>
            <a:endParaRPr lang="en-US" altLang="zh-CN" dirty="0"/>
          </a:p>
          <a:p>
            <a:pPr lvl="0"/>
            <a:endParaRPr lang="en-US" altLang="zh-CN" dirty="0"/>
          </a:p>
          <a:p>
            <a:pPr lvl="0"/>
            <a:r>
              <a:rPr lang="zh-CN" altLang="en-US" dirty="0"/>
              <a:t>***</a:t>
            </a:r>
            <a:r>
              <a:rPr lang="zh-CN" altLang="en-US" b="1" dirty="0"/>
              <a:t>两种函数参数的传递方式</a:t>
            </a:r>
            <a:r>
              <a:rPr lang="en-US" altLang="zh-CN" b="1" dirty="0"/>
              <a:t>pass by value</a:t>
            </a:r>
            <a:r>
              <a:rPr lang="zh-CN" altLang="en-US" b="1" dirty="0"/>
              <a:t>和</a:t>
            </a:r>
            <a:r>
              <a:rPr lang="en-US" altLang="zh-CN" b="1" dirty="0"/>
              <a:t>pass by reference</a:t>
            </a:r>
            <a:r>
              <a:rPr lang="zh-CN" altLang="en-US" b="1" dirty="0"/>
              <a:t>，在函数调用时内存方面有什么区别？</a:t>
            </a:r>
          </a:p>
          <a:p>
            <a:pPr lvl="0"/>
            <a:r>
              <a:rPr lang="en-US" altLang="zh-CN" dirty="0"/>
              <a:t>pass by value</a:t>
            </a:r>
            <a:r>
              <a:rPr lang="zh-CN" altLang="en-US" dirty="0"/>
              <a:t>函数调用时：编译器首先保存当前函数的现场，然后在栈上为函数的形参分配新的内存空间，接着把实参的值复制到形参当中，再去执行函数体。所以函数在执行过程中操作的是实参副本，任何对参数的修改都只会影响副本，而不会影响原始参数。然后函数体执行完会把返回值拷贝到临时变量的存储区域，等回到函数调用的地方拿到返回值之后，函数参数的副本就会被销毁。</a:t>
            </a:r>
            <a:endParaRPr lang="en-US" altLang="zh-CN" dirty="0"/>
          </a:p>
          <a:p>
            <a:pPr lvl="0"/>
            <a:endParaRPr lang="zh-CN" altLang="en-US" dirty="0"/>
          </a:p>
          <a:p>
            <a:pPr lvl="0"/>
            <a:r>
              <a:rPr lang="en-US" altLang="zh-CN" dirty="0"/>
              <a:t>pass by value</a:t>
            </a:r>
            <a:r>
              <a:rPr lang="zh-CN" altLang="en-US" dirty="0"/>
              <a:t>从</a:t>
            </a:r>
            <a:r>
              <a:rPr lang="en-US" altLang="zh-CN" dirty="0"/>
              <a:t>memory</a:t>
            </a:r>
            <a:r>
              <a:rPr lang="zh-CN" altLang="en-US" dirty="0"/>
              <a:t>角度实参和形参需要</a:t>
            </a:r>
            <a:r>
              <a:rPr lang="en-US" altLang="zh-CN" dirty="0"/>
              <a:t>double size memory</a:t>
            </a:r>
            <a:r>
              <a:rPr lang="zh-CN" altLang="en-US" dirty="0"/>
              <a:t>，形参大小跟实参大小一样，还需要做一次</a:t>
            </a:r>
            <a:r>
              <a:rPr lang="en-US" altLang="zh-CN" dirty="0"/>
              <a:t>copy</a:t>
            </a:r>
            <a:r>
              <a:rPr lang="zh-CN" altLang="en-US" dirty="0"/>
              <a:t>，也就是从实参到形参是单向的值传递。如果实参非常复杂，比如说多维数组，这时</a:t>
            </a:r>
            <a:r>
              <a:rPr lang="en-US" altLang="zh-CN" dirty="0"/>
              <a:t>pass by value</a:t>
            </a:r>
            <a:r>
              <a:rPr lang="zh-CN" altLang="en-US" dirty="0"/>
              <a:t>就需要把数组里的每个元素都拷贝一遍，开销是很大的。</a:t>
            </a:r>
            <a:endParaRPr lang="en-US" altLang="zh-CN" dirty="0"/>
          </a:p>
          <a:p>
            <a:pPr lvl="0"/>
            <a:endParaRPr lang="zh-CN" altLang="en-US" dirty="0"/>
          </a:p>
          <a:p>
            <a:pPr lvl="0"/>
            <a:r>
              <a:rPr lang="en-US" altLang="zh-CN" dirty="0"/>
              <a:t>pass by reference</a:t>
            </a:r>
            <a:r>
              <a:rPr lang="zh-CN" altLang="en-US" dirty="0"/>
              <a:t>能够避免上述开销，并不会创建额外的</a:t>
            </a:r>
            <a:r>
              <a:rPr lang="en-US" altLang="zh-CN" dirty="0"/>
              <a:t>memory</a:t>
            </a:r>
            <a:r>
              <a:rPr lang="zh-CN" altLang="en-US" dirty="0"/>
              <a:t>，也不需要去做值拷贝，能够极大地提高复杂数据类型在实参和形参传递过程当中带来的开销。这就是为什么在</a:t>
            </a:r>
            <a:r>
              <a:rPr lang="en-US" altLang="zh-CN" dirty="0"/>
              <a:t>C</a:t>
            </a:r>
            <a:r>
              <a:rPr lang="zh-CN" altLang="en-US" dirty="0"/>
              <a:t>语言有了</a:t>
            </a:r>
            <a:r>
              <a:rPr lang="en-US" altLang="zh-CN" dirty="0"/>
              <a:t>pass by value</a:t>
            </a:r>
            <a:r>
              <a:rPr lang="zh-CN" altLang="en-US" dirty="0"/>
              <a:t>机制的基础上，</a:t>
            </a:r>
            <a:r>
              <a:rPr lang="en-US" altLang="zh-CN" dirty="0"/>
              <a:t>C++</a:t>
            </a:r>
            <a:r>
              <a:rPr lang="zh-CN" altLang="en-US" dirty="0"/>
              <a:t>还会引入</a:t>
            </a:r>
            <a:r>
              <a:rPr lang="en-US" altLang="zh-CN" dirty="0"/>
              <a:t>pass by reference</a:t>
            </a:r>
            <a:r>
              <a:rPr lang="zh-CN" altLang="en-US" dirty="0"/>
              <a:t>的原因。最常见的用途就是在参数传递时避免内存的双倍开销，使代码更高效，性能更好。</a:t>
            </a:r>
          </a:p>
          <a:p>
            <a:pPr lvl="0"/>
            <a:endParaRPr lang="en-US" altLang="zh-CN" dirty="0"/>
          </a:p>
          <a:p>
            <a:pPr lvl="0"/>
            <a:endParaRPr lang="zh-CN" altLang="en-US" dirty="0"/>
          </a:p>
        </p:txBody>
      </p:sp>
      <p:sp>
        <p:nvSpPr>
          <p:cNvPr id="100356"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t>50</a:t>
            </a:fld>
            <a:endParaRPr lang="zh-CN" altLang="en-US" sz="1200"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
          <p:cNvSpPr>
            <a:spLocks noGrp="1" noRot="1" noChangeAspect="1" noTextEdit="1"/>
          </p:cNvSpPr>
          <p:nvPr>
            <p:ph type="sldImg"/>
          </p:nvPr>
        </p:nvSpPr>
        <p:spPr>
          <a:ln>
            <a:solidFill>
              <a:srgbClr val="000000">
                <a:alpha val="100000"/>
              </a:srgbClr>
            </a:solidFill>
            <a:miter lim="800000"/>
          </a:ln>
        </p:spPr>
      </p:sp>
      <p:sp>
        <p:nvSpPr>
          <p:cNvPr id="102403" name="备注占位符 2"/>
          <p:cNvSpPr>
            <a:spLocks noGrp="1"/>
          </p:cNvSpPr>
          <p:nvPr>
            <p:ph type="body" idx="1"/>
          </p:nvPr>
        </p:nvSpPr>
        <p:spPr>
          <a:noFill/>
          <a:ln>
            <a:noFill/>
          </a:ln>
        </p:spPr>
        <p:txBody>
          <a:bodyPr wrap="square" lIns="91440" tIns="45720" rIns="91440" bIns="45720" anchor="t" anchorCtr="0"/>
          <a:lstStyle/>
          <a:p>
            <a:pPr lvl="0"/>
            <a:r>
              <a:rPr lang="zh-CN" altLang="en-US" dirty="0"/>
              <a:t>用</a:t>
            </a:r>
            <a:r>
              <a:rPr lang="en-US" altLang="zh-CN" dirty="0"/>
              <a:t>pass by reference</a:t>
            </a:r>
            <a:r>
              <a:rPr lang="zh-CN" altLang="en-US" dirty="0"/>
              <a:t>的理由三点：</a:t>
            </a:r>
          </a:p>
          <a:p>
            <a:pPr lvl="0"/>
            <a:r>
              <a:rPr lang="en-US" altLang="zh-CN" dirty="0"/>
              <a:t>1</a:t>
            </a:r>
            <a:r>
              <a:rPr lang="zh-CN" altLang="en-US" dirty="0"/>
              <a:t>）用</a:t>
            </a:r>
            <a:r>
              <a:rPr lang="en-US" altLang="zh-CN" dirty="0"/>
              <a:t>pass by reference</a:t>
            </a:r>
            <a:r>
              <a:rPr lang="zh-CN" altLang="en-US" dirty="0"/>
              <a:t>可以直接修改实参。</a:t>
            </a:r>
          </a:p>
          <a:p>
            <a:pPr lvl="0"/>
            <a:r>
              <a:rPr lang="en-US" altLang="zh-CN" dirty="0"/>
              <a:t>2) </a:t>
            </a:r>
            <a:r>
              <a:rPr lang="zh-CN" altLang="en-US" dirty="0"/>
              <a:t>避免做 </a:t>
            </a:r>
            <a:r>
              <a:rPr lang="en-US" altLang="zh-CN" dirty="0"/>
              <a:t>duplicate memory</a:t>
            </a:r>
            <a:r>
              <a:rPr lang="zh-CN" altLang="en-US" dirty="0"/>
              <a:t>，降低了开销。</a:t>
            </a:r>
          </a:p>
          <a:p>
            <a:pPr lvl="0"/>
            <a:r>
              <a:rPr lang="en-US" altLang="zh-CN" dirty="0"/>
              <a:t>3) </a:t>
            </a:r>
            <a:r>
              <a:rPr lang="zh-CN" altLang="en-US" dirty="0"/>
              <a:t>可以返回多个值：在最严格的标准</a:t>
            </a:r>
            <a:r>
              <a:rPr lang="en-US" altLang="zh-CN" dirty="0"/>
              <a:t>C</a:t>
            </a:r>
            <a:r>
              <a:rPr lang="zh-CN" altLang="en-US" dirty="0"/>
              <a:t>定义当中，函数返回值是一块特定大小的</a:t>
            </a:r>
            <a:r>
              <a:rPr lang="en-US" altLang="zh-CN" dirty="0"/>
              <a:t>memory</a:t>
            </a:r>
            <a:r>
              <a:rPr lang="zh-CN" altLang="en-US" dirty="0"/>
              <a:t>，比如在</a:t>
            </a:r>
            <a:r>
              <a:rPr lang="en-US" altLang="zh-CN" dirty="0"/>
              <a:t>32</a:t>
            </a:r>
            <a:r>
              <a:rPr lang="zh-CN" altLang="en-US" dirty="0"/>
              <a:t>位系统中严格定义返回值不能超过一个</a:t>
            </a:r>
            <a:r>
              <a:rPr lang="en-US" altLang="zh-CN" dirty="0"/>
              <a:t>register</a:t>
            </a:r>
            <a:r>
              <a:rPr lang="zh-CN" altLang="en-US" dirty="0"/>
              <a:t>的大小（</a:t>
            </a:r>
            <a:r>
              <a:rPr lang="en-US" altLang="zh-CN" dirty="0"/>
              <a:t>64</a:t>
            </a:r>
            <a:r>
              <a:rPr lang="zh-CN" altLang="en-US" dirty="0"/>
              <a:t>个</a:t>
            </a:r>
            <a:r>
              <a:rPr lang="en-US" altLang="zh-CN" dirty="0"/>
              <a:t>bit</a:t>
            </a:r>
            <a:r>
              <a:rPr lang="zh-CN" altLang="en-US" dirty="0"/>
              <a:t>，</a:t>
            </a:r>
            <a:r>
              <a:rPr lang="en-US" altLang="zh-CN" dirty="0"/>
              <a:t>8</a:t>
            </a:r>
            <a:r>
              <a:rPr lang="zh-CN" altLang="en-US" dirty="0"/>
              <a:t>个字节），在这种定义下很难返回多个值。</a:t>
            </a:r>
            <a:endParaRPr lang="en-US" altLang="zh-CN" dirty="0"/>
          </a:p>
          <a:p>
            <a:pPr lvl="0"/>
            <a:endParaRPr lang="zh-CN" altLang="en-US" dirty="0"/>
          </a:p>
          <a:p>
            <a:pPr lvl="0"/>
            <a:r>
              <a:rPr lang="zh-CN" altLang="en-US" dirty="0"/>
              <a:t>在</a:t>
            </a:r>
            <a:r>
              <a:rPr lang="en-US" altLang="zh-CN" dirty="0"/>
              <a:t>C</a:t>
            </a:r>
            <a:r>
              <a:rPr lang="zh-CN" altLang="en-US" dirty="0"/>
              <a:t>语言中如果要返回多个值，常见的方案 </a:t>
            </a:r>
            <a:r>
              <a:rPr lang="en-US" altLang="zh-CN" dirty="0"/>
              <a:t>1</a:t>
            </a:r>
            <a:r>
              <a:rPr lang="zh-CN" altLang="en-US" dirty="0"/>
              <a:t>）用全局变量把返回结果带回来 </a:t>
            </a:r>
            <a:r>
              <a:rPr lang="en-US" altLang="zh-CN" dirty="0"/>
              <a:t>2</a:t>
            </a:r>
            <a:r>
              <a:rPr lang="zh-CN" altLang="en-US" dirty="0"/>
              <a:t>）或者在函数中申请在</a:t>
            </a:r>
            <a:r>
              <a:rPr lang="en-US" altLang="zh-CN" dirty="0"/>
              <a:t>heap</a:t>
            </a:r>
            <a:r>
              <a:rPr lang="zh-CN" altLang="en-US" dirty="0"/>
              <a:t>（堆）上分配一块内存，堆内存比较大，并且生命周期比栈长（栈中数据生命周期通常与包含它的函数生命周期相同，一旦函数返回，栈上的数据将被释放），而堆上分配的内存直到手动</a:t>
            </a:r>
            <a:r>
              <a:rPr lang="en-US" altLang="zh-CN" dirty="0"/>
              <a:t>free</a:t>
            </a:r>
            <a:r>
              <a:rPr lang="zh-CN" altLang="en-US" dirty="0"/>
              <a:t>才能够被释放掉，所以可以通过在</a:t>
            </a:r>
            <a:r>
              <a:rPr lang="en-US" altLang="zh-CN" dirty="0"/>
              <a:t>heap</a:t>
            </a:r>
            <a:r>
              <a:rPr lang="zh-CN" altLang="en-US" dirty="0"/>
              <a:t>上分配一块内存，然后返回这个</a:t>
            </a:r>
            <a:r>
              <a:rPr lang="en-US" altLang="zh-CN" dirty="0"/>
              <a:t>heap</a:t>
            </a:r>
            <a:r>
              <a:rPr lang="zh-CN" altLang="en-US" dirty="0"/>
              <a:t>的</a:t>
            </a:r>
            <a:r>
              <a:rPr lang="en-US" altLang="zh-CN" dirty="0"/>
              <a:t>address</a:t>
            </a:r>
            <a:r>
              <a:rPr lang="zh-CN" altLang="en-US" dirty="0"/>
              <a:t>，从而起到返回多个值的作用。</a:t>
            </a:r>
            <a:endParaRPr lang="en-US" altLang="zh-CN" dirty="0"/>
          </a:p>
          <a:p>
            <a:pPr lvl="0"/>
            <a:endParaRPr lang="en-US" altLang="zh-CN" dirty="0"/>
          </a:p>
          <a:p>
            <a:pPr lvl="0"/>
            <a:r>
              <a:rPr lang="en-US" altLang="zh-CN" dirty="0"/>
              <a:t>3</a:t>
            </a:r>
            <a:r>
              <a:rPr lang="zh-CN" altLang="en-US" dirty="0"/>
              <a:t>）现代</a:t>
            </a:r>
            <a:r>
              <a:rPr lang="en-US" altLang="zh-CN" dirty="0"/>
              <a:t>C++</a:t>
            </a:r>
            <a:r>
              <a:rPr lang="zh-CN" altLang="en-US" dirty="0"/>
              <a:t>编译器中会存在返回一个结构体变量达到返回多个值的效果，结构体里有多个成员变量，如果可以返回一个结构体，就意味着可以返回多个值。但最严格的</a:t>
            </a:r>
            <a:r>
              <a:rPr lang="en-US" altLang="zh-CN" dirty="0"/>
              <a:t>C</a:t>
            </a:r>
            <a:r>
              <a:rPr lang="zh-CN" altLang="en-US" dirty="0"/>
              <a:t>定义当中返回的大小不能超过</a:t>
            </a:r>
            <a:r>
              <a:rPr lang="en-US" altLang="zh-CN" dirty="0"/>
              <a:t>64</a:t>
            </a:r>
            <a:r>
              <a:rPr lang="zh-CN" altLang="en-US" dirty="0"/>
              <a:t>个</a:t>
            </a:r>
            <a:r>
              <a:rPr lang="en-US" altLang="zh-CN" dirty="0"/>
              <a:t>bit</a:t>
            </a:r>
            <a:r>
              <a:rPr lang="zh-CN" altLang="en-US" dirty="0"/>
              <a:t>，所以其实</a:t>
            </a:r>
            <a:r>
              <a:rPr lang="en-US" altLang="zh-CN" dirty="0"/>
              <a:t>return value</a:t>
            </a:r>
            <a:r>
              <a:rPr lang="zh-CN" altLang="en-US" dirty="0"/>
              <a:t>并不</a:t>
            </a:r>
            <a:r>
              <a:rPr lang="en-US" altLang="zh-CN" dirty="0"/>
              <a:t>return</a:t>
            </a:r>
            <a:r>
              <a:rPr lang="zh-CN" altLang="en-US" dirty="0"/>
              <a:t>一个结构体变量。在目前很多的</a:t>
            </a:r>
            <a:r>
              <a:rPr lang="en-US" altLang="zh-CN" dirty="0"/>
              <a:t>IDE </a:t>
            </a:r>
            <a:r>
              <a:rPr lang="zh-CN" altLang="en-US" dirty="0"/>
              <a:t>比如说</a:t>
            </a:r>
            <a:r>
              <a:rPr lang="en-US" altLang="zh-CN" dirty="0"/>
              <a:t>visual studio</a:t>
            </a:r>
            <a:r>
              <a:rPr lang="zh-CN" altLang="en-US" dirty="0"/>
              <a:t>，如果代码是返回一个结构体变量编译也是能通过的，这是因为</a:t>
            </a:r>
            <a:r>
              <a:rPr lang="en-US" altLang="zh-CN" dirty="0"/>
              <a:t>C++</a:t>
            </a:r>
            <a:r>
              <a:rPr lang="zh-CN" altLang="en-US" dirty="0"/>
              <a:t>对返回值的处理不同，现代编译器中返回值其实并不是放在</a:t>
            </a:r>
            <a:r>
              <a:rPr lang="en-US" altLang="zh-CN" dirty="0"/>
              <a:t>register</a:t>
            </a:r>
            <a:r>
              <a:rPr lang="zh-CN" altLang="en-US" dirty="0"/>
              <a:t>里，而是放在一个</a:t>
            </a:r>
            <a:r>
              <a:rPr lang="en-US" altLang="zh-CN" dirty="0"/>
              <a:t>temporal memory </a:t>
            </a:r>
            <a:r>
              <a:rPr lang="zh-CN" altLang="en-US" dirty="0"/>
              <a:t>里</a:t>
            </a:r>
            <a:r>
              <a:rPr lang="en-US" altLang="zh-CN" dirty="0"/>
              <a:t>, register</a:t>
            </a:r>
            <a:r>
              <a:rPr lang="zh-CN" altLang="en-US" dirty="0"/>
              <a:t>的大小是固定的，而</a:t>
            </a:r>
            <a:r>
              <a:rPr lang="en-US" altLang="zh-CN" dirty="0"/>
              <a:t>temporary memory</a:t>
            </a:r>
            <a:r>
              <a:rPr lang="zh-CN" altLang="en-US" dirty="0"/>
              <a:t>可以自动决定它的大小或者手动分配它的大小，这种情况下就允许返回一个结构体变量。但更多时候返回一个结构体，现代编译器内部的做法都是处理成返回一个结构体的引用，从而返回多个值。</a:t>
            </a:r>
            <a:endParaRPr lang="en-US" altLang="zh-CN" dirty="0"/>
          </a:p>
          <a:p>
            <a:pPr lvl="0"/>
            <a:endParaRPr lang="en-US" altLang="zh-CN" dirty="0"/>
          </a:p>
          <a:p>
            <a:pPr lvl="0"/>
            <a:r>
              <a:rPr lang="en-US" altLang="zh-CN" dirty="0"/>
              <a:t>reference</a:t>
            </a:r>
            <a:r>
              <a:rPr lang="zh-CN" altLang="en-US" dirty="0"/>
              <a:t>可以返回多个值怎么理解？右边的代码</a:t>
            </a:r>
            <a:r>
              <a:rPr lang="en-US" altLang="zh-CN" dirty="0"/>
              <a:t>add_even:  </a:t>
            </a:r>
            <a:r>
              <a:rPr lang="zh-CN" altLang="en-US" dirty="0"/>
              <a:t>（函数返回值首要任务是代表函数执行是不是成功）返回值是一个</a:t>
            </a:r>
            <a:r>
              <a:rPr lang="en-US" altLang="zh-CN" dirty="0"/>
              <a:t>booling</a:t>
            </a:r>
            <a:r>
              <a:rPr lang="zh-CN" altLang="en-US" dirty="0"/>
              <a:t>类型的，代表这两个数字是不是</a:t>
            </a:r>
            <a:r>
              <a:rPr lang="en-US" altLang="zh-CN" dirty="0"/>
              <a:t>even</a:t>
            </a:r>
            <a:r>
              <a:rPr lang="zh-CN" altLang="en-US" dirty="0"/>
              <a:t>的数字，如果是就相加然后把结果放到</a:t>
            </a:r>
            <a:r>
              <a:rPr lang="en-US" altLang="zh-CN" dirty="0"/>
              <a:t>c</a:t>
            </a:r>
            <a:r>
              <a:rPr lang="zh-CN" altLang="en-US" dirty="0"/>
              <a:t>里，如果 </a:t>
            </a:r>
            <a:r>
              <a:rPr lang="en-US" altLang="zh-CN" dirty="0"/>
              <a:t>a </a:t>
            </a:r>
            <a:r>
              <a:rPr lang="zh-CN" altLang="en-US" dirty="0"/>
              <a:t>跟 </a:t>
            </a:r>
            <a:r>
              <a:rPr lang="en-US" altLang="zh-CN" dirty="0"/>
              <a:t>b</a:t>
            </a:r>
            <a:r>
              <a:rPr lang="zh-CN" altLang="en-US" dirty="0"/>
              <a:t>不是两个</a:t>
            </a:r>
            <a:r>
              <a:rPr lang="en-US" altLang="zh-CN" dirty="0"/>
              <a:t>even</a:t>
            </a:r>
            <a:r>
              <a:rPr lang="zh-CN" altLang="en-US" dirty="0"/>
              <a:t>的数字就</a:t>
            </a:r>
            <a:r>
              <a:rPr lang="en-US" altLang="zh-CN" dirty="0"/>
              <a:t>return false</a:t>
            </a:r>
            <a:r>
              <a:rPr lang="zh-CN" altLang="en-US" dirty="0"/>
              <a:t>。</a:t>
            </a:r>
            <a:endParaRPr lang="en-US" altLang="zh-CN" dirty="0"/>
          </a:p>
          <a:p>
            <a:pPr lvl="0"/>
            <a:endParaRPr lang="zh-CN" altLang="en-US" dirty="0"/>
          </a:p>
          <a:p>
            <a:pPr lvl="0"/>
            <a:r>
              <a:rPr lang="en-US" altLang="zh-CN" dirty="0"/>
              <a:t>Add_even</a:t>
            </a:r>
            <a:r>
              <a:rPr lang="zh-CN" altLang="en-US" dirty="0"/>
              <a:t>函数需要带回两个信息，一个是这个函数执行是否成功，一个是两个数字相加的结果，所以需要返回超过一个的值。这时可以通过 </a:t>
            </a:r>
            <a:r>
              <a:rPr lang="en-US" altLang="zh-CN" dirty="0"/>
              <a:t>pass by reference</a:t>
            </a:r>
            <a:r>
              <a:rPr lang="zh-CN" altLang="en-US" dirty="0"/>
              <a:t>，把</a:t>
            </a:r>
            <a:r>
              <a:rPr lang="en-US" altLang="zh-CN" dirty="0"/>
              <a:t>C</a:t>
            </a:r>
            <a:r>
              <a:rPr lang="zh-CN" altLang="en-US" dirty="0"/>
              <a:t>作为</a:t>
            </a:r>
            <a:r>
              <a:rPr lang="en-US" altLang="zh-CN" dirty="0"/>
              <a:t>reference</a:t>
            </a:r>
            <a:r>
              <a:rPr lang="zh-CN" altLang="en-US" dirty="0"/>
              <a:t>给到函数，</a:t>
            </a:r>
            <a:r>
              <a:rPr lang="en-US" altLang="zh-CN" dirty="0"/>
              <a:t>a+b</a:t>
            </a:r>
            <a:r>
              <a:rPr lang="zh-CN" altLang="en-US" dirty="0"/>
              <a:t>的结果相当于直接传给了函数外的实参。当</a:t>
            </a:r>
            <a:r>
              <a:rPr lang="en-US" altLang="zh-CN" dirty="0"/>
              <a:t>add_even</a:t>
            </a:r>
            <a:r>
              <a:rPr lang="zh-CN" altLang="en-US" dirty="0"/>
              <a:t>函数调用结束之后，就能够拿到相加的结果（原本实参就存在）以及函数返回的</a:t>
            </a:r>
            <a:r>
              <a:rPr lang="en-US" altLang="zh-CN" dirty="0"/>
              <a:t>booling</a:t>
            </a:r>
            <a:r>
              <a:rPr lang="zh-CN" altLang="en-US" dirty="0"/>
              <a:t>，从而通过 </a:t>
            </a:r>
            <a:r>
              <a:rPr lang="en-US" altLang="zh-CN" dirty="0"/>
              <a:t>reference</a:t>
            </a:r>
            <a:r>
              <a:rPr lang="zh-CN" altLang="en-US" dirty="0"/>
              <a:t>实现了返回多个值。</a:t>
            </a:r>
            <a:endParaRPr lang="en-US" altLang="zh-CN" dirty="0"/>
          </a:p>
          <a:p>
            <a:pPr lvl="0"/>
            <a:endParaRPr lang="zh-CN" altLang="en-US" dirty="0"/>
          </a:p>
          <a:p>
            <a:pPr lvl="0"/>
            <a:r>
              <a:rPr lang="zh-CN" altLang="en-US" dirty="0"/>
              <a:t>总结：返回多个值在</a:t>
            </a:r>
            <a:r>
              <a:rPr lang="en-US" altLang="zh-CN" dirty="0"/>
              <a:t>C</a:t>
            </a:r>
            <a:r>
              <a:rPr lang="zh-CN" altLang="en-US" dirty="0"/>
              <a:t>或者</a:t>
            </a:r>
            <a:r>
              <a:rPr lang="en-US" altLang="zh-CN" dirty="0"/>
              <a:t>C++</a:t>
            </a:r>
            <a:r>
              <a:rPr lang="zh-CN" altLang="en-US" dirty="0"/>
              <a:t>当中比较复杂。普适的解决方案，在所有编译器下都能运行的方案，无外乎是用</a:t>
            </a:r>
            <a:r>
              <a:rPr lang="en-US" altLang="zh-CN" dirty="0"/>
              <a:t>1</a:t>
            </a:r>
            <a:r>
              <a:rPr lang="zh-CN" altLang="en-US" dirty="0"/>
              <a:t>）全局变量把它带出来（但全局变量传递数据不是一个好的解决方案，它维护性差且多线程或并发程序中存在安全问题，所以代码中尽量少用全局变量）。</a:t>
            </a:r>
            <a:r>
              <a:rPr lang="en-US" altLang="zh-CN" dirty="0"/>
              <a:t>2</a:t>
            </a:r>
            <a:r>
              <a:rPr lang="zh-CN" altLang="en-US" dirty="0"/>
              <a:t>）或者</a:t>
            </a:r>
            <a:r>
              <a:rPr lang="en-US" altLang="zh-CN" dirty="0"/>
              <a:t>heap</a:t>
            </a:r>
            <a:r>
              <a:rPr lang="zh-CN" altLang="en-US" dirty="0"/>
              <a:t>上申请一块</a:t>
            </a:r>
            <a:r>
              <a:rPr lang="en-US" altLang="zh-CN" dirty="0"/>
              <a:t>memory</a:t>
            </a:r>
            <a:r>
              <a:rPr lang="zh-CN" altLang="en-US" dirty="0"/>
              <a:t>然后返回</a:t>
            </a:r>
            <a:r>
              <a:rPr lang="en-US" altLang="zh-CN" dirty="0"/>
              <a:t>heap</a:t>
            </a:r>
            <a:r>
              <a:rPr lang="zh-CN" altLang="en-US" dirty="0"/>
              <a:t>的地址，但它涉及到手工管理内存，需要决定什么时候释放也是比较复杂的事情。相对来说简单的解决方案是通过</a:t>
            </a:r>
            <a:r>
              <a:rPr lang="en-US" altLang="zh-CN" dirty="0"/>
              <a:t>reference</a:t>
            </a:r>
            <a:r>
              <a:rPr lang="zh-CN" altLang="en-US" dirty="0"/>
              <a:t>把多个值放到参数列表里。</a:t>
            </a:r>
          </a:p>
          <a:p>
            <a:pPr lvl="0"/>
            <a:endParaRPr lang="zh-CN" altLang="en-US" dirty="0"/>
          </a:p>
          <a:p>
            <a:pPr lvl="0"/>
            <a:endParaRPr lang="zh-CN" altLang="en-US" dirty="0"/>
          </a:p>
          <a:p>
            <a:pPr lvl="0"/>
            <a:endParaRPr lang="zh-CN" altLang="en-US" dirty="0"/>
          </a:p>
        </p:txBody>
      </p:sp>
      <p:sp>
        <p:nvSpPr>
          <p:cNvPr id="10240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t>51</a:t>
            </a:fld>
            <a:endParaRPr lang="zh-CN" altLang="en-US" sz="1200"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p:cNvSpPr>
            <a:spLocks noGrp="1" noRot="1" noChangeAspect="1" noTextEdit="1"/>
          </p:cNvSpPr>
          <p:nvPr>
            <p:ph type="sldImg"/>
          </p:nvPr>
        </p:nvSpPr>
        <p:spPr>
          <a:ln>
            <a:solidFill>
              <a:srgbClr val="000000">
                <a:alpha val="100000"/>
              </a:srgbClr>
            </a:solidFill>
            <a:miter lim="800000"/>
          </a:ln>
        </p:spPr>
      </p:sp>
      <p:sp>
        <p:nvSpPr>
          <p:cNvPr id="104451" name="备注占位符 2"/>
          <p:cNvSpPr>
            <a:spLocks noGrp="1"/>
          </p:cNvSpPr>
          <p:nvPr>
            <p:ph type="body" idx="1"/>
          </p:nvPr>
        </p:nvSpPr>
        <p:spPr>
          <a:noFill/>
          <a:ln>
            <a:noFill/>
          </a:ln>
        </p:spPr>
        <p:txBody>
          <a:bodyPr wrap="square" lIns="91440" tIns="45720" rIns="91440" bIns="45720" anchor="t" anchorCtr="0"/>
          <a:lstStyle/>
          <a:p>
            <a:pPr lvl="0"/>
            <a:r>
              <a:rPr lang="zh-CN" altLang="en-US" dirty="0"/>
              <a:t>从实现角度</a:t>
            </a:r>
            <a:r>
              <a:rPr lang="en-US" altLang="zh-CN" dirty="0"/>
              <a:t>reference</a:t>
            </a:r>
            <a:r>
              <a:rPr lang="zh-CN" altLang="en-US" dirty="0"/>
              <a:t>跟</a:t>
            </a:r>
            <a:r>
              <a:rPr lang="en-US" altLang="zh-CN" dirty="0"/>
              <a:t>pointer</a:t>
            </a:r>
            <a:r>
              <a:rPr lang="zh-CN" altLang="en-US" dirty="0"/>
              <a:t>有些相似，都提供了间接访问数据的方式，都可以作为函数参数传递从而修改指向变量的值。</a:t>
            </a:r>
          </a:p>
          <a:p>
            <a:pPr lvl="0"/>
            <a:r>
              <a:rPr lang="zh-CN" altLang="en-US" dirty="0"/>
              <a:t>但使用层面上差异非常明显，使用</a:t>
            </a:r>
            <a:r>
              <a:rPr lang="en-US" altLang="zh-CN" dirty="0"/>
              <a:t>reference</a:t>
            </a:r>
            <a:r>
              <a:rPr lang="zh-CN" altLang="en-US" dirty="0"/>
              <a:t>注意两点：</a:t>
            </a:r>
            <a:r>
              <a:rPr lang="en-US" altLang="zh-CN" dirty="0"/>
              <a:t>1</a:t>
            </a:r>
            <a:r>
              <a:rPr lang="zh-CN" altLang="en-US" dirty="0"/>
              <a:t>）</a:t>
            </a:r>
            <a:r>
              <a:rPr lang="en-US" altLang="zh-CN" dirty="0"/>
              <a:t>reference </a:t>
            </a:r>
            <a:r>
              <a:rPr lang="zh-CN" altLang="en-US" dirty="0"/>
              <a:t>通常是</a:t>
            </a:r>
            <a:r>
              <a:rPr lang="en-US" altLang="zh-CN" dirty="0"/>
              <a:t>reference</a:t>
            </a:r>
            <a:r>
              <a:rPr lang="zh-CN" altLang="en-US" dirty="0"/>
              <a:t>一个</a:t>
            </a:r>
            <a:r>
              <a:rPr lang="en-US" altLang="zh-CN" dirty="0"/>
              <a:t>non-null</a:t>
            </a:r>
            <a:r>
              <a:rPr lang="zh-CN" altLang="en-US" dirty="0"/>
              <a:t>的</a:t>
            </a:r>
            <a:r>
              <a:rPr lang="en-US" altLang="zh-CN" dirty="0"/>
              <a:t>object</a:t>
            </a:r>
            <a:r>
              <a:rPr lang="zh-CN" altLang="en-US" dirty="0"/>
              <a:t>，如果</a:t>
            </a:r>
            <a:r>
              <a:rPr lang="en-US" altLang="zh-CN" dirty="0"/>
              <a:t>reference</a:t>
            </a:r>
            <a:r>
              <a:rPr lang="zh-CN" altLang="en-US" dirty="0"/>
              <a:t>一个</a:t>
            </a:r>
            <a:r>
              <a:rPr lang="en-US" altLang="zh-CN" dirty="0"/>
              <a:t>null</a:t>
            </a:r>
            <a:r>
              <a:rPr lang="zh-CN" altLang="en-US" dirty="0"/>
              <a:t>的</a:t>
            </a:r>
            <a:r>
              <a:rPr lang="en-US" altLang="zh-CN" dirty="0"/>
              <a:t>object</a:t>
            </a:r>
            <a:r>
              <a:rPr lang="zh-CN" altLang="en-US" dirty="0"/>
              <a:t>，编译时并没有为它分配内存，所以</a:t>
            </a:r>
            <a:r>
              <a:rPr lang="en-US" altLang="zh-CN" dirty="0"/>
              <a:t>reference</a:t>
            </a:r>
            <a:r>
              <a:rPr lang="zh-CN" altLang="en-US" dirty="0"/>
              <a:t>声明时必须要初始化，否则编译会报错。</a:t>
            </a:r>
          </a:p>
          <a:p>
            <a:pPr lvl="0"/>
            <a:r>
              <a:rPr lang="en-US" altLang="zh-CN" dirty="0"/>
              <a:t>2</a:t>
            </a:r>
            <a:r>
              <a:rPr lang="zh-CN" altLang="en-US" dirty="0"/>
              <a:t>）一旦</a:t>
            </a:r>
            <a:r>
              <a:rPr lang="en-US" altLang="zh-CN" dirty="0"/>
              <a:t>reference</a:t>
            </a:r>
            <a:r>
              <a:rPr lang="zh-CN" altLang="en-US" dirty="0"/>
              <a:t>了一个对象之后，就不可以再去</a:t>
            </a:r>
            <a:r>
              <a:rPr lang="en-US" altLang="zh-CN" dirty="0"/>
              <a:t>reference</a:t>
            </a:r>
            <a:r>
              <a:rPr lang="zh-CN" altLang="en-US" dirty="0"/>
              <a:t>其它</a:t>
            </a:r>
            <a:r>
              <a:rPr lang="en-US" altLang="zh-CN" dirty="0"/>
              <a:t>object</a:t>
            </a:r>
            <a:r>
              <a:rPr lang="zh-CN" altLang="en-US" dirty="0"/>
              <a:t>。</a:t>
            </a:r>
            <a:endParaRPr lang="en-US" altLang="zh-CN" dirty="0"/>
          </a:p>
          <a:p>
            <a:pPr lvl="0"/>
            <a:r>
              <a:rPr lang="zh-CN" altLang="en-US" dirty="0"/>
              <a:t>如果需要既可以</a:t>
            </a:r>
            <a:r>
              <a:rPr lang="en-US" altLang="zh-CN" dirty="0"/>
              <a:t>reference</a:t>
            </a:r>
            <a:r>
              <a:rPr lang="zh-CN" altLang="en-US" dirty="0"/>
              <a:t>这个，又可以</a:t>
            </a:r>
            <a:r>
              <a:rPr lang="en-US" altLang="zh-CN" dirty="0"/>
              <a:t>reference </a:t>
            </a:r>
            <a:r>
              <a:rPr lang="zh-CN" altLang="en-US" dirty="0"/>
              <a:t>那个的话，要用的是一个</a:t>
            </a:r>
            <a:r>
              <a:rPr lang="en-US" altLang="zh-CN" dirty="0"/>
              <a:t>pointer</a:t>
            </a:r>
            <a:r>
              <a:rPr lang="zh-CN" altLang="en-US" dirty="0"/>
              <a:t>而不是</a:t>
            </a:r>
            <a:r>
              <a:rPr lang="en-US" altLang="zh-CN" dirty="0"/>
              <a:t>reference</a:t>
            </a:r>
            <a:r>
              <a:rPr lang="zh-CN" altLang="en-US" dirty="0"/>
              <a:t>。</a:t>
            </a:r>
            <a:endParaRPr lang="en-US" altLang="zh-CN" dirty="0"/>
          </a:p>
          <a:p>
            <a:pPr lvl="0"/>
            <a:r>
              <a:rPr lang="en-US" altLang="zh-CN" dirty="0"/>
              <a:t>pointer</a:t>
            </a:r>
            <a:r>
              <a:rPr lang="zh-CN" altLang="en-US" dirty="0"/>
              <a:t>可以去</a:t>
            </a:r>
            <a:r>
              <a:rPr lang="en-US" altLang="zh-CN" dirty="0"/>
              <a:t>re-assigned</a:t>
            </a:r>
            <a:r>
              <a:rPr lang="zh-CN" altLang="en-US" dirty="0"/>
              <a:t>它的</a:t>
            </a:r>
            <a:r>
              <a:rPr lang="en-US" altLang="zh-CN" dirty="0"/>
              <a:t>value</a:t>
            </a:r>
            <a:r>
              <a:rPr lang="zh-CN" altLang="en-US" dirty="0"/>
              <a:t>，</a:t>
            </a:r>
            <a:r>
              <a:rPr lang="en-US" altLang="zh-CN" dirty="0"/>
              <a:t>reference </a:t>
            </a:r>
            <a:r>
              <a:rPr lang="zh-CN" altLang="en-US" dirty="0"/>
              <a:t>不可以的。</a:t>
            </a:r>
          </a:p>
          <a:p>
            <a:pPr lvl="0"/>
            <a:endParaRPr lang="zh-CN" altLang="en-US" dirty="0"/>
          </a:p>
        </p:txBody>
      </p:sp>
      <p:sp>
        <p:nvSpPr>
          <p:cNvPr id="104452"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t>52</a:t>
            </a:fld>
            <a:endParaRPr lang="zh-CN" altLang="en-US" sz="1200"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幻灯片图像占位符 1"/>
          <p:cNvSpPr>
            <a:spLocks noGrp="1" noRot="1" noChangeAspect="1" noTextEdit="1"/>
          </p:cNvSpPr>
          <p:nvPr>
            <p:ph type="sldImg"/>
          </p:nvPr>
        </p:nvSpPr>
        <p:spPr>
          <a:ln>
            <a:solidFill>
              <a:srgbClr val="000000">
                <a:alpha val="100000"/>
              </a:srgbClr>
            </a:solidFill>
            <a:miter lim="800000"/>
          </a:ln>
        </p:spPr>
      </p:sp>
      <p:sp>
        <p:nvSpPr>
          <p:cNvPr id="106499" name="备注占位符 2"/>
          <p:cNvSpPr>
            <a:spLocks noGrp="1"/>
          </p:cNvSpPr>
          <p:nvPr>
            <p:ph type="body" idx="1"/>
          </p:nvPr>
        </p:nvSpPr>
        <p:spPr>
          <a:noFill/>
          <a:ln>
            <a:noFill/>
          </a:ln>
        </p:spPr>
        <p:txBody>
          <a:bodyPr wrap="square" lIns="91440" tIns="45720" rIns="91440" bIns="45720" anchor="t" anchorCtr="0"/>
          <a:lstStyle/>
          <a:p>
            <a:pPr lvl="0"/>
            <a:r>
              <a:rPr lang="en-US" altLang="zh-CN" dirty="0"/>
              <a:t>const</a:t>
            </a:r>
            <a:r>
              <a:rPr lang="zh-CN" altLang="en-US" dirty="0"/>
              <a:t>也是</a:t>
            </a:r>
            <a:r>
              <a:rPr lang="en-US" altLang="zh-CN" dirty="0"/>
              <a:t>C++</a:t>
            </a:r>
            <a:r>
              <a:rPr lang="zh-CN" altLang="en-US" dirty="0"/>
              <a:t>中非常重要的关键字：代表的含义是常量，不可以修改。</a:t>
            </a:r>
          </a:p>
          <a:p>
            <a:pPr lvl="0"/>
            <a:r>
              <a:rPr lang="en-US" altLang="zh-CN" dirty="0"/>
              <a:t>Const</a:t>
            </a:r>
            <a:r>
              <a:rPr lang="zh-CN" altLang="en-US" dirty="0"/>
              <a:t>的作用是什么？</a:t>
            </a:r>
            <a:endParaRPr lang="en-US" altLang="zh-CN" dirty="0"/>
          </a:p>
          <a:p>
            <a:pPr lvl="0"/>
            <a:r>
              <a:rPr lang="en-US" altLang="zh-CN" dirty="0"/>
              <a:t>C++</a:t>
            </a:r>
            <a:r>
              <a:rPr lang="zh-CN" altLang="en-US" dirty="0"/>
              <a:t>支持</a:t>
            </a:r>
            <a:r>
              <a:rPr lang="en-US" altLang="zh-CN" dirty="0"/>
              <a:t>pass by reference</a:t>
            </a:r>
            <a:r>
              <a:rPr lang="zh-CN" altLang="en-US" dirty="0"/>
              <a:t>带来的好处是能够防止</a:t>
            </a:r>
            <a:r>
              <a:rPr lang="en-US" altLang="zh-CN" dirty="0"/>
              <a:t>memory duplication</a:t>
            </a:r>
            <a:r>
              <a:rPr lang="zh-CN" altLang="en-US" dirty="0"/>
              <a:t>，能够防止</a:t>
            </a:r>
            <a:r>
              <a:rPr lang="en-US" altLang="zh-CN" dirty="0"/>
              <a:t>copy </a:t>
            </a:r>
            <a:r>
              <a:rPr lang="zh-CN" altLang="en-US" dirty="0"/>
              <a:t>等复杂操作，但同时也带来一个缺点， </a:t>
            </a:r>
            <a:r>
              <a:rPr lang="en-US" altLang="zh-CN" dirty="0"/>
              <a:t>pass by reference</a:t>
            </a:r>
            <a:r>
              <a:rPr lang="zh-CN" altLang="en-US" dirty="0"/>
              <a:t>意味着可以在函数里面改变原来的</a:t>
            </a:r>
            <a:r>
              <a:rPr lang="en-US" altLang="zh-CN" dirty="0"/>
              <a:t>object</a:t>
            </a:r>
            <a:r>
              <a:rPr lang="zh-CN" altLang="en-US" dirty="0"/>
              <a:t>，因为通过</a:t>
            </a:r>
            <a:r>
              <a:rPr lang="en-US" altLang="zh-CN" dirty="0"/>
              <a:t>reference</a:t>
            </a:r>
            <a:r>
              <a:rPr lang="zh-CN" altLang="en-US" dirty="0"/>
              <a:t>是直接访问原本的</a:t>
            </a:r>
            <a:r>
              <a:rPr lang="en-US" altLang="zh-CN" dirty="0"/>
              <a:t>Object</a:t>
            </a:r>
            <a:r>
              <a:rPr lang="zh-CN" altLang="en-US" dirty="0"/>
              <a:t>。</a:t>
            </a:r>
            <a:endParaRPr lang="en-US" altLang="zh-CN" dirty="0"/>
          </a:p>
          <a:p>
            <a:pPr lvl="0"/>
            <a:endParaRPr lang="zh-CN" altLang="en-US" dirty="0"/>
          </a:p>
          <a:p>
            <a:pPr lvl="0"/>
            <a:r>
              <a:rPr lang="zh-CN" altLang="en-US" dirty="0"/>
              <a:t>但很多应用中，我们并不希望改变原来的</a:t>
            </a:r>
            <a:r>
              <a:rPr lang="en-US" altLang="zh-CN" dirty="0"/>
              <a:t>object</a:t>
            </a:r>
            <a:r>
              <a:rPr lang="zh-CN" altLang="en-US" dirty="0"/>
              <a:t>，比如：做两个矩阵相加的函数，</a:t>
            </a:r>
            <a:r>
              <a:rPr lang="en-US" altLang="zh-CN" dirty="0"/>
              <a:t>matrix C=matrix A+matrix B</a:t>
            </a:r>
            <a:r>
              <a:rPr lang="zh-CN" altLang="en-US" dirty="0"/>
              <a:t>，如果抛开性能不谈，可以把</a:t>
            </a:r>
            <a:r>
              <a:rPr lang="en-US" altLang="zh-CN" dirty="0"/>
              <a:t>A</a:t>
            </a:r>
            <a:r>
              <a:rPr lang="zh-CN" altLang="en-US" dirty="0"/>
              <a:t>、</a:t>
            </a:r>
            <a:r>
              <a:rPr lang="en-US" altLang="zh-CN" dirty="0"/>
              <a:t>B</a:t>
            </a:r>
            <a:r>
              <a:rPr lang="zh-CN" altLang="en-US" dirty="0"/>
              <a:t>两个矩阵作为实参通过</a:t>
            </a:r>
            <a:r>
              <a:rPr lang="en-US" altLang="zh-CN" dirty="0"/>
              <a:t>pass by value</a:t>
            </a:r>
            <a:r>
              <a:rPr lang="zh-CN" altLang="en-US" dirty="0"/>
              <a:t>传进函数，把两个矩阵直接传进去内存开销很大。从性能角度更好的做法就是把矩阵</a:t>
            </a:r>
            <a:r>
              <a:rPr lang="en-US" altLang="zh-CN" dirty="0"/>
              <a:t>A</a:t>
            </a:r>
            <a:r>
              <a:rPr lang="zh-CN" altLang="en-US" dirty="0"/>
              <a:t>跟</a:t>
            </a:r>
            <a:r>
              <a:rPr lang="en-US" altLang="zh-CN" dirty="0"/>
              <a:t>B</a:t>
            </a:r>
            <a:r>
              <a:rPr lang="zh-CN" altLang="en-US" dirty="0"/>
              <a:t>作为两个</a:t>
            </a:r>
            <a:r>
              <a:rPr lang="en-US" altLang="zh-CN" dirty="0"/>
              <a:t>reference</a:t>
            </a:r>
            <a:r>
              <a:rPr lang="zh-CN" altLang="en-US" dirty="0"/>
              <a:t>传进去，但会带来潜在风险：</a:t>
            </a:r>
            <a:r>
              <a:rPr lang="en-US" altLang="zh-CN" dirty="0"/>
              <a:t>A</a:t>
            </a:r>
            <a:r>
              <a:rPr lang="zh-CN" altLang="en-US" dirty="0"/>
              <a:t>、</a:t>
            </a:r>
            <a:r>
              <a:rPr lang="en-US" altLang="zh-CN" dirty="0"/>
              <a:t>B</a:t>
            </a:r>
            <a:r>
              <a:rPr lang="zh-CN" altLang="en-US" dirty="0"/>
              <a:t>作为</a:t>
            </a:r>
            <a:r>
              <a:rPr lang="en-US" altLang="zh-CN" dirty="0"/>
              <a:t>reference</a:t>
            </a:r>
            <a:r>
              <a:rPr lang="zh-CN" altLang="en-US" dirty="0"/>
              <a:t>给进函数，意味着</a:t>
            </a:r>
            <a:r>
              <a:rPr lang="en-US" altLang="zh-CN" dirty="0"/>
              <a:t>A</a:t>
            </a:r>
            <a:r>
              <a:rPr lang="zh-CN" altLang="en-US" dirty="0"/>
              <a:t>、</a:t>
            </a:r>
            <a:r>
              <a:rPr lang="en-US" altLang="zh-CN" dirty="0"/>
              <a:t>B</a:t>
            </a:r>
            <a:r>
              <a:rPr lang="zh-CN" altLang="en-US" dirty="0"/>
              <a:t>不设防。如果函数代码有问题，把</a:t>
            </a:r>
            <a:r>
              <a:rPr lang="en-US" altLang="zh-CN" dirty="0"/>
              <a:t>C</a:t>
            </a:r>
            <a:r>
              <a:rPr lang="zh-CN" altLang="en-US" dirty="0"/>
              <a:t>加出的结果直接写回</a:t>
            </a:r>
            <a:r>
              <a:rPr lang="en-US" altLang="zh-CN" dirty="0"/>
              <a:t>A</a:t>
            </a:r>
            <a:r>
              <a:rPr lang="zh-CN" altLang="en-US" dirty="0"/>
              <a:t>，等函数执行完原本</a:t>
            </a:r>
            <a:r>
              <a:rPr lang="en-US" altLang="zh-CN" dirty="0"/>
              <a:t>A</a:t>
            </a:r>
            <a:r>
              <a:rPr lang="zh-CN" altLang="en-US" dirty="0"/>
              <a:t>矩阵值已经被改变，</a:t>
            </a:r>
            <a:r>
              <a:rPr lang="en-US" altLang="zh-CN" dirty="0"/>
              <a:t>A</a:t>
            </a:r>
            <a:r>
              <a:rPr lang="zh-CN" altLang="en-US" dirty="0"/>
              <a:t>的值被覆盖无法找回，所以从调用的角度是我们不希望的，只是把</a:t>
            </a:r>
            <a:r>
              <a:rPr lang="en-US" altLang="zh-CN" dirty="0"/>
              <a:t>A</a:t>
            </a:r>
            <a:r>
              <a:rPr lang="zh-CN" altLang="en-US" dirty="0"/>
              <a:t>、</a:t>
            </a:r>
            <a:r>
              <a:rPr lang="en-US" altLang="zh-CN" dirty="0"/>
              <a:t>B</a:t>
            </a:r>
            <a:r>
              <a:rPr lang="zh-CN" altLang="en-US" dirty="0"/>
              <a:t>的值给你拿去用，并不希望你改写我。</a:t>
            </a:r>
            <a:endParaRPr lang="en-US" altLang="zh-CN" dirty="0"/>
          </a:p>
          <a:p>
            <a:pPr lvl="0"/>
            <a:endParaRPr lang="en-US" altLang="zh-CN" dirty="0"/>
          </a:p>
          <a:p>
            <a:pPr lvl="0"/>
            <a:r>
              <a:rPr lang="zh-CN" altLang="en-US" dirty="0"/>
              <a:t>当我们以</a:t>
            </a:r>
            <a:r>
              <a:rPr lang="en-US" altLang="zh-CN" dirty="0"/>
              <a:t>reference</a:t>
            </a:r>
            <a:r>
              <a:rPr lang="zh-CN" altLang="en-US" dirty="0"/>
              <a:t>传递参数时就会大量使用</a:t>
            </a:r>
            <a:r>
              <a:rPr lang="en-US" altLang="zh-CN" dirty="0"/>
              <a:t>const</a:t>
            </a:r>
            <a:r>
              <a:rPr lang="zh-CN" altLang="en-US" dirty="0"/>
              <a:t>。例子：函数</a:t>
            </a:r>
            <a:r>
              <a:rPr lang="en-US" altLang="zh-CN" dirty="0"/>
              <a:t>f</a:t>
            </a:r>
            <a:r>
              <a:rPr lang="zh-CN" altLang="en-US" dirty="0"/>
              <a:t>只是用来判断</a:t>
            </a:r>
            <a:r>
              <a:rPr lang="en-US" altLang="zh-CN" dirty="0"/>
              <a:t>ri</a:t>
            </a:r>
            <a:r>
              <a:rPr lang="zh-CN" altLang="en-US" dirty="0"/>
              <a:t>是不是等于</a:t>
            </a:r>
            <a:r>
              <a:rPr lang="en-US" altLang="zh-CN" dirty="0"/>
              <a:t>0</a:t>
            </a:r>
            <a:r>
              <a:rPr lang="zh-CN" altLang="en-US" dirty="0"/>
              <a:t>，但并不希望</a:t>
            </a:r>
            <a:r>
              <a:rPr lang="en-US" altLang="zh-CN" dirty="0"/>
              <a:t>ri</a:t>
            </a:r>
            <a:r>
              <a:rPr lang="zh-CN" altLang="en-US" dirty="0"/>
              <a:t>原本的值被改变。我们既希望通过</a:t>
            </a:r>
            <a:r>
              <a:rPr lang="en-US" altLang="zh-CN" dirty="0"/>
              <a:t>reference</a:t>
            </a:r>
            <a:r>
              <a:rPr lang="zh-CN" altLang="en-US" dirty="0"/>
              <a:t>传递参数来获得性能优势，又希望确保不会意外修改传递的参数值，这时就可以使用</a:t>
            </a:r>
            <a:r>
              <a:rPr lang="en-US" altLang="zh-CN" dirty="0"/>
              <a:t>const </a:t>
            </a:r>
            <a:r>
              <a:rPr lang="zh-CN" altLang="en-US" dirty="0"/>
              <a:t>关键字来声明不可修改的引用参数。</a:t>
            </a:r>
            <a:endParaRPr lang="en-US" altLang="zh-CN" dirty="0"/>
          </a:p>
          <a:p>
            <a:pPr lvl="0"/>
            <a:endParaRPr lang="zh-CN" altLang="en-US" dirty="0"/>
          </a:p>
          <a:p>
            <a:pPr lvl="0"/>
            <a:r>
              <a:rPr lang="zh-CN" altLang="en-US" dirty="0"/>
              <a:t>比如（</a:t>
            </a:r>
            <a:r>
              <a:rPr lang="en-US" altLang="zh-CN" dirty="0"/>
              <a:t>const int&amp; ri</a:t>
            </a:r>
            <a:r>
              <a:rPr lang="zh-CN" altLang="en-US" dirty="0"/>
              <a:t>）表示将</a:t>
            </a:r>
            <a:r>
              <a:rPr lang="en-US" altLang="zh-CN" dirty="0"/>
              <a:t>ri</a:t>
            </a:r>
            <a:r>
              <a:rPr lang="zh-CN" altLang="en-US" dirty="0"/>
              <a:t>的引用作为参数传递给函数</a:t>
            </a:r>
            <a:r>
              <a:rPr lang="en-US" altLang="zh-CN" dirty="0"/>
              <a:t>f</a:t>
            </a:r>
            <a:r>
              <a:rPr lang="zh-CN" altLang="en-US" dirty="0"/>
              <a:t>，关键字 </a:t>
            </a:r>
            <a:r>
              <a:rPr lang="en-US" altLang="zh-CN" dirty="0"/>
              <a:t>const</a:t>
            </a:r>
            <a:r>
              <a:rPr lang="zh-CN" altLang="en-US" dirty="0"/>
              <a:t>会告诉编译器函数</a:t>
            </a:r>
            <a:r>
              <a:rPr lang="en-US" altLang="zh-CN" dirty="0"/>
              <a:t>f</a:t>
            </a:r>
            <a:r>
              <a:rPr lang="zh-CN" altLang="en-US" dirty="0"/>
              <a:t>不能修改参数 </a:t>
            </a:r>
            <a:r>
              <a:rPr lang="en-US" altLang="zh-CN" dirty="0"/>
              <a:t>ri </a:t>
            </a:r>
            <a:r>
              <a:rPr lang="zh-CN" altLang="en-US" dirty="0"/>
              <a:t>的值，如果函数尝试修改</a:t>
            </a:r>
            <a:r>
              <a:rPr lang="en-US" altLang="zh-CN" dirty="0"/>
              <a:t>ri</a:t>
            </a:r>
            <a:r>
              <a:rPr lang="zh-CN" altLang="en-US" dirty="0"/>
              <a:t>的值，编译器就会报错，这样就同时确保了代码的性能和安全性。所以 </a:t>
            </a:r>
            <a:r>
              <a:rPr lang="en-US" altLang="zh-CN" dirty="0"/>
              <a:t>const</a:t>
            </a:r>
            <a:r>
              <a:rPr lang="zh-CN" altLang="en-US" dirty="0"/>
              <a:t>一个 </a:t>
            </a:r>
            <a:r>
              <a:rPr lang="en-US" altLang="zh-CN" dirty="0"/>
              <a:t>reference</a:t>
            </a:r>
            <a:r>
              <a:rPr lang="zh-CN" altLang="en-US" dirty="0"/>
              <a:t>作为函数的参数是</a:t>
            </a:r>
            <a:r>
              <a:rPr lang="en-US" altLang="zh-CN" dirty="0"/>
              <a:t>C++</a:t>
            </a:r>
            <a:r>
              <a:rPr lang="zh-CN" altLang="en-US" dirty="0"/>
              <a:t>中大量使用的。</a:t>
            </a:r>
            <a:endParaRPr lang="en-US" altLang="zh-CN" dirty="0"/>
          </a:p>
          <a:p>
            <a:pPr lvl="0"/>
            <a:endParaRPr lang="en-US" altLang="zh-CN" dirty="0"/>
          </a:p>
          <a:p>
            <a:pPr lvl="0"/>
            <a:r>
              <a:rPr lang="en-US" altLang="zh-CN" dirty="0"/>
              <a:t>const</a:t>
            </a:r>
            <a:r>
              <a:rPr lang="zh-CN" altLang="en-US" dirty="0"/>
              <a:t>也可以不放在参数列表里，用</a:t>
            </a:r>
            <a:r>
              <a:rPr lang="en-US" altLang="zh-CN" dirty="0"/>
              <a:t>const</a:t>
            </a:r>
            <a:r>
              <a:rPr lang="zh-CN" altLang="en-US" dirty="0"/>
              <a:t>定义一个常量：</a:t>
            </a:r>
            <a:r>
              <a:rPr lang="en-US" altLang="zh-CN" dirty="0"/>
              <a:t>const int Max=5000</a:t>
            </a:r>
            <a:r>
              <a:rPr lang="zh-CN" altLang="en-US" dirty="0"/>
              <a:t>。</a:t>
            </a:r>
            <a:r>
              <a:rPr lang="en-US" altLang="zh-CN" dirty="0"/>
              <a:t>C++</a:t>
            </a:r>
            <a:r>
              <a:rPr lang="zh-CN" altLang="en-US" dirty="0"/>
              <a:t>中也会使用</a:t>
            </a:r>
            <a:r>
              <a:rPr lang="en-US" altLang="zh-CN" dirty="0"/>
              <a:t>#define</a:t>
            </a:r>
            <a:r>
              <a:rPr lang="zh-CN" altLang="en-US" dirty="0"/>
              <a:t>定义宏常量：</a:t>
            </a:r>
            <a:r>
              <a:rPr lang="en-US" altLang="zh-CN" dirty="0"/>
              <a:t>#define MAX 5000; </a:t>
            </a:r>
            <a:r>
              <a:rPr lang="zh-CN" altLang="en-US" dirty="0"/>
              <a:t>有什么区别？</a:t>
            </a:r>
          </a:p>
          <a:p>
            <a:pPr lvl="0"/>
            <a:r>
              <a:rPr lang="zh-CN" altLang="en-US" dirty="0"/>
              <a:t>从最终效果而言一眼，区别主要在于编译阶段</a:t>
            </a:r>
            <a:r>
              <a:rPr lang="en-US" altLang="zh-CN" dirty="0"/>
              <a:t>Max</a:t>
            </a:r>
            <a:r>
              <a:rPr lang="zh-CN" altLang="en-US" dirty="0"/>
              <a:t>对编译器是不是仍然可见。如果是</a:t>
            </a:r>
            <a:r>
              <a:rPr lang="en-US" altLang="zh-CN" dirty="0"/>
              <a:t>#define</a:t>
            </a:r>
            <a:r>
              <a:rPr lang="zh-CN" altLang="en-US" dirty="0"/>
              <a:t>，作为一个预编译语句在开始编译源代码之前，就会对</a:t>
            </a:r>
            <a:r>
              <a:rPr lang="en-US" altLang="zh-CN" dirty="0"/>
              <a:t>#define</a:t>
            </a:r>
            <a:r>
              <a:rPr lang="zh-CN" altLang="en-US" dirty="0"/>
              <a:t>的预处理指令进行处理，也就是说</a:t>
            </a:r>
            <a:r>
              <a:rPr lang="en-US" altLang="zh-CN" dirty="0"/>
              <a:t>#define</a:t>
            </a:r>
            <a:r>
              <a:rPr lang="zh-CN" altLang="en-US" dirty="0"/>
              <a:t>定义的</a:t>
            </a:r>
            <a:r>
              <a:rPr lang="en-US" altLang="zh-CN" dirty="0"/>
              <a:t>MAX</a:t>
            </a:r>
            <a:r>
              <a:rPr lang="zh-CN" altLang="en-US" dirty="0"/>
              <a:t>在真正进行编译之前就已经被替换为</a:t>
            </a:r>
            <a:r>
              <a:rPr lang="en-US" altLang="zh-CN" dirty="0"/>
              <a:t>5000</a:t>
            </a:r>
            <a:r>
              <a:rPr lang="zh-CN" altLang="en-US" dirty="0"/>
              <a:t>，编译阶段</a:t>
            </a:r>
            <a:r>
              <a:rPr lang="en-US" altLang="zh-CN" dirty="0"/>
              <a:t>Max</a:t>
            </a:r>
            <a:r>
              <a:rPr lang="zh-CN" altLang="en-US" dirty="0"/>
              <a:t>在符号表中并不会出现。</a:t>
            </a:r>
          </a:p>
          <a:p>
            <a:pPr lvl="0"/>
            <a:r>
              <a:rPr lang="zh-CN" altLang="en-US" dirty="0"/>
              <a:t>如果是</a:t>
            </a:r>
            <a:r>
              <a:rPr lang="en-US" altLang="zh-CN" dirty="0"/>
              <a:t>const int Max=5000</a:t>
            </a:r>
            <a:r>
              <a:rPr lang="zh-CN" altLang="en-US" dirty="0"/>
              <a:t>，在编译阶段编译器仍然能够看得到</a:t>
            </a:r>
            <a:r>
              <a:rPr lang="en-US" altLang="zh-CN" dirty="0"/>
              <a:t>Max</a:t>
            </a:r>
            <a:r>
              <a:rPr lang="zh-CN" altLang="en-US" dirty="0"/>
              <a:t>，知道</a:t>
            </a:r>
            <a:r>
              <a:rPr lang="en-US" altLang="zh-CN" dirty="0"/>
              <a:t>MAX</a:t>
            </a:r>
            <a:r>
              <a:rPr lang="zh-CN" altLang="en-US" dirty="0"/>
              <a:t>是所谓</a:t>
            </a:r>
            <a:r>
              <a:rPr lang="en-US" altLang="zh-CN" dirty="0"/>
              <a:t>const</a:t>
            </a:r>
            <a:r>
              <a:rPr lang="zh-CN" altLang="en-US" dirty="0"/>
              <a:t>变量，</a:t>
            </a:r>
            <a:r>
              <a:rPr lang="en-US" altLang="zh-CN" dirty="0"/>
              <a:t>MAX</a:t>
            </a:r>
            <a:r>
              <a:rPr lang="zh-CN" altLang="en-US" dirty="0"/>
              <a:t>是一个 </a:t>
            </a:r>
            <a:r>
              <a:rPr lang="en-US" altLang="zh-CN" dirty="0"/>
              <a:t>visible name</a:t>
            </a:r>
            <a:r>
              <a:rPr lang="zh-CN" altLang="en-US" dirty="0"/>
              <a:t>，它会出现在符号表中</a:t>
            </a:r>
            <a:r>
              <a:rPr lang="en-US" altLang="zh-CN" dirty="0"/>
              <a:t>, </a:t>
            </a:r>
            <a:r>
              <a:rPr lang="zh-CN" altLang="en-US" dirty="0"/>
              <a:t>可以提供更多的类型信息，编译器也会检查类型匹配问题。对于编译器来说，意味着虽然它是一个变量名，但处理方案跟常量一样，它的值</a:t>
            </a:r>
            <a:r>
              <a:rPr lang="en-US" altLang="zh-CN" dirty="0"/>
              <a:t>=</a:t>
            </a:r>
            <a:r>
              <a:rPr lang="zh-CN" altLang="en-US" dirty="0"/>
              <a:t>是</a:t>
            </a:r>
            <a:r>
              <a:rPr lang="en-US" altLang="zh-CN" dirty="0"/>
              <a:t>5000</a:t>
            </a:r>
            <a:r>
              <a:rPr lang="zh-CN" altLang="en-US" dirty="0"/>
              <a:t>不可以再变，</a:t>
            </a:r>
            <a:endParaRPr lang="en-US" altLang="zh-CN" dirty="0"/>
          </a:p>
          <a:p>
            <a:pPr lvl="0"/>
            <a:endParaRPr lang="zh-CN" altLang="en-US" dirty="0"/>
          </a:p>
          <a:p>
            <a:pPr lvl="0"/>
            <a:r>
              <a:rPr lang="zh-CN" altLang="en-US" dirty="0"/>
              <a:t>在</a:t>
            </a:r>
            <a:r>
              <a:rPr lang="en-US" altLang="zh-CN" dirty="0"/>
              <a:t>C++</a:t>
            </a:r>
            <a:r>
              <a:rPr lang="zh-CN" altLang="en-US" dirty="0"/>
              <a:t>中使用</a:t>
            </a:r>
            <a:r>
              <a:rPr lang="en-US" altLang="zh-CN" dirty="0"/>
              <a:t>const</a:t>
            </a:r>
            <a:r>
              <a:rPr lang="zh-CN" altLang="en-US" dirty="0"/>
              <a:t>定义常量是一种更安全、更易维护的方式，特别是把</a:t>
            </a:r>
            <a:r>
              <a:rPr lang="en-US" altLang="zh-CN" dirty="0"/>
              <a:t>const</a:t>
            </a:r>
            <a:r>
              <a:rPr lang="zh-CN" altLang="en-US" dirty="0"/>
              <a:t>和</a:t>
            </a:r>
            <a:r>
              <a:rPr lang="en-US" altLang="zh-CN" dirty="0"/>
              <a:t>reference</a:t>
            </a:r>
            <a:r>
              <a:rPr lang="zh-CN" altLang="en-US" dirty="0"/>
              <a:t>组合起来是常见的一种函数参数的传递方式。</a:t>
            </a:r>
          </a:p>
          <a:p>
            <a:pPr lvl="0"/>
            <a:endParaRPr lang="en-US" altLang="zh-CN" dirty="0"/>
          </a:p>
          <a:p>
            <a:pPr lvl="0"/>
            <a:endParaRPr lang="en-US" altLang="zh-CN" dirty="0"/>
          </a:p>
          <a:p>
            <a:pPr lvl="0"/>
            <a:endParaRPr lang="zh-CN" altLang="en-US" dirty="0"/>
          </a:p>
          <a:p>
            <a:pPr lvl="0"/>
            <a:endParaRPr lang="zh-CN" altLang="en-US" dirty="0"/>
          </a:p>
          <a:p>
            <a:pPr lvl="0"/>
            <a:endParaRPr lang="zh-CN" altLang="en-US" dirty="0"/>
          </a:p>
        </p:txBody>
      </p:sp>
      <p:sp>
        <p:nvSpPr>
          <p:cNvPr id="106500"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t>53</a:t>
            </a:fld>
            <a:endParaRPr lang="zh-CN" altLang="en-US" sz="1200"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幻灯片图像占位符 1"/>
          <p:cNvSpPr>
            <a:spLocks noGrp="1" noRot="1" noChangeAspect="1" noTextEdit="1"/>
          </p:cNvSpPr>
          <p:nvPr>
            <p:ph type="sldImg"/>
          </p:nvPr>
        </p:nvSpPr>
        <p:spPr>
          <a:ln>
            <a:solidFill>
              <a:srgbClr val="000000">
                <a:alpha val="100000"/>
              </a:srgbClr>
            </a:solidFill>
            <a:miter lim="800000"/>
          </a:ln>
        </p:spPr>
      </p:sp>
      <p:sp>
        <p:nvSpPr>
          <p:cNvPr id="108547" name="备注占位符 2"/>
          <p:cNvSpPr>
            <a:spLocks noGrp="1"/>
          </p:cNvSpPr>
          <p:nvPr>
            <p:ph type="body" idx="1"/>
          </p:nvPr>
        </p:nvSpPr>
        <p:spPr>
          <a:noFill/>
          <a:ln>
            <a:noFill/>
          </a:ln>
        </p:spPr>
        <p:txBody>
          <a:bodyPr wrap="square" lIns="91440" tIns="45720" rIns="91440" bIns="45720" anchor="t" anchorCtr="0"/>
          <a:lstStyle/>
          <a:p>
            <a:pPr lvl="0"/>
            <a:r>
              <a:rPr lang="en-US" altLang="zh-CN" dirty="0"/>
              <a:t>const</a:t>
            </a:r>
            <a:r>
              <a:rPr lang="zh-CN" altLang="zh-CN" dirty="0"/>
              <a:t>也经常跟指针放在一起使用。复习</a:t>
            </a:r>
            <a:r>
              <a:rPr lang="zh-CN" altLang="en-US" dirty="0"/>
              <a:t>：</a:t>
            </a:r>
            <a:r>
              <a:rPr lang="zh-CN" altLang="zh-CN" dirty="0"/>
              <a:t>这里前三个定义当中哪两行一样？</a:t>
            </a:r>
          </a:p>
          <a:p>
            <a:pPr lvl="0"/>
            <a:r>
              <a:rPr lang="en-US" altLang="zh-CN" b="1" dirty="0"/>
              <a:t>const</a:t>
            </a:r>
            <a:r>
              <a:rPr lang="zh-CN" altLang="zh-CN" b="1" dirty="0"/>
              <a:t>跟</a:t>
            </a:r>
            <a:r>
              <a:rPr lang="en-US" altLang="zh-CN" b="1" dirty="0"/>
              <a:t>pointer </a:t>
            </a:r>
            <a:r>
              <a:rPr lang="zh-CN" altLang="zh-CN" b="1" dirty="0"/>
              <a:t>放在一起无外乎两个概念</a:t>
            </a:r>
            <a:r>
              <a:rPr lang="zh-CN" altLang="zh-CN" dirty="0"/>
              <a:t>，</a:t>
            </a:r>
            <a:r>
              <a:rPr lang="en-US" altLang="zh-CN" dirty="0"/>
              <a:t>1</a:t>
            </a:r>
            <a:r>
              <a:rPr lang="zh-CN" altLang="en-US" dirty="0"/>
              <a:t>）</a:t>
            </a:r>
            <a:r>
              <a:rPr lang="zh-CN" altLang="zh-CN" dirty="0"/>
              <a:t>表示</a:t>
            </a:r>
            <a:r>
              <a:rPr lang="en-US" altLang="zh-CN" dirty="0"/>
              <a:t>pointer</a:t>
            </a:r>
            <a:r>
              <a:rPr lang="zh-CN" altLang="zh-CN" dirty="0"/>
              <a:t>是</a:t>
            </a:r>
            <a:r>
              <a:rPr lang="en-US" altLang="zh-CN" dirty="0"/>
              <a:t>const</a:t>
            </a:r>
            <a:r>
              <a:rPr lang="zh-CN" altLang="zh-CN" dirty="0"/>
              <a:t>的，意味着比如</a:t>
            </a:r>
            <a:r>
              <a:rPr lang="en-US" altLang="zh-CN" dirty="0"/>
              <a:t>p</a:t>
            </a:r>
            <a:r>
              <a:rPr lang="zh-CN" altLang="zh-CN" dirty="0"/>
              <a:t>等于取地址</a:t>
            </a:r>
            <a:r>
              <a:rPr lang="en-US" altLang="zh-CN" dirty="0"/>
              <a:t>i</a:t>
            </a:r>
            <a:r>
              <a:rPr lang="zh-CN" altLang="zh-CN" dirty="0"/>
              <a:t>，将来再对</a:t>
            </a:r>
            <a:r>
              <a:rPr lang="en-US" altLang="zh-CN" dirty="0"/>
              <a:t>p</a:t>
            </a:r>
            <a:r>
              <a:rPr lang="zh-CN" altLang="zh-CN" dirty="0"/>
              <a:t>进行赋值让它等于其他地址</a:t>
            </a:r>
            <a:r>
              <a:rPr lang="en-US" altLang="zh-CN" dirty="0"/>
              <a:t>p=&amp;a</a:t>
            </a:r>
            <a:r>
              <a:rPr lang="zh-CN" altLang="zh-CN" dirty="0"/>
              <a:t>就会有问题，它是一个</a:t>
            </a:r>
            <a:r>
              <a:rPr lang="en-US" altLang="zh-CN" dirty="0"/>
              <a:t>const pointer</a:t>
            </a:r>
            <a:r>
              <a:rPr lang="zh-CN" altLang="zh-CN" dirty="0"/>
              <a:t>，定义完就不能再修改。</a:t>
            </a:r>
            <a:r>
              <a:rPr lang="en-US" altLang="zh-CN" dirty="0"/>
              <a:t>2</a:t>
            </a:r>
            <a:r>
              <a:rPr lang="zh-CN" altLang="en-US" dirty="0"/>
              <a:t>）</a:t>
            </a:r>
            <a:r>
              <a:rPr lang="zh-CN" altLang="zh-CN" dirty="0"/>
              <a:t>还有一种概念是说指针所指向的对象是</a:t>
            </a:r>
            <a:r>
              <a:rPr lang="en-US" altLang="zh-CN" dirty="0"/>
              <a:t>constant</a:t>
            </a:r>
            <a:r>
              <a:rPr lang="zh-CN" altLang="zh-CN" dirty="0"/>
              <a:t>，也就是说</a:t>
            </a:r>
            <a:r>
              <a:rPr lang="en-US" altLang="zh-CN" dirty="0"/>
              <a:t>*p</a:t>
            </a:r>
            <a:r>
              <a:rPr lang="zh-CN" altLang="zh-CN" dirty="0"/>
              <a:t>不可以再改，比如</a:t>
            </a:r>
            <a:r>
              <a:rPr lang="en-US" altLang="zh-CN" dirty="0"/>
              <a:t>p=</a:t>
            </a:r>
            <a:r>
              <a:rPr lang="zh-CN" altLang="zh-CN" dirty="0"/>
              <a:t>取地址</a:t>
            </a:r>
            <a:r>
              <a:rPr lang="en-US" altLang="zh-CN" dirty="0"/>
              <a:t>i</a:t>
            </a:r>
            <a:r>
              <a:rPr lang="zh-CN" altLang="zh-CN" dirty="0"/>
              <a:t>，那么</a:t>
            </a:r>
            <a:r>
              <a:rPr lang="en-US" altLang="zh-CN" dirty="0"/>
              <a:t>i</a:t>
            </a:r>
            <a:r>
              <a:rPr lang="zh-CN" altLang="zh-CN" dirty="0"/>
              <a:t>的内容不可以修改。两种概念不一样。</a:t>
            </a:r>
            <a:endParaRPr lang="en-US" altLang="zh-CN" dirty="0"/>
          </a:p>
          <a:p>
            <a:pPr lvl="0"/>
            <a:endParaRPr lang="zh-CN" altLang="zh-CN" dirty="0"/>
          </a:p>
          <a:p>
            <a:pPr lvl="0"/>
            <a:r>
              <a:rPr lang="zh-CN" altLang="zh-CN" dirty="0"/>
              <a:t>前三行的定义对应两种概念，一种是</a:t>
            </a:r>
            <a:r>
              <a:rPr lang="en-US" altLang="zh-CN" dirty="0"/>
              <a:t>p</a:t>
            </a:r>
            <a:r>
              <a:rPr lang="zh-CN" altLang="zh-CN" dirty="0"/>
              <a:t>的值不可以再改，还有一种是</a:t>
            </a:r>
            <a:r>
              <a:rPr lang="en-US" altLang="zh-CN" dirty="0"/>
              <a:t>*p</a:t>
            </a:r>
            <a:r>
              <a:rPr lang="zh-CN" altLang="zh-CN" dirty="0"/>
              <a:t>的值</a:t>
            </a:r>
            <a:r>
              <a:rPr lang="en-US" altLang="zh-CN" dirty="0"/>
              <a:t>/</a:t>
            </a:r>
            <a:r>
              <a:rPr lang="zh-CN" altLang="zh-CN" dirty="0"/>
              <a:t>指向对象的值不可以再改。</a:t>
            </a:r>
            <a:r>
              <a:rPr lang="zh-CN" altLang="zh-CN" b="1" dirty="0"/>
              <a:t>怎么判断？</a:t>
            </a:r>
            <a:r>
              <a:rPr lang="zh-CN" altLang="zh-CN" dirty="0"/>
              <a:t>一种简单的方法是</a:t>
            </a:r>
            <a:r>
              <a:rPr lang="en-US" altLang="zh-CN" dirty="0"/>
              <a:t>visual studio</a:t>
            </a:r>
            <a:r>
              <a:rPr lang="zh-CN" altLang="en-US" dirty="0"/>
              <a:t>尝试</a:t>
            </a:r>
            <a:r>
              <a:rPr lang="zh-CN" altLang="zh-CN" dirty="0"/>
              <a:t>是不是可以改变</a:t>
            </a:r>
            <a:r>
              <a:rPr lang="en-US" altLang="zh-CN" dirty="0"/>
              <a:t>*p</a:t>
            </a:r>
            <a:r>
              <a:rPr lang="zh-CN" altLang="zh-CN" dirty="0"/>
              <a:t>的值，如果定义之后</a:t>
            </a:r>
            <a:r>
              <a:rPr lang="en-US" altLang="zh-CN" dirty="0"/>
              <a:t>*p</a:t>
            </a:r>
            <a:r>
              <a:rPr lang="zh-CN" altLang="zh-CN" dirty="0"/>
              <a:t>的值还可以改变，就意味着</a:t>
            </a:r>
            <a:r>
              <a:rPr lang="en-US" altLang="zh-CN" dirty="0"/>
              <a:t>const</a:t>
            </a:r>
            <a:r>
              <a:rPr lang="zh-CN" altLang="zh-CN" dirty="0"/>
              <a:t>的是</a:t>
            </a:r>
            <a:r>
              <a:rPr lang="en-US" altLang="zh-CN" dirty="0"/>
              <a:t>pointer</a:t>
            </a:r>
            <a:r>
              <a:rPr lang="zh-CN" altLang="zh-CN" dirty="0"/>
              <a:t>，如果</a:t>
            </a:r>
            <a:r>
              <a:rPr lang="en-US" altLang="zh-CN" dirty="0"/>
              <a:t>*p</a:t>
            </a:r>
            <a:r>
              <a:rPr lang="zh-CN" altLang="zh-CN" dirty="0"/>
              <a:t>的值不可以改变，就意味着</a:t>
            </a:r>
            <a:r>
              <a:rPr lang="en-US" altLang="zh-CN" dirty="0"/>
              <a:t>const</a:t>
            </a:r>
            <a:r>
              <a:rPr lang="zh-CN" altLang="zh-CN" dirty="0"/>
              <a:t>的是</a:t>
            </a:r>
            <a:r>
              <a:rPr lang="en-US" altLang="zh-CN" dirty="0"/>
              <a:t>pointer</a:t>
            </a:r>
            <a:r>
              <a:rPr lang="zh-CN" altLang="zh-CN" dirty="0"/>
              <a:t>所指向的</a:t>
            </a:r>
            <a:r>
              <a:rPr lang="en-US" altLang="zh-CN" dirty="0"/>
              <a:t>object</a:t>
            </a:r>
            <a:r>
              <a:rPr lang="zh-CN" altLang="zh-CN" dirty="0"/>
              <a:t>。</a:t>
            </a:r>
            <a:endParaRPr lang="en-US" altLang="zh-CN" dirty="0"/>
          </a:p>
          <a:p>
            <a:pPr lvl="0"/>
            <a:endParaRPr lang="zh-CN" altLang="zh-CN" dirty="0"/>
          </a:p>
          <a:p>
            <a:pPr lvl="0"/>
            <a:r>
              <a:rPr lang="zh-CN" altLang="zh-CN" b="1" dirty="0"/>
              <a:t>再一种判断方法是看</a:t>
            </a:r>
            <a:r>
              <a:rPr lang="en-US" altLang="zh-CN" b="1" dirty="0"/>
              <a:t>*</a:t>
            </a:r>
            <a:r>
              <a:rPr lang="zh-CN" altLang="zh-CN" b="1" dirty="0"/>
              <a:t>星号出现的位置</a:t>
            </a:r>
            <a:r>
              <a:rPr lang="zh-CN" altLang="zh-CN" dirty="0"/>
              <a:t>，</a:t>
            </a:r>
            <a:r>
              <a:rPr lang="en-US" altLang="zh-CN" dirty="0"/>
              <a:t>*</a:t>
            </a:r>
            <a:r>
              <a:rPr lang="zh-CN" altLang="zh-CN" dirty="0"/>
              <a:t>前面的东西代表</a:t>
            </a:r>
            <a:r>
              <a:rPr lang="en-US" altLang="zh-CN" dirty="0"/>
              <a:t>Pointer</a:t>
            </a:r>
            <a:r>
              <a:rPr lang="zh-CN" altLang="zh-CN" dirty="0"/>
              <a:t>指向的类型：</a:t>
            </a:r>
          </a:p>
          <a:p>
            <a:pPr lvl="0"/>
            <a:r>
              <a:rPr lang="en-US" altLang="zh-CN" dirty="0"/>
              <a:t>const int* p = &amp;i;  </a:t>
            </a:r>
            <a:r>
              <a:rPr lang="zh-CN" altLang="zh-CN" dirty="0"/>
              <a:t>这里</a:t>
            </a:r>
            <a:r>
              <a:rPr lang="en-US" altLang="zh-CN" dirty="0"/>
              <a:t>*</a:t>
            </a:r>
            <a:r>
              <a:rPr lang="zh-CN" altLang="zh-CN" dirty="0"/>
              <a:t>前面是</a:t>
            </a:r>
            <a:r>
              <a:rPr lang="en-US" altLang="zh-CN" dirty="0"/>
              <a:t>const int</a:t>
            </a:r>
            <a:r>
              <a:rPr lang="zh-CN" altLang="zh-CN" dirty="0"/>
              <a:t>，表示指针</a:t>
            </a:r>
            <a:r>
              <a:rPr lang="en-US" altLang="zh-CN" dirty="0"/>
              <a:t>p</a:t>
            </a:r>
            <a:r>
              <a:rPr lang="zh-CN" altLang="zh-CN" dirty="0"/>
              <a:t>指向的是一个常量整数，也就指向的</a:t>
            </a:r>
            <a:r>
              <a:rPr lang="en-US" altLang="zh-CN" dirty="0"/>
              <a:t>object</a:t>
            </a:r>
            <a:r>
              <a:rPr lang="zh-CN" altLang="zh-CN" dirty="0"/>
              <a:t>是不可以修改的，意味着可以通过指针</a:t>
            </a:r>
            <a:r>
              <a:rPr lang="en-US" altLang="zh-CN" dirty="0"/>
              <a:t>p</a:t>
            </a:r>
            <a:r>
              <a:rPr lang="zh-CN" altLang="zh-CN" dirty="0"/>
              <a:t>访问整数</a:t>
            </a:r>
            <a:r>
              <a:rPr lang="en-US" altLang="zh-CN" dirty="0"/>
              <a:t>i</a:t>
            </a:r>
            <a:r>
              <a:rPr lang="zh-CN" altLang="zh-CN" dirty="0"/>
              <a:t>，但不能通过</a:t>
            </a:r>
            <a:r>
              <a:rPr lang="en-US" altLang="zh-CN" dirty="0"/>
              <a:t>p</a:t>
            </a:r>
            <a:r>
              <a:rPr lang="zh-CN" altLang="zh-CN" dirty="0"/>
              <a:t>修改</a:t>
            </a:r>
            <a:r>
              <a:rPr lang="en-US" altLang="zh-CN" dirty="0"/>
              <a:t>i</a:t>
            </a:r>
            <a:r>
              <a:rPr lang="zh-CN" altLang="zh-CN" dirty="0"/>
              <a:t>的值，因为</a:t>
            </a:r>
            <a:r>
              <a:rPr lang="en-US" altLang="zh-CN" dirty="0"/>
              <a:t>i </a:t>
            </a:r>
            <a:r>
              <a:rPr lang="zh-CN" altLang="zh-CN" dirty="0"/>
              <a:t>是个整数常量。</a:t>
            </a:r>
          </a:p>
          <a:p>
            <a:pPr lvl="0"/>
            <a:r>
              <a:rPr lang="en-US" altLang="zh-CN" dirty="0"/>
              <a:t>int const* p = &amp;i;   </a:t>
            </a:r>
            <a:r>
              <a:rPr lang="zh-CN" altLang="zh-CN" dirty="0"/>
              <a:t>第二行与第一行效果相同，关键字</a:t>
            </a:r>
            <a:r>
              <a:rPr lang="en-US" altLang="zh-CN" dirty="0"/>
              <a:t>const</a:t>
            </a:r>
            <a:r>
              <a:rPr lang="zh-CN" altLang="zh-CN" dirty="0"/>
              <a:t>同样适用于</a:t>
            </a:r>
            <a:r>
              <a:rPr lang="en-US" altLang="zh-CN" dirty="0"/>
              <a:t>int</a:t>
            </a:r>
            <a:r>
              <a:rPr lang="zh-CN" altLang="zh-CN" dirty="0"/>
              <a:t>，这里指针</a:t>
            </a:r>
            <a:r>
              <a:rPr lang="en-US" altLang="zh-CN" dirty="0"/>
              <a:t>p</a:t>
            </a:r>
            <a:r>
              <a:rPr lang="zh-CN" altLang="zh-CN" dirty="0"/>
              <a:t>指向一个常量整数。</a:t>
            </a:r>
            <a:r>
              <a:rPr lang="en-US" altLang="zh-CN" dirty="0"/>
              <a:t>int const</a:t>
            </a:r>
            <a:r>
              <a:rPr lang="zh-CN" altLang="zh-CN" dirty="0"/>
              <a:t>和</a:t>
            </a:r>
            <a:r>
              <a:rPr lang="en-US" altLang="zh-CN" dirty="0"/>
              <a:t>const int</a:t>
            </a:r>
            <a:r>
              <a:rPr lang="zh-CN" altLang="zh-CN" dirty="0"/>
              <a:t>是一样的作用。</a:t>
            </a:r>
          </a:p>
          <a:p>
            <a:pPr lvl="0"/>
            <a:r>
              <a:rPr lang="en-US" altLang="zh-CN" dirty="0"/>
              <a:t>int* const p =&amp;I;  </a:t>
            </a:r>
            <a:r>
              <a:rPr lang="zh-CN" altLang="zh-CN" dirty="0"/>
              <a:t>第三行写法</a:t>
            </a:r>
            <a:r>
              <a:rPr lang="en-US" altLang="zh-CN" dirty="0"/>
              <a:t>const</a:t>
            </a:r>
            <a:r>
              <a:rPr lang="zh-CN" altLang="zh-CN" dirty="0"/>
              <a:t>紧跟</a:t>
            </a:r>
            <a:r>
              <a:rPr lang="en-US" altLang="zh-CN" dirty="0"/>
              <a:t>p</a:t>
            </a:r>
            <a:r>
              <a:rPr lang="zh-CN" altLang="zh-CN" dirty="0"/>
              <a:t>，修饰的是</a:t>
            </a:r>
            <a:r>
              <a:rPr lang="en-US" altLang="zh-CN" dirty="0"/>
              <a:t>p</a:t>
            </a:r>
            <a:r>
              <a:rPr lang="zh-CN" altLang="zh-CN" dirty="0"/>
              <a:t>，表示</a:t>
            </a:r>
            <a:r>
              <a:rPr lang="en-US" altLang="zh-CN" dirty="0"/>
              <a:t>p</a:t>
            </a:r>
            <a:r>
              <a:rPr lang="zh-CN" altLang="zh-CN" dirty="0"/>
              <a:t>是一个常量指针，这种情况不能修改</a:t>
            </a:r>
            <a:r>
              <a:rPr lang="en-US" altLang="zh-CN" dirty="0"/>
              <a:t>p</a:t>
            </a:r>
            <a:r>
              <a:rPr lang="zh-CN" altLang="zh-CN" dirty="0"/>
              <a:t>所指向的地址（不能将</a:t>
            </a:r>
            <a:r>
              <a:rPr lang="en-US" altLang="zh-CN" dirty="0"/>
              <a:t>p</a:t>
            </a:r>
            <a:r>
              <a:rPr lang="zh-CN" altLang="zh-CN" dirty="0"/>
              <a:t>指向其他</a:t>
            </a:r>
            <a:r>
              <a:rPr lang="en-US" altLang="zh-CN" dirty="0"/>
              <a:t>object</a:t>
            </a:r>
            <a:r>
              <a:rPr lang="zh-CN" altLang="zh-CN" dirty="0"/>
              <a:t>），但可以通过</a:t>
            </a:r>
            <a:r>
              <a:rPr lang="en-US" altLang="zh-CN" dirty="0"/>
              <a:t>p</a:t>
            </a:r>
            <a:r>
              <a:rPr lang="zh-CN" altLang="zh-CN" dirty="0"/>
              <a:t>访问并修改</a:t>
            </a:r>
            <a:r>
              <a:rPr lang="en-US" altLang="zh-CN" dirty="0"/>
              <a:t>i</a:t>
            </a:r>
            <a:r>
              <a:rPr lang="zh-CN" altLang="zh-CN" dirty="0"/>
              <a:t>的值。</a:t>
            </a:r>
          </a:p>
          <a:p>
            <a:pPr lvl="0"/>
            <a:r>
              <a:rPr lang="zh-CN" altLang="zh-CN" dirty="0"/>
              <a:t>第四行</a:t>
            </a:r>
            <a:r>
              <a:rPr lang="en-US" altLang="zh-CN" dirty="0"/>
              <a:t>*</a:t>
            </a:r>
            <a:r>
              <a:rPr lang="zh-CN" altLang="zh-CN" dirty="0"/>
              <a:t>左右两个</a:t>
            </a:r>
            <a:r>
              <a:rPr lang="en-US" altLang="zh-CN" dirty="0"/>
              <a:t>const</a:t>
            </a:r>
            <a:r>
              <a:rPr lang="zh-CN" altLang="zh-CN" dirty="0"/>
              <a:t>，代表指针变量是</a:t>
            </a:r>
            <a:r>
              <a:rPr lang="en-US" altLang="zh-CN" dirty="0"/>
              <a:t>constant </a:t>
            </a:r>
            <a:r>
              <a:rPr lang="zh-CN" altLang="zh-CN" dirty="0"/>
              <a:t>，并且指针变量所指向的东西也是</a:t>
            </a:r>
            <a:r>
              <a:rPr lang="en-US" altLang="zh-CN" dirty="0"/>
              <a:t>constant</a:t>
            </a:r>
            <a:r>
              <a:rPr lang="zh-CN" altLang="zh-CN" dirty="0"/>
              <a:t>。</a:t>
            </a:r>
            <a:endParaRPr lang="en-US" altLang="zh-CN" dirty="0"/>
          </a:p>
          <a:p>
            <a:pPr lvl="0"/>
            <a:endParaRPr lang="zh-CN" altLang="zh-CN" dirty="0"/>
          </a:p>
          <a:p>
            <a:pPr lvl="0"/>
            <a:r>
              <a:rPr lang="zh-CN" altLang="zh-CN" dirty="0"/>
              <a:t>第</a:t>
            </a:r>
            <a:r>
              <a:rPr lang="en-US" altLang="zh-CN" dirty="0"/>
              <a:t>5</a:t>
            </a:r>
            <a:r>
              <a:rPr lang="zh-CN" altLang="zh-CN" dirty="0"/>
              <a:t>行表示一个类</a:t>
            </a:r>
            <a:r>
              <a:rPr lang="en-US" altLang="zh-CN" dirty="0"/>
              <a:t>X</a:t>
            </a:r>
            <a:r>
              <a:rPr lang="zh-CN" altLang="zh-CN" dirty="0"/>
              <a:t>的成员函数</a:t>
            </a:r>
            <a:r>
              <a:rPr lang="en-US" altLang="zh-CN" dirty="0"/>
              <a:t>clone()</a:t>
            </a:r>
            <a:r>
              <a:rPr lang="zh-CN" altLang="zh-CN" dirty="0"/>
              <a:t>，它返回一个常量引用（</a:t>
            </a:r>
            <a:r>
              <a:rPr lang="en-US" altLang="zh-CN" dirty="0"/>
              <a:t>const X&amp;</a:t>
            </a:r>
            <a:r>
              <a:rPr lang="zh-CN" altLang="zh-CN" dirty="0"/>
              <a:t>）。意味着你可以通过</a:t>
            </a:r>
            <a:r>
              <a:rPr lang="en-US" altLang="zh-CN" dirty="0"/>
              <a:t>clone</a:t>
            </a:r>
            <a:r>
              <a:rPr lang="zh-CN" altLang="zh-CN" dirty="0"/>
              <a:t>访问对象</a:t>
            </a:r>
            <a:r>
              <a:rPr lang="en-US" altLang="zh-CN" dirty="0"/>
              <a:t>X</a:t>
            </a:r>
            <a:r>
              <a:rPr lang="zh-CN" altLang="zh-CN" dirty="0"/>
              <a:t>，但不能修改对象的状态。</a:t>
            </a:r>
          </a:p>
          <a:p>
            <a:pPr lvl="0"/>
            <a:r>
              <a:rPr lang="zh-CN" altLang="en-US" dirty="0"/>
              <a:t>第</a:t>
            </a:r>
            <a:r>
              <a:rPr lang="en-US" altLang="zh-CN" dirty="0"/>
              <a:t>6</a:t>
            </a:r>
            <a:r>
              <a:rPr lang="zh-CN" altLang="en-US" dirty="0"/>
              <a:t>行</a:t>
            </a:r>
            <a:r>
              <a:rPr lang="zh-CN" altLang="zh-CN" dirty="0"/>
              <a:t>在函数后面加</a:t>
            </a:r>
            <a:r>
              <a:rPr lang="en-US" altLang="zh-CN" dirty="0"/>
              <a:t>const</a:t>
            </a:r>
            <a:r>
              <a:rPr lang="zh-CN" altLang="zh-CN" dirty="0"/>
              <a:t>，代表这个类成员函数</a:t>
            </a:r>
            <a:r>
              <a:rPr lang="en-US" altLang="zh-CN" dirty="0"/>
              <a:t>f()</a:t>
            </a:r>
            <a:r>
              <a:rPr lang="zh-CN" altLang="zh-CN" dirty="0"/>
              <a:t>是常量成员函数，常量成员函数意味着它</a:t>
            </a:r>
            <a:r>
              <a:rPr lang="zh-CN" altLang="en-US" dirty="0"/>
              <a:t>不能</a:t>
            </a:r>
            <a:r>
              <a:rPr lang="zh-CN" altLang="zh-CN" dirty="0"/>
              <a:t>修改成员变量，整个函数只能做读的操作，</a:t>
            </a:r>
            <a:r>
              <a:rPr lang="zh-CN" altLang="en-US" dirty="0"/>
              <a:t>从而</a:t>
            </a:r>
            <a:r>
              <a:rPr lang="zh-CN" altLang="zh-CN" dirty="0"/>
              <a:t>提高了代码的安全性和可读性。</a:t>
            </a:r>
            <a:endParaRPr lang="en-US" altLang="zh-CN" dirty="0"/>
          </a:p>
          <a:p>
            <a:pPr lvl="0"/>
            <a:endParaRPr lang="zh-CN" altLang="zh-CN" dirty="0"/>
          </a:p>
          <a:p>
            <a:pPr lvl="0"/>
            <a:endParaRPr lang="zh-CN" altLang="en-US" dirty="0"/>
          </a:p>
        </p:txBody>
      </p:sp>
      <p:sp>
        <p:nvSpPr>
          <p:cNvPr id="108548"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t>54</a:t>
            </a:fld>
            <a:endParaRPr lang="zh-CN" altLang="en-US" sz="1200"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a:ln>
            <a:solidFill>
              <a:srgbClr val="000000">
                <a:alpha val="100000"/>
              </a:srgbClr>
            </a:solidFill>
            <a:miter lim="800000"/>
          </a:ln>
        </p:spPr>
      </p:sp>
      <p:sp>
        <p:nvSpPr>
          <p:cNvPr id="110595" name="备注占位符 2"/>
          <p:cNvSpPr>
            <a:spLocks noGrp="1"/>
          </p:cNvSpPr>
          <p:nvPr>
            <p:ph type="body" idx="1"/>
          </p:nvPr>
        </p:nvSpPr>
        <p:spPr>
          <a:noFill/>
          <a:ln>
            <a:noFill/>
          </a:ln>
        </p:spPr>
        <p:txBody>
          <a:bodyPr wrap="square" lIns="91440" tIns="45720" rIns="91440" bIns="45720" anchor="t" anchorCtr="0"/>
          <a:lstStyle/>
          <a:p>
            <a:pPr lvl="0"/>
            <a:r>
              <a:rPr lang="en-US" altLang="zh-CN" dirty="0"/>
              <a:t>C++</a:t>
            </a:r>
            <a:r>
              <a:rPr lang="zh-CN" altLang="zh-CN" dirty="0"/>
              <a:t>中支持</a:t>
            </a:r>
            <a:r>
              <a:rPr lang="en-US" altLang="zh-CN" dirty="0"/>
              <a:t>class</a:t>
            </a:r>
            <a:r>
              <a:rPr lang="zh-CN" altLang="zh-CN" dirty="0"/>
              <a:t>，有点类似</a:t>
            </a:r>
            <a:r>
              <a:rPr lang="en-US" altLang="zh-CN" dirty="0"/>
              <a:t>C</a:t>
            </a:r>
            <a:r>
              <a:rPr lang="zh-CN" altLang="zh-CN" dirty="0"/>
              <a:t>语言中支持的</a:t>
            </a:r>
            <a:r>
              <a:rPr lang="en-US" altLang="zh-CN" dirty="0"/>
              <a:t>structure</a:t>
            </a:r>
            <a:r>
              <a:rPr lang="zh-CN" altLang="zh-CN" dirty="0"/>
              <a:t>结构体，可以通过两种方式去访问类的</a:t>
            </a:r>
            <a:r>
              <a:rPr lang="en-US" altLang="zh-CN" dirty="0"/>
              <a:t>data member</a:t>
            </a:r>
            <a:r>
              <a:rPr lang="zh-CN" altLang="zh-CN" dirty="0"/>
              <a:t>或者</a:t>
            </a:r>
            <a:r>
              <a:rPr lang="en-US" altLang="zh-CN" dirty="0"/>
              <a:t>member function</a:t>
            </a:r>
            <a:r>
              <a:rPr lang="zh-CN" altLang="zh-CN" dirty="0"/>
              <a:t>，一种是通过对象加点的方式</a:t>
            </a:r>
            <a:r>
              <a:rPr lang="zh-CN" altLang="en-US" dirty="0"/>
              <a:t>，</a:t>
            </a:r>
            <a:r>
              <a:rPr lang="zh-CN" altLang="zh-CN" dirty="0"/>
              <a:t>另一种也可以通过箭头的方式，如果是箭头的访问方式，箭头左边的对象一定是一个</a:t>
            </a:r>
            <a:r>
              <a:rPr lang="en-US" altLang="zh-CN" dirty="0"/>
              <a:t>pointer</a:t>
            </a:r>
            <a:r>
              <a:rPr lang="zh-CN" altLang="zh-CN" dirty="0"/>
              <a:t>或者</a:t>
            </a:r>
            <a:r>
              <a:rPr lang="en-US" altLang="zh-CN" dirty="0"/>
              <a:t>iterator</a:t>
            </a:r>
            <a:r>
              <a:rPr lang="zh-CN" altLang="zh-CN" dirty="0"/>
              <a:t>（这个概念后面再谈）</a:t>
            </a:r>
            <a:r>
              <a:rPr lang="zh-CN" altLang="en-US" dirty="0"/>
              <a:t>。</a:t>
            </a:r>
          </a:p>
        </p:txBody>
      </p:sp>
      <p:sp>
        <p:nvSpPr>
          <p:cNvPr id="110596"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t>55</a:t>
            </a:fld>
            <a:endParaRPr lang="zh-CN" altLang="en-US" sz="1200"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幻灯片图像占位符 1"/>
          <p:cNvSpPr>
            <a:spLocks noGrp="1" noRot="1" noChangeAspect="1" noTextEdit="1"/>
          </p:cNvSpPr>
          <p:nvPr>
            <p:ph type="sldImg"/>
          </p:nvPr>
        </p:nvSpPr>
        <p:spPr>
          <a:ln>
            <a:solidFill>
              <a:srgbClr val="000000">
                <a:alpha val="100000"/>
              </a:srgbClr>
            </a:solidFill>
            <a:miter lim="800000"/>
          </a:ln>
        </p:spPr>
      </p:sp>
      <p:sp>
        <p:nvSpPr>
          <p:cNvPr id="112643" name="备注占位符 2"/>
          <p:cNvSpPr>
            <a:spLocks noGrp="1"/>
          </p:cNvSpPr>
          <p:nvPr>
            <p:ph type="body" idx="1"/>
          </p:nvPr>
        </p:nvSpPr>
        <p:spPr>
          <a:noFill/>
          <a:ln>
            <a:noFill/>
          </a:ln>
        </p:spPr>
        <p:txBody>
          <a:bodyPr wrap="square" lIns="91440" tIns="45720" rIns="91440" bIns="45720" anchor="t" anchorCtr="0"/>
          <a:lstStyle/>
          <a:p>
            <a:pPr lvl="0"/>
            <a:endParaRPr lang="zh-CN" altLang="en-US" dirty="0"/>
          </a:p>
        </p:txBody>
      </p:sp>
      <p:sp>
        <p:nvSpPr>
          <p:cNvPr id="11264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t>56</a:t>
            </a:fld>
            <a:endParaRPr lang="zh-CN"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ltGray">
          <a:xfrm>
            <a:off x="0" y="0"/>
            <a:ext cx="825500" cy="6858000"/>
          </a:xfrm>
          <a:prstGeom prst="rect">
            <a:avLst/>
          </a:prstGeom>
          <a:solidFill>
            <a:schemeClr val="tx2">
              <a:alpha val="50195"/>
            </a:schemeClr>
          </a:solidFill>
          <a:ln>
            <a:noFill/>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Rectangle 8"/>
          <p:cNvSpPr>
            <a:spLocks noChangeArrowheads="1"/>
          </p:cNvSpPr>
          <p:nvPr/>
        </p:nvSpPr>
        <p:spPr bwMode="ltGray">
          <a:xfrm>
            <a:off x="0" y="3543300"/>
            <a:ext cx="3343275" cy="122238"/>
          </a:xfrm>
          <a:prstGeom prst="rect">
            <a:avLst/>
          </a:prstGeom>
          <a:solidFill>
            <a:schemeClr val="bg2">
              <a:alpha val="50195"/>
            </a:schemeClr>
          </a:solidFill>
          <a:ln>
            <a:noFill/>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099" name="Rectangle 3"/>
          <p:cNvSpPr>
            <a:spLocks noGrp="1" noChangeArrowheads="1"/>
          </p:cNvSpPr>
          <p:nvPr>
            <p:ph type="ctrTitle"/>
          </p:nvPr>
        </p:nvSpPr>
        <p:spPr>
          <a:xfrm>
            <a:off x="990600" y="1171575"/>
            <a:ext cx="7467600" cy="2105025"/>
          </a:xfrm>
        </p:spPr>
        <p:txBody>
          <a:bodyPr>
            <a:spAutoFit/>
          </a:bodyPr>
          <a:lstStyle>
            <a:lvl1pPr>
              <a:defRPr sz="6600">
                <a:solidFill>
                  <a:srgbClr val="CCFFFF"/>
                </a:solidFill>
              </a:defRPr>
            </a:lvl1pPr>
          </a:lstStyle>
          <a:p>
            <a:pPr lvl="0"/>
            <a:r>
              <a:rPr lang="zh-CN" altLang="en-US" noProof="0"/>
              <a:t>单击此处编辑母版标题样式</a:t>
            </a:r>
          </a:p>
        </p:txBody>
      </p:sp>
      <p:sp>
        <p:nvSpPr>
          <p:cNvPr id="4100" name="Rectangle 4"/>
          <p:cNvSpPr>
            <a:spLocks noGrp="1" noChangeArrowheads="1"/>
          </p:cNvSpPr>
          <p:nvPr>
            <p:ph type="subTitle" idx="1"/>
          </p:nvPr>
        </p:nvSpPr>
        <p:spPr>
          <a:xfrm>
            <a:off x="1447800" y="3886200"/>
            <a:ext cx="6400800" cy="1752600"/>
          </a:xfrm>
        </p:spPr>
        <p:txBody>
          <a:bodyPr/>
          <a:lstStyle>
            <a:lvl1pPr marL="0" indent="0" algn="ctr">
              <a:buFont typeface="Wingdings" panose="05000000000000000000" pitchFamily="2" charset="2"/>
              <a:buNone/>
              <a:defRPr sz="4000">
                <a:solidFill>
                  <a:srgbClr val="CCECFF"/>
                </a:solidFill>
              </a:defRPr>
            </a:lvl1pPr>
          </a:lstStyle>
          <a:p>
            <a:pPr lvl="0"/>
            <a:r>
              <a:rPr lang="zh-CN" altLang="en-US" noProof="0"/>
              <a:t>单击此处编辑母版副标题样式</a:t>
            </a:r>
          </a:p>
        </p:txBody>
      </p:sp>
      <p:sp>
        <p:nvSpPr>
          <p:cNvPr id="4" name="Rectangle 5"/>
          <p:cNvSpPr>
            <a:spLocks noGrp="1" noChangeArrowheads="1"/>
          </p:cNvSpPr>
          <p:nvPr>
            <p:ph type="dt" sz="half" idx="2"/>
          </p:nvPr>
        </p:nvSpPr>
        <p:spPr bwMode="auto">
          <a:xfrm>
            <a:off x="838200" y="6248400"/>
            <a:ext cx="1752600" cy="457200"/>
          </a:xfrm>
          <a:prstGeom prst="rect">
            <a:avLst/>
          </a:prstGeom>
        </p:spPr>
        <p:txBody>
          <a:bodyPr vert="horz" wrap="square" lIns="91440" tIns="45720" rIns="91440" bIns="45720" numCol="1" anchor="t" anchorCtr="0" compatLnSpc="1"/>
          <a:lstStyle>
            <a:lvl1pPr>
              <a:defRPr>
                <a:solidFill>
                  <a:srgbClr val="CCECFF"/>
                </a:solidFill>
              </a:defRPr>
            </a:lvl1p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rgbClr val="CCECFF"/>
              </a:solidFill>
              <a:effectLst/>
              <a:uLnTx/>
              <a:uFillTx/>
              <a:latin typeface="Times New Roman" panose="02020603050405020304" pitchFamily="18" charset="0"/>
              <a:ea typeface="宋体" panose="02010600030101010101" pitchFamily="2" charset="-122"/>
              <a:cs typeface="+mn-cs"/>
            </a:endParaRPr>
          </a:p>
        </p:txBody>
      </p:sp>
      <p:sp>
        <p:nvSpPr>
          <p:cNvPr id="5" name="Rectangle 6"/>
          <p:cNvSpPr>
            <a:spLocks noGrp="1" noChangeArrowheads="1"/>
          </p:cNvSpPr>
          <p:nvPr>
            <p:ph type="ftr" sz="quarter" idx="3"/>
          </p:nvPr>
        </p:nvSpPr>
        <p:spPr bwMode="auto">
          <a:xfrm>
            <a:off x="3276600" y="6248400"/>
            <a:ext cx="2895600" cy="457200"/>
          </a:xfrm>
          <a:prstGeom prst="rect">
            <a:avLst/>
          </a:prstGeom>
        </p:spPr>
        <p:txBody>
          <a:bodyPr vert="horz" wrap="square" lIns="91440" tIns="45720" rIns="91440" bIns="45720" numCol="1" anchor="t" anchorCtr="0" compatLnSpc="1"/>
          <a:lstStyle>
            <a:lvl1pPr>
              <a:defRPr>
                <a:solidFill>
                  <a:srgbClr val="CCECFF"/>
                </a:solidFill>
              </a:defRPr>
            </a:lvl1p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rgbClr val="CCECFF"/>
              </a:solidFill>
              <a:effectLst/>
              <a:uLnTx/>
              <a:uFillTx/>
              <a:latin typeface="Times New Roman" panose="02020603050405020304" pitchFamily="18" charset="0"/>
              <a:ea typeface="宋体" panose="02010600030101010101" pitchFamily="2" charset="-122"/>
              <a:cs typeface="+mn-cs"/>
            </a:endParaRPr>
          </a:p>
        </p:txBody>
      </p:sp>
      <p:sp>
        <p:nvSpPr>
          <p:cNvPr id="6" name="Rectangle 7"/>
          <p:cNvSpPr>
            <a:spLocks noGrp="1" noChangeArrowheads="1"/>
          </p:cNvSpPr>
          <p:nvPr>
            <p:ph type="sldNum" sz="quarter" idx="4"/>
          </p:nvPr>
        </p:nvSpPr>
        <p:spPr bwMode="auto">
          <a:xfrm>
            <a:off x="6934200" y="6248400"/>
            <a:ext cx="1905000" cy="457200"/>
          </a:xfrm>
          <a:prstGeom prst="rect">
            <a:avLst/>
          </a:prstGeom>
        </p:spPr>
        <p:txBody>
          <a:bodyPr vert="horz" wrap="square" lIns="91440" tIns="45720" rIns="91440" bIns="45720" numCol="1" anchor="t" anchorCtr="0" compatLnSpc="1"/>
          <a:lstStyle/>
          <a:p>
            <a:pPr algn="r" eaLnBrk="1" hangingPunct="1">
              <a:spcBef>
                <a:spcPct val="50000"/>
              </a:spcBef>
            </a:pPr>
            <a:fld id="{9A0DB2DC-4C9A-4742-B13C-FB6460FD3503}" type="slidenum">
              <a:rPr lang="en-US" altLang="zh-CN" dirty="0">
                <a:solidFill>
                  <a:srgbClr val="CCECFF"/>
                </a:solidFill>
              </a:rPr>
              <a:t>‹#›</a:t>
            </a:fld>
            <a:endParaRPr lang="en-US" altLang="zh-CN" dirty="0">
              <a:solidFill>
                <a:srgbClr val="CCECFF"/>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spcBef>
                <a:spcPct val="50000"/>
              </a:spcBef>
            </a:pPr>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spcBef>
                <a:spcPct val="50000"/>
              </a:spcBef>
            </a:pPr>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981200"/>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spcBef>
                <a:spcPct val="50000"/>
              </a:spcBef>
            </a:pPr>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spcBef>
                <a:spcPct val="50000"/>
              </a:spcBef>
            </a:pPr>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spcBef>
                <a:spcPct val="50000"/>
              </a:spcBef>
            </a:pPr>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hangingPunct="1">
              <a:spcBef>
                <a:spcPct val="50000"/>
              </a:spcBef>
            </a:pPr>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spcBef>
                <a:spcPct val="50000"/>
              </a:spcBef>
            </a:pPr>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None/>
              <a:defRPr/>
            </a:pPr>
            <a:endParaRPr kumimoji="1" lang="zh-CN" altLang="en-US" sz="3200" b="0" i="0" u="none" strike="noStrike" kern="120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spcBef>
                <a:spcPct val="50000"/>
              </a:spcBef>
            </a:pPr>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spcBef>
                <a:spcPct val="50000"/>
              </a:spcBef>
            </a:pPr>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00800" y="457200"/>
            <a:ext cx="2057400" cy="5638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228600" y="457200"/>
            <a:ext cx="6019800" cy="56388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spcBef>
                <a:spcPct val="50000"/>
              </a:spcBef>
            </a:pPr>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a:xfrm>
          <a:off x="0" y="0"/>
          <a:ext cx="0" cy="0"/>
          <a:chOff x="0" y="0"/>
          <a:chExt cx="0" cy="0"/>
        </a:xfrm>
      </p:grpSpPr>
      <p:sp>
        <p:nvSpPr>
          <p:cNvPr id="3074" name="Rectangle 1026"/>
          <p:cNvSpPr>
            <a:spLocks noGrp="1" noChangeArrowheads="1"/>
          </p:cNvSpPr>
          <p:nvPr>
            <p:ph type="title"/>
          </p:nvPr>
        </p:nvSpPr>
        <p:spPr bwMode="auto">
          <a:xfrm>
            <a:off x="228600" y="457200"/>
            <a:ext cx="7772400" cy="1143000"/>
          </a:xfrm>
          <a:prstGeom prst="rect">
            <a:avLst/>
          </a:prstGeom>
          <a:noFill/>
          <a:ln>
            <a:noFill/>
          </a:ln>
        </p:spPr>
        <p:txBody>
          <a:bodyPr vert="horz" wrap="square" lIns="91440" tIns="45720" rIns="91440" bIns="45720" numCol="1" anchor="b" anchorCtr="0" compatLnSpc="1"/>
          <a:lstStyle/>
          <a:p>
            <a:pPr lvl="0"/>
            <a:r>
              <a:rPr lang="zh-CN" altLang="en-US"/>
              <a:t>单击此处编辑母版标题样式</a:t>
            </a:r>
          </a:p>
        </p:txBody>
      </p:sp>
      <p:sp>
        <p:nvSpPr>
          <p:cNvPr id="3075" name="Rectangle 1027"/>
          <p:cNvSpPr>
            <a:spLocks noGrp="1" noChangeArrowheads="1"/>
          </p:cNvSpPr>
          <p:nvPr>
            <p:ph type="body" idx="1"/>
          </p:nvPr>
        </p:nvSpPr>
        <p:spPr bwMode="auto">
          <a:xfrm>
            <a:off x="685800" y="1981200"/>
            <a:ext cx="7772400" cy="4114800"/>
          </a:xfrm>
          <a:prstGeom prst="rect">
            <a:avLst/>
          </a:prstGeom>
          <a:noFill/>
          <a:ln>
            <a:noFill/>
          </a:ln>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76" name="Rectangle 1028"/>
          <p:cNvSpPr>
            <a:spLocks noGrp="1" noChangeArrowheads="1"/>
          </p:cNvSpPr>
          <p:nvPr>
            <p:ph type="dt" sz="half" idx="2"/>
          </p:nvPr>
        </p:nvSpPr>
        <p:spPr bwMode="auto">
          <a:xfrm>
            <a:off x="685800" y="6248400"/>
            <a:ext cx="1905000" cy="457200"/>
          </a:xfrm>
          <a:prstGeom prst="rect">
            <a:avLst/>
          </a:prstGeom>
          <a:noFill/>
          <a:ln>
            <a:noFill/>
          </a:ln>
        </p:spPr>
        <p:txBody>
          <a:bodyPr vert="horz" wrap="square" lIns="91440" tIns="45720" rIns="91440" bIns="45720" numCol="1" anchor="t" anchorCtr="0" compatLnSpc="1"/>
          <a:lstStyle>
            <a:lvl1pPr eaLnBrk="1" hangingPunct="1">
              <a:spcBef>
                <a:spcPct val="50000"/>
              </a:spcBef>
              <a:defRPr kumimoji="0" sz="1400"/>
            </a:lvl1p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7" name="Rectangle 1029"/>
          <p:cNvSpPr>
            <a:spLocks noGrp="1" noChangeArrowheads="1"/>
          </p:cNvSpPr>
          <p:nvPr>
            <p:ph type="ftr" sz="quarter" idx="3"/>
          </p:nvPr>
        </p:nvSpPr>
        <p:spPr bwMode="auto">
          <a:xfrm>
            <a:off x="3124200" y="6248400"/>
            <a:ext cx="2895600" cy="457200"/>
          </a:xfrm>
          <a:prstGeom prst="rect">
            <a:avLst/>
          </a:prstGeom>
          <a:noFill/>
          <a:ln>
            <a:noFill/>
          </a:ln>
        </p:spPr>
        <p:txBody>
          <a:bodyPr vert="horz" wrap="square" lIns="91440" tIns="45720" rIns="91440" bIns="45720" numCol="1" anchor="t" anchorCtr="0" compatLnSpc="1"/>
          <a:lstStyle>
            <a:lvl1pPr algn="ctr" eaLnBrk="1" hangingPunct="1">
              <a:spcBef>
                <a:spcPct val="50000"/>
              </a:spcBef>
              <a:defRPr kumimoji="0" sz="1400"/>
            </a:lvl1p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8" name="Rectangle 1030"/>
          <p:cNvSpPr>
            <a:spLocks noGrp="1" noChangeArrowheads="1"/>
          </p:cNvSpPr>
          <p:nvPr>
            <p:ph type="sldNum" sz="quarter" idx="4"/>
          </p:nvPr>
        </p:nvSpPr>
        <p:spPr bwMode="auto">
          <a:xfrm>
            <a:off x="6553200" y="6248400"/>
            <a:ext cx="1905000" cy="457200"/>
          </a:xfrm>
          <a:prstGeom prst="rect">
            <a:avLst/>
          </a:prstGeom>
          <a:noFill/>
          <a:ln>
            <a:noFill/>
          </a:ln>
        </p:spPr>
        <p:txBody>
          <a:bodyPr vert="horz" wrap="square" lIns="91440" tIns="45720" rIns="91440" bIns="45720" numCol="1" anchor="t" anchorCtr="0" compatLnSpc="1"/>
          <a:lstStyle>
            <a:lvl1pPr algn="r">
              <a:defRPr sz="1400"/>
            </a:lvl1pPr>
          </a:lstStyle>
          <a:p>
            <a:pPr lvl="0" eaLnBrk="1" hangingPunct="1">
              <a:spcBef>
                <a:spcPct val="50000"/>
              </a:spcBef>
            </a:pPr>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
        <p:nvSpPr>
          <p:cNvPr id="1031" name="Rectangle 1031"/>
          <p:cNvSpPr>
            <a:spLocks noChangeArrowheads="1"/>
          </p:cNvSpPr>
          <p:nvPr/>
        </p:nvSpPr>
        <p:spPr bwMode="gray">
          <a:xfrm>
            <a:off x="0" y="1638300"/>
            <a:ext cx="3343275" cy="122238"/>
          </a:xfrm>
          <a:prstGeom prst="rect">
            <a:avLst/>
          </a:prstGeom>
          <a:solidFill>
            <a:schemeClr val="bg2">
              <a:alpha val="50195"/>
            </a:schemeClr>
          </a:solidFill>
          <a:ln>
            <a:noFill/>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kumimoji="1" sz="4400" kern="1200">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outerShdw blurRad="38100" dist="38100" dir="2700000" algn="tl">
              <a:srgbClr val="000000"/>
            </a:outerShdw>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outerShdw blurRad="38100" dist="38100" dir="2700000" algn="tl">
              <a:srgbClr val="000000"/>
            </a:outerShdw>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outerShdw blurRad="38100" dist="38100" dir="2700000" algn="tl">
              <a:srgbClr val="000000"/>
            </a:outerShdw>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outerShdw blurRad="38100" dist="38100" dir="2700000" algn="tl">
              <a:srgbClr val="00000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www.stroustrup.com/" TargetMode="External"/><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hyperlink" Target="http://www.stroustrup.com/bs_faq.html" TargetMode="External"/><Relationship Id="rId4" Type="http://schemas.openxmlformats.org/officeDocument/2006/relationships/hyperlink" Target="http://www.stroustrup.com/C++.html"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990600" y="1539875"/>
            <a:ext cx="7467600" cy="1736725"/>
          </a:xfrm>
        </p:spPr>
        <p:txBody>
          <a:bodyPr vert="horz" wrap="square" lIns="91440" tIns="45720" rIns="91440" bIns="45720" numCol="1" anchor="b"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5400" b="0" i="0" u="none" strike="noStrike" kern="1200" cap="none" spc="0" normalizeH="0" baseline="0" noProof="0">
                <a:ln>
                  <a:noFill/>
                </a:ln>
                <a:solidFill>
                  <a:srgbClr val="CCFFFF"/>
                </a:solidFill>
                <a:effectLst>
                  <a:outerShdw blurRad="38100" dist="38100" dir="2700000" algn="tl">
                    <a:srgbClr val="000000"/>
                  </a:outerShdw>
                </a:effectLst>
                <a:uLnTx/>
                <a:uFillTx/>
                <a:latin typeface="+mj-lt"/>
                <a:ea typeface="+mj-ea"/>
                <a:cs typeface="+mj-cs"/>
              </a:rPr>
              <a:t>The C++ </a:t>
            </a:r>
            <a:br>
              <a:rPr kumimoji="1" lang="en-US" altLang="zh-CN" sz="5400" b="0" i="0" u="none" strike="noStrike" kern="1200" cap="none" spc="0" normalizeH="0" baseline="0" noProof="0">
                <a:ln>
                  <a:noFill/>
                </a:ln>
                <a:solidFill>
                  <a:srgbClr val="CCFFFF"/>
                </a:solidFill>
                <a:effectLst>
                  <a:outerShdw blurRad="38100" dist="38100" dir="2700000" algn="tl">
                    <a:srgbClr val="000000"/>
                  </a:outerShdw>
                </a:effectLst>
                <a:uLnTx/>
                <a:uFillTx/>
                <a:latin typeface="+mj-lt"/>
                <a:ea typeface="+mj-ea"/>
                <a:cs typeface="+mj-cs"/>
              </a:rPr>
            </a:br>
            <a:r>
              <a:rPr kumimoji="1" lang="en-US" altLang="zh-CN" sz="5400" b="0" i="0" u="none" strike="noStrike" kern="1200" cap="none" spc="0" normalizeH="0" baseline="0" noProof="0">
                <a:ln>
                  <a:noFill/>
                </a:ln>
                <a:solidFill>
                  <a:srgbClr val="CCFFFF"/>
                </a:solidFill>
                <a:effectLst>
                  <a:outerShdw blurRad="38100" dist="38100" dir="2700000" algn="tl">
                    <a:srgbClr val="000000"/>
                  </a:outerShdw>
                </a:effectLst>
                <a:uLnTx/>
                <a:uFillTx/>
                <a:latin typeface="+mj-lt"/>
                <a:ea typeface="+mj-ea"/>
                <a:cs typeface="+mj-cs"/>
              </a:rPr>
              <a:t>Programming Language</a:t>
            </a:r>
          </a:p>
        </p:txBody>
      </p:sp>
      <p:sp>
        <p:nvSpPr>
          <p:cNvPr id="2051" name="Rectangle 3"/>
          <p:cNvSpPr>
            <a:spLocks noGrp="1" noChangeArrowheads="1"/>
          </p:cNvSpPr>
          <p:nvPr>
            <p:ph type="subTitle" idx="1"/>
          </p:nvPr>
        </p:nvSpPr>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4000" b="0" i="0" u="none" strike="noStrike" kern="1200" cap="none" spc="0" normalizeH="0" baseline="0" noProof="0">
                <a:ln>
                  <a:noFill/>
                </a:ln>
                <a:solidFill>
                  <a:srgbClr val="CCECFF"/>
                </a:solidFill>
                <a:effectLst>
                  <a:outerShdw blurRad="38100" dist="38100" dir="2700000" algn="tl">
                    <a:srgbClr val="000000"/>
                  </a:outerShdw>
                </a:effectLst>
                <a:uLnTx/>
                <a:uFillTx/>
                <a:latin typeface="+mn-lt"/>
                <a:ea typeface="+mn-ea"/>
                <a:cs typeface="+mn-cs"/>
              </a:rPr>
              <a:t>Lecture 1:</a:t>
            </a: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4000" b="0" i="0" u="none" strike="noStrike" kern="1200" cap="none" spc="0" normalizeH="0" baseline="0" noProof="0">
                <a:ln>
                  <a:noFill/>
                </a:ln>
                <a:solidFill>
                  <a:srgbClr val="CCECFF"/>
                </a:solidFill>
                <a:effectLst>
                  <a:outerShdw blurRad="38100" dist="38100" dir="2700000" algn="tl">
                    <a:srgbClr val="000000"/>
                  </a:outerShdw>
                </a:effectLst>
                <a:uLnTx/>
                <a:uFillTx/>
                <a:latin typeface="+mn-lt"/>
                <a:ea typeface="+mn-ea"/>
                <a:cs typeface="+mn-cs"/>
              </a:rPr>
              <a:t>From C to 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ctrTitle"/>
          </p:nvPr>
        </p:nvSpPr>
        <p:spPr>
          <a:xfrm>
            <a:off x="914400" y="2346325"/>
            <a:ext cx="7467600" cy="1920875"/>
          </a:xfrm>
        </p:spPr>
        <p:txBody>
          <a:bodyPr vert="horz" wrap="square" lIns="91440" tIns="45720" rIns="91440" bIns="45720" numCol="1" anchor="b"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1200" cap="none" spc="0" normalizeH="0" baseline="0" noProof="0">
                <a:ln>
                  <a:noFill/>
                </a:ln>
                <a:solidFill>
                  <a:srgbClr val="FFCC00"/>
                </a:solidFill>
                <a:effectLst>
                  <a:outerShdw blurRad="38100" dist="38100" dir="2700000" algn="tl">
                    <a:srgbClr val="000000"/>
                  </a:outerShdw>
                </a:effectLst>
                <a:uLnTx/>
                <a:uFillTx/>
                <a:latin typeface="+mj-lt"/>
                <a:ea typeface="+mj-ea"/>
                <a:cs typeface="+mj-cs"/>
              </a:rPr>
              <a:t>Brief Introduction</a:t>
            </a:r>
            <a:br>
              <a:rPr kumimoji="1" lang="en-US" altLang="zh-CN" sz="4000" b="0" i="0" u="none" strike="noStrike" kern="1200" cap="none" spc="0" normalizeH="0" baseline="0" noProof="0">
                <a:ln>
                  <a:noFill/>
                </a:ln>
                <a:solidFill>
                  <a:srgbClr val="FFCC00"/>
                </a:solidFill>
                <a:effectLst>
                  <a:outerShdw blurRad="38100" dist="38100" dir="2700000" algn="tl">
                    <a:srgbClr val="000000"/>
                  </a:outerShdw>
                </a:effectLst>
                <a:uLnTx/>
                <a:uFillTx/>
                <a:latin typeface="+mj-lt"/>
                <a:ea typeface="+mj-ea"/>
                <a:cs typeface="+mj-cs"/>
              </a:rPr>
            </a:br>
            <a:r>
              <a:rPr kumimoji="1" lang="en-US" altLang="zh-CN" sz="4000" b="0" i="0" u="none" strike="noStrike" kern="1200" cap="none" spc="0" normalizeH="0" baseline="0" noProof="0">
                <a:ln>
                  <a:noFill/>
                </a:ln>
                <a:solidFill>
                  <a:srgbClr val="FFCC00"/>
                </a:solidFill>
                <a:effectLst>
                  <a:outerShdw blurRad="38100" dist="38100" dir="2700000" algn="tl">
                    <a:srgbClr val="000000"/>
                  </a:outerShdw>
                </a:effectLst>
                <a:uLnTx/>
                <a:uFillTx/>
                <a:latin typeface="+mj-lt"/>
                <a:ea typeface="+mj-ea"/>
                <a:cs typeface="+mj-cs"/>
              </a:rPr>
              <a:t>&amp;</a:t>
            </a:r>
            <a:br>
              <a:rPr kumimoji="1" lang="en-US" altLang="zh-CN" sz="4000" b="0" i="0" u="none" strike="noStrike" kern="1200" cap="none" spc="0" normalizeH="0" baseline="0" noProof="0">
                <a:ln>
                  <a:noFill/>
                </a:ln>
                <a:solidFill>
                  <a:srgbClr val="FFCC00"/>
                </a:solidFill>
                <a:effectLst>
                  <a:outerShdw blurRad="38100" dist="38100" dir="2700000" algn="tl">
                    <a:srgbClr val="000000"/>
                  </a:outerShdw>
                </a:effectLst>
                <a:uLnTx/>
                <a:uFillTx/>
                <a:latin typeface="+mj-lt"/>
                <a:ea typeface="+mj-ea"/>
                <a:cs typeface="+mj-cs"/>
              </a:rPr>
            </a:br>
            <a:r>
              <a:rPr kumimoji="1" lang="en-US" altLang="zh-CN" sz="4000" b="0" i="0" u="none" strike="noStrike" kern="1200" cap="none" spc="0" normalizeH="0" baseline="0" noProof="0">
                <a:ln>
                  <a:noFill/>
                </a:ln>
                <a:solidFill>
                  <a:srgbClr val="FFCC00"/>
                </a:solidFill>
                <a:effectLst>
                  <a:outerShdw blurRad="38100" dist="38100" dir="2700000" algn="tl">
                    <a:srgbClr val="000000"/>
                  </a:outerShdw>
                </a:effectLst>
                <a:uLnTx/>
                <a:uFillTx/>
                <a:latin typeface="+mj-lt"/>
                <a:ea typeface="+mj-ea"/>
                <a:cs typeface="+mj-cs"/>
              </a:rPr>
              <a:t>Requirements</a:t>
            </a:r>
          </a:p>
        </p:txBody>
      </p:sp>
      <p:sp>
        <p:nvSpPr>
          <p:cNvPr id="14339" name="灯片编号占位符 4"/>
          <p:cNvSpPr txBox="1">
            <a:spLocks noGrp="1"/>
          </p:cNvSpPr>
          <p:nvPr>
            <p:ph type="sldNum" sz="quarter" idx="4"/>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2</a:t>
            </a:fld>
            <a:endParaRPr lang="en-US" altLang="zh-CN" sz="1200" dirty="0">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Why C++ is very important?</a:t>
            </a:r>
          </a:p>
        </p:txBody>
      </p:sp>
      <p:sp>
        <p:nvSpPr>
          <p:cNvPr id="1027" name="Rectangle 3"/>
          <p:cNvSpPr>
            <a:spLocks noGrp="1" noChangeArrowheads="1"/>
          </p:cNvSpPr>
          <p:nvPr>
            <p:ph idx="1"/>
          </p:nvPr>
        </p:nvSpPr>
        <p:spPr>
          <a:xfrm>
            <a:off x="685800" y="1981200"/>
            <a:ext cx="8062913" cy="426720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Compliant with C, but better than C</a:t>
            </a: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Char char="n"/>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Protect legacy codes</a:t>
            </a: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Char char="n"/>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More safe</a:t>
            </a: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Char char="n"/>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Easier for debugging</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Support data abstraction</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Support 4 kinds of Programming and Design style</a:t>
            </a:r>
          </a:p>
          <a:p>
            <a:pPr marL="742950" marR="0" lvl="1" indent="-285750" algn="l" defTabSz="914400" rtl="0" eaLnBrk="1" fontAlgn="base" latinLnBrk="0" hangingPunct="1">
              <a:lnSpc>
                <a:spcPct val="90000"/>
              </a:lnSpc>
              <a:spcBef>
                <a:spcPct val="20000"/>
              </a:spcBef>
              <a:spcAft>
                <a:spcPct val="0"/>
              </a:spcAft>
              <a:buClr>
                <a:schemeClr val="tx2"/>
              </a:buClr>
              <a:buSzPct val="70000"/>
              <a:buFont typeface="Wingdings" panose="05000000000000000000" pitchFamily="2" charset="2"/>
              <a:buChar char="n"/>
              <a:defRPr/>
            </a:pP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Procedure-Based Programming</a:t>
            </a:r>
          </a:p>
          <a:p>
            <a:pPr marL="742950" marR="0" lvl="1" indent="-285750" algn="l" defTabSz="914400" rtl="0" eaLnBrk="1" fontAlgn="base" latinLnBrk="0" hangingPunct="1">
              <a:lnSpc>
                <a:spcPct val="90000"/>
              </a:lnSpc>
              <a:spcBef>
                <a:spcPct val="20000"/>
              </a:spcBef>
              <a:spcAft>
                <a:spcPct val="0"/>
              </a:spcAft>
              <a:buClr>
                <a:schemeClr val="tx2"/>
              </a:buClr>
              <a:buSzPct val="70000"/>
              <a:buFont typeface="Wingdings" panose="05000000000000000000" pitchFamily="2" charset="2"/>
              <a:buChar char="n"/>
              <a:defRPr/>
            </a:pP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Object-Based Programming</a:t>
            </a:r>
          </a:p>
          <a:p>
            <a:pPr marL="742950" marR="0" lvl="1" indent="-285750" algn="l" defTabSz="914400" rtl="0" eaLnBrk="1" fontAlgn="base" latinLnBrk="0" hangingPunct="1">
              <a:lnSpc>
                <a:spcPct val="90000"/>
              </a:lnSpc>
              <a:spcBef>
                <a:spcPct val="20000"/>
              </a:spcBef>
              <a:spcAft>
                <a:spcPct val="0"/>
              </a:spcAft>
              <a:buClr>
                <a:schemeClr val="tx2"/>
              </a:buClr>
              <a:buSzPct val="70000"/>
              <a:buFont typeface="Wingdings" panose="05000000000000000000" pitchFamily="2" charset="2"/>
              <a:buChar char="n"/>
              <a:defRPr/>
            </a:pP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Object-Oriented Programming</a:t>
            </a: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Char char="n"/>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Especially useful in modern project developing</a:t>
            </a:r>
          </a:p>
          <a:p>
            <a:pPr marL="742950" marR="0" lvl="1" indent="-285750" algn="l" defTabSz="914400" rtl="0" eaLnBrk="1" fontAlgn="base" latinLnBrk="0" hangingPunct="1">
              <a:lnSpc>
                <a:spcPct val="90000"/>
              </a:lnSpc>
              <a:spcBef>
                <a:spcPct val="20000"/>
              </a:spcBef>
              <a:spcAft>
                <a:spcPct val="0"/>
              </a:spcAft>
              <a:buClr>
                <a:schemeClr val="tx2"/>
              </a:buClr>
              <a:buSzPct val="70000"/>
              <a:buFont typeface="Wingdings" panose="05000000000000000000" pitchFamily="2" charset="2"/>
              <a:buChar char="n"/>
              <a:defRPr/>
            </a:pP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Generic Programming</a:t>
            </a: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Char char="n"/>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Necessary for excellent programs</a:t>
            </a:r>
          </a:p>
        </p:txBody>
      </p:sp>
      <p:sp>
        <p:nvSpPr>
          <p:cNvPr id="16388" name="灯片编号占位符 4"/>
          <p:cNvSpPr txBox="1">
            <a:spLocks noGrp="1"/>
          </p:cNvSpPr>
          <p:nvPr>
            <p:ph type="sldNum" sz="quarter" idx="12"/>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3</a:t>
            </a:fld>
            <a:endParaRPr lang="en-US" altLang="zh-CN" sz="1200" dirty="0">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 calcmode="lin" valueType="num">
                                      <p:cBhvr additive="base">
                                        <p:cTn id="7" dur="500" fill="hold"/>
                                        <p:tgtEl>
                                          <p:spTgt spid="102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0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027">
                                            <p:txEl>
                                              <p:pRg st="1" end="1"/>
                                            </p:txEl>
                                          </p:spTgt>
                                        </p:tgtEl>
                                        <p:attrNameLst>
                                          <p:attrName>style.visibility</p:attrName>
                                        </p:attrNameLst>
                                      </p:cBhvr>
                                      <p:to>
                                        <p:strVal val="visible"/>
                                      </p:to>
                                    </p:set>
                                    <p:anim calcmode="lin" valueType="num">
                                      <p:cBhvr additive="base">
                                        <p:cTn id="13" dur="500" fill="hold"/>
                                        <p:tgtEl>
                                          <p:spTgt spid="102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0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027">
                                            <p:txEl>
                                              <p:pRg st="2" end="2"/>
                                            </p:txEl>
                                          </p:spTgt>
                                        </p:tgtEl>
                                        <p:attrNameLst>
                                          <p:attrName>style.visibility</p:attrName>
                                        </p:attrNameLst>
                                      </p:cBhvr>
                                      <p:to>
                                        <p:strVal val="visible"/>
                                      </p:to>
                                    </p:set>
                                    <p:anim calcmode="lin" valueType="num">
                                      <p:cBhvr additive="base">
                                        <p:cTn id="19" dur="500" fill="hold"/>
                                        <p:tgtEl>
                                          <p:spTgt spid="102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02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027">
                                            <p:txEl>
                                              <p:pRg st="3" end="3"/>
                                            </p:txEl>
                                          </p:spTgt>
                                        </p:tgtEl>
                                        <p:attrNameLst>
                                          <p:attrName>style.visibility</p:attrName>
                                        </p:attrNameLst>
                                      </p:cBhvr>
                                      <p:to>
                                        <p:strVal val="visible"/>
                                      </p:to>
                                    </p:set>
                                    <p:anim calcmode="lin" valueType="num">
                                      <p:cBhvr additive="base">
                                        <p:cTn id="25" dur="500" fill="hold"/>
                                        <p:tgtEl>
                                          <p:spTgt spid="1027">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02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027">
                                            <p:txEl>
                                              <p:pRg st="4" end="4"/>
                                            </p:txEl>
                                          </p:spTgt>
                                        </p:tgtEl>
                                        <p:attrNameLst>
                                          <p:attrName>style.visibility</p:attrName>
                                        </p:attrNameLst>
                                      </p:cBhvr>
                                      <p:to>
                                        <p:strVal val="visible"/>
                                      </p:to>
                                    </p:set>
                                    <p:anim calcmode="lin" valueType="num">
                                      <p:cBhvr additive="base">
                                        <p:cTn id="31" dur="500" fill="hold"/>
                                        <p:tgtEl>
                                          <p:spTgt spid="1027">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02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027">
                                            <p:txEl>
                                              <p:pRg st="5" end="5"/>
                                            </p:txEl>
                                          </p:spTgt>
                                        </p:tgtEl>
                                        <p:attrNameLst>
                                          <p:attrName>style.visibility</p:attrName>
                                        </p:attrNameLst>
                                      </p:cBhvr>
                                      <p:to>
                                        <p:strVal val="visible"/>
                                      </p:to>
                                    </p:set>
                                    <p:anim calcmode="lin" valueType="num">
                                      <p:cBhvr additive="base">
                                        <p:cTn id="37" dur="500" fill="hold"/>
                                        <p:tgtEl>
                                          <p:spTgt spid="1027">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02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027">
                                            <p:txEl>
                                              <p:pRg st="6" end="6"/>
                                            </p:txEl>
                                          </p:spTgt>
                                        </p:tgtEl>
                                        <p:attrNameLst>
                                          <p:attrName>style.visibility</p:attrName>
                                        </p:attrNameLst>
                                      </p:cBhvr>
                                      <p:to>
                                        <p:strVal val="visible"/>
                                      </p:to>
                                    </p:set>
                                    <p:anim calcmode="lin" valueType="num">
                                      <p:cBhvr additive="base">
                                        <p:cTn id="43" dur="500" fill="hold"/>
                                        <p:tgtEl>
                                          <p:spTgt spid="1027">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02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027">
                                            <p:txEl>
                                              <p:pRg st="7" end="7"/>
                                            </p:txEl>
                                          </p:spTgt>
                                        </p:tgtEl>
                                        <p:attrNameLst>
                                          <p:attrName>style.visibility</p:attrName>
                                        </p:attrNameLst>
                                      </p:cBhvr>
                                      <p:to>
                                        <p:strVal val="visible"/>
                                      </p:to>
                                    </p:set>
                                    <p:anim calcmode="lin" valueType="num">
                                      <p:cBhvr additive="base">
                                        <p:cTn id="49" dur="500" fill="hold"/>
                                        <p:tgtEl>
                                          <p:spTgt spid="1027">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1027">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1027">
                                            <p:txEl>
                                              <p:pRg st="8" end="8"/>
                                            </p:txEl>
                                          </p:spTgt>
                                        </p:tgtEl>
                                        <p:attrNameLst>
                                          <p:attrName>style.visibility</p:attrName>
                                        </p:attrNameLst>
                                      </p:cBhvr>
                                      <p:to>
                                        <p:strVal val="visible"/>
                                      </p:to>
                                    </p:set>
                                    <p:anim calcmode="lin" valueType="num">
                                      <p:cBhvr additive="base">
                                        <p:cTn id="55" dur="500" fill="hold"/>
                                        <p:tgtEl>
                                          <p:spTgt spid="1027">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1027">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1027">
                                            <p:txEl>
                                              <p:pRg st="9" end="9"/>
                                            </p:txEl>
                                          </p:spTgt>
                                        </p:tgtEl>
                                        <p:attrNameLst>
                                          <p:attrName>style.visibility</p:attrName>
                                        </p:attrNameLst>
                                      </p:cBhvr>
                                      <p:to>
                                        <p:strVal val="visible"/>
                                      </p:to>
                                    </p:set>
                                    <p:anim calcmode="lin" valueType="num">
                                      <p:cBhvr additive="base">
                                        <p:cTn id="61" dur="500" fill="hold"/>
                                        <p:tgtEl>
                                          <p:spTgt spid="1027">
                                            <p:txEl>
                                              <p:pRg st="9" end="9"/>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1027">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2" fill="hold" grpId="0" nodeType="clickEffect">
                                  <p:stCondLst>
                                    <p:cond delay="0"/>
                                  </p:stCondLst>
                                  <p:childTnLst>
                                    <p:set>
                                      <p:cBhvr>
                                        <p:cTn id="66" dur="1" fill="hold">
                                          <p:stCondLst>
                                            <p:cond delay="0"/>
                                          </p:stCondLst>
                                        </p:cTn>
                                        <p:tgtEl>
                                          <p:spTgt spid="1027">
                                            <p:txEl>
                                              <p:pRg st="10" end="10"/>
                                            </p:txEl>
                                          </p:spTgt>
                                        </p:tgtEl>
                                        <p:attrNameLst>
                                          <p:attrName>style.visibility</p:attrName>
                                        </p:attrNameLst>
                                      </p:cBhvr>
                                      <p:to>
                                        <p:strVal val="visible"/>
                                      </p:to>
                                    </p:set>
                                    <p:anim calcmode="lin" valueType="num">
                                      <p:cBhvr additive="base">
                                        <p:cTn id="67" dur="500" fill="hold"/>
                                        <p:tgtEl>
                                          <p:spTgt spid="1027">
                                            <p:txEl>
                                              <p:pRg st="10" end="10"/>
                                            </p:txEl>
                                          </p:spTgt>
                                        </p:tgtEl>
                                        <p:attrNameLst>
                                          <p:attrName>ppt_x</p:attrName>
                                        </p:attrNameLst>
                                      </p:cBhvr>
                                      <p:tavLst>
                                        <p:tav tm="0">
                                          <p:val>
                                            <p:strVal val="1+#ppt_w/2"/>
                                          </p:val>
                                        </p:tav>
                                        <p:tav tm="100000">
                                          <p:val>
                                            <p:strVal val="#ppt_x"/>
                                          </p:val>
                                        </p:tav>
                                      </p:tavLst>
                                    </p:anim>
                                    <p:anim calcmode="lin" valueType="num">
                                      <p:cBhvr additive="base">
                                        <p:cTn id="68" dur="500" fill="hold"/>
                                        <p:tgtEl>
                                          <p:spTgt spid="1027">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2" fill="hold" grpId="0" nodeType="clickEffect">
                                  <p:stCondLst>
                                    <p:cond delay="0"/>
                                  </p:stCondLst>
                                  <p:childTnLst>
                                    <p:set>
                                      <p:cBhvr>
                                        <p:cTn id="72" dur="1" fill="hold">
                                          <p:stCondLst>
                                            <p:cond delay="0"/>
                                          </p:stCondLst>
                                        </p:cTn>
                                        <p:tgtEl>
                                          <p:spTgt spid="1027">
                                            <p:txEl>
                                              <p:pRg st="11" end="11"/>
                                            </p:txEl>
                                          </p:spTgt>
                                        </p:tgtEl>
                                        <p:attrNameLst>
                                          <p:attrName>style.visibility</p:attrName>
                                        </p:attrNameLst>
                                      </p:cBhvr>
                                      <p:to>
                                        <p:strVal val="visible"/>
                                      </p:to>
                                    </p:set>
                                    <p:anim calcmode="lin" valueType="num">
                                      <p:cBhvr additive="base">
                                        <p:cTn id="73" dur="500" fill="hold"/>
                                        <p:tgtEl>
                                          <p:spTgt spid="1027">
                                            <p:txEl>
                                              <p:pRg st="11" end="11"/>
                                            </p:txEl>
                                          </p:spTgt>
                                        </p:tgtEl>
                                        <p:attrNameLst>
                                          <p:attrName>ppt_x</p:attrName>
                                        </p:attrNameLst>
                                      </p:cBhvr>
                                      <p:tavLst>
                                        <p:tav tm="0">
                                          <p:val>
                                            <p:strVal val="1+#ppt_w/2"/>
                                          </p:val>
                                        </p:tav>
                                        <p:tav tm="100000">
                                          <p:val>
                                            <p:strVal val="#ppt_x"/>
                                          </p:val>
                                        </p:tav>
                                      </p:tavLst>
                                    </p:anim>
                                    <p:anim calcmode="lin" valueType="num">
                                      <p:cBhvr additive="base">
                                        <p:cTn id="74" dur="500" fill="hold"/>
                                        <p:tgtEl>
                                          <p:spTgt spid="1027">
                                            <p:txEl>
                                              <p:pRg st="11" end="1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3"/>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Readings In-Depth</a:t>
            </a:r>
          </a:p>
        </p:txBody>
      </p:sp>
      <p:sp>
        <p:nvSpPr>
          <p:cNvPr id="6147" name="Rectangle 3"/>
          <p:cNvSpPr>
            <a:spLocks noGrp="1" noChangeArrowheads="1"/>
          </p:cNvSpPr>
          <p:nvPr>
            <p:ph idx="1"/>
          </p:nvPr>
        </p:nvSpPr>
        <p:spPr>
          <a:xfrm>
            <a:off x="381000" y="1923785"/>
            <a:ext cx="8382000" cy="4700588"/>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
                <a:schemeClr val="accent1"/>
              </a:buClr>
              <a:buSzPct val="8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Essential C++</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by Stanley B. Lippman</a:t>
            </a:r>
          </a:p>
          <a:p>
            <a:pPr marL="342900" marR="0" lvl="0" indent="-342900" algn="l" defTabSz="914400" rtl="0" eaLnBrk="1" fontAlgn="base" latinLnBrk="0" hangingPunct="1">
              <a:lnSpc>
                <a:spcPct val="80000"/>
              </a:lnSpc>
              <a:spcBef>
                <a:spcPct val="20000"/>
              </a:spcBef>
              <a:spcAft>
                <a:spcPct val="0"/>
              </a:spcAft>
              <a:buClr>
                <a:schemeClr val="accent1"/>
              </a:buClr>
              <a:buSzPct val="8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Thinking in C++</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by Bruce Eckel</a:t>
            </a:r>
          </a:p>
          <a:p>
            <a:pPr marL="342900" marR="0" lvl="0" indent="-342900" algn="l" defTabSz="914400" rtl="0" eaLnBrk="1" fontAlgn="base" latinLnBrk="0" hangingPunct="1">
              <a:lnSpc>
                <a:spcPct val="80000"/>
              </a:lnSpc>
              <a:spcBef>
                <a:spcPct val="20000"/>
              </a:spcBef>
              <a:spcAft>
                <a:spcPct val="0"/>
              </a:spcAft>
              <a:buClr>
                <a:schemeClr val="accent1"/>
              </a:buClr>
              <a:buSzPct val="8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The C++ Programming Language(4</a:t>
            </a:r>
            <a:r>
              <a:rPr kumimoji="1" lang="en-US" altLang="zh-CN" sz="2400" b="0" i="0" u="none" strike="noStrike" kern="1200" cap="none" spc="0" normalizeH="0" baseline="30000" noProof="0" dirty="0">
                <a:ln>
                  <a:noFill/>
                </a:ln>
                <a:solidFill>
                  <a:schemeClr val="tx1"/>
                </a:solidFill>
                <a:effectLst>
                  <a:outerShdw blurRad="38100" dist="38100" dir="2700000" algn="tl">
                    <a:srgbClr val="000000"/>
                  </a:outerShdw>
                </a:effectLst>
                <a:uLnTx/>
                <a:uFillTx/>
                <a:latin typeface="+mn-lt"/>
                <a:ea typeface="+mn-ea"/>
                <a:cs typeface="+mn-cs"/>
              </a:rPr>
              <a:t>th</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edition)</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by Bjarne </a:t>
            </a:r>
            <a:r>
              <a:rPr kumimoji="1" lang="en-US" altLang="zh-CN" sz="2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Stroustrup</a:t>
            </a:r>
            <a:endPar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accent1"/>
              </a:buClr>
              <a:buSzPct val="8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1" lang="en-US" altLang="zh-CN" sz="2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STL</a:t>
            </a:r>
            <a:r>
              <a:rPr kumimoji="1" lang="zh-CN" altLang="en-US"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源码剖析”</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by </a:t>
            </a:r>
            <a:r>
              <a:rPr kumimoji="1" lang="zh-CN" altLang="en-US"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侯捷 </a:t>
            </a:r>
            <a:endPar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accent1"/>
              </a:buClr>
              <a:buSzPct val="8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Effective C++</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and </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More Effective C++</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by Scott Meyers </a:t>
            </a:r>
          </a:p>
          <a:p>
            <a:pPr marL="342900" marR="0" lvl="0" indent="-342900" algn="l" defTabSz="914400" rtl="0" eaLnBrk="1" fontAlgn="base" latinLnBrk="0" hangingPunct="1">
              <a:lnSpc>
                <a:spcPct val="80000"/>
              </a:lnSpc>
              <a:spcBef>
                <a:spcPct val="20000"/>
              </a:spcBef>
              <a:spcAft>
                <a:spcPct val="0"/>
              </a:spcAft>
              <a:buClr>
                <a:schemeClr val="accent1"/>
              </a:buClr>
              <a:buSzPct val="8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“The Design and Evolution of C++”by Bjarne </a:t>
            </a:r>
            <a:r>
              <a:rPr kumimoji="1" lang="en-US" altLang="zh-CN" sz="2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Stroustrup</a:t>
            </a:r>
            <a:endPar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accent1"/>
              </a:buClr>
              <a:buSzPct val="8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 Tour of C++ (2nd edition)”by Bjarne </a:t>
            </a:r>
            <a:r>
              <a:rPr kumimoji="1" lang="en-US" altLang="zh-CN" sz="2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Stroustrup</a:t>
            </a:r>
            <a:endPar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accent1"/>
              </a:buClr>
              <a:buSzPct val="8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Inside the C++ Object Model</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by Stanley B. Lippman</a:t>
            </a:r>
          </a:p>
        </p:txBody>
      </p:sp>
      <p:sp>
        <p:nvSpPr>
          <p:cNvPr id="17412" name="灯片编号占位符 4"/>
          <p:cNvSpPr txBox="1">
            <a:spLocks noGrp="1"/>
          </p:cNvSpPr>
          <p:nvPr>
            <p:ph type="sldNum" sz="quarter" idx="12"/>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4</a:t>
            </a:fld>
            <a:endParaRPr lang="en-US" altLang="zh-CN" sz="1200" dirty="0">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We Need To Know This Guy</a:t>
            </a:r>
          </a:p>
        </p:txBody>
      </p:sp>
      <p:sp>
        <p:nvSpPr>
          <p:cNvPr id="5123" name="Rectangle 3"/>
          <p:cNvSpPr>
            <a:spLocks noGrp="1" noChangeArrowheads="1"/>
          </p:cNvSpPr>
          <p:nvPr>
            <p:ph idx="1"/>
          </p:nvPr>
        </p:nvSpPr>
        <p:spPr>
          <a:xfrm>
            <a:off x="4191000" y="1828800"/>
            <a:ext cx="4800600" cy="411480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Designer and original implementer of the C++</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Author of </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The C++ Programming Language</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(4 editions) and </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The Design and Evolution of C++</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endPar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ACM fellow, AT&amp;T Fellow, AT&amp;T Bell Laboratories Fellow, head of AT&amp;T Lab's Large-scale Programming Research department</a:t>
            </a:r>
          </a:p>
        </p:txBody>
      </p:sp>
      <p:pic>
        <p:nvPicPr>
          <p:cNvPr id="18436" name="Picture 6"/>
          <p:cNvPicPr>
            <a:picLocks noChangeAspect="1"/>
          </p:cNvPicPr>
          <p:nvPr/>
        </p:nvPicPr>
        <p:blipFill>
          <a:blip r:embed="rId2"/>
          <a:stretch>
            <a:fillRect/>
          </a:stretch>
        </p:blipFill>
        <p:spPr>
          <a:xfrm>
            <a:off x="228600" y="2667000"/>
            <a:ext cx="3886200" cy="3079750"/>
          </a:xfrm>
          <a:prstGeom prst="rect">
            <a:avLst/>
          </a:prstGeom>
          <a:noFill/>
          <a:ln w="9525">
            <a:noFill/>
          </a:ln>
        </p:spPr>
      </p:pic>
      <p:sp>
        <p:nvSpPr>
          <p:cNvPr id="18437" name="Text Box 8"/>
          <p:cNvSpPr txBox="1"/>
          <p:nvPr/>
        </p:nvSpPr>
        <p:spPr>
          <a:xfrm>
            <a:off x="1066800" y="5665788"/>
            <a:ext cx="6096000" cy="1200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latin typeface="+mn-lt"/>
                <a:ea typeface="+mn-ea"/>
                <a:cs typeface="+mn-cs"/>
              </a:defRPr>
            </a:lvl5pPr>
          </a:lstStyle>
          <a:p>
            <a:pPr marL="0" lvl="0" indent="0" eaLnBrk="1" hangingPunct="1">
              <a:spcBef>
                <a:spcPct val="50000"/>
              </a:spcBef>
              <a:buClrTx/>
              <a:buSzTx/>
              <a:buFontTx/>
              <a:buNone/>
            </a:pPr>
            <a:r>
              <a:rPr lang="en-US" altLang="zh-CN" sz="1800" dirty="0">
                <a:latin typeface="Times New Roman" panose="02020603050405020304" pitchFamily="18" charset="0"/>
              </a:rPr>
              <a:t>Homepage: </a:t>
            </a:r>
            <a:r>
              <a:rPr lang="en-US" altLang="zh-CN" sz="1800" dirty="0">
                <a:latin typeface="Times New Roman" panose="02020603050405020304" pitchFamily="18" charset="0"/>
                <a:hlinkClick r:id="rId3"/>
              </a:rPr>
              <a:t>http://www.stroustrup.com</a:t>
            </a:r>
            <a:endParaRPr lang="en-US" altLang="zh-CN" sz="1800" dirty="0">
              <a:latin typeface="Times New Roman" panose="02020603050405020304" pitchFamily="18" charset="0"/>
            </a:endParaRPr>
          </a:p>
          <a:p>
            <a:pPr marL="0" lvl="0" indent="0" eaLnBrk="1" hangingPunct="1">
              <a:spcBef>
                <a:spcPct val="50000"/>
              </a:spcBef>
              <a:buClrTx/>
              <a:buSzTx/>
              <a:buFontTx/>
              <a:buNone/>
            </a:pPr>
            <a:r>
              <a:rPr lang="en-US" altLang="zh-CN" sz="1800" dirty="0">
                <a:latin typeface="Times New Roman" panose="02020603050405020304" pitchFamily="18" charset="0"/>
              </a:rPr>
              <a:t>C++ Resources: </a:t>
            </a:r>
            <a:r>
              <a:rPr lang="en-US" altLang="zh-CN" sz="1800" dirty="0">
                <a:latin typeface="Times New Roman" panose="02020603050405020304" pitchFamily="18" charset="0"/>
                <a:hlinkClick r:id="rId4"/>
              </a:rPr>
              <a:t>http://www.stroustrup.com/C++.html</a:t>
            </a:r>
            <a:endParaRPr lang="en-US" altLang="zh-CN" sz="1800" dirty="0">
              <a:latin typeface="Times New Roman" panose="02020603050405020304" pitchFamily="18" charset="0"/>
            </a:endParaRPr>
          </a:p>
          <a:p>
            <a:pPr marL="0" lvl="0" indent="0" eaLnBrk="1" hangingPunct="1">
              <a:spcBef>
                <a:spcPct val="50000"/>
              </a:spcBef>
              <a:buClrTx/>
              <a:buSzTx/>
              <a:buFontTx/>
              <a:buNone/>
            </a:pPr>
            <a:r>
              <a:rPr lang="en-US" altLang="zh-CN" sz="1800" dirty="0">
                <a:latin typeface="Times New Roman" panose="02020603050405020304" pitchFamily="18" charset="0"/>
              </a:rPr>
              <a:t>Tech FAQs: </a:t>
            </a:r>
            <a:r>
              <a:rPr lang="en-US" altLang="zh-CN" sz="1800" dirty="0">
                <a:latin typeface="Times New Roman" panose="02020603050405020304" pitchFamily="18" charset="0"/>
                <a:hlinkClick r:id="rId5"/>
              </a:rPr>
              <a:t>http://www.stroustrup.com/bs_faq.html</a:t>
            </a:r>
            <a:endParaRPr lang="en-US" altLang="zh-CN" sz="1800" dirty="0">
              <a:latin typeface="Times New Roman" panose="02020603050405020304" pitchFamily="18" charset="0"/>
            </a:endParaRPr>
          </a:p>
        </p:txBody>
      </p:sp>
      <p:sp>
        <p:nvSpPr>
          <p:cNvPr id="18438" name="Text Box 10"/>
          <p:cNvSpPr txBox="1"/>
          <p:nvPr/>
        </p:nvSpPr>
        <p:spPr>
          <a:xfrm>
            <a:off x="228600" y="1676400"/>
            <a:ext cx="3886200" cy="10048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latin typeface="+mn-lt"/>
                <a:ea typeface="+mn-ea"/>
                <a:cs typeface="+mn-cs"/>
              </a:defRPr>
            </a:lvl5pPr>
          </a:lstStyle>
          <a:p>
            <a:pPr marL="0" lvl="0" indent="0" eaLnBrk="1" hangingPunct="1">
              <a:spcBef>
                <a:spcPct val="50000"/>
              </a:spcBef>
              <a:buClrTx/>
              <a:buSzTx/>
              <a:buFontTx/>
              <a:buNone/>
            </a:pPr>
            <a:r>
              <a:rPr lang="en-US" altLang="zh-CN" sz="2400" dirty="0">
                <a:solidFill>
                  <a:srgbClr val="FFCC00"/>
                </a:solidFill>
              </a:rPr>
              <a:t>Bjarne Stroustrup</a:t>
            </a:r>
            <a:r>
              <a:rPr lang="en-US" altLang="zh-CN" sz="2400" dirty="0"/>
              <a:t> </a:t>
            </a:r>
          </a:p>
          <a:p>
            <a:pPr marL="0" lvl="0" indent="0" eaLnBrk="1" hangingPunct="1">
              <a:spcBef>
                <a:spcPct val="50000"/>
              </a:spcBef>
              <a:buClrTx/>
              <a:buSzTx/>
              <a:buFontTx/>
              <a:buNone/>
            </a:pPr>
            <a:r>
              <a:rPr lang="en-US" altLang="zh-CN" sz="2400" dirty="0"/>
              <a:t>  --- Godfather of the C++</a:t>
            </a:r>
          </a:p>
        </p:txBody>
      </p:sp>
      <p:sp>
        <p:nvSpPr>
          <p:cNvPr id="18439" name="灯片编号占位符 4"/>
          <p:cNvSpPr txBox="1">
            <a:spLocks noGrp="1"/>
          </p:cNvSpPr>
          <p:nvPr>
            <p:ph type="sldNum" sz="quarter" idx="12"/>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5</a:t>
            </a:fld>
            <a:endParaRPr lang="en-US" altLang="zh-CN" sz="1200" dirty="0">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Why C++ is very important?</a:t>
            </a:r>
          </a:p>
        </p:txBody>
      </p:sp>
      <p:sp>
        <p:nvSpPr>
          <p:cNvPr id="1027" name="Rectangle 3"/>
          <p:cNvSpPr>
            <a:spLocks noGrp="1" noChangeArrowheads="1"/>
          </p:cNvSpPr>
          <p:nvPr>
            <p:ph idx="1"/>
          </p:nvPr>
        </p:nvSpPr>
        <p:spPr>
          <a:xfrm>
            <a:off x="685800" y="1981200"/>
            <a:ext cx="8062913" cy="426720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Compliant with C, but better than C</a:t>
            </a: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Char char="n"/>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Protect legacy codes</a:t>
            </a: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Char char="n"/>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More safe</a:t>
            </a: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Char char="n"/>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Easier for debugging</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Support data abstraction</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Support 4 kinds of Programming and Design style</a:t>
            </a:r>
          </a:p>
          <a:p>
            <a:pPr marL="742950" marR="0" lvl="1" indent="-285750" algn="l" defTabSz="914400" rtl="0" eaLnBrk="1" fontAlgn="base" latinLnBrk="0" hangingPunct="1">
              <a:lnSpc>
                <a:spcPct val="90000"/>
              </a:lnSpc>
              <a:spcBef>
                <a:spcPct val="20000"/>
              </a:spcBef>
              <a:spcAft>
                <a:spcPct val="0"/>
              </a:spcAft>
              <a:buClr>
                <a:schemeClr val="tx2"/>
              </a:buClr>
              <a:buSzPct val="70000"/>
              <a:buFont typeface="Wingdings" panose="05000000000000000000" pitchFamily="2" charset="2"/>
              <a:buChar char="n"/>
              <a:defRPr/>
            </a:pP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Procedure-Based Programming</a:t>
            </a:r>
          </a:p>
          <a:p>
            <a:pPr marL="742950" marR="0" lvl="1" indent="-285750" algn="l" defTabSz="914400" rtl="0" eaLnBrk="1" fontAlgn="base" latinLnBrk="0" hangingPunct="1">
              <a:lnSpc>
                <a:spcPct val="90000"/>
              </a:lnSpc>
              <a:spcBef>
                <a:spcPct val="20000"/>
              </a:spcBef>
              <a:spcAft>
                <a:spcPct val="0"/>
              </a:spcAft>
              <a:buClr>
                <a:schemeClr val="tx2"/>
              </a:buClr>
              <a:buSzPct val="70000"/>
              <a:buFont typeface="Wingdings" panose="05000000000000000000" pitchFamily="2" charset="2"/>
              <a:buChar char="n"/>
              <a:defRPr/>
            </a:pP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Object-Based Programming</a:t>
            </a:r>
          </a:p>
          <a:p>
            <a:pPr marL="742950" marR="0" lvl="1" indent="-285750" algn="l" defTabSz="914400" rtl="0" eaLnBrk="1" fontAlgn="base" latinLnBrk="0" hangingPunct="1">
              <a:lnSpc>
                <a:spcPct val="90000"/>
              </a:lnSpc>
              <a:spcBef>
                <a:spcPct val="20000"/>
              </a:spcBef>
              <a:spcAft>
                <a:spcPct val="0"/>
              </a:spcAft>
              <a:buClr>
                <a:schemeClr val="tx2"/>
              </a:buClr>
              <a:buSzPct val="70000"/>
              <a:buFont typeface="Wingdings" panose="05000000000000000000" pitchFamily="2" charset="2"/>
              <a:buChar char="n"/>
              <a:defRPr/>
            </a:pPr>
            <a:r>
              <a:rPr kumimoji="1" lang="en-US" altLang="zh-CN" sz="20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mn-lt"/>
                <a:ea typeface="+mn-ea"/>
                <a:cs typeface="+mn-cs"/>
              </a:rPr>
              <a:t>Object-Oriented Programming</a:t>
            </a: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Char char="n"/>
              <a:defRPr/>
            </a:pPr>
            <a:r>
              <a:rPr kumimoji="1" lang="en-US" altLang="zh-CN" sz="18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mn-lt"/>
                <a:ea typeface="+mn-ea"/>
                <a:cs typeface="+mn-cs"/>
              </a:rPr>
              <a:t>Especially useful in modern project developing</a:t>
            </a:r>
          </a:p>
          <a:p>
            <a:pPr marL="742950" marR="0" lvl="1" indent="-285750" algn="l" defTabSz="914400" rtl="0" eaLnBrk="1" fontAlgn="base" latinLnBrk="0" hangingPunct="1">
              <a:lnSpc>
                <a:spcPct val="90000"/>
              </a:lnSpc>
              <a:spcBef>
                <a:spcPct val="20000"/>
              </a:spcBef>
              <a:spcAft>
                <a:spcPct val="0"/>
              </a:spcAft>
              <a:buClr>
                <a:schemeClr val="tx2"/>
              </a:buClr>
              <a:buSzPct val="70000"/>
              <a:buFont typeface="Wingdings" panose="05000000000000000000" pitchFamily="2" charset="2"/>
              <a:buChar char="n"/>
              <a:defRPr/>
            </a:pP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Generic Programming</a:t>
            </a: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Char char="n"/>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Necessary for excellent programs</a:t>
            </a:r>
          </a:p>
        </p:txBody>
      </p:sp>
      <p:sp>
        <p:nvSpPr>
          <p:cNvPr id="19460" name="灯片编号占位符 4"/>
          <p:cNvSpPr txBox="1">
            <a:spLocks noGrp="1"/>
          </p:cNvSpPr>
          <p:nvPr>
            <p:ph type="sldNum" sz="quarter" idx="12"/>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6</a:t>
            </a:fld>
            <a:endParaRPr lang="en-US" altLang="zh-CN" sz="1200" dirty="0">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 calcmode="lin" valueType="num">
                                      <p:cBhvr additive="base">
                                        <p:cTn id="7" dur="500" fill="hold"/>
                                        <p:tgtEl>
                                          <p:spTgt spid="102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0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027">
                                            <p:txEl>
                                              <p:pRg st="1" end="1"/>
                                            </p:txEl>
                                          </p:spTgt>
                                        </p:tgtEl>
                                        <p:attrNameLst>
                                          <p:attrName>style.visibility</p:attrName>
                                        </p:attrNameLst>
                                      </p:cBhvr>
                                      <p:to>
                                        <p:strVal val="visible"/>
                                      </p:to>
                                    </p:set>
                                    <p:anim calcmode="lin" valueType="num">
                                      <p:cBhvr additive="base">
                                        <p:cTn id="13" dur="500" fill="hold"/>
                                        <p:tgtEl>
                                          <p:spTgt spid="102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0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027">
                                            <p:txEl>
                                              <p:pRg st="2" end="2"/>
                                            </p:txEl>
                                          </p:spTgt>
                                        </p:tgtEl>
                                        <p:attrNameLst>
                                          <p:attrName>style.visibility</p:attrName>
                                        </p:attrNameLst>
                                      </p:cBhvr>
                                      <p:to>
                                        <p:strVal val="visible"/>
                                      </p:to>
                                    </p:set>
                                    <p:anim calcmode="lin" valueType="num">
                                      <p:cBhvr additive="base">
                                        <p:cTn id="19" dur="500" fill="hold"/>
                                        <p:tgtEl>
                                          <p:spTgt spid="102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02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027">
                                            <p:txEl>
                                              <p:pRg st="3" end="3"/>
                                            </p:txEl>
                                          </p:spTgt>
                                        </p:tgtEl>
                                        <p:attrNameLst>
                                          <p:attrName>style.visibility</p:attrName>
                                        </p:attrNameLst>
                                      </p:cBhvr>
                                      <p:to>
                                        <p:strVal val="visible"/>
                                      </p:to>
                                    </p:set>
                                    <p:anim calcmode="lin" valueType="num">
                                      <p:cBhvr additive="base">
                                        <p:cTn id="25" dur="500" fill="hold"/>
                                        <p:tgtEl>
                                          <p:spTgt spid="1027">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02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027">
                                            <p:txEl>
                                              <p:pRg st="4" end="4"/>
                                            </p:txEl>
                                          </p:spTgt>
                                        </p:tgtEl>
                                        <p:attrNameLst>
                                          <p:attrName>style.visibility</p:attrName>
                                        </p:attrNameLst>
                                      </p:cBhvr>
                                      <p:to>
                                        <p:strVal val="visible"/>
                                      </p:to>
                                    </p:set>
                                    <p:anim calcmode="lin" valueType="num">
                                      <p:cBhvr additive="base">
                                        <p:cTn id="31" dur="500" fill="hold"/>
                                        <p:tgtEl>
                                          <p:spTgt spid="1027">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02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027">
                                            <p:txEl>
                                              <p:pRg st="5" end="5"/>
                                            </p:txEl>
                                          </p:spTgt>
                                        </p:tgtEl>
                                        <p:attrNameLst>
                                          <p:attrName>style.visibility</p:attrName>
                                        </p:attrNameLst>
                                      </p:cBhvr>
                                      <p:to>
                                        <p:strVal val="visible"/>
                                      </p:to>
                                    </p:set>
                                    <p:anim calcmode="lin" valueType="num">
                                      <p:cBhvr additive="base">
                                        <p:cTn id="37" dur="500" fill="hold"/>
                                        <p:tgtEl>
                                          <p:spTgt spid="1027">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02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027">
                                            <p:txEl>
                                              <p:pRg st="6" end="6"/>
                                            </p:txEl>
                                          </p:spTgt>
                                        </p:tgtEl>
                                        <p:attrNameLst>
                                          <p:attrName>style.visibility</p:attrName>
                                        </p:attrNameLst>
                                      </p:cBhvr>
                                      <p:to>
                                        <p:strVal val="visible"/>
                                      </p:to>
                                    </p:set>
                                    <p:anim calcmode="lin" valueType="num">
                                      <p:cBhvr additive="base">
                                        <p:cTn id="43" dur="500" fill="hold"/>
                                        <p:tgtEl>
                                          <p:spTgt spid="1027">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02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027">
                                            <p:txEl>
                                              <p:pRg st="7" end="7"/>
                                            </p:txEl>
                                          </p:spTgt>
                                        </p:tgtEl>
                                        <p:attrNameLst>
                                          <p:attrName>style.visibility</p:attrName>
                                        </p:attrNameLst>
                                      </p:cBhvr>
                                      <p:to>
                                        <p:strVal val="visible"/>
                                      </p:to>
                                    </p:set>
                                    <p:anim calcmode="lin" valueType="num">
                                      <p:cBhvr additive="base">
                                        <p:cTn id="49" dur="500" fill="hold"/>
                                        <p:tgtEl>
                                          <p:spTgt spid="1027">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1027">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1027">
                                            <p:txEl>
                                              <p:pRg st="8" end="8"/>
                                            </p:txEl>
                                          </p:spTgt>
                                        </p:tgtEl>
                                        <p:attrNameLst>
                                          <p:attrName>style.visibility</p:attrName>
                                        </p:attrNameLst>
                                      </p:cBhvr>
                                      <p:to>
                                        <p:strVal val="visible"/>
                                      </p:to>
                                    </p:set>
                                    <p:anim calcmode="lin" valueType="num">
                                      <p:cBhvr additive="base">
                                        <p:cTn id="55" dur="500" fill="hold"/>
                                        <p:tgtEl>
                                          <p:spTgt spid="1027">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1027">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1027">
                                            <p:txEl>
                                              <p:pRg st="9" end="9"/>
                                            </p:txEl>
                                          </p:spTgt>
                                        </p:tgtEl>
                                        <p:attrNameLst>
                                          <p:attrName>style.visibility</p:attrName>
                                        </p:attrNameLst>
                                      </p:cBhvr>
                                      <p:to>
                                        <p:strVal val="visible"/>
                                      </p:to>
                                    </p:set>
                                    <p:anim calcmode="lin" valueType="num">
                                      <p:cBhvr additive="base">
                                        <p:cTn id="61" dur="500" fill="hold"/>
                                        <p:tgtEl>
                                          <p:spTgt spid="1027">
                                            <p:txEl>
                                              <p:pRg st="9" end="9"/>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1027">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2" fill="hold" grpId="0" nodeType="clickEffect">
                                  <p:stCondLst>
                                    <p:cond delay="0"/>
                                  </p:stCondLst>
                                  <p:childTnLst>
                                    <p:set>
                                      <p:cBhvr>
                                        <p:cTn id="66" dur="1" fill="hold">
                                          <p:stCondLst>
                                            <p:cond delay="0"/>
                                          </p:stCondLst>
                                        </p:cTn>
                                        <p:tgtEl>
                                          <p:spTgt spid="1027">
                                            <p:txEl>
                                              <p:pRg st="10" end="10"/>
                                            </p:txEl>
                                          </p:spTgt>
                                        </p:tgtEl>
                                        <p:attrNameLst>
                                          <p:attrName>style.visibility</p:attrName>
                                        </p:attrNameLst>
                                      </p:cBhvr>
                                      <p:to>
                                        <p:strVal val="visible"/>
                                      </p:to>
                                    </p:set>
                                    <p:anim calcmode="lin" valueType="num">
                                      <p:cBhvr additive="base">
                                        <p:cTn id="67" dur="500" fill="hold"/>
                                        <p:tgtEl>
                                          <p:spTgt spid="1027">
                                            <p:txEl>
                                              <p:pRg st="10" end="10"/>
                                            </p:txEl>
                                          </p:spTgt>
                                        </p:tgtEl>
                                        <p:attrNameLst>
                                          <p:attrName>ppt_x</p:attrName>
                                        </p:attrNameLst>
                                      </p:cBhvr>
                                      <p:tavLst>
                                        <p:tav tm="0">
                                          <p:val>
                                            <p:strVal val="1+#ppt_w/2"/>
                                          </p:val>
                                        </p:tav>
                                        <p:tav tm="100000">
                                          <p:val>
                                            <p:strVal val="#ppt_x"/>
                                          </p:val>
                                        </p:tav>
                                      </p:tavLst>
                                    </p:anim>
                                    <p:anim calcmode="lin" valueType="num">
                                      <p:cBhvr additive="base">
                                        <p:cTn id="68" dur="500" fill="hold"/>
                                        <p:tgtEl>
                                          <p:spTgt spid="1027">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2" fill="hold" grpId="0" nodeType="clickEffect">
                                  <p:stCondLst>
                                    <p:cond delay="0"/>
                                  </p:stCondLst>
                                  <p:childTnLst>
                                    <p:set>
                                      <p:cBhvr>
                                        <p:cTn id="72" dur="1" fill="hold">
                                          <p:stCondLst>
                                            <p:cond delay="0"/>
                                          </p:stCondLst>
                                        </p:cTn>
                                        <p:tgtEl>
                                          <p:spTgt spid="1027">
                                            <p:txEl>
                                              <p:pRg st="11" end="11"/>
                                            </p:txEl>
                                          </p:spTgt>
                                        </p:tgtEl>
                                        <p:attrNameLst>
                                          <p:attrName>style.visibility</p:attrName>
                                        </p:attrNameLst>
                                      </p:cBhvr>
                                      <p:to>
                                        <p:strVal val="visible"/>
                                      </p:to>
                                    </p:set>
                                    <p:anim calcmode="lin" valueType="num">
                                      <p:cBhvr additive="base">
                                        <p:cTn id="73" dur="500" fill="hold"/>
                                        <p:tgtEl>
                                          <p:spTgt spid="1027">
                                            <p:txEl>
                                              <p:pRg st="11" end="11"/>
                                            </p:txEl>
                                          </p:spTgt>
                                        </p:tgtEl>
                                        <p:attrNameLst>
                                          <p:attrName>ppt_x</p:attrName>
                                        </p:attrNameLst>
                                      </p:cBhvr>
                                      <p:tavLst>
                                        <p:tav tm="0">
                                          <p:val>
                                            <p:strVal val="1+#ppt_w/2"/>
                                          </p:val>
                                        </p:tav>
                                        <p:tav tm="100000">
                                          <p:val>
                                            <p:strVal val="#ppt_x"/>
                                          </p:val>
                                        </p:tav>
                                      </p:tavLst>
                                    </p:anim>
                                    <p:anim calcmode="lin" valueType="num">
                                      <p:cBhvr additive="base">
                                        <p:cTn id="74" dur="500" fill="hold"/>
                                        <p:tgtEl>
                                          <p:spTgt spid="1027">
                                            <p:txEl>
                                              <p:pRg st="11" end="1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3"/>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High-level Languages</a:t>
            </a:r>
            <a:endParaRPr kumimoji="1" lang="zh-CN" altLang="en-US" sz="40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21507" name="日期占位符 3"/>
          <p:cNvSpPr txBox="1">
            <a:spLocks noGrp="1"/>
          </p:cNvSpPr>
          <p:nvPr>
            <p:ph type="dt" sz="half" idx="10"/>
          </p:nvPr>
        </p:nvSpPr>
        <p:spPr>
          <a:ln/>
        </p:spPr>
        <p:txBody>
          <a:bodyPr/>
          <a:lstStyle/>
          <a:p>
            <a:pPr marL="0" indent="0" eaLnBrk="1" hangingPunct="1">
              <a:spcBef>
                <a:spcPct val="50000"/>
              </a:spcBef>
              <a:buClrTx/>
              <a:buSzTx/>
              <a:buFontTx/>
              <a:buNone/>
            </a:pPr>
            <a:fld id="{BB962C8B-B14F-4D97-AF65-F5344CB8AC3E}" type="datetime1">
              <a:rPr lang="zh-CN" altLang="en-US" sz="1400" dirty="0">
                <a:solidFill>
                  <a:srgbClr val="000000"/>
                </a:solidFill>
                <a:effectLst/>
                <a:latin typeface="Times New Roman" panose="02020603050405020304" pitchFamily="18" charset="0"/>
              </a:rPr>
              <a:t>2025/9/15</a:t>
            </a:fld>
            <a:endParaRPr lang="zh-CN" altLang="en-US" sz="1400" dirty="0">
              <a:solidFill>
                <a:srgbClr val="000000"/>
              </a:solidFill>
              <a:effectLst/>
              <a:latin typeface="Times New Roman" panose="02020603050405020304" pitchFamily="18" charset="0"/>
            </a:endParaRPr>
          </a:p>
        </p:txBody>
      </p:sp>
      <p:sp>
        <p:nvSpPr>
          <p:cNvPr id="9" name="内容占位符 2"/>
          <p:cNvSpPr>
            <a:spLocks noGrp="1"/>
          </p:cNvSpPr>
          <p:nvPr>
            <p:ph idx="1"/>
          </p:nvPr>
        </p:nvSpPr>
        <p:spPr>
          <a:xfrm>
            <a:off x="461963" y="1916113"/>
            <a:ext cx="7993063" cy="417671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High-level languages represent a giant leap towards easier programming.</a:t>
            </a:r>
          </a:p>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The syntax of HL languages is similar to English.</a:t>
            </a:r>
          </a:p>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Historically, we divide HL language into two groups:</a:t>
            </a:r>
          </a:p>
          <a:p>
            <a:pPr marL="742950" marR="0" lvl="1" indent="-28575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Procedural languages</a:t>
            </a:r>
          </a:p>
          <a:p>
            <a:pPr marL="742950" marR="0" lvl="1" indent="-28575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Object-oriented languages (OOP)</a:t>
            </a:r>
            <a:endParaRPr kumimoji="1" lang="zh-CN" altLang="en-US"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endParaRPr>
          </a:p>
        </p:txBody>
      </p:sp>
      <p:sp>
        <p:nvSpPr>
          <p:cNvPr id="21509" name="灯片编号占位符 4"/>
          <p:cNvSpPr txBox="1"/>
          <p:nvPr/>
        </p:nvSpPr>
        <p:spPr>
          <a:xfrm>
            <a:off x="7885113" y="6442075"/>
            <a:ext cx="1008062" cy="215900"/>
          </a:xfrm>
          <a:prstGeom prst="rect">
            <a:avLst/>
          </a:prstGeom>
          <a:noFill/>
          <a:ln w="9525">
            <a:noFill/>
          </a:ln>
        </p:spPr>
        <p:txBody>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latin typeface="+mn-lt"/>
                <a:ea typeface="+mn-ea"/>
                <a:cs typeface="+mn-cs"/>
              </a:defRPr>
            </a:lvl5pPr>
          </a:lstStyle>
          <a:p>
            <a:pPr marL="0" lvl="0" indent="0" algn="r">
              <a:buClrTx/>
              <a:buSzTx/>
              <a:buFontTx/>
              <a:buNone/>
            </a:pPr>
            <a:fld id="{9A0DB2DC-4C9A-4742-B13C-FB6460FD3503}" type="slidenum">
              <a:rPr lang="en-US" altLang="zh-CN" sz="1200" dirty="0">
                <a:latin typeface="微软雅黑" panose="020B0503020204020204" pitchFamily="34" charset="-122"/>
                <a:ea typeface="微软雅黑" panose="020B0503020204020204" pitchFamily="34" charset="-122"/>
              </a:rPr>
              <a:t>7</a:t>
            </a:fld>
            <a:endParaRPr lang="en-US" altLang="zh-CN" sz="1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Procedural Languages</a:t>
            </a:r>
            <a:endParaRPr kumimoji="1" lang="zh-CN" altLang="en-US" sz="40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22531" name="日期占位符 3"/>
          <p:cNvSpPr txBox="1">
            <a:spLocks noGrp="1"/>
          </p:cNvSpPr>
          <p:nvPr>
            <p:ph type="dt" sz="half" idx="10"/>
          </p:nvPr>
        </p:nvSpPr>
        <p:spPr>
          <a:ln/>
        </p:spPr>
        <p:txBody>
          <a:bodyPr/>
          <a:lstStyle/>
          <a:p>
            <a:pPr marL="0" indent="0" eaLnBrk="1" hangingPunct="1">
              <a:spcBef>
                <a:spcPct val="50000"/>
              </a:spcBef>
              <a:buClrTx/>
              <a:buSzTx/>
              <a:buFontTx/>
              <a:buNone/>
            </a:pPr>
            <a:fld id="{BB962C8B-B14F-4D97-AF65-F5344CB8AC3E}" type="datetime1">
              <a:rPr lang="zh-CN" altLang="en-US" sz="1400" dirty="0">
                <a:solidFill>
                  <a:srgbClr val="000000"/>
                </a:solidFill>
                <a:effectLst/>
                <a:latin typeface="Times New Roman" panose="02020603050405020304" pitchFamily="18" charset="0"/>
              </a:rPr>
              <a:t>2025/9/15</a:t>
            </a:fld>
            <a:endParaRPr lang="zh-CN" altLang="en-US" sz="1400" dirty="0">
              <a:solidFill>
                <a:srgbClr val="000000"/>
              </a:solidFill>
              <a:effectLst/>
              <a:latin typeface="Times New Roman" panose="02020603050405020304" pitchFamily="18" charset="0"/>
            </a:endParaRPr>
          </a:p>
        </p:txBody>
      </p:sp>
      <p:sp>
        <p:nvSpPr>
          <p:cNvPr id="22532" name="灯片编号占位符 5"/>
          <p:cNvSpPr txBox="1">
            <a:spLocks noGrp="1"/>
          </p:cNvSpPr>
          <p:nvPr>
            <p:ph type="sldNum" sz="quarter" idx="12"/>
          </p:nvPr>
        </p:nvSpPr>
        <p:spPr>
          <a:ln/>
        </p:spPr>
        <p:txBody>
          <a:bodyPr/>
          <a:lstStyle/>
          <a:p>
            <a:pPr marL="0" indent="0" algn="r" eaLnBrk="1" hangingPunct="1">
              <a:spcBef>
                <a:spcPct val="50000"/>
              </a:spcBef>
              <a:buClrTx/>
              <a:buSzTx/>
              <a:buFontTx/>
              <a:buNone/>
            </a:pPr>
            <a:fld id="{9A0DB2DC-4C9A-4742-B13C-FB6460FD3503}" type="slidenum">
              <a:rPr lang="zh-CN" altLang="en-US" sz="1400" dirty="0">
                <a:solidFill>
                  <a:srgbClr val="000000"/>
                </a:solidFill>
                <a:effectLst/>
                <a:latin typeface="Times New Roman" panose="02020603050405020304" pitchFamily="18" charset="0"/>
              </a:rPr>
              <a:t>8</a:t>
            </a:fld>
            <a:endParaRPr lang="zh-CN" altLang="en-US" sz="1400" dirty="0">
              <a:solidFill>
                <a:srgbClr val="000000"/>
              </a:solidFill>
              <a:effectLst/>
              <a:latin typeface="Times New Roman" panose="02020603050405020304" pitchFamily="18" charset="0"/>
            </a:endParaRPr>
          </a:p>
        </p:txBody>
      </p:sp>
      <p:sp>
        <p:nvSpPr>
          <p:cNvPr id="9" name="内容占位符 2"/>
          <p:cNvSpPr>
            <a:spLocks noGrp="1"/>
          </p:cNvSpPr>
          <p:nvPr>
            <p:ph idx="1"/>
          </p:nvPr>
        </p:nvSpPr>
        <p:spPr>
          <a:xfrm>
            <a:off x="465138" y="1998663"/>
            <a:ext cx="7993063" cy="417671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Early high-level languages are typically called procedural languages.</a:t>
            </a:r>
          </a:p>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Procedural languages are characterized by sequential sets of linear commands. The focus of such languages is on </a:t>
            </a:r>
            <a:r>
              <a:rPr kumimoji="1" lang="en-US" altLang="zh-CN" sz="24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structure</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 </a:t>
            </a:r>
          </a:p>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Examples include C, COBOL, Fortran, LISP, Perl, HTML, VBScript etc.</a:t>
            </a:r>
            <a:endParaRPr kumimoji="1" lang="zh-CN" altLang="en-US"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endParaRPr>
          </a:p>
        </p:txBody>
      </p:sp>
      <p:pic>
        <p:nvPicPr>
          <p:cNvPr id="22534" name="图片 6"/>
          <p:cNvPicPr>
            <a:picLocks noChangeAspect="1"/>
          </p:cNvPicPr>
          <p:nvPr/>
        </p:nvPicPr>
        <p:blipFill>
          <a:blip r:embed="rId3"/>
          <a:stretch>
            <a:fillRect/>
          </a:stretch>
        </p:blipFill>
        <p:spPr>
          <a:xfrm>
            <a:off x="1290638" y="5435600"/>
            <a:ext cx="1300162" cy="812800"/>
          </a:xfrm>
          <a:prstGeom prst="rect">
            <a:avLst/>
          </a:prstGeom>
          <a:noFill/>
          <a:ln w="9525">
            <a:noFill/>
          </a:ln>
        </p:spPr>
      </p:pic>
      <p:pic>
        <p:nvPicPr>
          <p:cNvPr id="22535" name="图片 7"/>
          <p:cNvPicPr>
            <a:picLocks noChangeAspect="1"/>
          </p:cNvPicPr>
          <p:nvPr/>
        </p:nvPicPr>
        <p:blipFill>
          <a:blip r:embed="rId4"/>
          <a:stretch>
            <a:fillRect/>
          </a:stretch>
        </p:blipFill>
        <p:spPr>
          <a:xfrm>
            <a:off x="6496050" y="5308600"/>
            <a:ext cx="1250950" cy="914400"/>
          </a:xfrm>
          <a:prstGeom prst="rect">
            <a:avLst/>
          </a:prstGeom>
          <a:noFill/>
          <a:ln w="9525">
            <a:noFill/>
          </a:ln>
        </p:spPr>
      </p:pic>
      <p:pic>
        <p:nvPicPr>
          <p:cNvPr id="22536" name="图片 9"/>
          <p:cNvPicPr>
            <a:picLocks noChangeAspect="1"/>
          </p:cNvPicPr>
          <p:nvPr/>
        </p:nvPicPr>
        <p:blipFill>
          <a:blip r:embed="rId5"/>
          <a:stretch>
            <a:fillRect/>
          </a:stretch>
        </p:blipFill>
        <p:spPr>
          <a:xfrm>
            <a:off x="3741738" y="5303838"/>
            <a:ext cx="1730375" cy="974725"/>
          </a:xfrm>
          <a:prstGeom prst="rect">
            <a:avLst/>
          </a:prstGeom>
          <a:noFill/>
          <a:ln w="9525">
            <a:noFill/>
          </a:ln>
        </p:spPr>
      </p:pic>
      <p:pic>
        <p:nvPicPr>
          <p:cNvPr id="22537" name="图片 10"/>
          <p:cNvPicPr>
            <a:picLocks noChangeAspect="1"/>
          </p:cNvPicPr>
          <p:nvPr/>
        </p:nvPicPr>
        <p:blipFill>
          <a:blip r:embed="rId6"/>
          <a:stretch>
            <a:fillRect/>
          </a:stretch>
        </p:blipFill>
        <p:spPr>
          <a:xfrm>
            <a:off x="6861175" y="549275"/>
            <a:ext cx="885825" cy="941388"/>
          </a:xfrm>
          <a:prstGeom prst="rect">
            <a:avLst/>
          </a:prstGeom>
          <a:noFill/>
          <a:ln w="9525">
            <a:noFill/>
          </a:ln>
        </p:spPr>
      </p:pic>
      <p:sp>
        <p:nvSpPr>
          <p:cNvPr id="22538" name="灯片编号占位符 4"/>
          <p:cNvSpPr txBox="1"/>
          <p:nvPr/>
        </p:nvSpPr>
        <p:spPr>
          <a:xfrm>
            <a:off x="7885113" y="6442075"/>
            <a:ext cx="1008062" cy="215900"/>
          </a:xfrm>
          <a:prstGeom prst="rect">
            <a:avLst/>
          </a:prstGeom>
          <a:noFill/>
          <a:ln w="9525">
            <a:noFill/>
          </a:ln>
        </p:spPr>
        <p:txBody>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latin typeface="+mn-lt"/>
                <a:ea typeface="+mn-ea"/>
                <a:cs typeface="+mn-cs"/>
              </a:defRPr>
            </a:lvl5pPr>
          </a:lstStyle>
          <a:p>
            <a:pPr marL="0" lvl="0" indent="0" algn="r">
              <a:buClrTx/>
              <a:buSzTx/>
              <a:buFontTx/>
              <a:buNone/>
            </a:pPr>
            <a:fld id="{9A0DB2DC-4C9A-4742-B13C-FB6460FD3503}" type="slidenum">
              <a:rPr lang="en-US" altLang="zh-CN" sz="1200" dirty="0">
                <a:latin typeface="微软雅黑" panose="020B0503020204020204" pitchFamily="34" charset="-122"/>
                <a:ea typeface="微软雅黑" panose="020B0503020204020204" pitchFamily="34" charset="-122"/>
              </a:rPr>
              <a:t>8</a:t>
            </a:fld>
            <a:endParaRPr lang="en-US" altLang="zh-CN" sz="1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Object-Oriented Languages</a:t>
            </a:r>
            <a:endParaRPr kumimoji="1" lang="zh-CN" altLang="en-US" sz="40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24579" name="日期占位符 3"/>
          <p:cNvSpPr txBox="1">
            <a:spLocks noGrp="1"/>
          </p:cNvSpPr>
          <p:nvPr>
            <p:ph type="dt" sz="half" idx="10"/>
          </p:nvPr>
        </p:nvSpPr>
        <p:spPr>
          <a:ln/>
        </p:spPr>
        <p:txBody>
          <a:bodyPr/>
          <a:lstStyle/>
          <a:p>
            <a:pPr marL="0" indent="0" eaLnBrk="1" hangingPunct="1">
              <a:spcBef>
                <a:spcPct val="50000"/>
              </a:spcBef>
              <a:buClrTx/>
              <a:buSzTx/>
              <a:buFontTx/>
              <a:buNone/>
            </a:pPr>
            <a:fld id="{BB962C8B-B14F-4D97-AF65-F5344CB8AC3E}" type="datetime1">
              <a:rPr lang="zh-CN" altLang="en-US" sz="1400" dirty="0">
                <a:solidFill>
                  <a:srgbClr val="000000"/>
                </a:solidFill>
                <a:effectLst/>
                <a:latin typeface="Times New Roman" panose="02020603050405020304" pitchFamily="18" charset="0"/>
              </a:rPr>
              <a:t>2025/9/15</a:t>
            </a:fld>
            <a:endParaRPr lang="zh-CN" altLang="en-US" sz="1400" dirty="0">
              <a:solidFill>
                <a:srgbClr val="000000"/>
              </a:solidFill>
              <a:effectLst/>
              <a:latin typeface="Times New Roman" panose="02020603050405020304" pitchFamily="18" charset="0"/>
            </a:endParaRPr>
          </a:p>
        </p:txBody>
      </p:sp>
      <p:sp>
        <p:nvSpPr>
          <p:cNvPr id="24580" name="灯片编号占位符 5"/>
          <p:cNvSpPr txBox="1">
            <a:spLocks noGrp="1"/>
          </p:cNvSpPr>
          <p:nvPr>
            <p:ph type="sldNum" sz="quarter" idx="12"/>
          </p:nvPr>
        </p:nvSpPr>
        <p:spPr>
          <a:ln/>
        </p:spPr>
        <p:txBody>
          <a:bodyPr/>
          <a:lstStyle/>
          <a:p>
            <a:pPr marL="0" indent="0" algn="r" eaLnBrk="1" hangingPunct="1">
              <a:spcBef>
                <a:spcPct val="50000"/>
              </a:spcBef>
              <a:buClrTx/>
              <a:buSzTx/>
              <a:buFontTx/>
              <a:buNone/>
            </a:pPr>
            <a:fld id="{9A0DB2DC-4C9A-4742-B13C-FB6460FD3503}" type="slidenum">
              <a:rPr lang="zh-CN" altLang="en-US" sz="1400" dirty="0">
                <a:solidFill>
                  <a:srgbClr val="000000"/>
                </a:solidFill>
                <a:effectLst/>
                <a:latin typeface="Times New Roman" panose="02020603050405020304" pitchFamily="18" charset="0"/>
              </a:rPr>
              <a:t>9</a:t>
            </a:fld>
            <a:endParaRPr lang="zh-CN" altLang="en-US" sz="1400" dirty="0">
              <a:solidFill>
                <a:srgbClr val="000000"/>
              </a:solidFill>
              <a:effectLst/>
              <a:latin typeface="Times New Roman" panose="02020603050405020304" pitchFamily="18" charset="0"/>
            </a:endParaRPr>
          </a:p>
        </p:txBody>
      </p:sp>
      <p:sp>
        <p:nvSpPr>
          <p:cNvPr id="9" name="内容占位符 2"/>
          <p:cNvSpPr>
            <a:spLocks noGrp="1"/>
          </p:cNvSpPr>
          <p:nvPr>
            <p:ph idx="1"/>
          </p:nvPr>
        </p:nvSpPr>
        <p:spPr>
          <a:xfrm>
            <a:off x="576263" y="2039938"/>
            <a:ext cx="7991475" cy="417671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Most object-oriented languages are high-level languages.</a:t>
            </a:r>
          </a:p>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The focus of OOP languages is not on structure, but on </a:t>
            </a:r>
            <a:r>
              <a:rPr kumimoji="1" lang="en-US" altLang="zh-CN" sz="24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modeling data</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 </a:t>
            </a:r>
          </a:p>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Programmers code using “blueprints” of data models called </a:t>
            </a:r>
            <a:r>
              <a:rPr kumimoji="1" lang="en-US" altLang="zh-CN" sz="2400" b="1" i="1"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classes</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 </a:t>
            </a:r>
          </a:p>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Example of OOP languages include C++, Visual </a:t>
            </a:r>
            <a:r>
              <a:rPr kumimoji="1" lang="en-US" altLang="zh-CN" sz="2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Basic.NET</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 and Java etc. </a:t>
            </a:r>
            <a:endParaRPr kumimoji="1" lang="zh-CN" altLang="en-US"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endParaRPr>
          </a:p>
        </p:txBody>
      </p:sp>
      <p:sp>
        <p:nvSpPr>
          <p:cNvPr id="24582" name="灯片编号占位符 4"/>
          <p:cNvSpPr txBox="1"/>
          <p:nvPr/>
        </p:nvSpPr>
        <p:spPr>
          <a:xfrm>
            <a:off x="7885113" y="6442075"/>
            <a:ext cx="1008062" cy="215900"/>
          </a:xfrm>
          <a:prstGeom prst="rect">
            <a:avLst/>
          </a:prstGeom>
          <a:noFill/>
          <a:ln w="9525">
            <a:noFill/>
          </a:ln>
        </p:spPr>
        <p:txBody>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latin typeface="+mn-lt"/>
                <a:ea typeface="+mn-ea"/>
                <a:cs typeface="+mn-cs"/>
              </a:defRPr>
            </a:lvl5pPr>
          </a:lstStyle>
          <a:p>
            <a:pPr marL="0" lvl="0" indent="0" algn="r">
              <a:buClrTx/>
              <a:buSzTx/>
              <a:buFontTx/>
              <a:buNone/>
            </a:pPr>
            <a:fld id="{9A0DB2DC-4C9A-4742-B13C-FB6460FD3503}" type="slidenum">
              <a:rPr lang="en-US" altLang="zh-CN" sz="1200" dirty="0">
                <a:latin typeface="微软雅黑" panose="020B0503020204020204" pitchFamily="34" charset="-122"/>
                <a:ea typeface="微软雅黑" panose="020B0503020204020204" pitchFamily="34" charset="-122"/>
              </a:rPr>
              <a:t>9</a:t>
            </a:fld>
            <a:endParaRPr lang="en-US" altLang="zh-CN" sz="1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4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Differences</a:t>
            </a:r>
            <a:endParaRPr kumimoji="1" lang="zh-CN" altLang="en-US" sz="44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25603" name="日期占位符 3"/>
          <p:cNvSpPr txBox="1">
            <a:spLocks noGrp="1"/>
          </p:cNvSpPr>
          <p:nvPr>
            <p:ph type="dt" sz="half" idx="10"/>
          </p:nvPr>
        </p:nvSpPr>
        <p:spPr>
          <a:ln/>
        </p:spPr>
        <p:txBody>
          <a:bodyPr/>
          <a:lstStyle/>
          <a:p>
            <a:pPr marL="0" indent="0" eaLnBrk="1" hangingPunct="1">
              <a:spcBef>
                <a:spcPct val="50000"/>
              </a:spcBef>
              <a:buClrTx/>
              <a:buSzTx/>
              <a:buFontTx/>
              <a:buNone/>
            </a:pPr>
            <a:fld id="{BB962C8B-B14F-4D97-AF65-F5344CB8AC3E}" type="datetime1">
              <a:rPr lang="zh-CN" altLang="en-US" sz="1400" dirty="0">
                <a:solidFill>
                  <a:srgbClr val="000000"/>
                </a:solidFill>
                <a:effectLst/>
                <a:latin typeface="Times New Roman" panose="02020603050405020304" pitchFamily="18" charset="0"/>
              </a:rPr>
              <a:t>2025/9/15</a:t>
            </a:fld>
            <a:endParaRPr lang="zh-CN" altLang="en-US" sz="1400" dirty="0">
              <a:solidFill>
                <a:srgbClr val="000000"/>
              </a:solidFill>
              <a:effectLst/>
              <a:latin typeface="Times New Roman" panose="02020603050405020304" pitchFamily="18" charset="0"/>
            </a:endParaRPr>
          </a:p>
        </p:txBody>
      </p:sp>
      <p:sp>
        <p:nvSpPr>
          <p:cNvPr id="9" name="内容占位符 2"/>
          <p:cNvSpPr>
            <a:spLocks noGrp="1"/>
          </p:cNvSpPr>
          <p:nvPr>
            <p:ph idx="1"/>
          </p:nvPr>
        </p:nvSpPr>
        <p:spPr>
          <a:xfrm>
            <a:off x="465138" y="1835150"/>
            <a:ext cx="7772400" cy="4176713"/>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Procedural languages</a:t>
            </a:r>
          </a:p>
          <a:p>
            <a:pPr marL="742950" marR="0" lvl="1" indent="-285750" algn="just"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Every small system has specific starts and ends. There is rigorous relationship between the starts and ends. </a:t>
            </a:r>
          </a:p>
          <a:p>
            <a:pPr marL="742950" marR="0" lvl="1" indent="-285750" algn="just"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God creates human, how about 7,000 million human?</a:t>
            </a:r>
          </a:p>
          <a:p>
            <a:pPr marL="342900" marR="0" lvl="0" indent="-342900" algn="just"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Object-oriented languages</a:t>
            </a:r>
          </a:p>
          <a:p>
            <a:pPr marL="742950" marR="0" lvl="1" indent="-285750" algn="just"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God creates human, think the pattern of a human first. The image of a human is abstract. However, a certain human is concrete. </a:t>
            </a:r>
          </a:p>
          <a:p>
            <a:pPr marL="742950" marR="0" lvl="1" indent="-285750" algn="just"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Use </a:t>
            </a:r>
            <a:r>
              <a:rPr kumimoji="1" lang="en-US" altLang="zh-CN" sz="24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class</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 and </a:t>
            </a:r>
            <a:r>
              <a:rPr kumimoji="1" lang="en-US" altLang="zh-CN" sz="24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object</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 to describe data. </a:t>
            </a:r>
          </a:p>
        </p:txBody>
      </p:sp>
      <p:sp>
        <p:nvSpPr>
          <p:cNvPr id="25605" name="灯片编号占位符 4"/>
          <p:cNvSpPr txBox="1">
            <a:spLocks noGrp="1"/>
          </p:cNvSpPr>
          <p:nvPr>
            <p:ph type="sldNum" sz="quarter" idx="12"/>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10</a:t>
            </a:fld>
            <a:endParaRPr lang="en-US" altLang="zh-CN" sz="1200" dirty="0">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6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Differences -procedural</a:t>
            </a:r>
            <a:endParaRPr kumimoji="1" lang="zh-CN" altLang="en-US" sz="36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27651" name="日期占位符 3"/>
          <p:cNvSpPr txBox="1">
            <a:spLocks noGrp="1"/>
          </p:cNvSpPr>
          <p:nvPr>
            <p:ph type="dt" sz="half" idx="10"/>
          </p:nvPr>
        </p:nvSpPr>
        <p:spPr>
          <a:ln/>
        </p:spPr>
        <p:txBody>
          <a:bodyPr/>
          <a:lstStyle/>
          <a:p>
            <a:pPr marL="0" indent="0" eaLnBrk="1" hangingPunct="1">
              <a:spcBef>
                <a:spcPct val="50000"/>
              </a:spcBef>
              <a:buClrTx/>
              <a:buSzTx/>
              <a:buFontTx/>
              <a:buNone/>
            </a:pPr>
            <a:fld id="{BB962C8B-B14F-4D97-AF65-F5344CB8AC3E}" type="datetime1">
              <a:rPr lang="zh-CN" altLang="en-US" sz="1400" dirty="0">
                <a:solidFill>
                  <a:srgbClr val="000000"/>
                </a:solidFill>
                <a:effectLst/>
                <a:latin typeface="Times New Roman" panose="02020603050405020304" pitchFamily="18" charset="0"/>
              </a:rPr>
              <a:t>2025/9/15</a:t>
            </a:fld>
            <a:endParaRPr lang="zh-CN" altLang="en-US" sz="1400" dirty="0">
              <a:solidFill>
                <a:srgbClr val="000000"/>
              </a:solidFill>
              <a:effectLst/>
              <a:latin typeface="Times New Roman" panose="02020603050405020304" pitchFamily="18" charset="0"/>
            </a:endParaRPr>
          </a:p>
        </p:txBody>
      </p:sp>
      <p:sp>
        <p:nvSpPr>
          <p:cNvPr id="27652" name="灯片编号占位符 5"/>
          <p:cNvSpPr txBox="1">
            <a:spLocks noGrp="1"/>
          </p:cNvSpPr>
          <p:nvPr>
            <p:ph type="sldNum" sz="quarter" idx="12"/>
          </p:nvPr>
        </p:nvSpPr>
        <p:spPr>
          <a:ln/>
        </p:spPr>
        <p:txBody>
          <a:bodyPr/>
          <a:lstStyle/>
          <a:p>
            <a:pPr marL="0" indent="0" algn="r" eaLnBrk="1" hangingPunct="1">
              <a:spcBef>
                <a:spcPct val="50000"/>
              </a:spcBef>
              <a:buClrTx/>
              <a:buSzTx/>
              <a:buFontTx/>
              <a:buNone/>
            </a:pPr>
            <a:fld id="{9A0DB2DC-4C9A-4742-B13C-FB6460FD3503}" type="slidenum">
              <a:rPr lang="zh-CN" altLang="en-US" sz="1400" dirty="0">
                <a:solidFill>
                  <a:srgbClr val="000000"/>
                </a:solidFill>
                <a:effectLst/>
                <a:latin typeface="Times New Roman" panose="02020603050405020304" pitchFamily="18" charset="0"/>
              </a:rPr>
              <a:t>11</a:t>
            </a:fld>
            <a:endParaRPr lang="zh-CN" altLang="en-US" sz="1400" dirty="0">
              <a:solidFill>
                <a:srgbClr val="000000"/>
              </a:solidFill>
              <a:effectLst/>
              <a:latin typeface="Times New Roman" panose="02020603050405020304" pitchFamily="18" charset="0"/>
            </a:endParaRPr>
          </a:p>
        </p:txBody>
      </p:sp>
      <p:pic>
        <p:nvPicPr>
          <p:cNvPr id="27653" name="内容占位符 7"/>
          <p:cNvPicPr>
            <a:picLocks noGrp="1" noChangeAspect="1"/>
          </p:cNvPicPr>
          <p:nvPr>
            <p:ph idx="1"/>
          </p:nvPr>
        </p:nvPicPr>
        <p:blipFill>
          <a:blip r:embed="rId3"/>
          <a:srcRect/>
          <a:stretch>
            <a:fillRect/>
          </a:stretch>
        </p:blipFill>
        <p:spPr>
          <a:xfrm>
            <a:off x="277813" y="1916113"/>
            <a:ext cx="3744912" cy="2260600"/>
          </a:xfrm>
          <a:ln/>
        </p:spPr>
      </p:pic>
      <p:pic>
        <p:nvPicPr>
          <p:cNvPr id="27654" name="图片 9"/>
          <p:cNvPicPr>
            <a:picLocks noChangeAspect="1"/>
          </p:cNvPicPr>
          <p:nvPr/>
        </p:nvPicPr>
        <p:blipFill>
          <a:blip r:embed="rId4"/>
          <a:srcRect l="3442" t="8340"/>
          <a:stretch>
            <a:fillRect/>
          </a:stretch>
        </p:blipFill>
        <p:spPr>
          <a:xfrm>
            <a:off x="4240213" y="3929063"/>
            <a:ext cx="4625975" cy="2471737"/>
          </a:xfrm>
          <a:prstGeom prst="rect">
            <a:avLst/>
          </a:prstGeom>
          <a:noFill/>
          <a:ln w="9525">
            <a:noFill/>
          </a:ln>
        </p:spPr>
      </p:pic>
      <p:sp>
        <p:nvSpPr>
          <p:cNvPr id="27655" name="灯片编号占位符 4"/>
          <p:cNvSpPr txBox="1"/>
          <p:nvPr/>
        </p:nvSpPr>
        <p:spPr>
          <a:xfrm>
            <a:off x="7885113" y="6442075"/>
            <a:ext cx="1008062" cy="215900"/>
          </a:xfrm>
          <a:prstGeom prst="rect">
            <a:avLst/>
          </a:prstGeom>
          <a:noFill/>
          <a:ln w="9525">
            <a:noFill/>
          </a:ln>
        </p:spPr>
        <p:txBody>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latin typeface="+mn-lt"/>
                <a:ea typeface="+mn-ea"/>
                <a:cs typeface="+mn-cs"/>
              </a:defRPr>
            </a:lvl5pPr>
          </a:lstStyle>
          <a:p>
            <a:pPr marL="0" lvl="0" indent="0" algn="r">
              <a:buClrTx/>
              <a:buSzTx/>
              <a:buFontTx/>
              <a:buNone/>
            </a:pPr>
            <a:fld id="{9A0DB2DC-4C9A-4742-B13C-FB6460FD3503}" type="slidenum">
              <a:rPr lang="en-US" altLang="zh-CN" sz="1200" dirty="0">
                <a:latin typeface="微软雅黑" panose="020B0503020204020204" pitchFamily="34" charset="-122"/>
                <a:ea typeface="微软雅黑" panose="020B0503020204020204" pitchFamily="34" charset="-122"/>
              </a:rPr>
              <a:t>11</a:t>
            </a:fld>
            <a:endParaRPr lang="en-US" altLang="zh-CN" sz="1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Differences – OO</a:t>
            </a:r>
            <a:endParaRPr kumimoji="1" lang="zh-CN" altLang="en-US" sz="40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29699" name="日期占位符 3"/>
          <p:cNvSpPr txBox="1">
            <a:spLocks noGrp="1"/>
          </p:cNvSpPr>
          <p:nvPr>
            <p:ph type="dt" sz="half" idx="10"/>
          </p:nvPr>
        </p:nvSpPr>
        <p:spPr>
          <a:ln/>
        </p:spPr>
        <p:txBody>
          <a:bodyPr/>
          <a:lstStyle/>
          <a:p>
            <a:pPr marL="0" indent="0" eaLnBrk="1" hangingPunct="1">
              <a:spcBef>
                <a:spcPct val="50000"/>
              </a:spcBef>
              <a:buClrTx/>
              <a:buSzTx/>
              <a:buFontTx/>
              <a:buNone/>
            </a:pPr>
            <a:fld id="{BB962C8B-B14F-4D97-AF65-F5344CB8AC3E}" type="datetime1">
              <a:rPr lang="zh-CN" altLang="en-US" sz="1400" dirty="0">
                <a:solidFill>
                  <a:srgbClr val="000000"/>
                </a:solidFill>
                <a:effectLst/>
                <a:latin typeface="Times New Roman" panose="02020603050405020304" pitchFamily="18" charset="0"/>
              </a:rPr>
              <a:t>2025/9/15</a:t>
            </a:fld>
            <a:endParaRPr lang="zh-CN" altLang="en-US" sz="1400" dirty="0">
              <a:solidFill>
                <a:srgbClr val="000000"/>
              </a:solidFill>
              <a:effectLst/>
              <a:latin typeface="Times New Roman" panose="02020603050405020304" pitchFamily="18" charset="0"/>
            </a:endParaRPr>
          </a:p>
        </p:txBody>
      </p:sp>
      <p:sp>
        <p:nvSpPr>
          <p:cNvPr id="29700" name="灯片编号占位符 5"/>
          <p:cNvSpPr txBox="1">
            <a:spLocks noGrp="1"/>
          </p:cNvSpPr>
          <p:nvPr>
            <p:ph type="sldNum" sz="quarter" idx="12"/>
          </p:nvPr>
        </p:nvSpPr>
        <p:spPr>
          <a:ln/>
        </p:spPr>
        <p:txBody>
          <a:bodyPr/>
          <a:lstStyle/>
          <a:p>
            <a:pPr marL="0" indent="0" algn="r" eaLnBrk="1" hangingPunct="1">
              <a:spcBef>
                <a:spcPct val="50000"/>
              </a:spcBef>
              <a:buClrTx/>
              <a:buSzTx/>
              <a:buFontTx/>
              <a:buNone/>
            </a:pPr>
            <a:fld id="{9A0DB2DC-4C9A-4742-B13C-FB6460FD3503}" type="slidenum">
              <a:rPr lang="zh-CN" altLang="en-US" sz="1400" dirty="0">
                <a:solidFill>
                  <a:srgbClr val="000000"/>
                </a:solidFill>
                <a:effectLst/>
                <a:latin typeface="Times New Roman" panose="02020603050405020304" pitchFamily="18" charset="0"/>
              </a:rPr>
              <a:t>12</a:t>
            </a:fld>
            <a:endParaRPr lang="zh-CN" altLang="en-US" sz="1400" dirty="0">
              <a:solidFill>
                <a:srgbClr val="000000"/>
              </a:solidFill>
              <a:effectLst/>
              <a:latin typeface="Times New Roman" panose="02020603050405020304" pitchFamily="18" charset="0"/>
            </a:endParaRPr>
          </a:p>
        </p:txBody>
      </p:sp>
      <p:pic>
        <p:nvPicPr>
          <p:cNvPr id="29701" name="内容占位符 8"/>
          <p:cNvPicPr>
            <a:picLocks noGrp="1" noChangeAspect="1"/>
          </p:cNvPicPr>
          <p:nvPr>
            <p:ph idx="1"/>
          </p:nvPr>
        </p:nvPicPr>
        <p:blipFill>
          <a:blip r:embed="rId3"/>
          <a:srcRect/>
          <a:stretch>
            <a:fillRect/>
          </a:stretch>
        </p:blipFill>
        <p:spPr>
          <a:xfrm>
            <a:off x="1638300" y="2132013"/>
            <a:ext cx="5597525" cy="3976687"/>
          </a:xfrm>
          <a:ln/>
        </p:spPr>
      </p:pic>
      <p:sp>
        <p:nvSpPr>
          <p:cNvPr id="29702" name="灯片编号占位符 4"/>
          <p:cNvSpPr txBox="1"/>
          <p:nvPr/>
        </p:nvSpPr>
        <p:spPr>
          <a:xfrm>
            <a:off x="7885113" y="6442075"/>
            <a:ext cx="1008062" cy="215900"/>
          </a:xfrm>
          <a:prstGeom prst="rect">
            <a:avLst/>
          </a:prstGeom>
          <a:noFill/>
          <a:ln w="9525">
            <a:noFill/>
          </a:ln>
        </p:spPr>
        <p:txBody>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latin typeface="+mn-lt"/>
                <a:ea typeface="+mn-ea"/>
                <a:cs typeface="+mn-cs"/>
              </a:defRPr>
            </a:lvl5pPr>
          </a:lstStyle>
          <a:p>
            <a:pPr marL="0" lvl="0" indent="0" algn="r">
              <a:buClrTx/>
              <a:buSzTx/>
              <a:buFontTx/>
              <a:buNone/>
            </a:pPr>
            <a:fld id="{9A0DB2DC-4C9A-4742-B13C-FB6460FD3503}" type="slidenum">
              <a:rPr lang="en-US" altLang="zh-CN" sz="1200" dirty="0">
                <a:latin typeface="微软雅黑" panose="020B0503020204020204" pitchFamily="34" charset="-122"/>
                <a:ea typeface="微软雅黑" panose="020B0503020204020204" pitchFamily="34" charset="-122"/>
              </a:rPr>
              <a:t>12</a:t>
            </a:fld>
            <a:endParaRPr lang="en-US" altLang="zh-CN" sz="1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日期占位符 3"/>
          <p:cNvSpPr txBox="1">
            <a:spLocks noGrp="1"/>
          </p:cNvSpPr>
          <p:nvPr>
            <p:ph type="dt" sz="half" idx="10"/>
          </p:nvPr>
        </p:nvSpPr>
        <p:spPr>
          <a:ln/>
        </p:spPr>
        <p:txBody>
          <a:bodyPr/>
          <a:lstStyle/>
          <a:p>
            <a:pPr marL="0" indent="0" eaLnBrk="1" hangingPunct="1">
              <a:spcBef>
                <a:spcPct val="50000"/>
              </a:spcBef>
              <a:buClrTx/>
              <a:buSzTx/>
              <a:buFontTx/>
              <a:buNone/>
            </a:pPr>
            <a:fld id="{BB962C8B-B14F-4D97-AF65-F5344CB8AC3E}" type="datetime1">
              <a:rPr lang="zh-CN" altLang="en-US" sz="1400" dirty="0">
                <a:solidFill>
                  <a:srgbClr val="000000"/>
                </a:solidFill>
                <a:effectLst/>
                <a:latin typeface="Times New Roman" panose="02020603050405020304" pitchFamily="18" charset="0"/>
              </a:rPr>
              <a:t>2025/9/15</a:t>
            </a:fld>
            <a:endParaRPr lang="zh-CN" altLang="en-US" sz="1400" dirty="0">
              <a:solidFill>
                <a:srgbClr val="000000"/>
              </a:solidFill>
              <a:effectLst/>
              <a:latin typeface="Times New Roman" panose="02020603050405020304" pitchFamily="18" charset="0"/>
            </a:endParaRPr>
          </a:p>
        </p:txBody>
      </p:sp>
      <p:sp>
        <p:nvSpPr>
          <p:cNvPr id="8" name="内容占位符 2"/>
          <p:cNvSpPr txBox="1">
            <a:spLocks noChangeArrowheads="1"/>
          </p:cNvSpPr>
          <p:nvPr/>
        </p:nvSpPr>
        <p:spPr bwMode="auto">
          <a:xfrm>
            <a:off x="539750" y="2066925"/>
            <a:ext cx="8064500" cy="4176713"/>
          </a:xfrm>
          <a:prstGeom prst="rect">
            <a:avLst/>
          </a:prstGeom>
          <a:noFill/>
          <a:ln>
            <a:noFill/>
          </a:ln>
        </p:spPr>
        <p:txBody>
          <a:bodyPr/>
          <a:lstStyle>
            <a:lvl1pPr marL="342900" indent="-342900">
              <a:spcBef>
                <a:spcPct val="20000"/>
              </a:spcBef>
              <a:buClr>
                <a:schemeClr val="accent1"/>
              </a:buClr>
              <a:buSzPct val="8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342900" marR="0" lvl="0" indent="-342900" algn="just" defTabSz="914400" rtl="0" eaLnBrk="1" fontAlgn="base" latinLnBrk="0" hangingPunct="1">
              <a:lnSpc>
                <a:spcPct val="90000"/>
              </a:lnSpc>
              <a:spcBef>
                <a:spcPct val="20000"/>
              </a:spcBef>
              <a:spcAft>
                <a:spcPct val="0"/>
              </a:spcAft>
              <a:buClr>
                <a:schemeClr val="accent1"/>
              </a:buClr>
              <a:buSzPct val="80000"/>
              <a:buFont typeface="Arial" panose="020B0604020202020204" pitchFamily="34" charset="0"/>
              <a:buChar char="•"/>
              <a:defRPr/>
            </a:pPr>
            <a:r>
              <a:rPr kumimoji="1" lang="en-US"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Arial" panose="020B0604020202020204" pitchFamily="34" charset="0"/>
              </a:rPr>
              <a:t>The kernels of the operating systems, e.g., windows, </a:t>
            </a:r>
            <a:r>
              <a:rPr kumimoji="1" lang="en-US" altLang="zh-CN" sz="2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Arial" panose="020B0604020202020204" pitchFamily="34" charset="0"/>
              </a:rPr>
              <a:t>linux</a:t>
            </a:r>
            <a:r>
              <a:rPr kumimoji="1" lang="en-US"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Arial" panose="020B0604020202020204" pitchFamily="34" charset="0"/>
              </a:rPr>
              <a:t> and </a:t>
            </a:r>
            <a:r>
              <a:rPr kumimoji="1" lang="en-US" altLang="zh-CN" sz="2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Arial" panose="020B0604020202020204" pitchFamily="34" charset="0"/>
              </a:rPr>
              <a:t>unix</a:t>
            </a:r>
            <a:r>
              <a:rPr kumimoji="1" lang="en-US"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Arial" panose="020B0604020202020204" pitchFamily="34" charset="0"/>
              </a:rPr>
              <a:t> are written in C and assembly language, however, the high-level part of them is written by C++.</a:t>
            </a:r>
          </a:p>
          <a:p>
            <a:pPr marL="342900" marR="0" lvl="0" indent="-342900" algn="just" defTabSz="914400" rtl="0" eaLnBrk="1" fontAlgn="base" latinLnBrk="0" hangingPunct="1">
              <a:lnSpc>
                <a:spcPct val="90000"/>
              </a:lnSpc>
              <a:spcBef>
                <a:spcPct val="20000"/>
              </a:spcBef>
              <a:spcAft>
                <a:spcPct val="0"/>
              </a:spcAft>
              <a:buClr>
                <a:schemeClr val="accent1"/>
              </a:buClr>
              <a:buSzPct val="80000"/>
              <a:buFont typeface="Arial" panose="020B0604020202020204" pitchFamily="34" charset="0"/>
              <a:buChar char="•"/>
              <a:defRPr/>
            </a:pPr>
            <a:r>
              <a:rPr kumimoji="1" lang="en-US"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Arial" panose="020B0604020202020204" pitchFamily="34" charset="0"/>
              </a:rPr>
              <a:t>Create new languages, such as C#, Java, Python etc.</a:t>
            </a:r>
          </a:p>
          <a:p>
            <a:pPr marL="342900" marR="0" lvl="0" indent="-342900" algn="just" defTabSz="914400" rtl="0" eaLnBrk="1" fontAlgn="base" latinLnBrk="0" hangingPunct="1">
              <a:lnSpc>
                <a:spcPct val="90000"/>
              </a:lnSpc>
              <a:spcBef>
                <a:spcPct val="20000"/>
              </a:spcBef>
              <a:spcAft>
                <a:spcPct val="0"/>
              </a:spcAft>
              <a:buClr>
                <a:schemeClr val="accent1"/>
              </a:buClr>
              <a:buSzPct val="80000"/>
              <a:buFont typeface="Arial" panose="020B0604020202020204" pitchFamily="34" charset="0"/>
              <a:buChar char="•"/>
              <a:defRPr/>
            </a:pPr>
            <a:r>
              <a:rPr kumimoji="1" lang="en-US"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Arial" panose="020B0604020202020204" pitchFamily="34" charset="0"/>
              </a:rPr>
              <a:t>Games, such as “world of warcraft” (</a:t>
            </a:r>
            <a:r>
              <a:rPr kumimoji="1" lang="zh-CN" altLang="en-US"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Arial" panose="020B0604020202020204" pitchFamily="34" charset="0"/>
              </a:rPr>
              <a:t>魔兽世界）</a:t>
            </a:r>
            <a:r>
              <a:rPr kumimoji="1" lang="en-US"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Arial" panose="020B0604020202020204" pitchFamily="34" charset="0"/>
              </a:rPr>
              <a:t> </a:t>
            </a:r>
          </a:p>
          <a:p>
            <a:pPr marL="342900" marR="0" lvl="0" indent="-342900" algn="just" defTabSz="914400" rtl="0" eaLnBrk="1" fontAlgn="base" latinLnBrk="0" hangingPunct="1">
              <a:lnSpc>
                <a:spcPct val="90000"/>
              </a:lnSpc>
              <a:spcBef>
                <a:spcPct val="20000"/>
              </a:spcBef>
              <a:spcAft>
                <a:spcPct val="0"/>
              </a:spcAft>
              <a:buClr>
                <a:schemeClr val="accent1"/>
              </a:buClr>
              <a:buSzPct val="80000"/>
              <a:buFont typeface="Arial" panose="020B0604020202020204" pitchFamily="34" charset="0"/>
              <a:buChar char="•"/>
              <a:defRPr/>
            </a:pPr>
            <a:r>
              <a:rPr kumimoji="1" lang="en-US"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Arial" panose="020B0604020202020204" pitchFamily="34" charset="0"/>
              </a:rPr>
              <a:t>Scientific researches</a:t>
            </a:r>
          </a:p>
          <a:p>
            <a:pPr marL="342900" marR="0" lvl="0" indent="-342900" algn="just" defTabSz="914400" rtl="0" eaLnBrk="1" fontAlgn="base" latinLnBrk="0" hangingPunct="1">
              <a:lnSpc>
                <a:spcPct val="90000"/>
              </a:lnSpc>
              <a:spcBef>
                <a:spcPct val="20000"/>
              </a:spcBef>
              <a:spcAft>
                <a:spcPct val="0"/>
              </a:spcAft>
              <a:buClr>
                <a:schemeClr val="accent1"/>
              </a:buClr>
              <a:buSzPct val="80000"/>
              <a:buFont typeface="Arial" panose="020B0604020202020204" pitchFamily="34" charset="0"/>
              <a:buChar char="•"/>
              <a:defRPr/>
            </a:pPr>
            <a:r>
              <a:rPr kumimoji="1" lang="en-US"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Arial" panose="020B0604020202020204" pitchFamily="34" charset="0"/>
              </a:rPr>
              <a:t>Telecommunication </a:t>
            </a:r>
          </a:p>
          <a:p>
            <a:pPr marL="342900" marR="0" lvl="0" indent="-342900" algn="just" defTabSz="914400" rtl="0" eaLnBrk="1" fontAlgn="base" latinLnBrk="0" hangingPunct="1">
              <a:lnSpc>
                <a:spcPct val="90000"/>
              </a:lnSpc>
              <a:spcBef>
                <a:spcPct val="20000"/>
              </a:spcBef>
              <a:spcAft>
                <a:spcPct val="0"/>
              </a:spcAft>
              <a:buClr>
                <a:schemeClr val="accent1"/>
              </a:buClr>
              <a:buSzPct val="80000"/>
              <a:buFont typeface="Arial" panose="020B0604020202020204" pitchFamily="34" charset="0"/>
              <a:buChar char="•"/>
              <a:defRPr/>
            </a:pPr>
            <a:r>
              <a:rPr kumimoji="1" lang="en-US" altLang="zh-CN" sz="2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Arial" panose="020B0604020202020204" pitchFamily="34" charset="0"/>
              </a:rPr>
              <a:t>Softwares</a:t>
            </a:r>
            <a:r>
              <a:rPr kumimoji="1" lang="en-US"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Arial" panose="020B0604020202020204" pitchFamily="34" charset="0"/>
              </a:rPr>
              <a:t>, such as </a:t>
            </a:r>
            <a:r>
              <a:rPr kumimoji="1" lang="en-US" altLang="zh-CN" sz="2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Arial" panose="020B0604020202020204" pitchFamily="34" charset="0"/>
              </a:rPr>
              <a:t>3Dmax</a:t>
            </a:r>
            <a:r>
              <a:rPr kumimoji="1" lang="en-US"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Arial" panose="020B0604020202020204" pitchFamily="34" charset="0"/>
              </a:rPr>
              <a:t>, CAD, Photoshop, </a:t>
            </a:r>
            <a:r>
              <a:rPr kumimoji="1" lang="en-US" altLang="zh-CN" sz="2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Arial" panose="020B0604020202020204" pitchFamily="34" charset="0"/>
              </a:rPr>
              <a:t>QQ</a:t>
            </a:r>
            <a:r>
              <a:rPr kumimoji="1" lang="en-US"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Arial" panose="020B0604020202020204" pitchFamily="34" charset="0"/>
              </a:rPr>
              <a:t>, office</a:t>
            </a:r>
          </a:p>
          <a:p>
            <a:pPr marL="342900" marR="0" lvl="0" indent="-342900" algn="just" defTabSz="914400" rtl="0" eaLnBrk="1" fontAlgn="base" latinLnBrk="0" hangingPunct="1">
              <a:lnSpc>
                <a:spcPct val="90000"/>
              </a:lnSpc>
              <a:spcBef>
                <a:spcPct val="20000"/>
              </a:spcBef>
              <a:spcAft>
                <a:spcPct val="0"/>
              </a:spcAft>
              <a:buClr>
                <a:schemeClr val="accent1"/>
              </a:buClr>
              <a:buSzPct val="80000"/>
              <a:buFont typeface="Arial" panose="020B0604020202020204" pitchFamily="34" charset="0"/>
              <a:buChar char="•"/>
              <a:defRPr/>
            </a:pPr>
            <a:r>
              <a:rPr kumimoji="1" lang="en-US"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Arial" panose="020B0604020202020204" pitchFamily="34" charset="0"/>
              </a:rPr>
              <a:t>Hack, virus</a:t>
            </a:r>
          </a:p>
          <a:p>
            <a:pPr marL="342900" marR="0" lvl="0" indent="-342900" algn="just" defTabSz="914400" rtl="0" eaLnBrk="1" fontAlgn="base" latinLnBrk="0" hangingPunct="1">
              <a:lnSpc>
                <a:spcPct val="90000"/>
              </a:lnSpc>
              <a:spcBef>
                <a:spcPct val="20000"/>
              </a:spcBef>
              <a:spcAft>
                <a:spcPct val="0"/>
              </a:spcAft>
              <a:buClr>
                <a:schemeClr val="accent1"/>
              </a:buClr>
              <a:buSzPct val="80000"/>
              <a:buFont typeface="Arial" panose="020B0604020202020204" pitchFamily="34" charset="0"/>
              <a:buChar char="•"/>
              <a:defRPr/>
            </a:pPr>
            <a:r>
              <a:rPr kumimoji="1" lang="en-US"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Arial" panose="020B0604020202020204" pitchFamily="34" charset="0"/>
              </a:rPr>
              <a:t>Search engines, such as google, </a:t>
            </a:r>
            <a:r>
              <a:rPr kumimoji="1" lang="en-US" altLang="zh-CN" sz="2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Arial" panose="020B0604020202020204" pitchFamily="34" charset="0"/>
              </a:rPr>
              <a:t>baidu</a:t>
            </a:r>
            <a:endParaRPr kumimoji="1" lang="en-US"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Arial" panose="020B0604020202020204" pitchFamily="34" charset="0"/>
            </a:endParaRPr>
          </a:p>
          <a:p>
            <a:pPr marL="342900" marR="0" lvl="0" indent="-342900" algn="just" defTabSz="914400" rtl="0" eaLnBrk="1" fontAlgn="base" latinLnBrk="0" hangingPunct="1">
              <a:lnSpc>
                <a:spcPct val="90000"/>
              </a:lnSpc>
              <a:spcBef>
                <a:spcPct val="20000"/>
              </a:spcBef>
              <a:spcAft>
                <a:spcPct val="0"/>
              </a:spcAft>
              <a:buClr>
                <a:schemeClr val="accent1"/>
              </a:buClr>
              <a:buSzPct val="80000"/>
              <a:buFont typeface="Arial" panose="020B0604020202020204" pitchFamily="34" charset="0"/>
              <a:buChar char="•"/>
              <a:defRPr/>
            </a:pPr>
            <a:r>
              <a:rPr kumimoji="1" lang="en-US"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Arial" panose="020B0604020202020204" pitchFamily="34" charset="0"/>
              </a:rPr>
              <a:t>XML, HTML parser</a:t>
            </a:r>
          </a:p>
        </p:txBody>
      </p:sp>
      <p:sp>
        <p:nvSpPr>
          <p:cNvPr id="11" name="标题 1"/>
          <p:cNvSpPr txBox="1">
            <a:spLocks noChangeArrowheads="1"/>
          </p:cNvSpPr>
          <p:nvPr/>
        </p:nvSpPr>
        <p:spPr bwMode="auto">
          <a:xfrm>
            <a:off x="250825" y="498475"/>
            <a:ext cx="7772400" cy="1143000"/>
          </a:xfrm>
          <a:prstGeom prst="rect">
            <a:avLst/>
          </a:prstGeom>
          <a:noFill/>
          <a:ln>
            <a:noFill/>
          </a:ln>
        </p:spPr>
        <p:txBody>
          <a:bodyPr anchor="b"/>
          <a:lstStyle>
            <a:lvl1pPr algn="l" rtl="0" eaLnBrk="0" fontAlgn="base" hangingPunct="0">
              <a:spcBef>
                <a:spcPct val="0"/>
              </a:spcBef>
              <a:spcAft>
                <a:spcPct val="0"/>
              </a:spcAft>
              <a:defRPr kumimoji="1" sz="4400" kern="1200">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4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Arial" panose="020B0604020202020204" pitchFamily="34" charset="0"/>
                <a:ea typeface="微软雅黑" panose="020B0503020204020204" pitchFamily="34" charset="-122"/>
                <a:cs typeface="Arial" panose="020B0604020202020204" pitchFamily="34" charset="0"/>
              </a:rPr>
              <a:t>C++ Applications</a:t>
            </a:r>
            <a:endParaRPr kumimoji="1" lang="zh-CN" altLang="en-US" sz="44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31749" name="灯片编号占位符 4"/>
          <p:cNvSpPr txBox="1"/>
          <p:nvPr/>
        </p:nvSpPr>
        <p:spPr>
          <a:xfrm>
            <a:off x="7885113" y="6442075"/>
            <a:ext cx="1008062" cy="215900"/>
          </a:xfrm>
          <a:prstGeom prst="rect">
            <a:avLst/>
          </a:prstGeom>
          <a:noFill/>
          <a:ln w="9525">
            <a:noFill/>
          </a:ln>
        </p:spPr>
        <p:txBody>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latin typeface="+mn-lt"/>
                <a:ea typeface="+mn-ea"/>
                <a:cs typeface="+mn-cs"/>
              </a:defRPr>
            </a:lvl5pPr>
          </a:lstStyle>
          <a:p>
            <a:pPr marL="0" lvl="0" indent="0" algn="r">
              <a:buClrTx/>
              <a:buSzTx/>
              <a:buFontTx/>
              <a:buNone/>
            </a:pPr>
            <a:fld id="{9A0DB2DC-4C9A-4742-B13C-FB6460FD3503}" type="slidenum">
              <a:rPr lang="en-US" altLang="zh-CN" sz="1200" dirty="0">
                <a:latin typeface="微软雅黑" panose="020B0503020204020204" pitchFamily="34" charset="-122"/>
                <a:ea typeface="微软雅黑" panose="020B0503020204020204" pitchFamily="34" charset="-122"/>
              </a:rPr>
              <a:t>13</a:t>
            </a:fld>
            <a:endParaRPr lang="en-US" altLang="zh-CN" sz="1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Coding Style Requirements </a:t>
            </a:r>
            <a:br>
              <a:rPr kumimoji="1" lang="en-US" altLang="zh-CN" sz="3600" b="0" i="0" u="none" strike="noStrike" kern="120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br>
            <a:r>
              <a:rPr kumimoji="1" lang="en-US" altLang="zh-CN" sz="3600" b="0" i="0" u="none" strike="noStrike" kern="120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	-- Naming Conventions</a:t>
            </a:r>
          </a:p>
        </p:txBody>
      </p:sp>
      <p:sp>
        <p:nvSpPr>
          <p:cNvPr id="12291" name="Rectangle 3"/>
          <p:cNvSpPr>
            <a:spLocks noGrp="1" noChangeArrowheads="1"/>
          </p:cNvSpPr>
          <p:nvPr>
            <p:ph idx="1"/>
          </p:nvPr>
        </p:nvSpPr>
        <p:spPr>
          <a:xfrm>
            <a:off x="609600" y="1905000"/>
            <a:ext cx="7772400" cy="411480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2000" b="1" i="0" u="none" strike="noStrike" kern="120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Hungarian Notation</a:t>
            </a:r>
          </a:p>
          <a:p>
            <a:pPr marL="742950" marR="0" lvl="1" indent="-285750" algn="l" defTabSz="914400" rtl="0" eaLnBrk="1" fontAlgn="base" latinLnBrk="0" hangingPunct="1">
              <a:lnSpc>
                <a:spcPct val="90000"/>
              </a:lnSpc>
              <a:spcBef>
                <a:spcPct val="20000"/>
              </a:spcBef>
              <a:spcAft>
                <a:spcPct val="0"/>
              </a:spcAft>
              <a:buClr>
                <a:schemeClr val="tx2"/>
              </a:buClr>
              <a:buSzPct val="70000"/>
              <a:buFont typeface="Wingdings" panose="05000000000000000000" pitchFamily="2" charset="2"/>
              <a:buChar char="n"/>
              <a:defRPr/>
            </a:pPr>
            <a:r>
              <a:rPr kumimoji="1" lang="en-US" altLang="zh-CN" sz="2000" b="1" i="0" u="none" strike="noStrike" kern="120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[GlobalPrefix][TypePrefix]-BaseTag-Name</a:t>
            </a:r>
          </a:p>
          <a:p>
            <a:pPr marL="742950" marR="0" lvl="1" indent="-285750" algn="l" defTabSz="914400" rtl="0" eaLnBrk="1" fontAlgn="base" latinLnBrk="0" hangingPunct="1">
              <a:lnSpc>
                <a:spcPct val="90000"/>
              </a:lnSpc>
              <a:spcBef>
                <a:spcPct val="20000"/>
              </a:spcBef>
              <a:spcAft>
                <a:spcPct val="0"/>
              </a:spcAft>
              <a:buClr>
                <a:schemeClr val="tx2"/>
              </a:buClr>
              <a:buSzPct val="70000"/>
              <a:buFont typeface="Wingdings" panose="05000000000000000000" pitchFamily="2" charset="2"/>
              <a:buChar char="n"/>
              <a:defRPr/>
            </a:pPr>
            <a:r>
              <a:rPr kumimoji="1" lang="en-US" altLang="zh-CN" sz="1800" b="1" i="0" u="none" strike="noStrike" kern="120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[GlobalPrefix]</a:t>
            </a: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Char char="n"/>
              <a:defRPr/>
            </a:pPr>
            <a:r>
              <a:rPr kumimoji="1" lang="en-US" altLang="zh-CN" sz="1600" b="1" i="0" u="none" strike="noStrike" kern="120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C++ member variables start with: </a:t>
            </a:r>
            <a:r>
              <a:rPr kumimoji="1" lang="en-US" altLang="zh-CN" sz="1600" b="1" i="0" u="none" strike="noStrike" kern="1200" cap="none" spc="0" normalizeH="0" baseline="0" noProof="0">
                <a:ln>
                  <a:noFill/>
                </a:ln>
                <a:solidFill>
                  <a:srgbClr val="FFFF00"/>
                </a:solidFill>
                <a:effectLst>
                  <a:outerShdw blurRad="38100" dist="38100" dir="2700000" algn="tl">
                    <a:srgbClr val="000000"/>
                  </a:outerShdw>
                </a:effectLst>
                <a:uLnTx/>
                <a:uFillTx/>
                <a:latin typeface="+mn-lt"/>
                <a:ea typeface="+mn-ea"/>
                <a:cs typeface="+mn-cs"/>
              </a:rPr>
              <a:t>m_</a:t>
            </a: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Char char="n"/>
              <a:defRPr/>
            </a:pPr>
            <a:r>
              <a:rPr kumimoji="1" lang="en-US" altLang="zh-CN" sz="1600" b="1" i="0" u="none" strike="noStrike" kern="120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Global variables start with: </a:t>
            </a:r>
            <a:r>
              <a:rPr kumimoji="1" lang="en-US" altLang="zh-CN" sz="1600" b="1" i="0" u="none" strike="noStrike" kern="1200" cap="none" spc="0" normalizeH="0" baseline="0" noProof="0">
                <a:ln>
                  <a:noFill/>
                </a:ln>
                <a:solidFill>
                  <a:srgbClr val="FFFF00"/>
                </a:solidFill>
                <a:effectLst>
                  <a:outerShdw blurRad="38100" dist="38100" dir="2700000" algn="tl">
                    <a:srgbClr val="000000"/>
                  </a:outerShdw>
                </a:effectLst>
                <a:uLnTx/>
                <a:uFillTx/>
                <a:latin typeface="+mn-lt"/>
                <a:ea typeface="+mn-ea"/>
                <a:cs typeface="+mn-cs"/>
              </a:rPr>
              <a:t>g_</a:t>
            </a: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Char char="n"/>
              <a:defRPr/>
            </a:pPr>
            <a:r>
              <a:rPr kumimoji="1" lang="en-US" altLang="zh-CN" sz="1600" b="1" i="0" u="none" strike="noStrike" kern="120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Static data members start with: </a:t>
            </a:r>
            <a:r>
              <a:rPr kumimoji="1" lang="en-US" altLang="zh-CN" sz="1600" b="1" i="0" u="none" strike="noStrike" kern="1200" cap="none" spc="0" normalizeH="0" baseline="0" noProof="0">
                <a:ln>
                  <a:noFill/>
                </a:ln>
                <a:solidFill>
                  <a:srgbClr val="FFFF00"/>
                </a:solidFill>
                <a:effectLst>
                  <a:outerShdw blurRad="38100" dist="38100" dir="2700000" algn="tl">
                    <a:srgbClr val="000000"/>
                  </a:outerShdw>
                </a:effectLst>
                <a:uLnTx/>
                <a:uFillTx/>
                <a:latin typeface="+mn-lt"/>
                <a:ea typeface="+mn-ea"/>
                <a:cs typeface="+mn-cs"/>
              </a:rPr>
              <a:t>s_</a:t>
            </a: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Char char="n"/>
              <a:defRPr/>
            </a:pPr>
            <a:r>
              <a:rPr kumimoji="1" lang="en-US" altLang="zh-CN" sz="1600" b="1" i="0" u="none" strike="noStrike" kern="120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Classes start with: </a:t>
            </a:r>
            <a:r>
              <a:rPr kumimoji="1" lang="en-US" altLang="zh-CN" sz="1600" b="1" i="0" u="none" strike="noStrike" kern="1200" cap="none" spc="0" normalizeH="0" baseline="0" noProof="0">
                <a:ln>
                  <a:noFill/>
                </a:ln>
                <a:solidFill>
                  <a:srgbClr val="FFFF00"/>
                </a:solidFill>
                <a:effectLst>
                  <a:outerShdw blurRad="38100" dist="38100" dir="2700000" algn="tl">
                    <a:srgbClr val="000000"/>
                  </a:outerShdw>
                </a:effectLst>
                <a:uLnTx/>
                <a:uFillTx/>
                <a:latin typeface="+mn-lt"/>
                <a:ea typeface="+mn-ea"/>
                <a:cs typeface="+mn-cs"/>
              </a:rPr>
              <a:t>C</a:t>
            </a: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Char char="n"/>
              <a:defRPr/>
            </a:pPr>
            <a:r>
              <a:rPr kumimoji="1" lang="en-US" altLang="zh-CN" sz="1600" b="1" i="0" u="none" strike="noStrike" kern="120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Interfaces start with: </a:t>
            </a:r>
            <a:r>
              <a:rPr kumimoji="1" lang="en-US" altLang="zh-CN" sz="1600" b="1" i="0" u="none" strike="noStrike" kern="1200" cap="none" spc="0" normalizeH="0" baseline="0" noProof="0">
                <a:ln>
                  <a:noFill/>
                </a:ln>
                <a:solidFill>
                  <a:srgbClr val="FFFF00"/>
                </a:solidFill>
                <a:effectLst>
                  <a:outerShdw blurRad="38100" dist="38100" dir="2700000" algn="tl">
                    <a:srgbClr val="000000"/>
                  </a:outerShdw>
                </a:effectLst>
                <a:uLnTx/>
                <a:uFillTx/>
                <a:latin typeface="+mn-lt"/>
                <a:ea typeface="+mn-ea"/>
                <a:cs typeface="+mn-cs"/>
              </a:rPr>
              <a:t>I</a:t>
            </a:r>
          </a:p>
          <a:p>
            <a:pPr marL="742950" marR="0" lvl="1" indent="-285750" algn="l" defTabSz="914400" rtl="0" eaLnBrk="1" fontAlgn="base" latinLnBrk="0" hangingPunct="1">
              <a:lnSpc>
                <a:spcPct val="90000"/>
              </a:lnSpc>
              <a:spcBef>
                <a:spcPct val="20000"/>
              </a:spcBef>
              <a:spcAft>
                <a:spcPct val="0"/>
              </a:spcAft>
              <a:buClr>
                <a:schemeClr val="tx2"/>
              </a:buClr>
              <a:buSzPct val="70000"/>
              <a:buFont typeface="Wingdings" panose="05000000000000000000" pitchFamily="2" charset="2"/>
              <a:buChar char="n"/>
              <a:defRPr/>
            </a:pPr>
            <a:r>
              <a:rPr kumimoji="1" lang="en-US" altLang="zh-CN" sz="1800" b="1" i="0" u="none" strike="noStrike" kern="120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Standard [Prefix]:</a:t>
            </a: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None/>
              <a:defRPr/>
            </a:pPr>
            <a:r>
              <a:rPr kumimoji="1" lang="en-US" altLang="zh-CN" sz="1600" b="1" i="0" u="none" strike="noStrike" kern="1200" cap="none" spc="0" normalizeH="0" baseline="0" noProof="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p</a:t>
            </a:r>
            <a:r>
              <a:rPr kumimoji="1" lang="en-US" altLang="zh-CN" sz="1600" b="1" i="0" u="none" strike="noStrike" kern="1200" cap="none" spc="0" normalizeH="0" baseline="0" noProof="0">
                <a:ln>
                  <a:noFill/>
                </a:ln>
                <a:solidFill>
                  <a:schemeClr val="tx1"/>
                </a:solidFill>
                <a:effectLst>
                  <a:outerShdw blurRad="38100" dist="38100" dir="2700000" algn="tl">
                    <a:srgbClr val="000000"/>
                  </a:outerShdw>
                </a:effectLst>
                <a:uLnTx/>
                <a:uFillTx/>
                <a:latin typeface="Courier New" panose="02070309020205020404" pitchFamily="49" charset="0"/>
                <a:ea typeface="+mn-ea"/>
                <a:cs typeface="+mn-cs"/>
              </a:rPr>
              <a:t> – A pointer. </a:t>
            </a:r>
            <a:r>
              <a:rPr kumimoji="1" lang="en-US" altLang="zh-CN" sz="1600" b="1" i="0" u="none" strike="noStrike" kern="1200" cap="none" spc="0" normalizeH="0" baseline="0" noProof="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CHAR* psz;</a:t>
            </a: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None/>
              <a:defRPr/>
            </a:pPr>
            <a:r>
              <a:rPr kumimoji="1" lang="en-US" altLang="zh-CN" sz="1600" b="1" i="0" u="none" strike="noStrike" kern="1200" cap="none" spc="0" normalizeH="0" baseline="0" noProof="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rg</a:t>
            </a:r>
            <a:r>
              <a:rPr kumimoji="1" lang="en-US" altLang="zh-CN" sz="1600" b="1" i="0" u="none" strike="noStrike" kern="1200" cap="none" spc="0" normalizeH="0" baseline="0" noProof="0">
                <a:ln>
                  <a:noFill/>
                </a:ln>
                <a:solidFill>
                  <a:schemeClr val="tx1"/>
                </a:solidFill>
                <a:effectLst>
                  <a:outerShdw blurRad="38100" dist="38100" dir="2700000" algn="tl">
                    <a:srgbClr val="000000"/>
                  </a:outerShdw>
                </a:effectLst>
                <a:uLnTx/>
                <a:uFillTx/>
                <a:latin typeface="Courier New" panose="02070309020205020404" pitchFamily="49" charset="0"/>
                <a:ea typeface="+mn-ea"/>
                <a:cs typeface="+mn-cs"/>
              </a:rPr>
              <a:t> – An array. </a:t>
            </a:r>
            <a:r>
              <a:rPr kumimoji="1" lang="en-US" altLang="zh-CN" sz="1600" b="1" i="0" u="none" strike="noStrike" kern="1200" cap="none" spc="0" normalizeH="0" baseline="0" noProof="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DWORD rgType[…];</a:t>
            </a: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None/>
              <a:defRPr/>
            </a:pPr>
            <a:r>
              <a:rPr kumimoji="1" lang="en-US" altLang="zh-CN" sz="1600" b="1" i="0" u="none" strike="noStrike" kern="1200" cap="none" spc="0" normalizeH="0" baseline="0" noProof="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pp</a:t>
            </a:r>
            <a:r>
              <a:rPr kumimoji="1" lang="en-US" altLang="zh-CN" sz="1600" b="1" i="0" u="none" strike="noStrike" kern="1200" cap="none" spc="0" normalizeH="0" baseline="0" noProof="0">
                <a:ln>
                  <a:noFill/>
                </a:ln>
                <a:solidFill>
                  <a:schemeClr val="tx1"/>
                </a:solidFill>
                <a:effectLst>
                  <a:outerShdw blurRad="38100" dist="38100" dir="2700000" algn="tl">
                    <a:srgbClr val="000000"/>
                  </a:outerShdw>
                </a:effectLst>
                <a:uLnTx/>
                <a:uFillTx/>
                <a:latin typeface="Courier New" panose="02070309020205020404" pitchFamily="49" charset="0"/>
                <a:ea typeface="+mn-ea"/>
                <a:cs typeface="+mn-cs"/>
              </a:rPr>
              <a:t> – A pointer to a pointer. </a:t>
            </a:r>
            <a:r>
              <a:rPr kumimoji="1" lang="en-US" altLang="zh-CN" sz="1600" b="1" i="0" u="none" strike="noStrike" kern="1200" cap="none" spc="0" normalizeH="0" baseline="0" noProof="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int* ppTop;</a:t>
            </a: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None/>
              <a:defRPr/>
            </a:pPr>
            <a:r>
              <a:rPr kumimoji="1" lang="en-US" altLang="zh-CN" sz="1600" b="1" i="0" u="none" strike="noStrike" kern="1200" cap="none" spc="0" normalizeH="0" baseline="0" noProof="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h</a:t>
            </a:r>
            <a:r>
              <a:rPr kumimoji="1" lang="en-US" altLang="zh-CN" sz="1600" b="1" i="0" u="none" strike="noStrike" kern="1200" cap="none" spc="0" normalizeH="0" baseline="0" noProof="0">
                <a:ln>
                  <a:noFill/>
                </a:ln>
                <a:solidFill>
                  <a:schemeClr val="tx1"/>
                </a:solidFill>
                <a:effectLst>
                  <a:outerShdw blurRad="38100" dist="38100" dir="2700000" algn="tl">
                    <a:srgbClr val="000000"/>
                  </a:outerShdw>
                </a:effectLst>
                <a:uLnTx/>
                <a:uFillTx/>
                <a:latin typeface="Courier New" panose="02070309020205020404" pitchFamily="49" charset="0"/>
                <a:ea typeface="+mn-ea"/>
                <a:cs typeface="+mn-cs"/>
              </a:rPr>
              <a:t> – A handle. </a:t>
            </a:r>
            <a:r>
              <a:rPr kumimoji="1" lang="en-US" altLang="zh-CN" sz="1600" b="1" i="0" u="none" strike="noStrike" kern="1200" cap="none" spc="0" normalizeH="0" baseline="0" noProof="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HANDLE hFile;</a:t>
            </a: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None/>
              <a:defRPr/>
            </a:pPr>
            <a:r>
              <a:rPr kumimoji="1" lang="en-US" altLang="zh-CN" sz="1600" b="1" i="0" u="none" strike="noStrike" kern="1200" cap="none" spc="0" normalizeH="0" baseline="0" noProof="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ref</a:t>
            </a:r>
            <a:r>
              <a:rPr kumimoji="1" lang="en-US" altLang="zh-CN" sz="1600" b="1" i="0" u="none" strike="noStrike" kern="1200" cap="none" spc="0" normalizeH="0" baseline="0" noProof="0">
                <a:ln>
                  <a:noFill/>
                </a:ln>
                <a:solidFill>
                  <a:schemeClr val="tx1"/>
                </a:solidFill>
                <a:effectLst>
                  <a:outerShdw blurRad="38100" dist="38100" dir="2700000" algn="tl">
                    <a:srgbClr val="000000"/>
                  </a:outerShdw>
                </a:effectLst>
                <a:uLnTx/>
                <a:uFillTx/>
                <a:latin typeface="Courier New" panose="02070309020205020404" pitchFamily="49" charset="0"/>
                <a:ea typeface="+mn-ea"/>
                <a:cs typeface="+mn-cs"/>
              </a:rPr>
              <a:t> – A reference to. </a:t>
            </a:r>
            <a:r>
              <a:rPr kumimoji="1" lang="en-US" altLang="zh-CN" sz="1600" b="1" i="0" u="none" strike="noStrike" kern="1200" cap="none" spc="0" normalizeH="0" baseline="0" noProof="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char Func(string&amp; refResult);</a:t>
            </a:r>
          </a:p>
        </p:txBody>
      </p:sp>
      <p:sp>
        <p:nvSpPr>
          <p:cNvPr id="37892" name="灯片编号占位符 4"/>
          <p:cNvSpPr txBox="1">
            <a:spLocks noGrp="1"/>
          </p:cNvSpPr>
          <p:nvPr>
            <p:ph type="sldNum" sz="quarter" idx="12"/>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14</a:t>
            </a:fld>
            <a:endParaRPr lang="en-US" altLang="zh-CN" sz="1200" dirty="0">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Coding Style Requirements </a:t>
            </a:r>
            <a:br>
              <a:rPr kumimoji="1" lang="en-US" altLang="zh-CN" sz="3600" b="0" i="0" u="none" strike="noStrike" kern="120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br>
            <a:r>
              <a:rPr kumimoji="1" lang="en-US" altLang="zh-CN" sz="3600" b="0" i="0" u="none" strike="noStrike" kern="120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	-- Naming Conventions (cont.)</a:t>
            </a:r>
          </a:p>
        </p:txBody>
      </p:sp>
      <p:sp>
        <p:nvSpPr>
          <p:cNvPr id="13315" name="Rectangle 3"/>
          <p:cNvSpPr>
            <a:spLocks noGrp="1" noChangeArrowheads="1"/>
          </p:cNvSpPr>
          <p:nvPr>
            <p:ph idx="1"/>
          </p:nvPr>
        </p:nvSpPr>
        <p:spPr>
          <a:xfrm>
            <a:off x="685800" y="1981200"/>
            <a:ext cx="7772400" cy="4687888"/>
          </a:xfrm>
        </p:spPr>
        <p:txBody>
          <a:bodyPr vert="horz" wrap="square" lIns="91440" tIns="45720" rIns="91440" bIns="45720" numCol="1" anchor="t" anchorCtr="0" compatLnSpc="1"/>
          <a:lstStyle/>
          <a:p>
            <a:pPr marL="742950" marR="0" lvl="1" indent="-285750" algn="l" defTabSz="914400" rtl="0" eaLnBrk="1" fontAlgn="base" latinLnBrk="0" hangingPunct="1">
              <a:lnSpc>
                <a:spcPct val="90000"/>
              </a:lnSpc>
              <a:spcBef>
                <a:spcPct val="20000"/>
              </a:spcBef>
              <a:spcAft>
                <a:spcPct val="0"/>
              </a:spcAft>
              <a:buClr>
                <a:schemeClr val="tx2"/>
              </a:buClr>
              <a:buSzPct val="70000"/>
              <a:buFont typeface="Wingdings" panose="05000000000000000000" pitchFamily="2" charset="2"/>
              <a:buChar char="n"/>
              <a:defRPr/>
            </a:pPr>
            <a:r>
              <a:rPr kumimoji="1" lang="en-US" altLang="zh-CN" sz="18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Standard </a:t>
            </a:r>
            <a:r>
              <a:rPr kumimoji="1" lang="en-US" altLang="zh-CN" sz="18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1800" b="1"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BaseTag</a:t>
            </a:r>
            <a:r>
              <a:rPr kumimoji="1" lang="en-US" altLang="zh-CN" sz="18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endParaRPr kumimoji="1" lang="en-US" altLang="zh-CN" sz="18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None/>
              <a:defRPr/>
            </a:pPr>
            <a:r>
              <a:rPr kumimoji="1" lang="en-US" altLang="zh-CN" sz="16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void    -&gt; v          int     -&gt; </a:t>
            </a:r>
            <a:r>
              <a:rPr kumimoji="1" lang="en-US" altLang="zh-CN" sz="1600" b="1" i="0" u="none" strike="noStrike" kern="1200" cap="none" spc="0" normalizeH="0" baseline="0" noProof="0" dirty="0" err="1">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i</a:t>
            </a:r>
            <a:endParaRPr kumimoji="1" lang="en-US" altLang="zh-CN" sz="16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endParaRP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None/>
              <a:defRPr/>
            </a:pPr>
            <a:r>
              <a:rPr kumimoji="1" lang="en-US" altLang="zh-CN" sz="16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BOOL    -&gt; f          </a:t>
            </a:r>
            <a:r>
              <a:rPr kumimoji="1" lang="en-US" altLang="zh-CN" sz="1600" b="1" i="0" u="none" strike="noStrike" kern="1200" cap="none" spc="0" normalizeH="0" baseline="0" noProof="0" dirty="0" err="1">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UINT</a:t>
            </a:r>
            <a:r>
              <a:rPr kumimoji="1" lang="en-US" altLang="zh-CN" sz="16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    -&gt; </a:t>
            </a:r>
            <a:r>
              <a:rPr kumimoji="1" lang="en-US" altLang="zh-CN" sz="1600" b="1" i="0" u="none" strike="noStrike" kern="1200" cap="none" spc="0" normalizeH="0" baseline="0" noProof="0" dirty="0" err="1">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ui</a:t>
            </a:r>
            <a:endParaRPr kumimoji="1" lang="en-US" altLang="zh-CN" sz="16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endParaRP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None/>
              <a:defRPr/>
            </a:pPr>
            <a:r>
              <a:rPr kumimoji="1" lang="en-US" altLang="zh-CN" sz="16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BYTE    -&gt; b          CHAR    -&gt; </a:t>
            </a:r>
            <a:r>
              <a:rPr kumimoji="1" lang="en-US" altLang="zh-CN" sz="1600" b="1" i="0" u="none" strike="noStrike" kern="1200" cap="none" spc="0" normalizeH="0" baseline="0" noProof="0" dirty="0" err="1">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ch</a:t>
            </a:r>
            <a:endParaRPr kumimoji="1" lang="en-US" altLang="zh-CN" sz="16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endParaRP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None/>
              <a:defRPr/>
            </a:pPr>
            <a:r>
              <a:rPr kumimoji="1" lang="en-US" altLang="zh-CN" sz="16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Double  -&gt; d	       float	-&gt; </a:t>
            </a:r>
            <a:r>
              <a:rPr kumimoji="1" lang="en-US" altLang="zh-CN" sz="1600" b="1" i="0" u="none" strike="noStrike" kern="1200" cap="none" spc="0" normalizeH="0" baseline="0" noProof="0" dirty="0" err="1">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fl</a:t>
            </a:r>
            <a:r>
              <a:rPr kumimoji="1" lang="en-US" altLang="zh-CN" sz="16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  </a:t>
            </a: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None/>
              <a:defRPr/>
            </a:pPr>
            <a:r>
              <a:rPr kumimoji="1" lang="en-US" altLang="zh-CN" sz="1600" b="1" i="0" u="none" strike="noStrike" kern="1200" cap="none" spc="0" normalizeH="0" baseline="0" noProof="0" dirty="0" err="1">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WCHAR</a:t>
            </a:r>
            <a:r>
              <a:rPr kumimoji="1" lang="en-US" altLang="zh-CN" sz="16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   -&gt; </a:t>
            </a:r>
            <a:r>
              <a:rPr kumimoji="1" lang="en-US" altLang="zh-CN" sz="1600" b="1" i="0" u="none" strike="noStrike" kern="1200" cap="none" spc="0" normalizeH="0" baseline="0" noProof="0" dirty="0" err="1">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wch</a:t>
            </a:r>
            <a:r>
              <a:rPr kumimoji="1" lang="en-US" altLang="zh-CN" sz="16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        </a:t>
            </a:r>
            <a:r>
              <a:rPr kumimoji="1" lang="en-US" altLang="zh-CN" sz="1600" b="1" i="0" u="none" strike="noStrike" kern="1200" cap="none" spc="0" normalizeH="0" baseline="0" noProof="0" dirty="0" err="1">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ULONG</a:t>
            </a:r>
            <a:r>
              <a:rPr kumimoji="1" lang="en-US" altLang="zh-CN" sz="16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   -&gt; ul</a:t>
            </a: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None/>
              <a:defRPr/>
            </a:pPr>
            <a:r>
              <a:rPr kumimoji="1" lang="en-US" altLang="zh-CN" sz="16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LONG    -&gt; l          </a:t>
            </a:r>
            <a:r>
              <a:rPr kumimoji="1" lang="en-US" altLang="zh-CN" sz="1600" b="1" i="0" u="none" strike="noStrike" kern="1200" cap="none" spc="0" normalizeH="0" baseline="0" noProof="0" dirty="0" err="1">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DWORD</a:t>
            </a:r>
            <a:r>
              <a:rPr kumimoji="1" lang="en-US" altLang="zh-CN" sz="16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   -&gt; </a:t>
            </a:r>
            <a:r>
              <a:rPr kumimoji="1" lang="en-US" altLang="zh-CN" sz="1600" b="1" i="0" u="none" strike="noStrike" kern="1200" cap="none" spc="0" normalizeH="0" baseline="0" noProof="0" dirty="0" err="1">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dw</a:t>
            </a:r>
            <a:endParaRPr kumimoji="1" lang="en-US" altLang="zh-CN" sz="16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endParaRP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None/>
              <a:defRPr/>
            </a:pPr>
            <a:r>
              <a:rPr kumimoji="1" lang="en-US" altLang="zh-CN" sz="1600" b="1" i="0" u="none" strike="noStrike" kern="1200" cap="none" spc="0" normalizeH="0" baseline="0" noProof="0" dirty="0" err="1">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HRESULT</a:t>
            </a:r>
            <a:r>
              <a:rPr kumimoji="1" lang="en-US" altLang="zh-CN" sz="16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 -&gt; </a:t>
            </a:r>
            <a:r>
              <a:rPr kumimoji="1" lang="en-US" altLang="zh-CN" sz="1600" b="1" i="0" u="none" strike="noStrike" kern="1200" cap="none" spc="0" normalizeH="0" baseline="0" noProof="0" dirty="0" err="1">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hr</a:t>
            </a:r>
            <a:r>
              <a:rPr kumimoji="1" lang="en-US" altLang="zh-CN" sz="16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         </a:t>
            </a:r>
            <a:r>
              <a:rPr kumimoji="1" lang="en-US" altLang="zh-CN" sz="1600" b="1" i="0" u="none" strike="noStrike" kern="1200" cap="none" spc="0" normalizeH="0" baseline="0" noProof="0" dirty="0" err="1">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fn</a:t>
            </a:r>
            <a:r>
              <a:rPr kumimoji="1" lang="en-US" altLang="zh-CN" sz="16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      -&gt; function</a:t>
            </a: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None/>
              <a:defRPr/>
            </a:pPr>
            <a:r>
              <a:rPr kumimoji="1" lang="en-US" altLang="zh-CN" sz="1600" b="1" i="0" u="none" strike="noStrike" kern="1200" cap="none" spc="0" normalizeH="0" baseline="0" noProof="0" dirty="0" err="1">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sz</a:t>
            </a:r>
            <a:r>
              <a:rPr kumimoji="1" lang="en-US" altLang="zh-CN" sz="16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      -&gt; NULL str   </a:t>
            </a:r>
            <a:r>
              <a:rPr kumimoji="1" lang="en-US" altLang="zh-CN" sz="1600" b="1" i="0" u="none" strike="noStrike" kern="1200" cap="none" spc="0" normalizeH="0" baseline="0" noProof="0" dirty="0" err="1">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USHORT</a:t>
            </a:r>
            <a:r>
              <a:rPr kumimoji="1" lang="en-US" altLang="zh-CN" sz="16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 SHORT, WORD -&gt; w</a:t>
            </a:r>
          </a:p>
          <a:p>
            <a:pPr marL="742950" marR="0" lvl="1" indent="-285750" algn="l" defTabSz="914400" rtl="0" eaLnBrk="1" fontAlgn="base" latinLnBrk="0" hangingPunct="1">
              <a:lnSpc>
                <a:spcPct val="90000"/>
              </a:lnSpc>
              <a:spcBef>
                <a:spcPct val="20000"/>
              </a:spcBef>
              <a:spcAft>
                <a:spcPct val="0"/>
              </a:spcAft>
              <a:buClr>
                <a:schemeClr val="tx2"/>
              </a:buClr>
              <a:buSzPct val="70000"/>
              <a:buFont typeface="Wingdings" panose="05000000000000000000" pitchFamily="2" charset="2"/>
              <a:buChar char="n"/>
              <a:defRPr/>
            </a:pPr>
            <a:r>
              <a:rPr kumimoji="1" lang="en-US" altLang="zh-CN" sz="18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Name </a:t>
            </a:r>
            <a:r>
              <a:rPr kumimoji="1" lang="en-US" altLang="zh-CN" sz="18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18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Meaningful and Capitalizing every words</a:t>
            </a:r>
          </a:p>
          <a:p>
            <a:pPr marL="742950" marR="0" lvl="1" indent="-285750" algn="l" defTabSz="914400" rtl="0" eaLnBrk="1" fontAlgn="base" latinLnBrk="0" hangingPunct="1">
              <a:lnSpc>
                <a:spcPct val="90000"/>
              </a:lnSpc>
              <a:spcBef>
                <a:spcPct val="20000"/>
              </a:spcBef>
              <a:spcAft>
                <a:spcPct val="0"/>
              </a:spcAft>
              <a:buClr>
                <a:schemeClr val="tx2"/>
              </a:buClr>
              <a:buSzPct val="7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Example</a:t>
            </a: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Char char="n"/>
              <a:defRPr/>
            </a:pPr>
            <a:r>
              <a:rPr kumimoji="1" lang="en-US" altLang="zh-CN" sz="20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m_pdTopOfStack</a:t>
            </a:r>
            <a:endPar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Char char="n"/>
              <a:defRPr/>
            </a:pPr>
            <a:r>
              <a:rPr kumimoji="1" lang="en-US" altLang="zh-CN" sz="20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CTypeLib</a:t>
            </a:r>
            <a:endPar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Char char="n"/>
              <a:defRPr/>
            </a:pPr>
            <a:r>
              <a:rPr kumimoji="1" lang="en-US" altLang="zh-CN" sz="20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g_fSwitchForDest</a:t>
            </a:r>
            <a:endPar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Char char="n"/>
              <a:defRPr/>
            </a:pPr>
            <a:r>
              <a:rPr kumimoji="1" lang="en-US" altLang="zh-CN" sz="20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s_szStartingURL</a:t>
            </a:r>
            <a:endPar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38916" name="灯片编号占位符 4"/>
          <p:cNvSpPr txBox="1">
            <a:spLocks noGrp="1"/>
          </p:cNvSpPr>
          <p:nvPr>
            <p:ph type="sldNum" sz="quarter" idx="12"/>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15</a:t>
            </a:fld>
            <a:endParaRPr lang="en-US" altLang="zh-CN" sz="1200" dirty="0">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Coding Style Requirements </a:t>
            </a:r>
            <a:br>
              <a:rPr kumimoji="1" lang="en-US" altLang="zh-CN" sz="3600" b="0" i="0" u="none" strike="noStrike" kern="120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br>
            <a:r>
              <a:rPr kumimoji="1" lang="en-US" altLang="zh-CN" sz="3600" b="0" i="0" u="none" strike="noStrike" kern="120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	-- Naming Conventions (cont.)</a:t>
            </a:r>
          </a:p>
        </p:txBody>
      </p:sp>
      <p:sp>
        <p:nvSpPr>
          <p:cNvPr id="29699" name="Rectangle 3"/>
          <p:cNvSpPr>
            <a:spLocks noGrp="1" noChangeArrowheads="1"/>
          </p:cNvSpPr>
          <p:nvPr>
            <p:ph idx="1"/>
          </p:nvPr>
        </p:nvSpPr>
        <p:spPr>
          <a:xfrm>
            <a:off x="533400" y="1981200"/>
            <a:ext cx="8229600" cy="434340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Let</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s have some tries</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endPar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 flag indicates whether a C++ object has been initialized:</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18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BOOL </a:t>
            </a:r>
            <a:r>
              <a:rPr kumimoji="1" lang="en-US" altLang="zh-CN" sz="1800" b="1" i="0" u="none" strike="noStrike" kern="1200" cap="none" spc="0" normalizeH="0" baseline="0" noProof="0" dirty="0" err="1">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m_fInitialized</a:t>
            </a:r>
            <a:r>
              <a:rPr kumimoji="1" lang="en-US" altLang="zh-CN" sz="18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 Session ID:</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1800" b="1" i="0" u="none" strike="noStrike" kern="1200" cap="none" spc="0" normalizeH="0" baseline="0" noProof="0" dirty="0" err="1">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DWORD</a:t>
            </a:r>
            <a:r>
              <a:rPr kumimoji="1" lang="en-US" altLang="zh-CN" sz="18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 </a:t>
            </a:r>
            <a:r>
              <a:rPr kumimoji="1" lang="en-US" altLang="zh-CN" sz="1800" b="1" i="0" u="none" strike="noStrike" kern="1200" cap="none" spc="0" normalizeH="0" baseline="0" noProof="0" dirty="0" err="1">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dwSessionID</a:t>
            </a:r>
            <a:r>
              <a:rPr kumimoji="1" lang="en-US" altLang="zh-CN" sz="18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 Pointer to BYTE buffer:</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18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BYTE* </a:t>
            </a:r>
            <a:r>
              <a:rPr kumimoji="1" lang="en-US" altLang="zh-CN" sz="1800" b="1" i="0" u="none" strike="noStrike" kern="1200" cap="none" spc="0" normalizeH="0" baseline="0" noProof="0" dirty="0" err="1">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pbBuffer</a:t>
            </a:r>
            <a:r>
              <a:rPr kumimoji="1" lang="en-US" altLang="zh-CN" sz="18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 global buffer to store logfile filename:</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18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CHAR </a:t>
            </a:r>
            <a:r>
              <a:rPr kumimoji="1" lang="en-US" altLang="zh-CN" sz="1800" b="1" i="0" u="none" strike="noStrike" kern="1200" cap="none" spc="0" normalizeH="0" baseline="0" noProof="0" dirty="0" err="1">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g_szLogFile</a:t>
            </a:r>
            <a:r>
              <a:rPr kumimoji="1" lang="en-US" altLang="zh-CN" sz="18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a:t>
            </a:r>
            <a:r>
              <a:rPr kumimoji="1" lang="en-US" altLang="zh-CN" sz="1800" b="1" i="0" u="none" strike="noStrike" kern="1200" cap="none" spc="0" normalizeH="0" baseline="0" noProof="0" dirty="0" err="1">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MAX_NUM</a:t>
            </a:r>
            <a:r>
              <a:rPr kumimoji="1" lang="en-US" altLang="zh-CN" sz="18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 pointer to a global logfile name:</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18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CHAR* </a:t>
            </a:r>
            <a:r>
              <a:rPr kumimoji="1" lang="en-US" altLang="zh-CN" sz="1800" b="1" i="0" u="none" strike="noStrike" kern="1200" cap="none" spc="0" normalizeH="0" baseline="0" noProof="0" dirty="0" err="1">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g_pszLogFile</a:t>
            </a:r>
            <a:r>
              <a:rPr kumimoji="1" lang="en-US" altLang="zh-CN" sz="18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Courier New" panose="02070309020205020404" pitchFamily="49" charset="0"/>
                <a:ea typeface="+mn-ea"/>
                <a:cs typeface="+mn-cs"/>
              </a:rPr>
              <a:t>;</a:t>
            </a:r>
          </a:p>
        </p:txBody>
      </p:sp>
      <p:sp>
        <p:nvSpPr>
          <p:cNvPr id="39940" name="灯片编号占位符 4"/>
          <p:cNvSpPr txBox="1">
            <a:spLocks noGrp="1"/>
          </p:cNvSpPr>
          <p:nvPr>
            <p:ph type="sldNum" sz="quarter" idx="12"/>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16</a:t>
            </a:fld>
            <a:endParaRPr lang="en-US" altLang="zh-CN" sz="1200" dirty="0">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anim calcmode="lin" valueType="num">
                                      <p:cBhvr additive="base">
                                        <p:cTn id="7" dur="500" fill="hold"/>
                                        <p:tgtEl>
                                          <p:spTgt spid="296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6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9699">
                                            <p:txEl>
                                              <p:pRg st="1" end="1"/>
                                            </p:txEl>
                                          </p:spTgt>
                                        </p:tgtEl>
                                        <p:attrNameLst>
                                          <p:attrName>style.visibility</p:attrName>
                                        </p:attrNameLst>
                                      </p:cBhvr>
                                      <p:to>
                                        <p:strVal val="visible"/>
                                      </p:to>
                                    </p:set>
                                    <p:anim calcmode="lin" valueType="num">
                                      <p:cBhvr additive="base">
                                        <p:cTn id="13" dur="500" fill="hold"/>
                                        <p:tgtEl>
                                          <p:spTgt spid="2969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96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9699">
                                            <p:txEl>
                                              <p:pRg st="2" end="2"/>
                                            </p:txEl>
                                          </p:spTgt>
                                        </p:tgtEl>
                                        <p:attrNameLst>
                                          <p:attrName>style.visibility</p:attrName>
                                        </p:attrNameLst>
                                      </p:cBhvr>
                                      <p:to>
                                        <p:strVal val="visible"/>
                                      </p:to>
                                    </p:set>
                                    <p:anim calcmode="lin" valueType="num">
                                      <p:cBhvr additive="base">
                                        <p:cTn id="19" dur="500" fill="hold"/>
                                        <p:tgtEl>
                                          <p:spTgt spid="2969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96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9699">
                                            <p:txEl>
                                              <p:pRg st="3" end="3"/>
                                            </p:txEl>
                                          </p:spTgt>
                                        </p:tgtEl>
                                        <p:attrNameLst>
                                          <p:attrName>style.visibility</p:attrName>
                                        </p:attrNameLst>
                                      </p:cBhvr>
                                      <p:to>
                                        <p:strVal val="visible"/>
                                      </p:to>
                                    </p:set>
                                    <p:anim calcmode="lin" valueType="num">
                                      <p:cBhvr additive="base">
                                        <p:cTn id="25" dur="500" fill="hold"/>
                                        <p:tgtEl>
                                          <p:spTgt spid="2969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969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9699">
                                            <p:txEl>
                                              <p:pRg st="4" end="4"/>
                                            </p:txEl>
                                          </p:spTgt>
                                        </p:tgtEl>
                                        <p:attrNameLst>
                                          <p:attrName>style.visibility</p:attrName>
                                        </p:attrNameLst>
                                      </p:cBhvr>
                                      <p:to>
                                        <p:strVal val="visible"/>
                                      </p:to>
                                    </p:set>
                                    <p:anim calcmode="lin" valueType="num">
                                      <p:cBhvr additive="base">
                                        <p:cTn id="31" dur="500" fill="hold"/>
                                        <p:tgtEl>
                                          <p:spTgt spid="2969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969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9699">
                                            <p:txEl>
                                              <p:pRg st="5" end="5"/>
                                            </p:txEl>
                                          </p:spTgt>
                                        </p:tgtEl>
                                        <p:attrNameLst>
                                          <p:attrName>style.visibility</p:attrName>
                                        </p:attrNameLst>
                                      </p:cBhvr>
                                      <p:to>
                                        <p:strVal val="visible"/>
                                      </p:to>
                                    </p:set>
                                    <p:anim calcmode="lin" valueType="num">
                                      <p:cBhvr additive="base">
                                        <p:cTn id="37" dur="500" fill="hold"/>
                                        <p:tgtEl>
                                          <p:spTgt spid="2969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969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9699">
                                            <p:txEl>
                                              <p:pRg st="6" end="6"/>
                                            </p:txEl>
                                          </p:spTgt>
                                        </p:tgtEl>
                                        <p:attrNameLst>
                                          <p:attrName>style.visibility</p:attrName>
                                        </p:attrNameLst>
                                      </p:cBhvr>
                                      <p:to>
                                        <p:strVal val="visible"/>
                                      </p:to>
                                    </p:set>
                                    <p:anim calcmode="lin" valueType="num">
                                      <p:cBhvr additive="base">
                                        <p:cTn id="43" dur="500" fill="hold"/>
                                        <p:tgtEl>
                                          <p:spTgt spid="29699">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969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9699">
                                            <p:txEl>
                                              <p:pRg st="7" end="7"/>
                                            </p:txEl>
                                          </p:spTgt>
                                        </p:tgtEl>
                                        <p:attrNameLst>
                                          <p:attrName>style.visibility</p:attrName>
                                        </p:attrNameLst>
                                      </p:cBhvr>
                                      <p:to>
                                        <p:strVal val="visible"/>
                                      </p:to>
                                    </p:set>
                                    <p:anim calcmode="lin" valueType="num">
                                      <p:cBhvr additive="base">
                                        <p:cTn id="49" dur="500" fill="hold"/>
                                        <p:tgtEl>
                                          <p:spTgt spid="29699">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9699">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9699">
                                            <p:txEl>
                                              <p:pRg st="8" end="8"/>
                                            </p:txEl>
                                          </p:spTgt>
                                        </p:tgtEl>
                                        <p:attrNameLst>
                                          <p:attrName>style.visibility</p:attrName>
                                        </p:attrNameLst>
                                      </p:cBhvr>
                                      <p:to>
                                        <p:strVal val="visible"/>
                                      </p:to>
                                    </p:set>
                                    <p:anim calcmode="lin" valueType="num">
                                      <p:cBhvr additive="base">
                                        <p:cTn id="55" dur="500" fill="hold"/>
                                        <p:tgtEl>
                                          <p:spTgt spid="29699">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9699">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29699">
                                            <p:txEl>
                                              <p:pRg st="9" end="9"/>
                                            </p:txEl>
                                          </p:spTgt>
                                        </p:tgtEl>
                                        <p:attrNameLst>
                                          <p:attrName>style.visibility</p:attrName>
                                        </p:attrNameLst>
                                      </p:cBhvr>
                                      <p:to>
                                        <p:strVal val="visible"/>
                                      </p:to>
                                    </p:set>
                                    <p:anim calcmode="lin" valueType="num">
                                      <p:cBhvr additive="base">
                                        <p:cTn id="61" dur="500" fill="hold"/>
                                        <p:tgtEl>
                                          <p:spTgt spid="29699">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29699">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29699">
                                            <p:txEl>
                                              <p:pRg st="10" end="10"/>
                                            </p:txEl>
                                          </p:spTgt>
                                        </p:tgtEl>
                                        <p:attrNameLst>
                                          <p:attrName>style.visibility</p:attrName>
                                        </p:attrNameLst>
                                      </p:cBhvr>
                                      <p:to>
                                        <p:strVal val="visible"/>
                                      </p:to>
                                    </p:set>
                                    <p:anim calcmode="lin" valueType="num">
                                      <p:cBhvr additive="base">
                                        <p:cTn id="67" dur="500" fill="hold"/>
                                        <p:tgtEl>
                                          <p:spTgt spid="29699">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29699">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Coding Style Requirements </a:t>
            </a:r>
            <a:br>
              <a:rPr kumimoji="1" lang="en-US" altLang="zh-CN" sz="3600" b="0" i="0" u="none" strike="noStrike" kern="120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br>
            <a:r>
              <a:rPr kumimoji="1" lang="en-US" altLang="zh-CN" sz="3600" b="0" i="0" u="none" strike="noStrike" kern="120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	-- Code Indentation</a:t>
            </a:r>
          </a:p>
        </p:txBody>
      </p:sp>
      <p:sp>
        <p:nvSpPr>
          <p:cNvPr id="14339" name="Rectangle 3"/>
          <p:cNvSpPr>
            <a:spLocks noGrp="1" noChangeArrowheads="1"/>
          </p:cNvSpPr>
          <p:nvPr>
            <p:ph idx="1"/>
          </p:nvPr>
        </p:nvSpPr>
        <p:spPr>
          <a:xfrm>
            <a:off x="228600" y="2057400"/>
            <a:ext cx="4800600" cy="9144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4 spaces per indent level</a:t>
            </a:r>
          </a:p>
        </p:txBody>
      </p:sp>
      <p:sp>
        <p:nvSpPr>
          <p:cNvPr id="14341" name="Text Box 5"/>
          <p:cNvSpPr txBox="1">
            <a:spLocks noChangeArrowheads="1"/>
          </p:cNvSpPr>
          <p:nvPr/>
        </p:nvSpPr>
        <p:spPr bwMode="auto">
          <a:xfrm>
            <a:off x="609600" y="2590800"/>
            <a:ext cx="3886200" cy="3281363"/>
          </a:xfrm>
          <a:prstGeom prst="rect">
            <a:avLst/>
          </a:prstGeom>
          <a:noFill/>
          <a:ln>
            <a:noFill/>
          </a:ln>
          <a:effectLst/>
        </p:spPr>
        <p:txBody>
          <a:bodyPr>
            <a:spAutoFit/>
          </a:bodyPr>
          <a:lstStyle/>
          <a:p>
            <a:pPr marR="0" defTabSz="914400" eaLnBrk="1" hangingPunct="1">
              <a:lnSpc>
                <a:spcPct val="90000"/>
              </a:lnSpc>
              <a:spcBef>
                <a:spcPct val="20000"/>
              </a:spcBef>
              <a:buClr>
                <a:schemeClr val="accent1"/>
              </a:buClr>
              <a:buSzPct val="80000"/>
              <a:buFont typeface="Wingdings" panose="05000000000000000000" pitchFamily="2" charset="2"/>
              <a:buNone/>
              <a:defRPr/>
            </a:pPr>
            <a:r>
              <a:rPr kumimoji="1" lang="en-US" altLang="zh-CN" sz="1600"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Class CExample</a:t>
            </a:r>
          </a:p>
          <a:p>
            <a:pPr marR="0" defTabSz="914400" eaLnBrk="1" hangingPunct="1">
              <a:lnSpc>
                <a:spcPct val="90000"/>
              </a:lnSpc>
              <a:spcBef>
                <a:spcPct val="20000"/>
              </a:spcBef>
              <a:buClr>
                <a:schemeClr val="accent1"/>
              </a:buClr>
              <a:buSzPct val="80000"/>
              <a:buFont typeface="Wingdings" panose="05000000000000000000" pitchFamily="2" charset="2"/>
              <a:buNone/>
              <a:defRPr/>
            </a:pPr>
            <a:r>
              <a:rPr kumimoji="1" lang="en-US" altLang="zh-CN" sz="1600"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a:t>
            </a:r>
          </a:p>
          <a:p>
            <a:pPr marR="0" defTabSz="914400" eaLnBrk="1" hangingPunct="1">
              <a:lnSpc>
                <a:spcPct val="90000"/>
              </a:lnSpc>
              <a:spcBef>
                <a:spcPct val="20000"/>
              </a:spcBef>
              <a:buClr>
                <a:schemeClr val="accent1"/>
              </a:buClr>
              <a:buSzPct val="80000"/>
              <a:buFont typeface="Wingdings" panose="05000000000000000000" pitchFamily="2" charset="2"/>
              <a:buNone/>
              <a:defRPr/>
            </a:pPr>
            <a:r>
              <a:rPr kumimoji="1" lang="en-US" altLang="zh-CN" sz="1600"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      public:</a:t>
            </a:r>
          </a:p>
          <a:p>
            <a:pPr marR="0" defTabSz="914400" eaLnBrk="1" hangingPunct="1">
              <a:lnSpc>
                <a:spcPct val="90000"/>
              </a:lnSpc>
              <a:spcBef>
                <a:spcPct val="20000"/>
              </a:spcBef>
              <a:buClr>
                <a:schemeClr val="accent1"/>
              </a:buClr>
              <a:buSzPct val="80000"/>
              <a:buFont typeface="Wingdings" panose="05000000000000000000" pitchFamily="2" charset="2"/>
              <a:buNone/>
              <a:defRPr/>
            </a:pPr>
            <a:r>
              <a:rPr kumimoji="1" lang="en-US" altLang="zh-CN" sz="1600"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            //member functions declaration</a:t>
            </a:r>
          </a:p>
          <a:p>
            <a:pPr marR="0" defTabSz="914400" eaLnBrk="1" hangingPunct="1">
              <a:lnSpc>
                <a:spcPct val="90000"/>
              </a:lnSpc>
              <a:spcBef>
                <a:spcPct val="20000"/>
              </a:spcBef>
              <a:buClr>
                <a:schemeClr val="accent1"/>
              </a:buClr>
              <a:buSzPct val="80000"/>
              <a:buFont typeface="Wingdings" panose="05000000000000000000" pitchFamily="2" charset="2"/>
              <a:buNone/>
              <a:defRPr/>
            </a:pPr>
            <a:r>
              <a:rPr kumimoji="1" lang="en-US" altLang="zh-CN" sz="1600"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            Cexample();</a:t>
            </a:r>
          </a:p>
          <a:p>
            <a:pPr marR="0" defTabSz="914400" eaLnBrk="1" hangingPunct="1">
              <a:lnSpc>
                <a:spcPct val="90000"/>
              </a:lnSpc>
              <a:spcBef>
                <a:spcPct val="20000"/>
              </a:spcBef>
              <a:buClr>
                <a:schemeClr val="accent1"/>
              </a:buClr>
              <a:buSzPct val="80000"/>
              <a:buFont typeface="Wingdings" panose="05000000000000000000" pitchFamily="2" charset="2"/>
              <a:buNone/>
              <a:defRPr/>
            </a:pPr>
            <a:r>
              <a:rPr kumimoji="1" lang="en-US" altLang="zh-CN" sz="1600"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            ~Cexample();</a:t>
            </a:r>
          </a:p>
          <a:p>
            <a:pPr marR="0" defTabSz="914400" eaLnBrk="1" hangingPunct="1">
              <a:lnSpc>
                <a:spcPct val="90000"/>
              </a:lnSpc>
              <a:spcBef>
                <a:spcPct val="20000"/>
              </a:spcBef>
              <a:buClr>
                <a:schemeClr val="accent1"/>
              </a:buClr>
              <a:buSzPct val="80000"/>
              <a:buFont typeface="Wingdings" panose="05000000000000000000" pitchFamily="2" charset="2"/>
              <a:buNone/>
              <a:defRPr/>
            </a:pPr>
            <a:r>
              <a:rPr kumimoji="1" lang="en-US" altLang="zh-CN" sz="1600"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      private:</a:t>
            </a:r>
          </a:p>
          <a:p>
            <a:pPr marR="0" defTabSz="914400" eaLnBrk="1" hangingPunct="1">
              <a:lnSpc>
                <a:spcPct val="90000"/>
              </a:lnSpc>
              <a:spcBef>
                <a:spcPct val="20000"/>
              </a:spcBef>
              <a:buClr>
                <a:schemeClr val="accent1"/>
              </a:buClr>
              <a:buSzPct val="80000"/>
              <a:buFont typeface="Wingdings" panose="05000000000000000000" pitchFamily="2" charset="2"/>
              <a:buNone/>
              <a:defRPr/>
            </a:pPr>
            <a:r>
              <a:rPr kumimoji="1" lang="en-US" altLang="zh-CN" sz="1600"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            #ifdef _DEBUG</a:t>
            </a:r>
          </a:p>
          <a:p>
            <a:pPr marR="0" defTabSz="914400" eaLnBrk="1" hangingPunct="1">
              <a:lnSpc>
                <a:spcPct val="90000"/>
              </a:lnSpc>
              <a:spcBef>
                <a:spcPct val="20000"/>
              </a:spcBef>
              <a:buClr>
                <a:schemeClr val="accent1"/>
              </a:buClr>
              <a:buSzPct val="80000"/>
              <a:buFont typeface="Wingdings" panose="05000000000000000000" pitchFamily="2" charset="2"/>
              <a:buNone/>
              <a:defRPr/>
            </a:pPr>
            <a:r>
              <a:rPr kumimoji="1" lang="en-US" altLang="zh-CN" sz="1600"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                 void TraceValue( int iValue );</a:t>
            </a:r>
          </a:p>
          <a:p>
            <a:pPr marR="0" defTabSz="914400" eaLnBrk="1" hangingPunct="1">
              <a:lnSpc>
                <a:spcPct val="90000"/>
              </a:lnSpc>
              <a:spcBef>
                <a:spcPct val="20000"/>
              </a:spcBef>
              <a:buClr>
                <a:schemeClr val="accent1"/>
              </a:buClr>
              <a:buSzPct val="80000"/>
              <a:buFont typeface="Wingdings" panose="05000000000000000000" pitchFamily="2" charset="2"/>
              <a:buNone/>
              <a:defRPr/>
            </a:pPr>
            <a:r>
              <a:rPr kumimoji="1" lang="en-US" altLang="zh-CN" sz="1600"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            #endif</a:t>
            </a:r>
          </a:p>
          <a:p>
            <a:pPr marR="0" defTabSz="914400" eaLnBrk="1" hangingPunct="1">
              <a:lnSpc>
                <a:spcPct val="90000"/>
              </a:lnSpc>
              <a:spcBef>
                <a:spcPct val="20000"/>
              </a:spcBef>
              <a:buClr>
                <a:schemeClr val="accent1"/>
              </a:buClr>
              <a:buSzPct val="80000"/>
              <a:buFont typeface="Wingdings" panose="05000000000000000000" pitchFamily="2" charset="2"/>
              <a:buNone/>
              <a:defRPr/>
            </a:pPr>
            <a:r>
              <a:rPr kumimoji="1" lang="en-US" altLang="zh-CN" sz="1600"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      </a:t>
            </a:r>
            <a:r>
              <a:rPr kumimoji="1" lang="en-US" altLang="zh-CN" sz="1600"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1600"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    </a:t>
            </a:r>
          </a:p>
          <a:p>
            <a:pPr marR="0" defTabSz="914400" eaLnBrk="1" hangingPunct="1">
              <a:lnSpc>
                <a:spcPct val="90000"/>
              </a:lnSpc>
              <a:spcBef>
                <a:spcPct val="20000"/>
              </a:spcBef>
              <a:buClr>
                <a:schemeClr val="accent1"/>
              </a:buClr>
              <a:buSzPct val="80000"/>
              <a:buFont typeface="Wingdings" panose="05000000000000000000" pitchFamily="2" charset="2"/>
              <a:buNone/>
              <a:defRPr/>
            </a:pPr>
            <a:r>
              <a:rPr kumimoji="1" lang="en-US" altLang="zh-CN" sz="1600"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a:t>
            </a:r>
            <a:endParaRPr kumimoji="1" lang="en-US" altLang="zh-CN" sz="1600" kern="1200" cap="none" spc="0" normalizeH="0" baseline="0" noProof="0">
              <a:latin typeface="Times New Roman" panose="02020603050405020304" pitchFamily="18" charset="0"/>
              <a:ea typeface="宋体" panose="02010600030101010101" pitchFamily="2" charset="-122"/>
              <a:cs typeface="+mn-cs"/>
            </a:endParaRPr>
          </a:p>
        </p:txBody>
      </p:sp>
      <p:sp>
        <p:nvSpPr>
          <p:cNvPr id="14342" name="Text Box 6"/>
          <p:cNvSpPr txBox="1">
            <a:spLocks noChangeArrowheads="1"/>
          </p:cNvSpPr>
          <p:nvPr/>
        </p:nvSpPr>
        <p:spPr bwMode="auto">
          <a:xfrm>
            <a:off x="5257800" y="2743200"/>
            <a:ext cx="2514600" cy="3281363"/>
          </a:xfrm>
          <a:prstGeom prst="rect">
            <a:avLst/>
          </a:prstGeom>
          <a:noFill/>
          <a:ln>
            <a:noFill/>
          </a:ln>
          <a:effectLst/>
        </p:spPr>
        <p:txBody>
          <a:bodyPr>
            <a:spAutoFit/>
          </a:bodyPr>
          <a:lstStyle/>
          <a:p>
            <a:pPr marR="0" defTabSz="914400" eaLnBrk="1" hangingPunct="1">
              <a:lnSpc>
                <a:spcPct val="90000"/>
              </a:lnSpc>
              <a:spcBef>
                <a:spcPct val="20000"/>
              </a:spcBef>
              <a:buClr>
                <a:schemeClr val="accent1"/>
              </a:buClr>
              <a:buSzPct val="80000"/>
              <a:buFont typeface="Wingdings" panose="05000000000000000000" pitchFamily="2" charset="2"/>
              <a:buNone/>
              <a:defRPr/>
            </a:pPr>
            <a:r>
              <a:rPr kumimoji="1" lang="en-US" altLang="zh-CN" sz="1600"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While (foo) </a:t>
            </a:r>
          </a:p>
          <a:p>
            <a:pPr marR="0" defTabSz="914400" eaLnBrk="1" hangingPunct="1">
              <a:lnSpc>
                <a:spcPct val="90000"/>
              </a:lnSpc>
              <a:spcBef>
                <a:spcPct val="20000"/>
              </a:spcBef>
              <a:buClr>
                <a:schemeClr val="accent1"/>
              </a:buClr>
              <a:buSzPct val="80000"/>
              <a:buFont typeface="Wingdings" panose="05000000000000000000" pitchFamily="2" charset="2"/>
              <a:buNone/>
              <a:defRPr/>
            </a:pPr>
            <a:r>
              <a:rPr kumimoji="1" lang="en-US" altLang="zh-CN" sz="1600"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a:t>
            </a:r>
          </a:p>
          <a:p>
            <a:pPr marR="0" defTabSz="914400" eaLnBrk="1" hangingPunct="1">
              <a:lnSpc>
                <a:spcPct val="90000"/>
              </a:lnSpc>
              <a:spcBef>
                <a:spcPct val="20000"/>
              </a:spcBef>
              <a:buClr>
                <a:schemeClr val="accent1"/>
              </a:buClr>
              <a:buSzPct val="80000"/>
              <a:buFont typeface="Wingdings" panose="05000000000000000000" pitchFamily="2" charset="2"/>
              <a:buNone/>
              <a:defRPr/>
            </a:pPr>
            <a:r>
              <a:rPr kumimoji="1" lang="en-US" altLang="zh-CN" sz="1600"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      if (NULL == bar)</a:t>
            </a:r>
          </a:p>
          <a:p>
            <a:pPr marR="0" defTabSz="914400" eaLnBrk="1" hangingPunct="1">
              <a:lnSpc>
                <a:spcPct val="90000"/>
              </a:lnSpc>
              <a:spcBef>
                <a:spcPct val="20000"/>
              </a:spcBef>
              <a:buClr>
                <a:schemeClr val="accent1"/>
              </a:buClr>
              <a:buSzPct val="80000"/>
              <a:buFont typeface="Wingdings" panose="05000000000000000000" pitchFamily="2" charset="2"/>
              <a:buNone/>
              <a:defRPr/>
            </a:pPr>
            <a:r>
              <a:rPr kumimoji="1" lang="en-US" altLang="zh-CN" sz="1600"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      {</a:t>
            </a:r>
          </a:p>
          <a:p>
            <a:pPr marR="0" defTabSz="914400" eaLnBrk="1" hangingPunct="1">
              <a:lnSpc>
                <a:spcPct val="90000"/>
              </a:lnSpc>
              <a:spcBef>
                <a:spcPct val="20000"/>
              </a:spcBef>
              <a:buClr>
                <a:schemeClr val="accent1"/>
              </a:buClr>
              <a:buSzPct val="80000"/>
              <a:buFont typeface="Wingdings" panose="05000000000000000000" pitchFamily="2" charset="2"/>
              <a:buNone/>
              <a:defRPr/>
            </a:pPr>
            <a:r>
              <a:rPr kumimoji="1" lang="en-US" altLang="zh-CN" sz="1600"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          Func1(ad);</a:t>
            </a:r>
          </a:p>
          <a:p>
            <a:pPr marR="0" defTabSz="914400" eaLnBrk="1" hangingPunct="1">
              <a:lnSpc>
                <a:spcPct val="90000"/>
              </a:lnSpc>
              <a:spcBef>
                <a:spcPct val="20000"/>
              </a:spcBef>
              <a:buClr>
                <a:schemeClr val="accent1"/>
              </a:buClr>
              <a:buSzPct val="80000"/>
              <a:buFont typeface="Wingdings" panose="05000000000000000000" pitchFamily="2" charset="2"/>
              <a:buNone/>
              <a:defRPr/>
            </a:pPr>
            <a:r>
              <a:rPr kumimoji="1" lang="en-US" altLang="zh-CN" sz="1600"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      }</a:t>
            </a:r>
          </a:p>
          <a:p>
            <a:pPr marR="0" defTabSz="914400" eaLnBrk="1" hangingPunct="1">
              <a:lnSpc>
                <a:spcPct val="90000"/>
              </a:lnSpc>
              <a:spcBef>
                <a:spcPct val="20000"/>
              </a:spcBef>
              <a:buClr>
                <a:schemeClr val="accent1"/>
              </a:buClr>
              <a:buSzPct val="80000"/>
              <a:buFont typeface="Wingdings" panose="05000000000000000000" pitchFamily="2" charset="2"/>
              <a:buNone/>
              <a:defRPr/>
            </a:pPr>
            <a:r>
              <a:rPr kumimoji="1" lang="en-US" altLang="zh-CN" sz="1600"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      else</a:t>
            </a:r>
          </a:p>
          <a:p>
            <a:pPr marR="0" defTabSz="914400" eaLnBrk="1" hangingPunct="1">
              <a:lnSpc>
                <a:spcPct val="90000"/>
              </a:lnSpc>
              <a:spcBef>
                <a:spcPct val="20000"/>
              </a:spcBef>
              <a:buClr>
                <a:schemeClr val="accent1"/>
              </a:buClr>
              <a:buSzPct val="80000"/>
              <a:buFont typeface="Wingdings" panose="05000000000000000000" pitchFamily="2" charset="2"/>
              <a:buNone/>
              <a:defRPr/>
            </a:pPr>
            <a:r>
              <a:rPr kumimoji="1" lang="en-US" altLang="zh-CN" sz="1600"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      {</a:t>
            </a:r>
          </a:p>
          <a:p>
            <a:pPr marR="0" defTabSz="914400" eaLnBrk="1" hangingPunct="1">
              <a:lnSpc>
                <a:spcPct val="90000"/>
              </a:lnSpc>
              <a:spcBef>
                <a:spcPct val="20000"/>
              </a:spcBef>
              <a:buClr>
                <a:schemeClr val="accent1"/>
              </a:buClr>
              <a:buSzPct val="80000"/>
              <a:buFont typeface="Wingdings" panose="05000000000000000000" pitchFamily="2" charset="2"/>
              <a:buNone/>
              <a:defRPr/>
            </a:pPr>
            <a:r>
              <a:rPr kumimoji="1" lang="en-US" altLang="zh-CN" sz="1600"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          Func2(bc);</a:t>
            </a:r>
          </a:p>
          <a:p>
            <a:pPr marR="0" defTabSz="914400" eaLnBrk="1" hangingPunct="1">
              <a:lnSpc>
                <a:spcPct val="90000"/>
              </a:lnSpc>
              <a:spcBef>
                <a:spcPct val="20000"/>
              </a:spcBef>
              <a:buClr>
                <a:schemeClr val="accent1"/>
              </a:buClr>
              <a:buSzPct val="80000"/>
              <a:buFont typeface="Wingdings" panose="05000000000000000000" pitchFamily="2" charset="2"/>
              <a:buNone/>
              <a:defRPr/>
            </a:pPr>
            <a:r>
              <a:rPr kumimoji="1" lang="en-US" altLang="zh-CN" sz="1600"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      }</a:t>
            </a:r>
          </a:p>
          <a:p>
            <a:pPr marR="0" defTabSz="914400" eaLnBrk="1" hangingPunct="1">
              <a:lnSpc>
                <a:spcPct val="90000"/>
              </a:lnSpc>
              <a:spcBef>
                <a:spcPct val="20000"/>
              </a:spcBef>
              <a:buClr>
                <a:schemeClr val="accent1"/>
              </a:buClr>
              <a:buSzPct val="80000"/>
              <a:buFont typeface="Wingdings" panose="05000000000000000000" pitchFamily="2" charset="2"/>
              <a:buNone/>
              <a:defRPr/>
            </a:pPr>
            <a:r>
              <a:rPr kumimoji="1" lang="en-US" altLang="zh-CN" sz="1600"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      Func3();</a:t>
            </a:r>
          </a:p>
          <a:p>
            <a:pPr marR="0" defTabSz="914400" eaLnBrk="1" hangingPunct="1">
              <a:lnSpc>
                <a:spcPct val="90000"/>
              </a:lnSpc>
              <a:spcBef>
                <a:spcPct val="20000"/>
              </a:spcBef>
              <a:buClr>
                <a:schemeClr val="accent1"/>
              </a:buClr>
              <a:buSzPct val="80000"/>
              <a:buFont typeface="Wingdings" panose="05000000000000000000" pitchFamily="2" charset="2"/>
              <a:buNone/>
              <a:defRPr/>
            </a:pPr>
            <a:r>
              <a:rPr kumimoji="1" lang="en-US" altLang="zh-CN" sz="1600"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a:t>
            </a:r>
            <a:endParaRPr kumimoji="1" lang="en-US" altLang="zh-CN" sz="1600" kern="1200" cap="none" spc="0" normalizeH="0" baseline="0" noProof="0">
              <a:latin typeface="Times New Roman" panose="02020603050405020304" pitchFamily="18" charset="0"/>
              <a:ea typeface="宋体" panose="02010600030101010101" pitchFamily="2" charset="-122"/>
              <a:cs typeface="+mn-cs"/>
            </a:endParaRPr>
          </a:p>
        </p:txBody>
      </p:sp>
      <p:sp>
        <p:nvSpPr>
          <p:cNvPr id="14343" name="Rectangle 7"/>
          <p:cNvSpPr>
            <a:spLocks noChangeArrowheads="1"/>
          </p:cNvSpPr>
          <p:nvPr/>
        </p:nvSpPr>
        <p:spPr bwMode="auto">
          <a:xfrm>
            <a:off x="4876800" y="2057400"/>
            <a:ext cx="4267200" cy="685800"/>
          </a:xfrm>
          <a:prstGeom prst="rect">
            <a:avLst/>
          </a:prstGeom>
          <a:noFill/>
          <a:ln>
            <a:noFill/>
          </a:ln>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Braces in Statements</a:t>
            </a:r>
          </a:p>
        </p:txBody>
      </p:sp>
      <p:sp>
        <p:nvSpPr>
          <p:cNvPr id="40967" name="灯片编号占位符 4"/>
          <p:cNvSpPr txBox="1">
            <a:spLocks noGrp="1"/>
          </p:cNvSpPr>
          <p:nvPr>
            <p:ph type="sldNum" sz="quarter" idx="12"/>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17</a:t>
            </a:fld>
            <a:endParaRPr lang="en-US" altLang="zh-CN" sz="1200" dirty="0">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 calcmode="lin" valueType="num">
                                      <p:cBhvr additive="base">
                                        <p:cTn id="7" dur="500" fill="hold"/>
                                        <p:tgtEl>
                                          <p:spTgt spid="143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434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4343"/>
                                        </p:tgtEl>
                                        <p:attrNameLst>
                                          <p:attrName>style.visibility</p:attrName>
                                        </p:attrNameLst>
                                      </p:cBhvr>
                                      <p:to>
                                        <p:strVal val="visible"/>
                                      </p:to>
                                    </p:set>
                                    <p:anim calcmode="lin" valueType="num">
                                      <p:cBhvr additive="base">
                                        <p:cTn id="17" dur="500" fill="hold"/>
                                        <p:tgtEl>
                                          <p:spTgt spid="14343"/>
                                        </p:tgtEl>
                                        <p:attrNameLst>
                                          <p:attrName>ppt_x</p:attrName>
                                        </p:attrNameLst>
                                      </p:cBhvr>
                                      <p:tavLst>
                                        <p:tav tm="0">
                                          <p:val>
                                            <p:strVal val="#ppt_x"/>
                                          </p:val>
                                        </p:tav>
                                        <p:tav tm="100000">
                                          <p:val>
                                            <p:strVal val="#ppt_x"/>
                                          </p:val>
                                        </p:tav>
                                      </p:tavLst>
                                    </p:anim>
                                    <p:anim calcmode="lin" valueType="num">
                                      <p:cBhvr additive="base">
                                        <p:cTn id="18" dur="500" fill="hold"/>
                                        <p:tgtEl>
                                          <p:spTgt spid="1434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43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p:bldP spid="14341" grpId="0"/>
      <p:bldP spid="14342" grpId="0"/>
      <p:bldP spid="1434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ctrTitle"/>
          </p:nvPr>
        </p:nvSpPr>
        <p:spPr>
          <a:xfrm>
            <a:off x="914400" y="2895600"/>
            <a:ext cx="7467600" cy="701675"/>
          </a:xfrm>
        </p:spPr>
        <p:txBody>
          <a:bodyPr vert="horz" wrap="square" lIns="91440" tIns="45720" rIns="91440" bIns="45720" numCol="1" anchor="b"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1200" cap="none" spc="0" normalizeH="0" baseline="0" noProof="0">
                <a:ln>
                  <a:noFill/>
                </a:ln>
                <a:solidFill>
                  <a:srgbClr val="FFCC00"/>
                </a:solidFill>
                <a:effectLst>
                  <a:outerShdw blurRad="38100" dist="38100" dir="2700000" algn="tl">
                    <a:srgbClr val="000000"/>
                  </a:outerShdw>
                </a:effectLst>
                <a:uLnTx/>
                <a:uFillTx/>
                <a:latin typeface="+mj-lt"/>
                <a:ea typeface="+mj-ea"/>
                <a:cs typeface="+mj-cs"/>
              </a:rPr>
              <a:t>Useful Concepts Review</a:t>
            </a:r>
          </a:p>
        </p:txBody>
      </p:sp>
      <p:sp>
        <p:nvSpPr>
          <p:cNvPr id="41987" name="灯片编号占位符 4"/>
          <p:cNvSpPr txBox="1">
            <a:spLocks noGrp="1"/>
          </p:cNvSpPr>
          <p:nvPr>
            <p:ph type="sldNum" sz="quarter" idx="4"/>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18</a:t>
            </a:fld>
            <a:endParaRPr lang="en-US" altLang="zh-CN" sz="1200" dirty="0">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p:cNvSpPr>
            <a:spLocks noChangeArrowheads="1"/>
          </p:cNvSpPr>
          <p:nvPr/>
        </p:nvSpPr>
        <p:spPr bwMode="auto">
          <a:xfrm>
            <a:off x="266700" y="2057400"/>
            <a:ext cx="8610600" cy="2743200"/>
          </a:xfrm>
          <a:prstGeom prst="rect">
            <a:avLst/>
          </a:prstGeom>
          <a:noFill/>
          <a:ln>
            <a:noFill/>
          </a:ln>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5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Basic Data Types </a:t>
            </a:r>
          </a:p>
          <a:p>
            <a:pPr marL="342900" marR="0" lvl="0" indent="-342900" algn="l" defTabSz="914400" rtl="0" eaLnBrk="1" fontAlgn="base" latinLnBrk="0" hangingPunct="1">
              <a:lnSpc>
                <a:spcPct val="15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Compound Types</a:t>
            </a:r>
          </a:p>
          <a:p>
            <a:pPr marL="342900" marR="0" lvl="0" indent="-342900" algn="l" defTabSz="914400" rtl="0" eaLnBrk="1" fontAlgn="base" latinLnBrk="0" hangingPunct="1">
              <a:lnSpc>
                <a:spcPct val="15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Operator (+/==)</a:t>
            </a:r>
          </a:p>
          <a:p>
            <a:pPr marL="342900" marR="0" lvl="0" indent="-342900" algn="l" defTabSz="914400" rtl="0" eaLnBrk="1" fontAlgn="base" latinLnBrk="0" hangingPunct="1">
              <a:lnSpc>
                <a:spcPct val="15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Statement (if-else, switch, while-break)</a:t>
            </a:r>
          </a:p>
          <a:p>
            <a:pPr marL="342900" marR="0" lvl="0" indent="-342900" algn="l" defTabSz="914400" rtl="0" eaLnBrk="1" fontAlgn="base" latinLnBrk="0" hangingPunct="1">
              <a:lnSpc>
                <a:spcPct val="15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Standard Library (vector, string)</a:t>
            </a:r>
          </a:p>
        </p:txBody>
      </p:sp>
      <p:sp>
        <p:nvSpPr>
          <p:cNvPr id="43011" name="灯片编号占位符 4"/>
          <p:cNvSpPr txBox="1">
            <a:spLocks noGrp="1"/>
          </p:cNvSpPr>
          <p:nvPr>
            <p:ph type="sldNum" sz="quarter" idx="12"/>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19</a:t>
            </a:fld>
            <a:endParaRPr lang="en-US" altLang="zh-CN" sz="1200" dirty="0">
              <a:effectLst/>
              <a:latin typeface="微软雅黑" panose="020B0503020204020204" pitchFamily="34" charset="-122"/>
              <a:ea typeface="微软雅黑" panose="020B0503020204020204" pitchFamily="34" charset="-122"/>
            </a:endParaRPr>
          </a:p>
        </p:txBody>
      </p:sp>
      <p:sp>
        <p:nvSpPr>
          <p:cNvPr id="8" name="Rectangle 2"/>
          <p:cNvSpPr txBox="1">
            <a:spLocks noChangeArrowheads="1"/>
          </p:cNvSpPr>
          <p:nvPr/>
        </p:nvSpPr>
        <p:spPr bwMode="auto">
          <a:xfrm>
            <a:off x="266700" y="415925"/>
            <a:ext cx="7772400" cy="1143000"/>
          </a:xfrm>
          <a:prstGeom prst="rect">
            <a:avLst/>
          </a:prstGeom>
          <a:noFill/>
          <a:ln>
            <a:noFill/>
          </a:ln>
        </p:spPr>
        <p:txBody>
          <a:bodyPr anchor="b"/>
          <a:lstStyle>
            <a:lvl1pPr algn="l" rtl="0" eaLnBrk="0" fontAlgn="base" hangingPunct="0">
              <a:spcBef>
                <a:spcPct val="0"/>
              </a:spcBef>
              <a:spcAft>
                <a:spcPct val="0"/>
              </a:spcAft>
              <a:defRPr kumimoji="1" sz="4400" kern="1200">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Reviewing C in 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 calcmode="lin" valueType="num">
                                      <p:cBhvr additive="base">
                                        <p:cTn id="25" dur="500" fill="hold"/>
                                        <p:tgtEl>
                                          <p:spTgt spid="7">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7">
                                            <p:txEl>
                                              <p:pRg st="4" end="4"/>
                                            </p:txEl>
                                          </p:spTgt>
                                        </p:tgtEl>
                                        <p:attrNameLst>
                                          <p:attrName>style.visibility</p:attrName>
                                        </p:attrNameLst>
                                      </p:cBhvr>
                                      <p:to>
                                        <p:strVal val="visible"/>
                                      </p:to>
                                    </p:set>
                                    <p:anim calcmode="lin" valueType="num">
                                      <p:cBhvr additive="base">
                                        <p:cTn id="31" dur="500" fill="hold"/>
                                        <p:tgtEl>
                                          <p:spTgt spid="7">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4"/>
          <p:cNvSpPr txBox="1">
            <a:spLocks noGrp="1"/>
          </p:cNvSpPr>
          <p:nvPr>
            <p:ph type="sldNum" sz="quarter" idx="12"/>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20</a:t>
            </a:fld>
            <a:endParaRPr lang="en-US" altLang="zh-CN" sz="1200" dirty="0">
              <a:effectLst/>
              <a:latin typeface="微软雅黑" panose="020B0503020204020204" pitchFamily="34" charset="-122"/>
              <a:ea typeface="微软雅黑" panose="020B0503020204020204" pitchFamily="34" charset="-122"/>
            </a:endParaRPr>
          </a:p>
        </p:txBody>
      </p:sp>
      <p:sp>
        <p:nvSpPr>
          <p:cNvPr id="8" name="Rectangle 2"/>
          <p:cNvSpPr txBox="1">
            <a:spLocks noChangeArrowheads="1"/>
          </p:cNvSpPr>
          <p:nvPr/>
        </p:nvSpPr>
        <p:spPr bwMode="auto">
          <a:xfrm>
            <a:off x="266700" y="415925"/>
            <a:ext cx="7772400" cy="1143000"/>
          </a:xfrm>
          <a:prstGeom prst="rect">
            <a:avLst/>
          </a:prstGeom>
          <a:noFill/>
          <a:ln>
            <a:noFill/>
          </a:ln>
        </p:spPr>
        <p:txBody>
          <a:bodyPr anchor="b"/>
          <a:lstStyle>
            <a:lvl1pPr algn="l" rtl="0" eaLnBrk="0" fontAlgn="base" hangingPunct="0">
              <a:spcBef>
                <a:spcPct val="0"/>
              </a:spcBef>
              <a:spcAft>
                <a:spcPct val="0"/>
              </a:spcAft>
              <a:defRPr kumimoji="1" sz="4400" kern="1200">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Reviewing C in C++</a:t>
            </a:r>
          </a:p>
        </p:txBody>
      </p:sp>
      <p:pic>
        <p:nvPicPr>
          <p:cNvPr id="44036" name="图片 4"/>
          <p:cNvPicPr>
            <a:picLocks noChangeAspect="1"/>
          </p:cNvPicPr>
          <p:nvPr/>
        </p:nvPicPr>
        <p:blipFill>
          <a:blip r:embed="rId2"/>
          <a:stretch>
            <a:fillRect/>
          </a:stretch>
        </p:blipFill>
        <p:spPr>
          <a:xfrm>
            <a:off x="1239838" y="2000250"/>
            <a:ext cx="6616700" cy="4549775"/>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4"/>
          <p:cNvSpPr txBox="1">
            <a:spLocks noGrp="1"/>
          </p:cNvSpPr>
          <p:nvPr>
            <p:ph type="sldNum" sz="quarter" idx="12"/>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21</a:t>
            </a:fld>
            <a:endParaRPr lang="en-US" altLang="zh-CN" sz="1200" dirty="0">
              <a:effectLst/>
              <a:latin typeface="微软雅黑" panose="020B0503020204020204" pitchFamily="34" charset="-122"/>
              <a:ea typeface="微软雅黑" panose="020B0503020204020204" pitchFamily="34" charset="-122"/>
            </a:endParaRPr>
          </a:p>
        </p:txBody>
      </p:sp>
      <p:sp>
        <p:nvSpPr>
          <p:cNvPr id="8" name="Rectangle 2"/>
          <p:cNvSpPr txBox="1">
            <a:spLocks noChangeArrowheads="1"/>
          </p:cNvSpPr>
          <p:nvPr/>
        </p:nvSpPr>
        <p:spPr bwMode="auto">
          <a:xfrm>
            <a:off x="266700" y="415925"/>
            <a:ext cx="7772400" cy="1143000"/>
          </a:xfrm>
          <a:prstGeom prst="rect">
            <a:avLst/>
          </a:prstGeom>
          <a:noFill/>
          <a:ln>
            <a:noFill/>
          </a:ln>
        </p:spPr>
        <p:txBody>
          <a:bodyPr anchor="b"/>
          <a:lstStyle>
            <a:lvl1pPr algn="l" rtl="0" eaLnBrk="0" fontAlgn="base" hangingPunct="0">
              <a:spcBef>
                <a:spcPct val="0"/>
              </a:spcBef>
              <a:spcAft>
                <a:spcPct val="0"/>
              </a:spcAft>
              <a:defRPr kumimoji="1" sz="4400" kern="1200">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Numeric data types</a:t>
            </a:r>
          </a:p>
        </p:txBody>
      </p:sp>
      <p:sp>
        <p:nvSpPr>
          <p:cNvPr id="6" name="内容占位符 6"/>
          <p:cNvSpPr>
            <a:spLocks noGrp="1"/>
          </p:cNvSpPr>
          <p:nvPr>
            <p:ph idx="1"/>
          </p:nvPr>
        </p:nvSpPr>
        <p:spPr>
          <a:xfrm>
            <a:off x="511175" y="1914525"/>
            <a:ext cx="8382000" cy="47244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Type </a:t>
            </a:r>
            <a:r>
              <a:rPr kumimoji="1" lang="en-US" altLang="zh-CN" sz="2800" b="1" i="1" u="none" strike="noStrike" kern="1200" cap="none" spc="0" normalizeH="0" baseline="0" noProof="0">
                <a:ln>
                  <a:noFill/>
                </a:ln>
                <a:solidFill>
                  <a:srgbClr val="FFFF00"/>
                </a:solidFill>
                <a:effectLst/>
                <a:uLnTx/>
                <a:uFillTx/>
                <a:latin typeface="Arial" panose="020B0604020202020204" pitchFamily="34" charset="0"/>
                <a:ea typeface="+mn-ea"/>
                <a:cs typeface="Arial" panose="020B0604020202020204" pitchFamily="34" charset="0"/>
              </a:rPr>
              <a:t>char</a:t>
            </a:r>
            <a:r>
              <a:rPr kumimoji="1" lang="en-US" altLang="zh-CN" sz="2800" b="0" i="0" u="none" strike="noStrike" kern="1200" cap="none" spc="0" normalizeH="0" baseline="0" noProof="0">
                <a:ln>
                  <a:noFill/>
                </a:ln>
                <a:solidFill>
                  <a:srgbClr val="C00000"/>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 </a:t>
            </a:r>
            <a:r>
              <a:rPr kumimoji="1" lang="en-US" altLang="zh-CN" sz="28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represents individual characters and small integers (1 byte).</a:t>
            </a:r>
          </a:p>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Type </a:t>
            </a:r>
            <a:r>
              <a:rPr kumimoji="1" lang="en-US" altLang="zh-CN" sz="2800" b="1" i="1" u="none" strike="noStrike" kern="1200" cap="none" spc="0" normalizeH="0" baseline="0" noProof="0">
                <a:ln>
                  <a:noFill/>
                </a:ln>
                <a:solidFill>
                  <a:srgbClr val="FFFF00"/>
                </a:solidFill>
                <a:effectLst/>
                <a:uLnTx/>
                <a:uFillTx/>
                <a:latin typeface="Arial" panose="020B0604020202020204" pitchFamily="34" charset="0"/>
                <a:ea typeface="+mn-ea"/>
                <a:cs typeface="Arial" panose="020B0604020202020204" pitchFamily="34" charset="0"/>
              </a:rPr>
              <a:t>short, int</a:t>
            </a:r>
            <a:r>
              <a:rPr kumimoji="1" lang="en-US" altLang="zh-CN" sz="28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 and </a:t>
            </a:r>
            <a:r>
              <a:rPr kumimoji="1" lang="en-US" altLang="zh-CN" sz="2800" b="1" i="1" u="none" strike="noStrike" kern="1200" cap="none" spc="0" normalizeH="0" baseline="0" noProof="0">
                <a:ln>
                  <a:noFill/>
                </a:ln>
                <a:solidFill>
                  <a:srgbClr val="FFFF00"/>
                </a:solidFill>
                <a:effectLst/>
                <a:uLnTx/>
                <a:uFillTx/>
                <a:latin typeface="Arial" panose="020B0604020202020204" pitchFamily="34" charset="0"/>
                <a:ea typeface="+mn-ea"/>
                <a:cs typeface="Arial" panose="020B0604020202020204" pitchFamily="34" charset="0"/>
              </a:rPr>
              <a:t>long</a:t>
            </a:r>
            <a:r>
              <a:rPr kumimoji="1" lang="en-US" altLang="zh-CN" sz="28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 represent integer values (half a machine word, 1 machine word, 1 or more machine words).</a:t>
            </a:r>
          </a:p>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Type </a:t>
            </a:r>
            <a:r>
              <a:rPr kumimoji="1" lang="en-US" altLang="zh-CN" sz="2800" b="1" i="1" u="none" strike="noStrike" kern="1200" cap="none" spc="0" normalizeH="0" baseline="0" noProof="0">
                <a:ln>
                  <a:noFill/>
                </a:ln>
                <a:solidFill>
                  <a:srgbClr val="FFFF00"/>
                </a:solidFill>
                <a:effectLst/>
                <a:uLnTx/>
                <a:uFillTx/>
                <a:latin typeface="Arial" panose="020B0604020202020204" pitchFamily="34" charset="0"/>
                <a:ea typeface="+mn-ea"/>
                <a:cs typeface="Arial" panose="020B0604020202020204" pitchFamily="34" charset="0"/>
              </a:rPr>
              <a:t>float</a:t>
            </a:r>
            <a:r>
              <a:rPr kumimoji="1" lang="en-US" altLang="zh-CN" sz="28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 </a:t>
            </a:r>
            <a:r>
              <a:rPr kumimoji="1" lang="en-US" altLang="zh-CN" sz="2800" b="1" i="1" u="none" strike="noStrike" kern="1200" cap="none" spc="0" normalizeH="0" baseline="0" noProof="0">
                <a:ln>
                  <a:noFill/>
                </a:ln>
                <a:solidFill>
                  <a:srgbClr val="FFFF00"/>
                </a:solidFill>
                <a:effectLst/>
                <a:uLnTx/>
                <a:uFillTx/>
                <a:latin typeface="Arial" panose="020B0604020202020204" pitchFamily="34" charset="0"/>
                <a:ea typeface="+mn-ea"/>
                <a:cs typeface="Arial" panose="020B0604020202020204" pitchFamily="34" charset="0"/>
              </a:rPr>
              <a:t>double</a:t>
            </a:r>
            <a:r>
              <a:rPr kumimoji="1" lang="en-US" altLang="zh-CN" sz="28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 and </a:t>
            </a:r>
            <a:r>
              <a:rPr kumimoji="1" lang="en-US" altLang="zh-CN" sz="2800" b="1" i="1" u="none" strike="noStrike" kern="1200" cap="none" spc="0" normalizeH="0" baseline="0" noProof="0">
                <a:ln>
                  <a:noFill/>
                </a:ln>
                <a:solidFill>
                  <a:srgbClr val="FFFF00"/>
                </a:solidFill>
                <a:effectLst/>
                <a:uLnTx/>
                <a:uFillTx/>
                <a:latin typeface="Arial" panose="020B0604020202020204" pitchFamily="34" charset="0"/>
                <a:ea typeface="+mn-ea"/>
                <a:cs typeface="Arial" panose="020B0604020202020204" pitchFamily="34" charset="0"/>
              </a:rPr>
              <a:t>long double </a:t>
            </a:r>
            <a:r>
              <a:rPr kumimoji="1" lang="en-US" altLang="zh-CN" sz="28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represent floating point values (1 machine word, 2 machine words, 3 or 4 machine words).</a:t>
            </a:r>
          </a:p>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Type </a:t>
            </a:r>
            <a:r>
              <a:rPr kumimoji="1" lang="en-US" altLang="zh-CN" sz="2800" b="1" i="1" u="none" strike="noStrike" kern="1200" cap="none" spc="0" normalizeH="0" baseline="0" noProof="0">
                <a:ln>
                  <a:noFill/>
                </a:ln>
                <a:solidFill>
                  <a:srgbClr val="FFFF00"/>
                </a:solidFill>
                <a:effectLst/>
                <a:uLnTx/>
                <a:uFillTx/>
                <a:latin typeface="Arial" panose="020B0604020202020204" pitchFamily="34" charset="0"/>
                <a:ea typeface="+mn-ea"/>
                <a:cs typeface="Arial" panose="020B0604020202020204" pitchFamily="34" charset="0"/>
              </a:rPr>
              <a:t>char</a:t>
            </a:r>
            <a:r>
              <a:rPr kumimoji="1" lang="en-US" altLang="zh-CN" sz="28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 </a:t>
            </a:r>
            <a:r>
              <a:rPr kumimoji="1" lang="en-US" altLang="zh-CN" sz="2800" b="1" i="1" u="none" strike="noStrike" kern="1200" cap="none" spc="0" normalizeH="0" baseline="0" noProof="0">
                <a:ln>
                  <a:noFill/>
                </a:ln>
                <a:solidFill>
                  <a:srgbClr val="FFFF00"/>
                </a:solidFill>
                <a:effectLst/>
                <a:uLnTx/>
                <a:uFillTx/>
                <a:latin typeface="Arial" panose="020B0604020202020204" pitchFamily="34" charset="0"/>
                <a:ea typeface="+mn-ea"/>
                <a:cs typeface="Arial" panose="020B0604020202020204" pitchFamily="34" charset="0"/>
              </a:rPr>
              <a:t>short</a:t>
            </a:r>
            <a:r>
              <a:rPr kumimoji="1" lang="en-US" altLang="zh-CN" sz="28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 </a:t>
            </a:r>
            <a:r>
              <a:rPr kumimoji="1" lang="en-US" altLang="zh-CN" sz="2800" b="1" i="1" u="none" strike="noStrike" kern="1200" cap="none" spc="0" normalizeH="0" baseline="0" noProof="0">
                <a:ln>
                  <a:noFill/>
                </a:ln>
                <a:solidFill>
                  <a:srgbClr val="FFFF00"/>
                </a:solidFill>
                <a:effectLst/>
                <a:uLnTx/>
                <a:uFillTx/>
                <a:latin typeface="Arial" panose="020B0604020202020204" pitchFamily="34" charset="0"/>
                <a:ea typeface="+mn-ea"/>
                <a:cs typeface="Arial" panose="020B0604020202020204" pitchFamily="34" charset="0"/>
              </a:rPr>
              <a:t>int,</a:t>
            </a:r>
            <a:r>
              <a:rPr kumimoji="1" lang="en-US" altLang="zh-CN" sz="28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 and</a:t>
            </a:r>
            <a:r>
              <a:rPr kumimoji="1" lang="en-US" altLang="zh-CN" sz="2800" b="1" i="1" u="none" strike="noStrike" kern="1200" cap="none" spc="0" normalizeH="0" baseline="0" noProof="0">
                <a:ln>
                  <a:noFill/>
                </a:ln>
                <a:solidFill>
                  <a:srgbClr val="FFFF00"/>
                </a:solidFill>
                <a:effectLst/>
                <a:uLnTx/>
                <a:uFillTx/>
                <a:latin typeface="Arial" panose="020B0604020202020204" pitchFamily="34" charset="0"/>
                <a:ea typeface="+mn-ea"/>
                <a:cs typeface="Arial" panose="020B0604020202020204" pitchFamily="34" charset="0"/>
              </a:rPr>
              <a:t> long </a:t>
            </a:r>
            <a:r>
              <a:rPr kumimoji="1" lang="en-US" altLang="zh-CN" sz="28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are also called </a:t>
            </a:r>
            <a:r>
              <a:rPr kumimoji="1" lang="en-US" altLang="zh-CN" sz="2800" b="0" i="0" u="none" strike="noStrike" kern="1200" cap="none" spc="0" normalizeH="0" baseline="0" noProof="0">
                <a:ln>
                  <a:noFill/>
                </a:ln>
                <a:solidFill>
                  <a:srgbClr val="FF0000"/>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integral types</a:t>
            </a:r>
            <a:r>
              <a:rPr kumimoji="1" lang="en-US" altLang="zh-CN" sz="28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 which can be </a:t>
            </a:r>
            <a:r>
              <a:rPr kumimoji="1" lang="en-US" altLang="zh-CN" sz="2800" b="0" i="0" u="none" strike="noStrike" kern="1200" cap="none" spc="0" normalizeH="0" baseline="0" noProof="0">
                <a:ln>
                  <a:noFill/>
                </a:ln>
                <a:solidFill>
                  <a:srgbClr val="FF0000"/>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signed</a:t>
            </a:r>
            <a:r>
              <a:rPr kumimoji="1" lang="en-US" altLang="zh-CN" sz="28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 or </a:t>
            </a:r>
            <a:r>
              <a:rPr kumimoji="1" lang="en-US" altLang="zh-CN" sz="2800" b="0" i="0" u="none" strike="noStrike" kern="1200" cap="none" spc="0" normalizeH="0" baseline="0" noProof="0">
                <a:ln>
                  <a:noFill/>
                </a:ln>
                <a:solidFill>
                  <a:srgbClr val="FF0000"/>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unsigned</a:t>
            </a:r>
            <a:r>
              <a:rPr kumimoji="1" lang="en-US" altLang="zh-CN" sz="28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a:t>
            </a:r>
            <a:endParaRPr kumimoji="1" lang="zh-CN" altLang="en-US" sz="28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4"/>
          <p:cNvSpPr txBox="1">
            <a:spLocks noGrp="1"/>
          </p:cNvSpPr>
          <p:nvPr>
            <p:ph type="sldNum" sz="quarter" idx="12"/>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22</a:t>
            </a:fld>
            <a:endParaRPr lang="en-US" altLang="zh-CN" sz="1200" dirty="0">
              <a:effectLst/>
              <a:latin typeface="微软雅黑" panose="020B0503020204020204" pitchFamily="34" charset="-122"/>
              <a:ea typeface="微软雅黑" panose="020B0503020204020204" pitchFamily="34" charset="-122"/>
            </a:endParaRPr>
          </a:p>
        </p:txBody>
      </p:sp>
      <p:sp>
        <p:nvSpPr>
          <p:cNvPr id="8" name="Rectangle 2"/>
          <p:cNvSpPr txBox="1">
            <a:spLocks noChangeArrowheads="1"/>
          </p:cNvSpPr>
          <p:nvPr/>
        </p:nvSpPr>
        <p:spPr bwMode="auto">
          <a:xfrm>
            <a:off x="266700" y="415925"/>
            <a:ext cx="7772400" cy="1143000"/>
          </a:xfrm>
          <a:prstGeom prst="rect">
            <a:avLst/>
          </a:prstGeom>
          <a:noFill/>
          <a:ln>
            <a:noFill/>
          </a:ln>
        </p:spPr>
        <p:txBody>
          <a:bodyPr anchor="b"/>
          <a:lstStyle>
            <a:lvl1pPr algn="l" rtl="0" eaLnBrk="0" fontAlgn="base" hangingPunct="0">
              <a:spcBef>
                <a:spcPct val="0"/>
              </a:spcBef>
              <a:spcAft>
                <a:spcPct val="0"/>
              </a:spcAft>
              <a:defRPr kumimoji="1" sz="4400" kern="1200">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Literal constants</a:t>
            </a:r>
          </a:p>
        </p:txBody>
      </p:sp>
      <p:sp>
        <p:nvSpPr>
          <p:cNvPr id="7" name="内容占位符 6"/>
          <p:cNvSpPr>
            <a:spLocks noGrp="1"/>
          </p:cNvSpPr>
          <p:nvPr>
            <p:ph idx="1"/>
          </p:nvPr>
        </p:nvSpPr>
        <p:spPr>
          <a:xfrm>
            <a:off x="266700" y="1736725"/>
            <a:ext cx="8697913" cy="512127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Literal constants are values that occur in programs.</a:t>
            </a:r>
          </a:p>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We can use prefixes to write literal integer constants in decimal, octal, or hexadecimal notation.</a:t>
            </a:r>
          </a:p>
          <a:p>
            <a:pPr marL="742950" marR="0" lvl="1" indent="-28575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Decimal (no prefix): 15</a:t>
            </a:r>
          </a:p>
          <a:p>
            <a:pPr marL="742950" marR="0" lvl="1" indent="-28575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Octal (prefix 0): 015 = 13 (decimal)</a:t>
            </a:r>
          </a:p>
          <a:p>
            <a:pPr marL="742950" marR="0" lvl="1" indent="-28575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Hexadecimal (prefix 0x): 0x15 = 21 (decimal)</a:t>
            </a:r>
          </a:p>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You can specify different types by appending a letter to the literal integer constant.</a:t>
            </a:r>
          </a:p>
          <a:p>
            <a:pPr marL="742950" marR="0" lvl="1" indent="-28575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Char char="n"/>
              <a:defRPr/>
            </a:pP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e.g., 2344</a:t>
            </a:r>
            <a:r>
              <a:rPr kumimoji="1" lang="en-US" altLang="zh-CN" sz="20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U</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 (unsigned), 1555</a:t>
            </a:r>
            <a:r>
              <a:rPr kumimoji="1" lang="en-US" altLang="zh-CN" sz="20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L</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 (long), 166</a:t>
            </a:r>
            <a:r>
              <a:rPr kumimoji="1" lang="en-US" altLang="zh-CN" sz="20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UL</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 (unsigned long), 3.1415</a:t>
            </a:r>
            <a:r>
              <a:rPr kumimoji="1" lang="en-US" altLang="zh-CN" sz="20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F</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 (float), 6.283</a:t>
            </a:r>
            <a:r>
              <a:rPr kumimoji="1" lang="en-US" altLang="zh-CN" sz="20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L</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 (long double)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400" b="0" i="0" u="none" strike="noStrike" kern="1200" cap="none" spc="0" normalizeH="0" baseline="0" noProof="0">
                <a:ln>
                  <a:noFill/>
                </a:ln>
                <a:solidFill>
                  <a:schemeClr val="tx2"/>
                </a:solidFill>
                <a:effectLst>
                  <a:outerShdw blurRad="38100" dist="38100" dir="2700000" algn="tl">
                    <a:srgbClr val="000000"/>
                  </a:outerShdw>
                </a:effectLst>
                <a:uLnTx/>
                <a:uFillTx/>
                <a:latin typeface="Arial" panose="020B0604020202020204" pitchFamily="34" charset="0"/>
                <a:ea typeface="+mj-ea"/>
                <a:cs typeface="Arial" panose="020B0604020202020204" pitchFamily="34" charset="0"/>
              </a:rPr>
              <a:t>Literal constants</a:t>
            </a:r>
            <a:endParaRPr kumimoji="1" lang="zh-CN" altLang="en-US" sz="4400" b="0" i="0" u="none" strike="noStrike" kern="1200" cap="none" spc="0" normalizeH="0" baseline="0" noProof="0">
              <a:ln>
                <a:noFill/>
              </a:ln>
              <a:solidFill>
                <a:schemeClr val="tx2"/>
              </a:solidFill>
              <a:effectLst>
                <a:outerShdw blurRad="38100" dist="38100" dir="2700000" algn="tl">
                  <a:srgbClr val="000000"/>
                </a:outerShdw>
              </a:effectLst>
              <a:uLnTx/>
              <a:uFillTx/>
              <a:latin typeface="Arial" panose="020B0604020202020204" pitchFamily="34" charset="0"/>
              <a:ea typeface="+mj-ea"/>
              <a:cs typeface="Arial" panose="020B0604020202020204" pitchFamily="34" charset="0"/>
            </a:endParaRPr>
          </a:p>
        </p:txBody>
      </p:sp>
      <p:sp>
        <p:nvSpPr>
          <p:cNvPr id="48131" name="灯片编号占位符 5"/>
          <p:cNvSpPr txBox="1">
            <a:spLocks noGrp="1"/>
          </p:cNvSpPr>
          <p:nvPr>
            <p:ph type="sldNum" sz="quarter" idx="12"/>
          </p:nvPr>
        </p:nvSpPr>
        <p:spPr>
          <a:ln/>
        </p:spPr>
        <p:txBody>
          <a:bodyPr/>
          <a:lstStyle/>
          <a:p>
            <a:pPr marL="0" indent="0" algn="r" eaLnBrk="1" hangingPunct="1">
              <a:spcBef>
                <a:spcPct val="50000"/>
              </a:spcBef>
              <a:buClrTx/>
              <a:buSzTx/>
              <a:buFontTx/>
              <a:buNone/>
            </a:pPr>
            <a:fld id="{9A0DB2DC-4C9A-4742-B13C-FB6460FD3503}" type="slidenum">
              <a:rPr lang="zh-CN" altLang="en-US" sz="1400" dirty="0">
                <a:solidFill>
                  <a:srgbClr val="000000"/>
                </a:solidFill>
                <a:effectLst/>
                <a:latin typeface="Times New Roman" panose="02020603050405020304" pitchFamily="18" charset="0"/>
              </a:rPr>
              <a:t>23</a:t>
            </a:fld>
            <a:endParaRPr lang="zh-CN" altLang="en-US" sz="1400" dirty="0">
              <a:solidFill>
                <a:srgbClr val="000000"/>
              </a:solidFill>
              <a:effectLst/>
              <a:latin typeface="Times New Roman" panose="02020603050405020304" pitchFamily="18" charset="0"/>
            </a:endParaRPr>
          </a:p>
        </p:txBody>
      </p:sp>
      <p:sp>
        <p:nvSpPr>
          <p:cNvPr id="7" name="内容占位符 6"/>
          <p:cNvSpPr>
            <a:spLocks noGrp="1"/>
          </p:cNvSpPr>
          <p:nvPr>
            <p:ph idx="1"/>
          </p:nvPr>
        </p:nvSpPr>
        <p:spPr>
          <a:xfrm>
            <a:off x="206375" y="1793875"/>
            <a:ext cx="8686800" cy="442277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6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A built-in (or primitive) C++ data type is the type </a:t>
            </a:r>
            <a:r>
              <a:rPr kumimoji="1" lang="en-US" altLang="zh-CN" sz="2600" b="1" i="1" u="none" strike="noStrike" kern="1200" cap="none" spc="0" normalizeH="0" baseline="0" noProof="0">
                <a:ln>
                  <a:noFill/>
                </a:ln>
                <a:solidFill>
                  <a:srgbClr val="FFFF00"/>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bool</a:t>
            </a:r>
            <a:r>
              <a:rPr kumimoji="1" lang="en-US" altLang="zh-CN" sz="26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 </a:t>
            </a:r>
          </a:p>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6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Its only literals are </a:t>
            </a:r>
            <a:r>
              <a:rPr kumimoji="1" lang="en-US" altLang="zh-CN" sz="2600" b="1" i="1" u="none" strike="noStrike" kern="1200" cap="none" spc="0" normalizeH="0" baseline="0" noProof="0">
                <a:ln>
                  <a:noFill/>
                </a:ln>
                <a:solidFill>
                  <a:srgbClr val="FF0000"/>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true</a:t>
            </a:r>
            <a:r>
              <a:rPr kumimoji="1" lang="en-US" altLang="zh-CN" sz="2600" b="0" i="0" u="none" strike="noStrike" kern="1200" cap="none" spc="0" normalizeH="0" baseline="0" noProof="0">
                <a:ln>
                  <a:noFill/>
                </a:ln>
                <a:solidFill>
                  <a:srgbClr val="C00000"/>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 </a:t>
            </a:r>
            <a:r>
              <a:rPr kumimoji="1" lang="en-US" altLang="zh-CN" sz="26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and </a:t>
            </a:r>
            <a:r>
              <a:rPr kumimoji="1" lang="en-US" altLang="zh-CN" sz="2600" b="1" i="1" u="none" strike="noStrike" kern="1200" cap="none" spc="0" normalizeH="0" baseline="0" noProof="0">
                <a:ln>
                  <a:noFill/>
                </a:ln>
                <a:solidFill>
                  <a:srgbClr val="FF0000"/>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false</a:t>
            </a:r>
            <a:r>
              <a:rPr kumimoji="1" lang="en-US" altLang="zh-CN" sz="26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 </a:t>
            </a:r>
          </a:p>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6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Note that the type bool does not exist in C.</a:t>
            </a:r>
          </a:p>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6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In C, we represent the Boolean values true and false by the integers </a:t>
            </a:r>
            <a:r>
              <a:rPr kumimoji="1" lang="en-US" altLang="zh-CN" sz="2600" b="1" i="1" u="none" strike="noStrike" kern="1200" cap="none" spc="0" normalizeH="0" baseline="0" noProof="0">
                <a:ln>
                  <a:noFill/>
                </a:ln>
                <a:solidFill>
                  <a:srgbClr val="FF0000"/>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1</a:t>
            </a:r>
            <a:r>
              <a:rPr kumimoji="1" lang="en-US" altLang="zh-CN" sz="26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 and </a:t>
            </a:r>
            <a:r>
              <a:rPr kumimoji="1" lang="en-US" altLang="zh-CN" sz="2600" b="1" i="1" u="none" strike="noStrike" kern="1200" cap="none" spc="0" normalizeH="0" baseline="0" noProof="0">
                <a:ln>
                  <a:noFill/>
                </a:ln>
                <a:solidFill>
                  <a:srgbClr val="FF0000"/>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0</a:t>
            </a:r>
            <a:r>
              <a:rPr kumimoji="1" lang="en-US" altLang="zh-CN" sz="26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a:t>
            </a:r>
          </a:p>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6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We </a:t>
            </a:r>
            <a:r>
              <a:rPr kumimoji="1" lang="en-US" altLang="zh-CN" sz="2600" b="0" i="0" u="none" strike="noStrike" kern="1200" cap="none" spc="0" normalizeH="0" baseline="0" noProof="0">
                <a:ln>
                  <a:noFill/>
                </a:ln>
                <a:solidFill>
                  <a:srgbClr val="FFC000"/>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use </a:t>
            </a:r>
            <a:r>
              <a:rPr kumimoji="1" lang="en-US" altLang="zh-CN" sz="2600" b="0" i="0" u="none" strike="noStrike" kern="1200" cap="none" spc="0" normalizeH="0" baseline="0" noProof="0">
                <a:ln>
                  <a:noFill/>
                </a:ln>
                <a:solidFill>
                  <a:srgbClr val="FFC000"/>
                </a:solidFill>
                <a:effectLst/>
                <a:uLnTx/>
                <a:uFillTx/>
                <a:latin typeface="Arial" panose="020B0604020202020204" pitchFamily="34" charset="0"/>
                <a:ea typeface="+mn-ea"/>
                <a:cs typeface="Arial" panose="020B0604020202020204" pitchFamily="34" charset="0"/>
              </a:rPr>
              <a:t>single quotation marks</a:t>
            </a:r>
            <a:r>
              <a:rPr kumimoji="1" lang="en-US" altLang="zh-CN" sz="2600" b="0" i="0" u="none" strike="noStrike" kern="1200" cap="none" spc="0" normalizeH="0" baseline="0" noProof="0">
                <a:ln>
                  <a:noFill/>
                </a:ln>
                <a:solidFill>
                  <a:srgbClr val="FFC000"/>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 </a:t>
            </a:r>
            <a:r>
              <a:rPr kumimoji="1" lang="en-US" altLang="zh-CN" sz="26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to write literal </a:t>
            </a:r>
            <a:r>
              <a:rPr kumimoji="1" lang="en-US" altLang="zh-CN" sz="2600" b="0" i="0" u="none" strike="noStrike" kern="1200" cap="none" spc="0" normalizeH="0" baseline="0" noProof="0">
                <a:ln>
                  <a:noFill/>
                </a:ln>
                <a:solidFill>
                  <a:srgbClr val="FFFF00"/>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character</a:t>
            </a:r>
            <a:r>
              <a:rPr kumimoji="1" lang="en-US" altLang="zh-CN" sz="26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 constants. </a:t>
            </a:r>
            <a:r>
              <a:rPr kumimoji="1" lang="en-US" altLang="zh-CN" sz="24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E.g., ‘x’, ‘4’, ‘:’, ‘\n’.</a:t>
            </a:r>
            <a:endParaRPr kumimoji="1" lang="en-US" altLang="zh-CN" sz="26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6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A literal </a:t>
            </a:r>
            <a:r>
              <a:rPr kumimoji="1" lang="en-US" altLang="zh-CN" sz="2600" b="0" i="0" u="none" strike="noStrike" kern="1200" cap="none" spc="0" normalizeH="0" baseline="0" noProof="0">
                <a:ln>
                  <a:noFill/>
                </a:ln>
                <a:solidFill>
                  <a:srgbClr val="FFFF00"/>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string</a:t>
            </a:r>
            <a:r>
              <a:rPr kumimoji="1" lang="en-US" altLang="zh-CN" sz="26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 constant is composed of zero or more characters enclosed in </a:t>
            </a:r>
            <a:r>
              <a:rPr kumimoji="1" lang="en-US" altLang="zh-CN" sz="2600" b="0" i="0" u="none" strike="noStrike" kern="1200" cap="none" spc="0" normalizeH="0" baseline="0" noProof="0">
                <a:ln>
                  <a:noFill/>
                </a:ln>
                <a:solidFill>
                  <a:srgbClr val="FFC000"/>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double quotation marks</a:t>
            </a:r>
            <a:r>
              <a:rPr kumimoji="1" lang="en-US" altLang="zh-CN" sz="24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 </a:t>
            </a:r>
            <a:r>
              <a:rPr kumimoji="1" lang="en-US" altLang="zh-CN" sz="20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E.g., “hello”, “x”, “”. “Hi, \nHow are you”.</a:t>
            </a:r>
            <a:endParaRPr kumimoji="1" lang="en-US" altLang="zh-CN" sz="24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6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To use the C++ </a:t>
            </a:r>
            <a:r>
              <a:rPr kumimoji="1" lang="en-US" altLang="zh-CN" sz="2600" b="0" i="0" u="none" strike="noStrike" kern="1200" cap="none" spc="0" normalizeH="0" baseline="0" noProof="0">
                <a:ln>
                  <a:noFill/>
                </a:ln>
                <a:solidFill>
                  <a:srgbClr val="FFFF00"/>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string</a:t>
            </a:r>
            <a:r>
              <a:rPr kumimoji="1" lang="en-US" altLang="zh-CN" sz="26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 type, you must </a:t>
            </a:r>
            <a:r>
              <a:rPr kumimoji="1" lang="en-US" altLang="zh-CN" sz="2600" b="0" i="0" u="none" strike="noStrike" kern="1200" cap="none" spc="0" normalizeH="0" baseline="0" noProof="0">
                <a:ln>
                  <a:noFill/>
                </a:ln>
                <a:solidFill>
                  <a:srgbClr val="FFFF00"/>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#include &lt;string&gt;</a:t>
            </a:r>
          </a:p>
        </p:txBody>
      </p:sp>
      <p:sp>
        <p:nvSpPr>
          <p:cNvPr id="48133" name="灯片编号占位符 4"/>
          <p:cNvSpPr txBox="1"/>
          <p:nvPr/>
        </p:nvSpPr>
        <p:spPr>
          <a:xfrm>
            <a:off x="7954963" y="6521450"/>
            <a:ext cx="1006475" cy="215900"/>
          </a:xfrm>
          <a:prstGeom prst="rect">
            <a:avLst/>
          </a:prstGeom>
          <a:noFill/>
          <a:ln w="9525">
            <a:noFill/>
          </a:ln>
        </p:spPr>
        <p:txBody>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latin typeface="+mn-lt"/>
                <a:ea typeface="+mn-ea"/>
                <a:cs typeface="+mn-cs"/>
              </a:defRPr>
            </a:lvl5pPr>
          </a:lstStyle>
          <a:p>
            <a:pPr marL="0" lvl="0" indent="0" algn="r">
              <a:buClrTx/>
              <a:buSzTx/>
              <a:buFontTx/>
              <a:buNone/>
            </a:pPr>
            <a:fld id="{9A0DB2DC-4C9A-4742-B13C-FB6460FD3503}" type="slidenum">
              <a:rPr lang="en-US" altLang="zh-CN" sz="1200" dirty="0">
                <a:latin typeface="微软雅黑" panose="020B0503020204020204" pitchFamily="34" charset="-122"/>
                <a:ea typeface="微软雅黑" panose="020B0503020204020204" pitchFamily="34" charset="-122"/>
              </a:rPr>
              <a:t>23</a:t>
            </a:fld>
            <a:endParaRPr lang="en-US" altLang="zh-CN" sz="1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400" b="0" i="0" u="none" strike="noStrike" kern="1200" cap="none" spc="0" normalizeH="0" baseline="0" noProof="0">
                <a:ln>
                  <a:noFill/>
                </a:ln>
                <a:solidFill>
                  <a:schemeClr val="tx2"/>
                </a:solidFill>
                <a:effectLst>
                  <a:outerShdw blurRad="38100" dist="38100" dir="2700000" algn="tl">
                    <a:srgbClr val="000000"/>
                  </a:outerShdw>
                </a:effectLst>
                <a:uLnTx/>
                <a:uFillTx/>
                <a:latin typeface="Arial" panose="020B0604020202020204" pitchFamily="34" charset="0"/>
                <a:ea typeface="+mj-ea"/>
                <a:cs typeface="Arial" panose="020B0604020202020204" pitchFamily="34" charset="0"/>
              </a:rPr>
              <a:t>structures</a:t>
            </a:r>
            <a:endParaRPr kumimoji="1" lang="zh-CN" altLang="en-US" sz="4400" b="0" i="0" u="none" strike="noStrike" kern="1200" cap="none" spc="0" normalizeH="0" baseline="0" noProof="0">
              <a:ln>
                <a:noFill/>
              </a:ln>
              <a:solidFill>
                <a:schemeClr val="tx2"/>
              </a:solidFill>
              <a:effectLst>
                <a:outerShdw blurRad="38100" dist="38100" dir="2700000" algn="tl">
                  <a:srgbClr val="000000"/>
                </a:outerShdw>
              </a:effectLst>
              <a:uLnTx/>
              <a:uFillTx/>
              <a:latin typeface="Arial" panose="020B0604020202020204" pitchFamily="34" charset="0"/>
              <a:ea typeface="+mj-ea"/>
              <a:cs typeface="Arial" panose="020B0604020202020204" pitchFamily="34" charset="0"/>
            </a:endParaRPr>
          </a:p>
        </p:txBody>
      </p:sp>
      <p:sp>
        <p:nvSpPr>
          <p:cNvPr id="50179" name="日期占位符 3"/>
          <p:cNvSpPr txBox="1">
            <a:spLocks noGrp="1"/>
          </p:cNvSpPr>
          <p:nvPr>
            <p:ph type="dt" sz="half" idx="10"/>
          </p:nvPr>
        </p:nvSpPr>
        <p:spPr>
          <a:ln/>
        </p:spPr>
        <p:txBody>
          <a:bodyPr/>
          <a:lstStyle/>
          <a:p>
            <a:pPr marL="0" indent="0" eaLnBrk="1" hangingPunct="1">
              <a:spcBef>
                <a:spcPct val="50000"/>
              </a:spcBef>
              <a:buClrTx/>
              <a:buSzTx/>
              <a:buFontTx/>
              <a:buNone/>
            </a:pPr>
            <a:fld id="{BB962C8B-B14F-4D97-AF65-F5344CB8AC3E}" type="datetime1">
              <a:rPr lang="zh-CN" altLang="en-US" sz="1400" dirty="0">
                <a:solidFill>
                  <a:srgbClr val="000000"/>
                </a:solidFill>
                <a:effectLst/>
                <a:latin typeface="Times New Roman" panose="02020603050405020304" pitchFamily="18" charset="0"/>
              </a:rPr>
              <a:t>2025/9/15</a:t>
            </a:fld>
            <a:endParaRPr lang="zh-CN" altLang="en-US" sz="1400" dirty="0">
              <a:solidFill>
                <a:srgbClr val="000000"/>
              </a:solidFill>
              <a:effectLst/>
              <a:latin typeface="Times New Roman" panose="02020603050405020304" pitchFamily="18" charset="0"/>
            </a:endParaRPr>
          </a:p>
        </p:txBody>
      </p:sp>
      <p:sp>
        <p:nvSpPr>
          <p:cNvPr id="50180" name="灯片编号占位符 5"/>
          <p:cNvSpPr txBox="1">
            <a:spLocks noGrp="1"/>
          </p:cNvSpPr>
          <p:nvPr>
            <p:ph type="sldNum" sz="quarter" idx="12"/>
          </p:nvPr>
        </p:nvSpPr>
        <p:spPr>
          <a:ln/>
        </p:spPr>
        <p:txBody>
          <a:bodyPr/>
          <a:lstStyle/>
          <a:p>
            <a:pPr marL="0" indent="0" algn="r" eaLnBrk="1" hangingPunct="1">
              <a:spcBef>
                <a:spcPct val="50000"/>
              </a:spcBef>
              <a:buClrTx/>
              <a:buSzTx/>
              <a:buFontTx/>
              <a:buNone/>
            </a:pPr>
            <a:fld id="{9A0DB2DC-4C9A-4742-B13C-FB6460FD3503}" type="slidenum">
              <a:rPr lang="zh-CN" altLang="en-US" sz="1400" dirty="0">
                <a:solidFill>
                  <a:srgbClr val="000000"/>
                </a:solidFill>
                <a:effectLst/>
                <a:latin typeface="Times New Roman" panose="02020603050405020304" pitchFamily="18" charset="0"/>
              </a:rPr>
              <a:t>24</a:t>
            </a:fld>
            <a:endParaRPr lang="zh-CN" altLang="en-US" sz="1400" dirty="0">
              <a:solidFill>
                <a:srgbClr val="000000"/>
              </a:solidFill>
              <a:effectLst/>
              <a:latin typeface="Times New Roman" panose="02020603050405020304" pitchFamily="18" charset="0"/>
            </a:endParaRPr>
          </a:p>
        </p:txBody>
      </p:sp>
      <p:sp>
        <p:nvSpPr>
          <p:cNvPr id="7" name="内容占位符 6"/>
          <p:cNvSpPr>
            <a:spLocks noGrp="1"/>
          </p:cNvSpPr>
          <p:nvPr>
            <p:ph idx="1"/>
          </p:nvPr>
        </p:nvSpPr>
        <p:spPr>
          <a:xfrm>
            <a:off x="395288" y="1989138"/>
            <a:ext cx="8686800" cy="3608388"/>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A structured data type is a type in which each value is a collection of component items. </a:t>
            </a:r>
          </a:p>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The entire collection has a single name, each component can be accessed individually.</a:t>
            </a:r>
          </a:p>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Often, we have related information of various types that we’d like to store together for convenient access under the same identifier, for example…</a:t>
            </a:r>
          </a:p>
        </p:txBody>
      </p:sp>
      <p:sp>
        <p:nvSpPr>
          <p:cNvPr id="50182" name="灯片编号占位符 4"/>
          <p:cNvSpPr txBox="1"/>
          <p:nvPr/>
        </p:nvSpPr>
        <p:spPr>
          <a:xfrm>
            <a:off x="7885113" y="6442075"/>
            <a:ext cx="1008062" cy="215900"/>
          </a:xfrm>
          <a:prstGeom prst="rect">
            <a:avLst/>
          </a:prstGeom>
          <a:noFill/>
          <a:ln w="9525">
            <a:noFill/>
          </a:ln>
        </p:spPr>
        <p:txBody>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latin typeface="+mn-lt"/>
                <a:ea typeface="+mn-ea"/>
                <a:cs typeface="+mn-cs"/>
              </a:defRPr>
            </a:lvl5pPr>
          </a:lstStyle>
          <a:p>
            <a:pPr marL="0" lvl="0" indent="0" algn="r">
              <a:buClrTx/>
              <a:buSzTx/>
              <a:buFontTx/>
              <a:buNone/>
            </a:pPr>
            <a:fld id="{9A0DB2DC-4C9A-4742-B13C-FB6460FD3503}" type="slidenum">
              <a:rPr lang="en-US" altLang="zh-CN" sz="1200" dirty="0">
                <a:latin typeface="微软雅黑" panose="020B0503020204020204" pitchFamily="34" charset="-122"/>
                <a:ea typeface="微软雅黑" panose="020B0503020204020204" pitchFamily="34" charset="-122"/>
              </a:rPr>
              <a:t>24</a:t>
            </a:fld>
            <a:endParaRPr lang="en-US" altLang="zh-CN" sz="1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400" b="0" i="0" u="none" strike="noStrike" kern="1200" cap="none" spc="0" normalizeH="0" baseline="0" noProof="0">
                <a:ln>
                  <a:noFill/>
                </a:ln>
                <a:solidFill>
                  <a:schemeClr val="tx2"/>
                </a:solidFill>
                <a:effectLst>
                  <a:outerShdw blurRad="38100" dist="38100" dir="2700000" algn="tl">
                    <a:srgbClr val="000000"/>
                  </a:outerShdw>
                </a:effectLst>
                <a:uLnTx/>
                <a:uFillTx/>
                <a:latin typeface="Arial" panose="020B0604020202020204" pitchFamily="34" charset="0"/>
                <a:ea typeface="+mj-ea"/>
                <a:cs typeface="Arial" panose="020B0604020202020204" pitchFamily="34" charset="0"/>
              </a:rPr>
              <a:t>struct</a:t>
            </a:r>
            <a:endParaRPr kumimoji="1" lang="zh-CN" altLang="en-US" sz="4400" b="0" i="0" u="none" strike="noStrike" kern="1200" cap="none" spc="0" normalizeH="0" baseline="0" noProof="0">
              <a:ln>
                <a:noFill/>
              </a:ln>
              <a:solidFill>
                <a:schemeClr val="tx2"/>
              </a:solidFill>
              <a:effectLst>
                <a:outerShdw blurRad="38100" dist="38100" dir="2700000" algn="tl">
                  <a:srgbClr val="000000"/>
                </a:outerShdw>
              </a:effectLst>
              <a:uLnTx/>
              <a:uFillTx/>
              <a:latin typeface="Arial" panose="020B0604020202020204" pitchFamily="34" charset="0"/>
              <a:ea typeface="+mj-ea"/>
              <a:cs typeface="Arial" panose="020B0604020202020204" pitchFamily="34" charset="0"/>
            </a:endParaRPr>
          </a:p>
        </p:txBody>
      </p:sp>
      <p:sp>
        <p:nvSpPr>
          <p:cNvPr id="52227" name="日期占位符 3"/>
          <p:cNvSpPr txBox="1">
            <a:spLocks noGrp="1"/>
          </p:cNvSpPr>
          <p:nvPr>
            <p:ph type="dt" sz="half" idx="10"/>
          </p:nvPr>
        </p:nvSpPr>
        <p:spPr>
          <a:ln/>
        </p:spPr>
        <p:txBody>
          <a:bodyPr/>
          <a:lstStyle/>
          <a:p>
            <a:pPr marL="0" indent="0" eaLnBrk="1" hangingPunct="1">
              <a:spcBef>
                <a:spcPct val="50000"/>
              </a:spcBef>
              <a:buClrTx/>
              <a:buSzTx/>
              <a:buFontTx/>
              <a:buNone/>
            </a:pPr>
            <a:fld id="{BB962C8B-B14F-4D97-AF65-F5344CB8AC3E}" type="datetime1">
              <a:rPr lang="zh-CN" altLang="en-US" sz="1400" dirty="0">
                <a:solidFill>
                  <a:srgbClr val="000000"/>
                </a:solidFill>
                <a:effectLst/>
                <a:latin typeface="Times New Roman" panose="02020603050405020304" pitchFamily="18" charset="0"/>
              </a:rPr>
              <a:t>2025/9/15</a:t>
            </a:fld>
            <a:endParaRPr lang="zh-CN" altLang="en-US" sz="1400" dirty="0">
              <a:solidFill>
                <a:srgbClr val="000000"/>
              </a:solidFill>
              <a:effectLst/>
              <a:latin typeface="Times New Roman" panose="02020603050405020304" pitchFamily="18" charset="0"/>
            </a:endParaRPr>
          </a:p>
        </p:txBody>
      </p:sp>
      <p:sp>
        <p:nvSpPr>
          <p:cNvPr id="52228" name="灯片编号占位符 5"/>
          <p:cNvSpPr txBox="1">
            <a:spLocks noGrp="1"/>
          </p:cNvSpPr>
          <p:nvPr>
            <p:ph type="sldNum" sz="quarter" idx="12"/>
          </p:nvPr>
        </p:nvSpPr>
        <p:spPr>
          <a:ln/>
        </p:spPr>
        <p:txBody>
          <a:bodyPr/>
          <a:lstStyle/>
          <a:p>
            <a:pPr marL="0" indent="0" algn="r" eaLnBrk="1" hangingPunct="1">
              <a:spcBef>
                <a:spcPct val="50000"/>
              </a:spcBef>
              <a:buClrTx/>
              <a:buSzTx/>
              <a:buFontTx/>
              <a:buNone/>
            </a:pPr>
            <a:fld id="{9A0DB2DC-4C9A-4742-B13C-FB6460FD3503}" type="slidenum">
              <a:rPr lang="zh-CN" altLang="en-US" sz="1400" dirty="0">
                <a:solidFill>
                  <a:srgbClr val="000000"/>
                </a:solidFill>
                <a:effectLst/>
                <a:latin typeface="Times New Roman" panose="02020603050405020304" pitchFamily="18" charset="0"/>
              </a:rPr>
              <a:t>25</a:t>
            </a:fld>
            <a:endParaRPr lang="zh-CN" altLang="en-US" sz="1400" dirty="0">
              <a:solidFill>
                <a:srgbClr val="000000"/>
              </a:solidFill>
              <a:effectLst/>
              <a:latin typeface="Times New Roman" panose="02020603050405020304" pitchFamily="18" charset="0"/>
            </a:endParaRPr>
          </a:p>
        </p:txBody>
      </p:sp>
      <p:sp>
        <p:nvSpPr>
          <p:cNvPr id="52229" name="Rectangle 4"/>
          <p:cNvSpPr/>
          <p:nvPr/>
        </p:nvSpPr>
        <p:spPr>
          <a:xfrm>
            <a:off x="276225" y="1979613"/>
            <a:ext cx="8839200" cy="409257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latin typeface="+mn-lt"/>
                <a:ea typeface="+mn-ea"/>
                <a:cs typeface="+mn-cs"/>
              </a:defRPr>
            </a:lvl5pPr>
          </a:lstStyle>
          <a:p>
            <a:pPr marL="0" lvl="0" indent="0">
              <a:spcBef>
                <a:spcPct val="0"/>
              </a:spcBef>
              <a:buClrTx/>
              <a:buSzTx/>
              <a:buFontTx/>
              <a:buNone/>
            </a:pPr>
            <a:r>
              <a:rPr lang="en-US" altLang="zh-CN" sz="2000" b="1" dirty="0">
                <a:latin typeface="Lucida Console" panose="020B0609040504020204" pitchFamily="49" charset="0"/>
              </a:rPr>
              <a:t>struct Student     </a:t>
            </a:r>
            <a:r>
              <a:rPr lang="en-US" altLang="zh-CN" sz="2000" b="1" dirty="0">
                <a:solidFill>
                  <a:srgbClr val="FFFF00"/>
                </a:solidFill>
                <a:latin typeface="Lucida Console" panose="020B0609040504020204" pitchFamily="49" charset="0"/>
              </a:rPr>
              <a:t>// declares a struct data type</a:t>
            </a:r>
          </a:p>
          <a:p>
            <a:pPr marL="0" lvl="0" indent="0">
              <a:spcBef>
                <a:spcPct val="0"/>
              </a:spcBef>
              <a:buClrTx/>
              <a:buSzTx/>
              <a:buFontTx/>
              <a:buNone/>
            </a:pPr>
            <a:r>
              <a:rPr lang="en-US" altLang="zh-CN" sz="2000" b="1" dirty="0">
                <a:latin typeface="Lucida Console" panose="020B0609040504020204" pitchFamily="49" charset="0"/>
              </a:rPr>
              <a:t>{                   </a:t>
            </a:r>
            <a:r>
              <a:rPr lang="en-US" altLang="zh-CN" sz="2000" b="1" dirty="0">
                <a:solidFill>
                  <a:srgbClr val="0070C0"/>
                </a:solidFill>
                <a:latin typeface="Lucida Console" panose="020B0609040504020204" pitchFamily="49" charset="0"/>
              </a:rPr>
              <a:t>	</a:t>
            </a:r>
            <a:endParaRPr lang="en-US" altLang="zh-CN" sz="2000" b="1" dirty="0">
              <a:latin typeface="Lucida Console" panose="020B0609040504020204" pitchFamily="49" charset="0"/>
            </a:endParaRPr>
          </a:p>
          <a:p>
            <a:pPr marL="0" lvl="0" indent="0">
              <a:spcBef>
                <a:spcPct val="0"/>
              </a:spcBef>
              <a:buClrTx/>
              <a:buSzTx/>
              <a:buFontTx/>
              <a:buNone/>
            </a:pPr>
            <a:r>
              <a:rPr lang="en-US" altLang="zh-CN" sz="2000" b="1" dirty="0">
                <a:latin typeface="Lucida Console" panose="020B0609040504020204" pitchFamily="49" charset="0"/>
              </a:rPr>
              <a:t>	string     name;	</a:t>
            </a:r>
          </a:p>
          <a:p>
            <a:pPr marL="0" lvl="0" indent="0">
              <a:spcBef>
                <a:spcPct val="0"/>
              </a:spcBef>
              <a:buClrTx/>
              <a:buSzTx/>
              <a:buFontTx/>
              <a:buNone/>
            </a:pPr>
            <a:r>
              <a:rPr lang="en-US" altLang="zh-CN" sz="2000" b="1" dirty="0">
                <a:latin typeface="Lucida Console" panose="020B0609040504020204" pitchFamily="49" charset="0"/>
              </a:rPr>
              <a:t>	int        ID;	</a:t>
            </a:r>
          </a:p>
          <a:p>
            <a:pPr marL="0" lvl="0" indent="0">
              <a:spcBef>
                <a:spcPct val="0"/>
              </a:spcBef>
              <a:buClrTx/>
              <a:buSzTx/>
              <a:buFontTx/>
              <a:buNone/>
            </a:pPr>
            <a:r>
              <a:rPr lang="en-US" altLang="zh-CN" sz="2000" b="1" dirty="0">
                <a:latin typeface="Lucida Console" panose="020B0609040504020204" pitchFamily="49" charset="0"/>
              </a:rPr>
              <a:t>	int        Age;</a:t>
            </a:r>
            <a:endParaRPr lang="en-US" altLang="zh-CN" sz="2000" b="1" dirty="0">
              <a:solidFill>
                <a:srgbClr val="C00000"/>
              </a:solidFill>
              <a:latin typeface="Arial" panose="020B0604020202020204" pitchFamily="34" charset="0"/>
              <a:cs typeface="Arial" panose="020B0604020202020204" pitchFamily="34" charset="0"/>
            </a:endParaRPr>
          </a:p>
          <a:p>
            <a:pPr marL="0" lvl="0" indent="0">
              <a:spcBef>
                <a:spcPct val="0"/>
              </a:spcBef>
              <a:buClrTx/>
              <a:buSzTx/>
              <a:buFontTx/>
              <a:buNone/>
            </a:pPr>
            <a:r>
              <a:rPr lang="en-US" altLang="zh-CN" sz="2000" b="1" dirty="0">
                <a:latin typeface="Lucida Console" panose="020B0609040504020204" pitchFamily="49" charset="0"/>
              </a:rPr>
              <a:t>	double     Grade;		        	</a:t>
            </a:r>
          </a:p>
          <a:p>
            <a:pPr marL="0" lvl="0" indent="0">
              <a:spcBef>
                <a:spcPct val="0"/>
              </a:spcBef>
              <a:buClrTx/>
              <a:buSzTx/>
              <a:buFontTx/>
              <a:buNone/>
            </a:pPr>
            <a:r>
              <a:rPr lang="en-US" altLang="zh-CN" sz="2000" b="1" dirty="0">
                <a:latin typeface="Lucida Console" panose="020B0609040504020204" pitchFamily="49" charset="0"/>
              </a:rPr>
              <a:t>};</a:t>
            </a:r>
          </a:p>
          <a:p>
            <a:pPr marL="0" lvl="0" indent="0">
              <a:spcBef>
                <a:spcPct val="0"/>
              </a:spcBef>
              <a:buClrTx/>
              <a:buSzTx/>
              <a:buFontTx/>
              <a:buNone/>
            </a:pPr>
            <a:endParaRPr lang="en-US" altLang="zh-CN" sz="2000" b="1" dirty="0">
              <a:latin typeface="Lucida Console" panose="020B0609040504020204" pitchFamily="49" charset="0"/>
            </a:endParaRPr>
          </a:p>
          <a:p>
            <a:pPr marL="0" lvl="0" indent="0">
              <a:spcBef>
                <a:spcPct val="0"/>
              </a:spcBef>
              <a:buClrTx/>
              <a:buSzTx/>
              <a:buFontTx/>
              <a:buNone/>
            </a:pPr>
            <a:r>
              <a:rPr lang="en-US" altLang="zh-CN" sz="2000" b="1" dirty="0">
                <a:latin typeface="Lucida Console" panose="020B0609040504020204" pitchFamily="49" charset="0"/>
              </a:rPr>
              <a:t>Student student1;   </a:t>
            </a:r>
            <a:r>
              <a:rPr lang="en-US" altLang="zh-CN" sz="2000" b="1" dirty="0">
                <a:solidFill>
                  <a:srgbClr val="FFFF00"/>
                </a:solidFill>
                <a:latin typeface="Lucida Console" panose="020B0609040504020204" pitchFamily="49" charset="0"/>
              </a:rPr>
              <a:t>//declare variable of Student</a:t>
            </a:r>
          </a:p>
          <a:p>
            <a:pPr marL="0" lvl="0" indent="0">
              <a:spcBef>
                <a:spcPct val="0"/>
              </a:spcBef>
              <a:buClrTx/>
              <a:buSzTx/>
              <a:buFontTx/>
              <a:buNone/>
            </a:pPr>
            <a:r>
              <a:rPr lang="en-US" altLang="zh-CN" sz="2000" b="1" dirty="0">
                <a:latin typeface="Lucida Console" panose="020B0609040504020204" pitchFamily="49" charset="0"/>
              </a:rPr>
              <a:t>student1.Name = "Alice";</a:t>
            </a:r>
          </a:p>
          <a:p>
            <a:pPr marL="0" lvl="0" indent="0">
              <a:spcBef>
                <a:spcPct val="0"/>
              </a:spcBef>
              <a:buClrTx/>
              <a:buSzTx/>
              <a:buFontTx/>
              <a:buNone/>
            </a:pPr>
            <a:r>
              <a:rPr lang="en-US" altLang="zh-CN" sz="2000" b="1" dirty="0">
                <a:latin typeface="Lucida Console" panose="020B0609040504020204" pitchFamily="49" charset="0"/>
              </a:rPr>
              <a:t>student1.ID = 101;</a:t>
            </a:r>
          </a:p>
          <a:p>
            <a:pPr marL="0" lvl="0" indent="0">
              <a:spcBef>
                <a:spcPct val="0"/>
              </a:spcBef>
              <a:buClrTx/>
              <a:buSzTx/>
              <a:buFontTx/>
              <a:buNone/>
            </a:pPr>
            <a:r>
              <a:rPr lang="en-US" altLang="zh-CN" sz="2000" b="1" dirty="0">
                <a:latin typeface="Lucida Console" panose="020B0609040504020204" pitchFamily="49" charset="0"/>
              </a:rPr>
              <a:t>student1.Age = 20;</a:t>
            </a:r>
          </a:p>
          <a:p>
            <a:pPr marL="0" lvl="0" indent="0">
              <a:spcBef>
                <a:spcPct val="0"/>
              </a:spcBef>
              <a:buClrTx/>
              <a:buSzTx/>
              <a:buFontTx/>
              <a:buNone/>
            </a:pPr>
            <a:r>
              <a:rPr lang="en-US" altLang="zh-CN" sz="2000" b="1" dirty="0">
                <a:latin typeface="Lucida Console" panose="020B0609040504020204" pitchFamily="49" charset="0"/>
              </a:rPr>
              <a:t>student1.Grade = 90.5;;</a:t>
            </a:r>
            <a:endParaRPr lang="en-US" altLang="zh-CN" sz="1800" b="1" dirty="0">
              <a:latin typeface="Lucida Console" panose="020B0609040504020204" pitchFamily="49" charset="0"/>
            </a:endParaRPr>
          </a:p>
        </p:txBody>
      </p:sp>
      <p:sp>
        <p:nvSpPr>
          <p:cNvPr id="52230" name="灯片编号占位符 4"/>
          <p:cNvSpPr txBox="1"/>
          <p:nvPr/>
        </p:nvSpPr>
        <p:spPr>
          <a:xfrm>
            <a:off x="7885113" y="6442075"/>
            <a:ext cx="1008062" cy="215900"/>
          </a:xfrm>
          <a:prstGeom prst="rect">
            <a:avLst/>
          </a:prstGeom>
          <a:noFill/>
          <a:ln w="9525">
            <a:noFill/>
          </a:ln>
        </p:spPr>
        <p:txBody>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latin typeface="+mn-lt"/>
                <a:ea typeface="+mn-ea"/>
                <a:cs typeface="+mn-cs"/>
              </a:defRPr>
            </a:lvl5pPr>
          </a:lstStyle>
          <a:p>
            <a:pPr marL="0" lvl="0" indent="0" algn="r">
              <a:buClrTx/>
              <a:buSzTx/>
              <a:buFontTx/>
              <a:buNone/>
            </a:pPr>
            <a:fld id="{9A0DB2DC-4C9A-4742-B13C-FB6460FD3503}" type="slidenum">
              <a:rPr lang="en-US" altLang="zh-CN" sz="1200" dirty="0">
                <a:latin typeface="微软雅黑" panose="020B0503020204020204" pitchFamily="34" charset="-122"/>
                <a:ea typeface="微软雅黑" panose="020B0503020204020204" pitchFamily="34" charset="-122"/>
              </a:rPr>
              <a:t>25</a:t>
            </a:fld>
            <a:endParaRPr lang="en-US" altLang="zh-CN" sz="1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p:cNvSpPr>
            <a:spLocks noChangeArrowheads="1"/>
          </p:cNvSpPr>
          <p:nvPr/>
        </p:nvSpPr>
        <p:spPr bwMode="auto">
          <a:xfrm>
            <a:off x="228600" y="1673225"/>
            <a:ext cx="8610600" cy="2743200"/>
          </a:xfrm>
          <a:prstGeom prst="rect">
            <a:avLst/>
          </a:prstGeom>
          <a:noFill/>
          <a:ln>
            <a:noFill/>
          </a:ln>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5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Pointers Allow for Flexibility</a:t>
            </a:r>
          </a:p>
        </p:txBody>
      </p:sp>
      <p:sp>
        <p:nvSpPr>
          <p:cNvPr id="54275" name="灯片编号占位符 4"/>
          <p:cNvSpPr txBox="1">
            <a:spLocks noGrp="1"/>
          </p:cNvSpPr>
          <p:nvPr>
            <p:ph type="sldNum" sz="quarter" idx="12"/>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26</a:t>
            </a:fld>
            <a:endParaRPr lang="en-US" altLang="zh-CN" sz="1200" dirty="0">
              <a:effectLst/>
              <a:latin typeface="微软雅黑" panose="020B0503020204020204" pitchFamily="34" charset="-122"/>
              <a:ea typeface="微软雅黑" panose="020B0503020204020204" pitchFamily="34" charset="-122"/>
            </a:endParaRPr>
          </a:p>
        </p:txBody>
      </p:sp>
      <p:sp>
        <p:nvSpPr>
          <p:cNvPr id="5" name="Rectangle 3"/>
          <p:cNvSpPr txBox="1">
            <a:spLocks noChangeArrowheads="1"/>
          </p:cNvSpPr>
          <p:nvPr/>
        </p:nvSpPr>
        <p:spPr bwMode="auto">
          <a:xfrm>
            <a:off x="827088" y="2349500"/>
            <a:ext cx="7772400" cy="4175125"/>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outerShdw blurRad="38100" dist="38100" dir="2700000" algn="tl">
                    <a:srgbClr val="000000"/>
                  </a:outerShdw>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outerShdw blurRad="38100" dist="38100" dir="2700000" algn="tl">
                    <a:srgbClr val="000000"/>
                  </a:outerShdw>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outerShdw blurRad="38100" dist="38100" dir="2700000" algn="tl">
                    <a:srgbClr val="000000"/>
                  </a:outerShdw>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outerShdw blurRad="38100" dist="38100" dir="2700000" algn="tl">
                    <a:srgbClr val="00000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int </a:t>
            </a:r>
            <a:r>
              <a:rPr kumimoji="1" lang="zh-CN" altLang="en-US"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pi;   </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int </a:t>
            </a:r>
            <a:r>
              <a:rPr kumimoji="1" lang="zh-CN" altLang="en-US"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pi = &amp;</a:t>
            </a: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ival</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*pi = 1024;</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int </a:t>
            </a:r>
            <a:r>
              <a:rPr kumimoji="1" lang="zh-CN" altLang="en-US"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pi = 0;</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if (!pi) </a:t>
            </a:r>
            <a:r>
              <a:rPr kumimoji="1" lang="en-US" altLang="zh-CN" sz="3200" b="0" i="0" u="none" strike="noStrike" kern="1200" cap="none" spc="0" normalizeH="0" baseline="0" noProof="0" dirty="0">
                <a:ln>
                  <a:noFill/>
                </a:ln>
                <a:solidFill>
                  <a:schemeClr val="tx1"/>
                </a:solidFill>
                <a:effectLst/>
                <a:uLnTx/>
                <a:uFillTx/>
                <a:latin typeface="+mn-lt"/>
                <a:ea typeface="+mn-ea"/>
                <a:cs typeface="+mn-cs"/>
              </a:rPr>
              <a:t>{</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1" lang="en-US" altLang="zh-CN" sz="28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mn-lt"/>
                <a:ea typeface="+mn-ea"/>
                <a:cs typeface="+mn-cs"/>
              </a:rPr>
              <a:t>// statement</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3200" b="0" i="0" u="none" strike="noStrike" kern="1200" cap="none" spc="0" normalizeH="0" baseline="0" noProof="0" dirty="0">
                <a:ln>
                  <a:noFill/>
                </a:ln>
                <a:solidFill>
                  <a:schemeClr val="tx1"/>
                </a:solidFill>
                <a:effectLst/>
                <a:uLnTx/>
                <a:uFillTx/>
                <a:latin typeface="+mn-lt"/>
                <a:ea typeface="+mn-ea"/>
                <a:cs typeface="+mn-cs"/>
              </a:rPr>
              <a:t>}</a:t>
            </a:r>
          </a:p>
        </p:txBody>
      </p:sp>
      <p:sp>
        <p:nvSpPr>
          <p:cNvPr id="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Pointer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4"/>
          <p:cNvSpPr txBox="1">
            <a:spLocks noGrp="1"/>
          </p:cNvSpPr>
          <p:nvPr>
            <p:ph type="sldNum" sz="quarter" idx="12"/>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27</a:t>
            </a:fld>
            <a:endParaRPr lang="en-US" altLang="zh-CN" sz="1200" dirty="0">
              <a:effectLst/>
              <a:latin typeface="微软雅黑" panose="020B0503020204020204" pitchFamily="34" charset="-122"/>
              <a:ea typeface="微软雅黑" panose="020B0503020204020204" pitchFamily="34" charset="-122"/>
            </a:endParaRPr>
          </a:p>
        </p:txBody>
      </p:sp>
      <p:sp>
        <p:nvSpPr>
          <p:cNvPr id="5" name="Rectangle 3"/>
          <p:cNvSpPr txBox="1">
            <a:spLocks noChangeArrowheads="1"/>
          </p:cNvSpPr>
          <p:nvPr/>
        </p:nvSpPr>
        <p:spPr bwMode="auto">
          <a:xfrm>
            <a:off x="395288" y="2060575"/>
            <a:ext cx="3886200" cy="2286000"/>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outerShdw blurRad="38100" dist="38100" dir="2700000" algn="tl">
                    <a:srgbClr val="000000"/>
                  </a:outerShdw>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outerShdw blurRad="38100" dist="38100" dir="2700000" algn="tl">
                    <a:srgbClr val="000000"/>
                  </a:outerShdw>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outerShdw blurRad="38100" dist="38100" dir="2700000" algn="tl">
                    <a:srgbClr val="000000"/>
                  </a:outerShdw>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outerShdw blurRad="38100" dist="38100" dir="2700000" algn="tl">
                    <a:srgbClr val="00000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int main()</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endParaRPr kumimoji="1" lang="en-US" altLang="zh-CN" sz="2800" b="0" i="0" u="none" strike="noStrike" kern="1200" cap="none" spc="0" normalizeH="0" baseline="0" noProof="0" dirty="0">
              <a:ln>
                <a:noFill/>
              </a:ln>
              <a:solidFill>
                <a:srgbClr val="FFCC00"/>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2800" b="0" i="0" u="none" strike="noStrike" kern="1200" cap="none" spc="0" normalizeH="0" baseline="0" noProof="0" dirty="0">
                <a:ln>
                  <a:noFill/>
                </a:ln>
                <a:solidFill>
                  <a:srgbClr val="FFCC00"/>
                </a:solidFill>
                <a:effectLst>
                  <a:outerShdw blurRad="38100" dist="38100" dir="2700000" algn="tl">
                    <a:srgbClr val="000000"/>
                  </a:outerShdw>
                </a:effectLst>
                <a:uLnTx/>
                <a:uFillTx/>
                <a:latin typeface="+mn-lt"/>
                <a:ea typeface="+mn-ea"/>
                <a:cs typeface="+mn-cs"/>
              </a:rPr>
              <a:t>	  </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return 0;</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p:txBody>
      </p:sp>
      <p:sp>
        <p:nvSpPr>
          <p:cNvPr id="6" name="Rectangle 3"/>
          <p:cNvSpPr txBox="1">
            <a:spLocks noChangeArrowheads="1"/>
          </p:cNvSpPr>
          <p:nvPr/>
        </p:nvSpPr>
        <p:spPr bwMode="auto">
          <a:xfrm>
            <a:off x="3635375" y="2060575"/>
            <a:ext cx="4365625" cy="2286000"/>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outerShdw blurRad="38100" dist="38100" dir="2700000" algn="tl">
                    <a:srgbClr val="000000"/>
                  </a:outerShdw>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outerShdw blurRad="38100" dist="38100" dir="2700000" algn="tl">
                    <a:srgbClr val="000000"/>
                  </a:outerShdw>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outerShdw blurRad="38100" dist="38100" dir="2700000" algn="tl">
                    <a:srgbClr val="000000"/>
                  </a:outerShdw>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outerShdw blurRad="38100" dist="38100" dir="2700000" algn="tl">
                    <a:srgbClr val="00000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int min (int </a:t>
            </a:r>
            <a:r>
              <a:rPr kumimoji="1" lang="en-US" altLang="zh-CN" sz="2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val1</a:t>
            </a: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int </a:t>
            </a:r>
            <a:r>
              <a:rPr kumimoji="1" lang="en-US" altLang="zh-CN" sz="2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val2</a:t>
            </a: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1" lang="en-US" altLang="zh-CN" sz="2800" b="0" i="0" u="none" strike="noStrike" kern="1200" cap="none" spc="0" normalizeH="0" baseline="0" noProof="0" dirty="0">
                <a:ln>
                  <a:noFill/>
                </a:ln>
                <a:solidFill>
                  <a:srgbClr val="FFCC00"/>
                </a:solidFill>
                <a:effectLst>
                  <a:outerShdw blurRad="38100" dist="38100" dir="2700000" algn="tl">
                    <a:srgbClr val="000000"/>
                  </a:outerShdw>
                </a:effectLst>
                <a:uLnTx/>
                <a:uFillTx/>
                <a:latin typeface="+mn-lt"/>
                <a:ea typeface="+mn-ea"/>
                <a:cs typeface="+mn-cs"/>
              </a:rPr>
              <a:t>// function body</a:t>
            </a:r>
            <a:endPar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p:txBody>
      </p:sp>
      <p:sp>
        <p:nvSpPr>
          <p:cNvPr id="2" name="矩形 1"/>
          <p:cNvSpPr/>
          <p:nvPr/>
        </p:nvSpPr>
        <p:spPr>
          <a:xfrm>
            <a:off x="392113" y="4806950"/>
            <a:ext cx="3748088" cy="904875"/>
          </a:xfrm>
          <a:prstGeom prst="rect">
            <a:avLst/>
          </a:prstGeom>
        </p:spPr>
        <p:txBody>
          <a:bodyPr>
            <a:spAutoFit/>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#include &lt;iostream&gt;</a:t>
            </a:r>
          </a:p>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endPar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endParaRPr>
          </a:p>
        </p:txBody>
      </p:sp>
      <p:sp>
        <p:nvSpPr>
          <p:cNvPr id="3" name="矩形 2"/>
          <p:cNvSpPr/>
          <p:nvPr/>
        </p:nvSpPr>
        <p:spPr>
          <a:xfrm>
            <a:off x="995363" y="5465763"/>
            <a:ext cx="3576638" cy="904875"/>
          </a:xfrm>
          <a:prstGeom prst="rect">
            <a:avLst/>
          </a:prstGeom>
        </p:spPr>
        <p:txBody>
          <a:bodyPr wrap="none">
            <a:spAutoFit/>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Tx/>
              <a:buNone/>
              <a:defRPr/>
            </a:pPr>
            <a:r>
              <a:rPr kumimoji="1" lang="en-US" altLang="zh-CN" sz="2400" b="0" i="0" u="none" strike="noStrike" kern="1200" cap="none" spc="0" normalizeH="0" baseline="0" noProof="0" dirty="0">
                <a:ln>
                  <a:noFill/>
                </a:ln>
                <a:solidFill>
                  <a:srgbClr val="FFCC00"/>
                </a:solidFill>
                <a:effectLst/>
                <a:uLnTx/>
                <a:uFillTx/>
                <a:latin typeface="Times New Roman" panose="02020603050405020304" pitchFamily="18" charset="0"/>
                <a:ea typeface="宋体" panose="02010600030101010101" pitchFamily="2" charset="-122"/>
                <a:cs typeface="+mn-cs"/>
              </a:rPr>
              <a:t>// statement</a:t>
            </a:r>
            <a:endPar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2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cout</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&lt;&lt; “Hello world\n”;</a:t>
            </a:r>
          </a:p>
        </p:txBody>
      </p:sp>
      <p:sp>
        <p:nvSpPr>
          <p:cNvPr id="4" name="矩形 3"/>
          <p:cNvSpPr/>
          <p:nvPr/>
        </p:nvSpPr>
        <p:spPr>
          <a:xfrm>
            <a:off x="4281488" y="4806950"/>
            <a:ext cx="3346450" cy="461963"/>
          </a:xfrm>
          <a:prstGeom prst="rect">
            <a:avLst/>
          </a:prstGeom>
        </p:spPr>
        <p:txBody>
          <a:bodyPr wrap="none">
            <a:spAutoFit/>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Tx/>
              <a:buNone/>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#include &lt;</a:t>
            </a:r>
            <a:r>
              <a:rPr kumimoji="1" lang="en-US" altLang="zh-CN" sz="2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iostream.h</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&gt;</a:t>
            </a:r>
          </a:p>
        </p:txBody>
      </p:sp>
      <p:sp>
        <p:nvSpPr>
          <p:cNvPr id="10" name="矩形 9"/>
          <p:cNvSpPr/>
          <p:nvPr/>
        </p:nvSpPr>
        <p:spPr>
          <a:xfrm>
            <a:off x="5003800" y="5480050"/>
            <a:ext cx="3311525" cy="904875"/>
          </a:xfrm>
          <a:prstGeom prst="rect">
            <a:avLst/>
          </a:prstGeom>
        </p:spPr>
        <p:txBody>
          <a:bodyPr wrap="none">
            <a:spAutoFit/>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Tx/>
              <a:buNone/>
              <a:defRPr/>
            </a:pPr>
            <a:r>
              <a:rPr kumimoji="1" lang="en-US" altLang="zh-CN" sz="2400" b="0" i="0" u="none" strike="noStrike" kern="1200" cap="none" spc="0" normalizeH="0" baseline="0" noProof="0" dirty="0">
                <a:ln>
                  <a:noFill/>
                </a:ln>
                <a:solidFill>
                  <a:srgbClr val="FFCC00"/>
                </a:solidFill>
                <a:effectLst/>
                <a:uLnTx/>
                <a:uFillTx/>
                <a:latin typeface="Times New Roman" panose="02020603050405020304" pitchFamily="18" charset="0"/>
                <a:ea typeface="宋体" panose="02010600030101010101" pitchFamily="2" charset="-122"/>
                <a:cs typeface="+mn-cs"/>
              </a:rPr>
              <a:t>// statement</a:t>
            </a:r>
            <a:endPar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2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printf</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(“Hello world\n”);</a:t>
            </a:r>
          </a:p>
        </p:txBody>
      </p:sp>
      <p:sp>
        <p:nvSpPr>
          <p:cNvPr id="1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Reviewing C in 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Reviewing C in C++</a:t>
            </a:r>
          </a:p>
        </p:txBody>
      </p:sp>
      <p:sp>
        <p:nvSpPr>
          <p:cNvPr id="11267" name="Rectangle 3"/>
          <p:cNvSpPr>
            <a:spLocks noGrp="1" noChangeArrowheads="1"/>
          </p:cNvSpPr>
          <p:nvPr>
            <p:ph idx="1"/>
          </p:nvPr>
        </p:nvSpPr>
        <p:spPr>
          <a:xfrm>
            <a:off x="533400" y="1752600"/>
            <a:ext cx="8382000" cy="18288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int </a:t>
            </a: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functionA</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(int </a:t>
            </a: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iX</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int </a:t>
            </a: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iY</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int </a:t>
            </a: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functionA</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(int </a:t>
            </a: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iX</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int </a:t>
            </a: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iY</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functionA</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(3,5); </a:t>
            </a:r>
          </a:p>
        </p:txBody>
      </p:sp>
      <p:sp>
        <p:nvSpPr>
          <p:cNvPr id="11268" name="Rectangle 4"/>
          <p:cNvSpPr>
            <a:spLocks noChangeArrowheads="1"/>
          </p:cNvSpPr>
          <p:nvPr/>
        </p:nvSpPr>
        <p:spPr bwMode="auto">
          <a:xfrm>
            <a:off x="533400" y="3581400"/>
            <a:ext cx="8610600" cy="2743200"/>
          </a:xfrm>
          <a:prstGeom prst="rect">
            <a:avLst/>
          </a:prstGeom>
          <a:noFill/>
          <a:ln>
            <a:noFill/>
          </a:ln>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The first is a declaration, the second is a definition (with null statements), the third is an invoking</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Declaration of a variable or function can appear many times, while definition only once</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iX</a:t>
            </a: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&amp; </a:t>
            </a:r>
            <a:r>
              <a:rPr kumimoji="1" lang="en-US" altLang="zh-CN" sz="2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iY</a:t>
            </a: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 parameters, 3 &amp; 5 - arguments</a:t>
            </a:r>
          </a:p>
        </p:txBody>
      </p:sp>
      <p:sp>
        <p:nvSpPr>
          <p:cNvPr id="57349" name="灯片编号占位符 4"/>
          <p:cNvSpPr txBox="1">
            <a:spLocks noGrp="1"/>
          </p:cNvSpPr>
          <p:nvPr>
            <p:ph type="sldNum" sz="quarter" idx="12"/>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28</a:t>
            </a:fld>
            <a:endParaRPr lang="en-US" altLang="zh-CN" sz="1200" dirty="0">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2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grpId="0" nodeType="clickEffect">
                                  <p:stCondLst>
                                    <p:cond delay="0"/>
                                  </p:stCondLst>
                                  <p:childTnLst>
                                    <p:set>
                                      <p:cBhvr>
                                        <p:cTn id="10" dur="1" fill="hold">
                                          <p:stCondLst>
                                            <p:cond delay="0"/>
                                          </p:stCondLst>
                                        </p:cTn>
                                        <p:tgtEl>
                                          <p:spTgt spid="11268">
                                            <p:txEl>
                                              <p:pRg st="0" end="0"/>
                                            </p:txEl>
                                          </p:spTgt>
                                        </p:tgtEl>
                                        <p:attrNameLst>
                                          <p:attrName>style.visibility</p:attrName>
                                        </p:attrNameLst>
                                      </p:cBhvr>
                                      <p:to>
                                        <p:strVal val="visible"/>
                                      </p:to>
                                    </p:set>
                                    <p:anim calcmode="lin" valueType="num">
                                      <p:cBhvr additive="base">
                                        <p:cTn id="11" dur="500" fill="hold"/>
                                        <p:tgtEl>
                                          <p:spTgt spid="11268">
                                            <p:txEl>
                                              <p:pRg st="0" end="0"/>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126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1268">
                                            <p:txEl>
                                              <p:pRg st="1" end="1"/>
                                            </p:txEl>
                                          </p:spTgt>
                                        </p:tgtEl>
                                        <p:attrNameLst>
                                          <p:attrName>style.visibility</p:attrName>
                                        </p:attrNameLst>
                                      </p:cBhvr>
                                      <p:to>
                                        <p:strVal val="visible"/>
                                      </p:to>
                                    </p:set>
                                    <p:anim calcmode="lin" valueType="num">
                                      <p:cBhvr additive="base">
                                        <p:cTn id="17" dur="500" fill="hold"/>
                                        <p:tgtEl>
                                          <p:spTgt spid="11268">
                                            <p:txEl>
                                              <p:pRg st="1" end="1"/>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126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11268">
                                            <p:txEl>
                                              <p:pRg st="2" end="2"/>
                                            </p:txEl>
                                          </p:spTgt>
                                        </p:tgtEl>
                                        <p:attrNameLst>
                                          <p:attrName>style.visibility</p:attrName>
                                        </p:attrNameLst>
                                      </p:cBhvr>
                                      <p:to>
                                        <p:strVal val="visible"/>
                                      </p:to>
                                    </p:set>
                                    <p:anim calcmode="lin" valueType="num">
                                      <p:cBhvr additive="base">
                                        <p:cTn id="23" dur="500" fill="hold"/>
                                        <p:tgtEl>
                                          <p:spTgt spid="11268">
                                            <p:txEl>
                                              <p:pRg st="2" end="2"/>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1268">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p:bldP spid="11268"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Reviewing C in C++ (cont.)</a:t>
            </a:r>
          </a:p>
        </p:txBody>
      </p:sp>
      <p:sp>
        <p:nvSpPr>
          <p:cNvPr id="15363" name="Rectangle 3"/>
          <p:cNvSpPr>
            <a:spLocks noGrp="1" noChangeArrowheads="1"/>
          </p:cNvSpPr>
          <p:nvPr>
            <p:ph idx="1"/>
          </p:nvPr>
        </p:nvSpPr>
        <p:spPr>
          <a:xfrm>
            <a:off x="685800" y="1981200"/>
            <a:ext cx="7772400" cy="114300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None/>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int </a:t>
            </a: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iX</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1" lang="en-US" altLang="zh-CN" sz="3200" b="0" i="0" u="none" strike="noStrike" kern="1200" cap="none" spc="0" normalizeH="0" baseline="0" noProof="0" dirty="0">
                <a:ln>
                  <a:noFill/>
                </a:ln>
                <a:solidFill>
                  <a:srgbClr val="FFCC00"/>
                </a:solidFill>
                <a:effectLst>
                  <a:outerShdw blurRad="38100" dist="38100" dir="2700000" algn="tl">
                    <a:srgbClr val="000000"/>
                  </a:outerShdw>
                </a:effectLst>
                <a:uLnTx/>
                <a:uFillTx/>
                <a:latin typeface="+mn-lt"/>
                <a:ea typeface="+mn-ea"/>
                <a:cs typeface="+mn-cs"/>
              </a:rPr>
              <a:t>extern</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int </a:t>
            </a: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iX</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None/>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int </a:t>
            </a: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functionB</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1" lang="en-US" altLang="zh-CN" sz="3200" b="0" i="0" u="none" strike="noStrike" kern="1200" cap="none" spc="0" normalizeH="0" baseline="0" noProof="0" dirty="0">
                <a:ln>
                  <a:noFill/>
                </a:ln>
                <a:solidFill>
                  <a:srgbClr val="FFCC00"/>
                </a:solidFill>
                <a:effectLst>
                  <a:outerShdw blurRad="38100" dist="38100" dir="2700000" algn="tl">
                    <a:srgbClr val="000000"/>
                  </a:outerShdw>
                </a:effectLst>
                <a:uLnTx/>
                <a:uFillTx/>
                <a:latin typeface="+mn-lt"/>
                <a:ea typeface="+mn-ea"/>
                <a:cs typeface="+mn-cs"/>
              </a:rPr>
              <a:t>extern</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int </a:t>
            </a: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functionB</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p:txBody>
      </p:sp>
      <p:sp>
        <p:nvSpPr>
          <p:cNvPr id="15364" name="Rectangle 4"/>
          <p:cNvSpPr>
            <a:spLocks noChangeArrowheads="1"/>
          </p:cNvSpPr>
          <p:nvPr/>
        </p:nvSpPr>
        <p:spPr bwMode="auto">
          <a:xfrm>
            <a:off x="395288" y="3733800"/>
            <a:ext cx="8569325" cy="2438400"/>
          </a:xfrm>
          <a:prstGeom prst="rect">
            <a:avLst/>
          </a:prstGeom>
          <a:noFill/>
          <a:ln>
            <a:noFill/>
          </a:ln>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Keyword </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extern</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means it is only a declaration, its definition is later or external to this file, asking the compiler not to assign memory or generate code</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3200" b="0" i="1"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extern int </a:t>
            </a:r>
            <a:r>
              <a:rPr kumimoji="1" lang="en-US" altLang="zh-CN" sz="3200" b="0" i="1" u="none" strike="noStrike" kern="1200" cap="none" spc="0" normalizeH="0" baseline="0" noProof="0" dirty="0" err="1">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functionB</a:t>
            </a:r>
            <a:r>
              <a:rPr kumimoji="1" lang="en-US" altLang="zh-CN" sz="3200" b="0" i="1"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//---invalid</a:t>
            </a:r>
          </a:p>
        </p:txBody>
      </p:sp>
      <p:sp>
        <p:nvSpPr>
          <p:cNvPr id="59397" name="灯片编号占位符 4"/>
          <p:cNvSpPr txBox="1">
            <a:spLocks noGrp="1"/>
          </p:cNvSpPr>
          <p:nvPr>
            <p:ph type="sldNum" sz="quarter" idx="12"/>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29</a:t>
            </a:fld>
            <a:endParaRPr lang="en-US" altLang="zh-CN" sz="1200" dirty="0">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3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grpId="0" nodeType="clickEffect">
                                  <p:stCondLst>
                                    <p:cond delay="0"/>
                                  </p:stCondLst>
                                  <p:childTnLst>
                                    <p:set>
                                      <p:cBhvr>
                                        <p:cTn id="10" dur="1" fill="hold">
                                          <p:stCondLst>
                                            <p:cond delay="0"/>
                                          </p:stCondLst>
                                        </p:cTn>
                                        <p:tgtEl>
                                          <p:spTgt spid="15364">
                                            <p:txEl>
                                              <p:pRg st="0" end="0"/>
                                            </p:txEl>
                                          </p:spTgt>
                                        </p:tgtEl>
                                        <p:attrNameLst>
                                          <p:attrName>style.visibility</p:attrName>
                                        </p:attrNameLst>
                                      </p:cBhvr>
                                      <p:to>
                                        <p:strVal val="visible"/>
                                      </p:to>
                                    </p:set>
                                    <p:anim calcmode="lin" valueType="num">
                                      <p:cBhvr additive="base">
                                        <p:cTn id="11" dur="500" fill="hold"/>
                                        <p:tgtEl>
                                          <p:spTgt spid="15364">
                                            <p:txEl>
                                              <p:pRg st="0" end="0"/>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536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5364">
                                            <p:txEl>
                                              <p:pRg st="1" end="1"/>
                                            </p:txEl>
                                          </p:spTgt>
                                        </p:tgtEl>
                                        <p:attrNameLst>
                                          <p:attrName>style.visibility</p:attrName>
                                        </p:attrNameLst>
                                      </p:cBhvr>
                                      <p:to>
                                        <p:strVal val="visible"/>
                                      </p:to>
                                    </p:set>
                                    <p:anim calcmode="lin" valueType="num">
                                      <p:cBhvr additive="base">
                                        <p:cTn id="17" dur="500" fill="hold"/>
                                        <p:tgtEl>
                                          <p:spTgt spid="15364">
                                            <p:txEl>
                                              <p:pRg st="1" end="1"/>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5364">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p:bldP spid="15364"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Reviewing C in C++ (cont.)</a:t>
            </a:r>
          </a:p>
        </p:txBody>
      </p:sp>
      <p:sp>
        <p:nvSpPr>
          <p:cNvPr id="28675" name="Rectangle 3"/>
          <p:cNvSpPr>
            <a:spLocks noGrp="1" noChangeArrowheads="1"/>
          </p:cNvSpPr>
          <p:nvPr>
            <p:ph idx="1"/>
          </p:nvPr>
        </p:nvSpPr>
        <p:spPr>
          <a:xfrm>
            <a:off x="457200" y="1704975"/>
            <a:ext cx="3886200" cy="22860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int </a:t>
            </a:r>
            <a:r>
              <a:rPr kumimoji="1" lang="en-US" altLang="zh-CN" sz="2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funcA</a:t>
            </a: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1" lang="en-US" altLang="zh-CN" sz="2800" b="0" i="0" u="none" strike="noStrike" kern="1200" cap="none" spc="0" normalizeH="0" baseline="0" noProof="0" dirty="0">
                <a:ln>
                  <a:noFill/>
                </a:ln>
                <a:solidFill>
                  <a:srgbClr val="FFCC00"/>
                </a:solidFill>
                <a:effectLst>
                  <a:outerShdw blurRad="38100" dist="38100" dir="2700000" algn="tl">
                    <a:srgbClr val="000000"/>
                  </a:outerShdw>
                </a:effectLst>
                <a:uLnTx/>
                <a:uFillTx/>
                <a:latin typeface="+mn-lt"/>
                <a:ea typeface="+mn-ea"/>
                <a:cs typeface="+mn-cs"/>
              </a:rPr>
              <a:t>static</a:t>
            </a: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int </a:t>
            </a:r>
            <a:r>
              <a:rPr kumimoji="1" lang="en-US" altLang="zh-CN" sz="2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iX</a:t>
            </a: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 0;</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p:txBody>
      </p:sp>
      <p:sp>
        <p:nvSpPr>
          <p:cNvPr id="28676" name="Rectangle 4"/>
          <p:cNvSpPr>
            <a:spLocks noChangeArrowheads="1"/>
          </p:cNvSpPr>
          <p:nvPr/>
        </p:nvSpPr>
        <p:spPr bwMode="auto">
          <a:xfrm>
            <a:off x="5105400" y="4027488"/>
            <a:ext cx="3733800" cy="2438400"/>
          </a:xfrm>
          <a:prstGeom prst="rect">
            <a:avLst/>
          </a:prstGeom>
          <a:noFill/>
          <a:ln>
            <a:noFill/>
          </a:ln>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iX</a:t>
            </a: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is a </a:t>
            </a: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local global variable</a:t>
            </a: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to the file</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Its scope is only in this file</a:t>
            </a:r>
          </a:p>
        </p:txBody>
      </p:sp>
      <p:sp>
        <p:nvSpPr>
          <p:cNvPr id="28677" name="Rectangle 5"/>
          <p:cNvSpPr>
            <a:spLocks noChangeArrowheads="1"/>
          </p:cNvSpPr>
          <p:nvPr/>
        </p:nvSpPr>
        <p:spPr bwMode="auto">
          <a:xfrm>
            <a:off x="468313" y="3938588"/>
            <a:ext cx="4583113" cy="2514600"/>
          </a:xfrm>
          <a:prstGeom prst="rect">
            <a:avLst/>
          </a:prstGeom>
          <a:noFill/>
          <a:ln>
            <a:noFill/>
          </a:ln>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Function can </a:t>
            </a: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remember </a:t>
            </a: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a:t>
            </a:r>
            <a:r>
              <a:rPr kumimoji="1" lang="en-US" altLang="zh-CN" sz="2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iX</a:t>
            </a: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between calls</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But </a:t>
            </a:r>
            <a:r>
              <a:rPr kumimoji="1" lang="en-US" altLang="zh-CN" sz="2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iX</a:t>
            </a: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is unavailable outside the function, its scope is in this function</a:t>
            </a:r>
          </a:p>
        </p:txBody>
      </p:sp>
      <p:sp>
        <p:nvSpPr>
          <p:cNvPr id="28678" name="Rectangle 6"/>
          <p:cNvSpPr>
            <a:spLocks noChangeArrowheads="1"/>
          </p:cNvSpPr>
          <p:nvPr/>
        </p:nvSpPr>
        <p:spPr bwMode="auto">
          <a:xfrm>
            <a:off x="5105400" y="1628775"/>
            <a:ext cx="3886200" cy="2514600"/>
          </a:xfrm>
          <a:prstGeom prst="rect">
            <a:avLst/>
          </a:prstGeom>
          <a:noFill/>
          <a:ln>
            <a:noFill/>
          </a:ln>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2800" b="0" i="0" u="none" strike="noStrike" kern="1200" cap="none" spc="0" normalizeH="0" baseline="0" noProof="0" dirty="0">
                <a:ln>
                  <a:noFill/>
                </a:ln>
                <a:solidFill>
                  <a:srgbClr val="FFCC00"/>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static</a:t>
            </a: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int </a:t>
            </a:r>
            <a:r>
              <a:rPr kumimoji="1" lang="en-US" altLang="zh-CN" sz="2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iX</a:t>
            </a: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 0;</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int </a:t>
            </a:r>
            <a:r>
              <a:rPr kumimoji="1" lang="en-US" altLang="zh-CN" sz="2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funcA</a:t>
            </a: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a:t>
            </a: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a:t>
            </a:r>
          </a:p>
        </p:txBody>
      </p:sp>
      <p:sp>
        <p:nvSpPr>
          <p:cNvPr id="61447" name="灯片编号占位符 4"/>
          <p:cNvSpPr txBox="1">
            <a:spLocks noGrp="1"/>
          </p:cNvSpPr>
          <p:nvPr>
            <p:ph type="sldNum" sz="quarter" idx="12"/>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30</a:t>
            </a:fld>
            <a:endParaRPr lang="en-US" altLang="zh-CN" sz="1200" dirty="0">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86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grpId="0" nodeType="clickEffect">
                                  <p:stCondLst>
                                    <p:cond delay="0"/>
                                  </p:stCondLst>
                                  <p:childTnLst>
                                    <p:set>
                                      <p:cBhvr>
                                        <p:cTn id="10" dur="1" fill="hold">
                                          <p:stCondLst>
                                            <p:cond delay="0"/>
                                          </p:stCondLst>
                                        </p:cTn>
                                        <p:tgtEl>
                                          <p:spTgt spid="28677">
                                            <p:txEl>
                                              <p:pRg st="0" end="0"/>
                                            </p:txEl>
                                          </p:spTgt>
                                        </p:tgtEl>
                                        <p:attrNameLst>
                                          <p:attrName>style.visibility</p:attrName>
                                        </p:attrNameLst>
                                      </p:cBhvr>
                                      <p:to>
                                        <p:strVal val="visible"/>
                                      </p:to>
                                    </p:set>
                                    <p:anim calcmode="lin" valueType="num">
                                      <p:cBhvr additive="base">
                                        <p:cTn id="11" dur="500" fill="hold"/>
                                        <p:tgtEl>
                                          <p:spTgt spid="28677">
                                            <p:txEl>
                                              <p:pRg st="0" end="0"/>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2867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28677">
                                            <p:txEl>
                                              <p:pRg st="1" end="1"/>
                                            </p:txEl>
                                          </p:spTgt>
                                        </p:tgtEl>
                                        <p:attrNameLst>
                                          <p:attrName>style.visibility</p:attrName>
                                        </p:attrNameLst>
                                      </p:cBhvr>
                                      <p:to>
                                        <p:strVal val="visible"/>
                                      </p:to>
                                    </p:set>
                                    <p:anim calcmode="lin" valueType="num">
                                      <p:cBhvr additive="base">
                                        <p:cTn id="17" dur="500" fill="hold"/>
                                        <p:tgtEl>
                                          <p:spTgt spid="28677">
                                            <p:txEl>
                                              <p:pRg st="1" end="1"/>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2867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867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28676">
                                            <p:txEl>
                                              <p:pRg st="0" end="0"/>
                                            </p:txEl>
                                          </p:spTgt>
                                        </p:tgtEl>
                                        <p:attrNameLst>
                                          <p:attrName>style.visibility</p:attrName>
                                        </p:attrNameLst>
                                      </p:cBhvr>
                                      <p:to>
                                        <p:strVal val="visible"/>
                                      </p:to>
                                    </p:set>
                                    <p:anim calcmode="lin" valueType="num">
                                      <p:cBhvr additive="base">
                                        <p:cTn id="27" dur="500" fill="hold"/>
                                        <p:tgtEl>
                                          <p:spTgt spid="28676">
                                            <p:txEl>
                                              <p:pRg st="0" end="0"/>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2867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28676">
                                            <p:txEl>
                                              <p:pRg st="1" end="1"/>
                                            </p:txEl>
                                          </p:spTgt>
                                        </p:tgtEl>
                                        <p:attrNameLst>
                                          <p:attrName>style.visibility</p:attrName>
                                        </p:attrNameLst>
                                      </p:cBhvr>
                                      <p:to>
                                        <p:strVal val="visible"/>
                                      </p:to>
                                    </p:set>
                                    <p:anim calcmode="lin" valueType="num">
                                      <p:cBhvr additive="base">
                                        <p:cTn id="33" dur="500" fill="hold"/>
                                        <p:tgtEl>
                                          <p:spTgt spid="28676">
                                            <p:txEl>
                                              <p:pRg st="1" end="1"/>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28676">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p:bldP spid="28676" grpId="0" build="p"/>
      <p:bldP spid="28677" grpId="0" build="p"/>
      <p:bldP spid="2867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p:cNvSpPr>
            <a:spLocks noChangeArrowheads="1"/>
          </p:cNvSpPr>
          <p:nvPr/>
        </p:nvSpPr>
        <p:spPr bwMode="auto">
          <a:xfrm>
            <a:off x="228600" y="1700213"/>
            <a:ext cx="8610600" cy="2743200"/>
          </a:xfrm>
          <a:prstGeom prst="rect">
            <a:avLst/>
          </a:prstGeom>
          <a:noFill/>
          <a:ln>
            <a:noFill/>
          </a:ln>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5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Writing Expressions</a:t>
            </a:r>
          </a:p>
        </p:txBody>
      </p:sp>
      <p:sp>
        <p:nvSpPr>
          <p:cNvPr id="63491" name="灯片编号占位符 4"/>
          <p:cNvSpPr txBox="1">
            <a:spLocks noGrp="1"/>
          </p:cNvSpPr>
          <p:nvPr>
            <p:ph type="sldNum" sz="quarter" idx="12"/>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31</a:t>
            </a:fld>
            <a:endParaRPr lang="en-US" altLang="zh-CN" sz="1200" dirty="0">
              <a:effectLst/>
              <a:latin typeface="微软雅黑" panose="020B0503020204020204" pitchFamily="34" charset="-122"/>
              <a:ea typeface="微软雅黑" panose="020B0503020204020204" pitchFamily="34" charset="-122"/>
            </a:endParaRPr>
          </a:p>
        </p:txBody>
      </p:sp>
      <p:sp>
        <p:nvSpPr>
          <p:cNvPr id="2" name="矩形 1"/>
          <p:cNvSpPr/>
          <p:nvPr/>
        </p:nvSpPr>
        <p:spPr>
          <a:xfrm>
            <a:off x="790575" y="2427288"/>
            <a:ext cx="7561263" cy="2676525"/>
          </a:xfrm>
          <a:prstGeom prst="rect">
            <a:avLst/>
          </a:prstGeom>
        </p:spPr>
        <p:txBody>
          <a:bodyPr>
            <a:spAutoFit/>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int </a:t>
            </a:r>
            <a:r>
              <a:rPr kumimoji="1" lang="en-US" altLang="zh-CN" sz="2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max_length</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 3;  </a:t>
            </a:r>
            <a:r>
              <a:rPr kumimoji="1" lang="en-US" altLang="zh-CN" sz="24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assignment</a:t>
            </a:r>
          </a:p>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int sum = 5 + 3;   </a:t>
            </a:r>
            <a:r>
              <a:rPr kumimoji="1" lang="en-US" altLang="zh-CN" sz="24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arithmetic expression</a:t>
            </a:r>
          </a:p>
          <a:p>
            <a:pPr marL="0" marR="0" lvl="0" indent="0" algn="l" defTabSz="914400" rtl="0" eaLnBrk="1" fontAlgn="base" latinLnBrk="0" hangingPunct="1">
              <a:lnSpc>
                <a:spcPct val="100000"/>
              </a:lnSpc>
              <a:spcBef>
                <a:spcPct val="20000"/>
              </a:spcBef>
              <a:spcAft>
                <a:spcPct val="0"/>
              </a:spcAft>
              <a:buClr>
                <a:schemeClr val="accent1"/>
              </a:buClr>
              <a:buSzPct val="80000"/>
              <a:buFontTx/>
              <a:buNone/>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bool </a:t>
            </a:r>
            <a:r>
              <a:rPr kumimoji="1" lang="en-US" altLang="zh-CN" sz="2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isTrue</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 (x &gt; 10) &amp;&amp; (y &lt; 20);   </a:t>
            </a:r>
            <a:r>
              <a:rPr kumimoji="1" lang="en-US" altLang="zh-CN" sz="24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logistic</a:t>
            </a:r>
          </a:p>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int max = (a &gt; b) ? a : b;   </a:t>
            </a:r>
            <a:r>
              <a:rPr kumimoji="1" lang="en-US" altLang="zh-CN" sz="24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conditional expression</a:t>
            </a:r>
          </a:p>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int x = 5; int </a:t>
            </a:r>
            <a:r>
              <a:rPr kumimoji="1" lang="en-US" altLang="zh-CN" sz="2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y1</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 ++x;   </a:t>
            </a:r>
            <a:r>
              <a:rPr kumimoji="1" lang="en-US" altLang="zh-CN" sz="24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pre-increment</a:t>
            </a:r>
          </a:p>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int x = 5; int </a:t>
            </a:r>
            <a:r>
              <a:rPr kumimoji="1" lang="en-US" altLang="zh-CN" sz="2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y2</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 x++;   </a:t>
            </a:r>
            <a:r>
              <a:rPr kumimoji="1" lang="en-US" altLang="zh-CN" sz="24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post-increment</a:t>
            </a:r>
            <a:endPar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endParaRPr>
          </a:p>
        </p:txBody>
      </p:sp>
      <p:sp>
        <p:nvSpPr>
          <p:cNvPr id="6" name="Rectangle 4"/>
          <p:cNvSpPr>
            <a:spLocks noChangeArrowheads="1"/>
          </p:cNvSpPr>
          <p:nvPr/>
        </p:nvSpPr>
        <p:spPr bwMode="auto">
          <a:xfrm>
            <a:off x="303213" y="5589588"/>
            <a:ext cx="8610600" cy="1074738"/>
          </a:xfrm>
          <a:prstGeom prst="rect">
            <a:avLst/>
          </a:prstGeom>
          <a:noFill/>
          <a:ln>
            <a:noFill/>
          </a:ln>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Note the operator priority</a:t>
            </a:r>
          </a:p>
          <a:p>
            <a:pPr marL="0" marR="0" lvl="0" indent="0" algn="l" defTabSz="914400" rtl="0" eaLnBrk="1" fontAlgn="base" latinLnBrk="0" hangingPunct="1">
              <a:lnSpc>
                <a:spcPct val="90000"/>
              </a:lnSpc>
              <a:spcBef>
                <a:spcPct val="20000"/>
              </a:spcBef>
              <a:spcAft>
                <a:spcPct val="0"/>
              </a:spcAft>
              <a:buClr>
                <a:schemeClr val="accent1"/>
              </a:buClr>
              <a:buSzPct val="80000"/>
              <a:buFontTx/>
              <a:buNone/>
              <a:defRPr/>
            </a:pPr>
            <a:endPar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endParaRPr>
          </a:p>
        </p:txBody>
      </p:sp>
      <p:sp>
        <p:nvSpPr>
          <p:cNvPr id="9"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Reviewing C in 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 calcmode="lin" valueType="num">
                                      <p:cBhvr additive="base">
                                        <p:cTn id="13" dur="5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6"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p:cNvSpPr>
            <a:spLocks noChangeArrowheads="1"/>
          </p:cNvSpPr>
          <p:nvPr/>
        </p:nvSpPr>
        <p:spPr bwMode="auto">
          <a:xfrm>
            <a:off x="228600" y="1673225"/>
            <a:ext cx="8610600" cy="2743200"/>
          </a:xfrm>
          <a:prstGeom prst="rect">
            <a:avLst/>
          </a:prstGeom>
          <a:noFill/>
          <a:ln>
            <a:noFill/>
          </a:ln>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5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Writing Conditional Statements</a:t>
            </a:r>
          </a:p>
        </p:txBody>
      </p:sp>
      <p:sp>
        <p:nvSpPr>
          <p:cNvPr id="65539" name="灯片编号占位符 4"/>
          <p:cNvSpPr txBox="1">
            <a:spLocks noGrp="1"/>
          </p:cNvSpPr>
          <p:nvPr>
            <p:ph type="sldNum" sz="quarter" idx="12"/>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32</a:t>
            </a:fld>
            <a:endParaRPr lang="en-US" altLang="zh-CN" sz="1200" dirty="0">
              <a:effectLst/>
              <a:latin typeface="微软雅黑" panose="020B0503020204020204" pitchFamily="34" charset="-122"/>
              <a:ea typeface="微软雅黑" panose="020B0503020204020204" pitchFamily="34" charset="-122"/>
            </a:endParaRPr>
          </a:p>
        </p:txBody>
      </p:sp>
      <p:sp>
        <p:nvSpPr>
          <p:cNvPr id="65540" name="矩形 2"/>
          <p:cNvSpPr/>
          <p:nvPr/>
        </p:nvSpPr>
        <p:spPr>
          <a:xfrm>
            <a:off x="833438" y="2420938"/>
            <a:ext cx="2455862" cy="2111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latin typeface="+mn-lt"/>
                <a:ea typeface="+mn-ea"/>
                <a:cs typeface="+mn-cs"/>
              </a:defRPr>
            </a:lvl5pPr>
          </a:lstStyle>
          <a:p>
            <a:pPr marL="0" lvl="0" indent="0" eaLnBrk="1" hangingPunct="1">
              <a:lnSpc>
                <a:spcPct val="80000"/>
              </a:lnSpc>
              <a:spcBef>
                <a:spcPct val="0"/>
              </a:spcBef>
              <a:buClrTx/>
              <a:buSzTx/>
              <a:buNone/>
            </a:pPr>
            <a:r>
              <a:rPr lang="en-US" altLang="zh-CN" sz="2000" dirty="0">
                <a:latin typeface="Times New Roman" panose="02020603050405020304" pitchFamily="18" charset="0"/>
              </a:rPr>
              <a:t>if ( max_length == 1) </a:t>
            </a:r>
          </a:p>
          <a:p>
            <a:pPr marL="0" lvl="0" indent="0" eaLnBrk="1" hangingPunct="1">
              <a:lnSpc>
                <a:spcPct val="80000"/>
              </a:lnSpc>
              <a:spcBef>
                <a:spcPct val="0"/>
              </a:spcBef>
              <a:buClrTx/>
              <a:buSzTx/>
              <a:buNone/>
            </a:pPr>
            <a:r>
              <a:rPr lang="en-US" altLang="zh-CN" sz="2000" dirty="0">
                <a:latin typeface="Times New Roman" panose="02020603050405020304" pitchFamily="18" charset="0"/>
              </a:rPr>
              <a:t>{</a:t>
            </a:r>
          </a:p>
          <a:p>
            <a:pPr marL="0" lvl="0" indent="0" eaLnBrk="1" hangingPunct="1">
              <a:lnSpc>
                <a:spcPct val="80000"/>
              </a:lnSpc>
              <a:spcBef>
                <a:spcPct val="0"/>
              </a:spcBef>
              <a:buClrTx/>
              <a:buSzTx/>
              <a:buNone/>
            </a:pPr>
            <a:r>
              <a:rPr lang="en-US" altLang="zh-CN" sz="2000" dirty="0">
                <a:latin typeface="Times New Roman" panose="02020603050405020304" pitchFamily="18" charset="0"/>
              </a:rPr>
              <a:t>     </a:t>
            </a:r>
            <a:r>
              <a:rPr lang="en-US" altLang="zh-CN" sz="2000" dirty="0">
                <a:solidFill>
                  <a:srgbClr val="FFFF00"/>
                </a:solidFill>
                <a:latin typeface="Times New Roman" panose="02020603050405020304" pitchFamily="18" charset="0"/>
              </a:rPr>
              <a:t>// statements</a:t>
            </a:r>
          </a:p>
          <a:p>
            <a:pPr marL="0" lvl="0" indent="0" eaLnBrk="1" hangingPunct="1">
              <a:lnSpc>
                <a:spcPct val="80000"/>
              </a:lnSpc>
              <a:spcBef>
                <a:spcPct val="0"/>
              </a:spcBef>
              <a:buClrTx/>
              <a:buSzTx/>
              <a:buNone/>
            </a:pPr>
            <a:r>
              <a:rPr lang="en-US" altLang="zh-CN" sz="2000" dirty="0">
                <a:latin typeface="Times New Roman" panose="02020603050405020304" pitchFamily="18" charset="0"/>
              </a:rPr>
              <a:t>}</a:t>
            </a:r>
          </a:p>
          <a:p>
            <a:pPr marL="0" lvl="0" indent="0" eaLnBrk="1" hangingPunct="1">
              <a:lnSpc>
                <a:spcPct val="80000"/>
              </a:lnSpc>
              <a:spcBef>
                <a:spcPct val="0"/>
              </a:spcBef>
              <a:buClrTx/>
              <a:buSzTx/>
              <a:buNone/>
            </a:pPr>
            <a:r>
              <a:rPr lang="en-US" altLang="zh-CN" sz="2000" dirty="0">
                <a:latin typeface="Times New Roman" panose="02020603050405020304" pitchFamily="18" charset="0"/>
              </a:rPr>
              <a:t>else</a:t>
            </a:r>
          </a:p>
          <a:p>
            <a:pPr marL="0" lvl="0" indent="0" eaLnBrk="1" hangingPunct="1">
              <a:lnSpc>
                <a:spcPct val="80000"/>
              </a:lnSpc>
              <a:spcBef>
                <a:spcPct val="0"/>
              </a:spcBef>
              <a:buClrTx/>
              <a:buSzTx/>
              <a:buNone/>
            </a:pPr>
            <a:r>
              <a:rPr lang="en-US" altLang="zh-CN" sz="2000" dirty="0">
                <a:latin typeface="Times New Roman" panose="02020603050405020304" pitchFamily="18" charset="0"/>
              </a:rPr>
              <a:t>{</a:t>
            </a:r>
          </a:p>
          <a:p>
            <a:pPr marL="0" lvl="0" indent="0" eaLnBrk="1" hangingPunct="1">
              <a:lnSpc>
                <a:spcPct val="80000"/>
              </a:lnSpc>
              <a:spcBef>
                <a:spcPct val="0"/>
              </a:spcBef>
              <a:buClrTx/>
              <a:buSzTx/>
              <a:buNone/>
            </a:pPr>
            <a:r>
              <a:rPr lang="en-US" altLang="zh-CN" sz="2000" dirty="0">
                <a:latin typeface="Times New Roman" panose="02020603050405020304" pitchFamily="18" charset="0"/>
              </a:rPr>
              <a:t>      </a:t>
            </a:r>
            <a:r>
              <a:rPr lang="en-US" altLang="zh-CN" sz="2000" dirty="0">
                <a:solidFill>
                  <a:srgbClr val="FFFF00"/>
                </a:solidFill>
                <a:latin typeface="Times New Roman" panose="02020603050405020304" pitchFamily="18" charset="0"/>
              </a:rPr>
              <a:t>// statements</a:t>
            </a:r>
          </a:p>
          <a:p>
            <a:pPr marL="0" lvl="0" indent="0" eaLnBrk="1" hangingPunct="1">
              <a:lnSpc>
                <a:spcPct val="80000"/>
              </a:lnSpc>
              <a:spcBef>
                <a:spcPct val="0"/>
              </a:spcBef>
              <a:buClrTx/>
              <a:buSzTx/>
              <a:buNone/>
            </a:pPr>
            <a:r>
              <a:rPr lang="en-US" altLang="zh-CN" sz="2000" dirty="0">
                <a:latin typeface="Times New Roman" panose="02020603050405020304" pitchFamily="18" charset="0"/>
              </a:rPr>
              <a:t>}</a:t>
            </a:r>
          </a:p>
        </p:txBody>
      </p:sp>
      <p:sp>
        <p:nvSpPr>
          <p:cNvPr id="65541" name="矩形 8"/>
          <p:cNvSpPr/>
          <p:nvPr/>
        </p:nvSpPr>
        <p:spPr>
          <a:xfrm>
            <a:off x="755650" y="4532313"/>
            <a:ext cx="3622675" cy="22463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latin typeface="+mn-lt"/>
                <a:ea typeface="+mn-ea"/>
                <a:cs typeface="+mn-cs"/>
              </a:defRPr>
            </a:lvl5pPr>
          </a:lstStyle>
          <a:p>
            <a:pPr marL="0" lvl="0" indent="0" eaLnBrk="1" hangingPunct="1">
              <a:spcBef>
                <a:spcPct val="0"/>
              </a:spcBef>
              <a:buClrTx/>
              <a:buSzTx/>
              <a:buNone/>
            </a:pPr>
            <a:r>
              <a:rPr lang="en-US" altLang="zh-CN" sz="2000" dirty="0">
                <a:latin typeface="Times New Roman" panose="02020603050405020304" pitchFamily="18" charset="0"/>
              </a:rPr>
              <a:t>if ( max_length == 1) </a:t>
            </a:r>
          </a:p>
          <a:p>
            <a:pPr marL="0" lvl="0" indent="0" eaLnBrk="1" hangingPunct="1">
              <a:spcBef>
                <a:spcPct val="0"/>
              </a:spcBef>
              <a:buClrTx/>
              <a:buSzTx/>
              <a:buNone/>
            </a:pPr>
            <a:r>
              <a:rPr lang="en-US" altLang="zh-CN" sz="2000" dirty="0">
                <a:latin typeface="Times New Roman" panose="02020603050405020304" pitchFamily="18" charset="0"/>
              </a:rPr>
              <a:t>     cout &lt;&lt; “max_length=1.\n”;   </a:t>
            </a:r>
          </a:p>
          <a:p>
            <a:pPr marL="0" lvl="0" indent="0" eaLnBrk="1" hangingPunct="1">
              <a:spcBef>
                <a:spcPct val="0"/>
              </a:spcBef>
              <a:buClrTx/>
              <a:buSzTx/>
              <a:buNone/>
            </a:pPr>
            <a:r>
              <a:rPr lang="en-US" altLang="zh-CN" sz="2000" dirty="0">
                <a:latin typeface="Times New Roman" panose="02020603050405020304" pitchFamily="18" charset="0"/>
              </a:rPr>
              <a:t>else</a:t>
            </a:r>
          </a:p>
          <a:p>
            <a:pPr marL="0" lvl="0" indent="0" eaLnBrk="1" hangingPunct="1">
              <a:spcBef>
                <a:spcPct val="0"/>
              </a:spcBef>
              <a:buClrTx/>
              <a:buSzTx/>
              <a:buNone/>
            </a:pPr>
            <a:r>
              <a:rPr lang="en-US" altLang="zh-CN" sz="2000" dirty="0">
                <a:latin typeface="Times New Roman" panose="02020603050405020304" pitchFamily="18" charset="0"/>
              </a:rPr>
              <a:t>if (max_length == 2)</a:t>
            </a:r>
          </a:p>
          <a:p>
            <a:pPr marL="0" lvl="0" indent="0" eaLnBrk="1" hangingPunct="1">
              <a:spcBef>
                <a:spcPct val="0"/>
              </a:spcBef>
              <a:buClrTx/>
              <a:buSzTx/>
              <a:buNone/>
            </a:pPr>
            <a:r>
              <a:rPr lang="en-US" altLang="zh-CN" sz="2000" dirty="0">
                <a:latin typeface="Times New Roman" panose="02020603050405020304" pitchFamily="18" charset="0"/>
              </a:rPr>
              <a:t>     cout &lt;&lt; “max_length=2.\n”;</a:t>
            </a:r>
          </a:p>
          <a:p>
            <a:pPr marL="0" lvl="0" indent="0" eaLnBrk="1" hangingPunct="1">
              <a:spcBef>
                <a:spcPct val="0"/>
              </a:spcBef>
              <a:buClrTx/>
              <a:buSzTx/>
              <a:buNone/>
            </a:pPr>
            <a:r>
              <a:rPr lang="en-US" altLang="zh-CN" sz="2000" dirty="0">
                <a:latin typeface="Times New Roman" panose="02020603050405020304" pitchFamily="18" charset="0"/>
              </a:rPr>
              <a:t>else</a:t>
            </a:r>
          </a:p>
          <a:p>
            <a:pPr marL="0" lvl="0" indent="0" eaLnBrk="1" hangingPunct="1">
              <a:spcBef>
                <a:spcPct val="0"/>
              </a:spcBef>
              <a:buClrTx/>
              <a:buSzTx/>
              <a:buNone/>
            </a:pPr>
            <a:r>
              <a:rPr lang="en-US" altLang="zh-CN" sz="2000" dirty="0">
                <a:latin typeface="Times New Roman" panose="02020603050405020304" pitchFamily="18" charset="0"/>
              </a:rPr>
              <a:t>     cout &lt;&lt; “max_length is….\n”;</a:t>
            </a:r>
          </a:p>
        </p:txBody>
      </p:sp>
      <p:sp>
        <p:nvSpPr>
          <p:cNvPr id="65542" name="矩形 10"/>
          <p:cNvSpPr/>
          <p:nvPr/>
        </p:nvSpPr>
        <p:spPr>
          <a:xfrm>
            <a:off x="4475163" y="2420938"/>
            <a:ext cx="4046537" cy="36004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latin typeface="+mn-lt"/>
                <a:ea typeface="+mn-ea"/>
                <a:cs typeface="+mn-cs"/>
              </a:defRPr>
            </a:lvl5pPr>
          </a:lstStyle>
          <a:p>
            <a:pPr marL="0" lvl="0" indent="0" eaLnBrk="1" hangingPunct="1">
              <a:lnSpc>
                <a:spcPct val="80000"/>
              </a:lnSpc>
              <a:spcBef>
                <a:spcPct val="0"/>
              </a:spcBef>
              <a:buClrTx/>
              <a:buSzTx/>
              <a:buNone/>
            </a:pPr>
            <a:r>
              <a:rPr lang="en-US" altLang="zh-CN" sz="2000" dirty="0">
                <a:latin typeface="Times New Roman" panose="02020603050405020304" pitchFamily="18" charset="0"/>
              </a:rPr>
              <a:t>switch (max_length) </a:t>
            </a:r>
          </a:p>
          <a:p>
            <a:pPr marL="0" lvl="0" indent="0" eaLnBrk="1" hangingPunct="1">
              <a:lnSpc>
                <a:spcPct val="80000"/>
              </a:lnSpc>
              <a:spcBef>
                <a:spcPct val="0"/>
              </a:spcBef>
              <a:buClrTx/>
              <a:buSzTx/>
              <a:buNone/>
            </a:pPr>
            <a:r>
              <a:rPr lang="en-US" altLang="zh-CN" sz="2000" dirty="0">
                <a:latin typeface="Times New Roman" panose="02020603050405020304" pitchFamily="18" charset="0"/>
              </a:rPr>
              <a:t>{</a:t>
            </a:r>
          </a:p>
          <a:p>
            <a:pPr marL="0" lvl="0" indent="0" eaLnBrk="1" hangingPunct="1">
              <a:spcBef>
                <a:spcPct val="0"/>
              </a:spcBef>
              <a:buClrTx/>
              <a:buSzTx/>
              <a:buNone/>
            </a:pPr>
            <a:r>
              <a:rPr lang="en-US" altLang="zh-CN" sz="2000" dirty="0">
                <a:latin typeface="Times New Roman" panose="02020603050405020304" pitchFamily="18" charset="0"/>
              </a:rPr>
              <a:t>     case 1:</a:t>
            </a:r>
          </a:p>
          <a:p>
            <a:pPr marL="0" lvl="0" indent="0" eaLnBrk="1" hangingPunct="1">
              <a:spcBef>
                <a:spcPct val="0"/>
              </a:spcBef>
              <a:buClrTx/>
              <a:buSzTx/>
              <a:buNone/>
            </a:pPr>
            <a:r>
              <a:rPr lang="en-US" altLang="zh-CN" sz="2000" dirty="0">
                <a:latin typeface="Times New Roman" panose="02020603050405020304" pitchFamily="18" charset="0"/>
              </a:rPr>
              <a:t>             cout &lt;&lt; “max_length=1.\n”;</a:t>
            </a:r>
          </a:p>
          <a:p>
            <a:pPr marL="0" lvl="0" indent="0" eaLnBrk="1" hangingPunct="1">
              <a:spcBef>
                <a:spcPct val="0"/>
              </a:spcBef>
              <a:buClrTx/>
              <a:buSzTx/>
              <a:buNone/>
            </a:pPr>
            <a:r>
              <a:rPr lang="en-US" altLang="zh-CN" sz="2000" dirty="0">
                <a:latin typeface="Times New Roman" panose="02020603050405020304" pitchFamily="18" charset="0"/>
              </a:rPr>
              <a:t>             break;</a:t>
            </a:r>
          </a:p>
          <a:p>
            <a:pPr marL="0" lvl="0" indent="0" eaLnBrk="1" hangingPunct="1">
              <a:spcBef>
                <a:spcPct val="0"/>
              </a:spcBef>
              <a:buClrTx/>
              <a:buSzTx/>
              <a:buNone/>
            </a:pPr>
            <a:r>
              <a:rPr lang="en-US" altLang="zh-CN" sz="2000" dirty="0">
                <a:latin typeface="Times New Roman" panose="02020603050405020304" pitchFamily="18" charset="0"/>
              </a:rPr>
              <a:t>     case 2:</a:t>
            </a:r>
          </a:p>
          <a:p>
            <a:pPr marL="0" lvl="0" indent="0" eaLnBrk="1" hangingPunct="1">
              <a:spcBef>
                <a:spcPct val="0"/>
              </a:spcBef>
              <a:buClrTx/>
              <a:buSzTx/>
              <a:buNone/>
            </a:pPr>
            <a:r>
              <a:rPr lang="en-US" altLang="zh-CN" sz="2000" dirty="0">
                <a:latin typeface="Times New Roman" panose="02020603050405020304" pitchFamily="18" charset="0"/>
              </a:rPr>
              <a:t>             cout &lt;&lt; “max_length=2.\n”;</a:t>
            </a:r>
          </a:p>
          <a:p>
            <a:pPr marL="0" lvl="0" indent="0" eaLnBrk="1" hangingPunct="1">
              <a:spcBef>
                <a:spcPct val="0"/>
              </a:spcBef>
              <a:buClrTx/>
              <a:buSzTx/>
              <a:buNone/>
            </a:pPr>
            <a:r>
              <a:rPr lang="en-US" altLang="zh-CN" sz="2000" dirty="0">
                <a:latin typeface="Times New Roman" panose="02020603050405020304" pitchFamily="18" charset="0"/>
              </a:rPr>
              <a:t>             break;</a:t>
            </a:r>
          </a:p>
          <a:p>
            <a:pPr marL="0" lvl="0" indent="0" eaLnBrk="1" hangingPunct="1">
              <a:spcBef>
                <a:spcPct val="0"/>
              </a:spcBef>
              <a:buClrTx/>
              <a:buSzTx/>
              <a:buNone/>
            </a:pPr>
            <a:r>
              <a:rPr lang="en-US" altLang="zh-CN" sz="2000" dirty="0">
                <a:latin typeface="Times New Roman" panose="02020603050405020304" pitchFamily="18" charset="0"/>
              </a:rPr>
              <a:t>     default:</a:t>
            </a:r>
          </a:p>
          <a:p>
            <a:pPr marL="0" lvl="0" indent="0" eaLnBrk="1" hangingPunct="1">
              <a:spcBef>
                <a:spcPct val="0"/>
              </a:spcBef>
              <a:buClrTx/>
              <a:buSzTx/>
              <a:buNone/>
            </a:pPr>
            <a:r>
              <a:rPr lang="en-US" altLang="zh-CN" sz="2000" dirty="0">
                <a:latin typeface="Times New Roman" panose="02020603050405020304" pitchFamily="18" charset="0"/>
              </a:rPr>
              <a:t>             cout &lt;&lt; “max_length=….\n”;</a:t>
            </a:r>
          </a:p>
          <a:p>
            <a:pPr marL="0" lvl="0" indent="0" eaLnBrk="1" hangingPunct="1">
              <a:spcBef>
                <a:spcPct val="0"/>
              </a:spcBef>
              <a:buClrTx/>
              <a:buSzTx/>
              <a:buNone/>
            </a:pPr>
            <a:r>
              <a:rPr lang="en-US" altLang="zh-CN" sz="2000" dirty="0">
                <a:latin typeface="Times New Roman" panose="02020603050405020304" pitchFamily="18" charset="0"/>
              </a:rPr>
              <a:t>             break;</a:t>
            </a:r>
          </a:p>
          <a:p>
            <a:pPr marL="0" lvl="0" indent="0" eaLnBrk="1" hangingPunct="1">
              <a:lnSpc>
                <a:spcPct val="80000"/>
              </a:lnSpc>
              <a:spcBef>
                <a:spcPct val="0"/>
              </a:spcBef>
              <a:buClrTx/>
              <a:buSzTx/>
              <a:buNone/>
            </a:pPr>
            <a:r>
              <a:rPr lang="en-US" altLang="zh-CN" sz="2000" dirty="0">
                <a:latin typeface="Times New Roman" panose="02020603050405020304" pitchFamily="18" charset="0"/>
              </a:rPr>
              <a:t>}</a:t>
            </a:r>
          </a:p>
        </p:txBody>
      </p:sp>
      <p:sp>
        <p:nvSpPr>
          <p:cNvPr id="1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Reviewing C in 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p:cNvSpPr>
            <a:spLocks noChangeArrowheads="1"/>
          </p:cNvSpPr>
          <p:nvPr/>
        </p:nvSpPr>
        <p:spPr bwMode="auto">
          <a:xfrm>
            <a:off x="228600" y="1673225"/>
            <a:ext cx="8610600" cy="2743200"/>
          </a:xfrm>
          <a:prstGeom prst="rect">
            <a:avLst/>
          </a:prstGeom>
          <a:noFill/>
          <a:ln>
            <a:noFill/>
          </a:ln>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5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Writing Loop Statements</a:t>
            </a:r>
          </a:p>
        </p:txBody>
      </p:sp>
      <p:sp>
        <p:nvSpPr>
          <p:cNvPr id="67587" name="灯片编号占位符 4"/>
          <p:cNvSpPr txBox="1">
            <a:spLocks noGrp="1"/>
          </p:cNvSpPr>
          <p:nvPr>
            <p:ph type="sldNum" sz="quarter" idx="12"/>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33</a:t>
            </a:fld>
            <a:endParaRPr lang="en-US" altLang="zh-CN" sz="1200" dirty="0">
              <a:effectLst/>
              <a:latin typeface="微软雅黑" panose="020B0503020204020204" pitchFamily="34" charset="-122"/>
              <a:ea typeface="微软雅黑" panose="020B0503020204020204" pitchFamily="34" charset="-122"/>
            </a:endParaRPr>
          </a:p>
        </p:txBody>
      </p:sp>
      <p:sp>
        <p:nvSpPr>
          <p:cNvPr id="67588" name="矩形 8"/>
          <p:cNvSpPr/>
          <p:nvPr/>
        </p:nvSpPr>
        <p:spPr>
          <a:xfrm>
            <a:off x="700088" y="2420938"/>
            <a:ext cx="4187825" cy="30464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latin typeface="+mn-lt"/>
                <a:ea typeface="+mn-ea"/>
                <a:cs typeface="+mn-cs"/>
              </a:defRPr>
            </a:lvl5pPr>
          </a:lstStyle>
          <a:p>
            <a:pPr marL="0" lvl="0" indent="0" eaLnBrk="1" hangingPunct="1">
              <a:spcBef>
                <a:spcPct val="0"/>
              </a:spcBef>
              <a:buClrTx/>
              <a:buSzTx/>
              <a:buNone/>
            </a:pPr>
            <a:r>
              <a:rPr lang="en-US" altLang="zh-CN" sz="2400" dirty="0">
                <a:latin typeface="Times New Roman" panose="02020603050405020304" pitchFamily="18" charset="0"/>
              </a:rPr>
              <a:t>int max_length = 3;</a:t>
            </a:r>
          </a:p>
          <a:p>
            <a:pPr marL="0" lvl="0" indent="0" eaLnBrk="1" hangingPunct="1">
              <a:spcBef>
                <a:spcPct val="0"/>
              </a:spcBef>
              <a:buClrTx/>
              <a:buSzTx/>
              <a:buNone/>
            </a:pPr>
            <a:r>
              <a:rPr lang="en-US" altLang="zh-CN" sz="2400" dirty="0">
                <a:latin typeface="Times New Roman" panose="02020603050405020304" pitchFamily="18" charset="0"/>
              </a:rPr>
              <a:t>int usr_cnt = 0;</a:t>
            </a:r>
          </a:p>
          <a:p>
            <a:pPr marL="0" lvl="0" indent="0" eaLnBrk="1" hangingPunct="1">
              <a:spcBef>
                <a:spcPct val="0"/>
              </a:spcBef>
              <a:buClrTx/>
              <a:buSzTx/>
              <a:buNone/>
            </a:pPr>
            <a:r>
              <a:rPr lang="en-US" altLang="zh-CN" sz="2400" dirty="0">
                <a:latin typeface="Times New Roman" panose="02020603050405020304" pitchFamily="18" charset="0"/>
              </a:rPr>
              <a:t>while (usr_cnt &lt; max_length)</a:t>
            </a:r>
          </a:p>
          <a:p>
            <a:pPr marL="0" lvl="0" indent="0" eaLnBrk="1" hangingPunct="1">
              <a:spcBef>
                <a:spcPct val="0"/>
              </a:spcBef>
              <a:buClrTx/>
              <a:buSzTx/>
              <a:buNone/>
            </a:pPr>
            <a:r>
              <a:rPr lang="en-US" altLang="zh-CN" sz="2400" dirty="0">
                <a:latin typeface="Times New Roman" panose="02020603050405020304" pitchFamily="18" charset="0"/>
              </a:rPr>
              <a:t>{</a:t>
            </a:r>
          </a:p>
          <a:p>
            <a:pPr marL="0" lvl="0" indent="0" eaLnBrk="1" hangingPunct="1">
              <a:spcBef>
                <a:spcPct val="0"/>
              </a:spcBef>
              <a:buClrTx/>
              <a:buSzTx/>
              <a:buNone/>
            </a:pPr>
            <a:r>
              <a:rPr lang="en-US" altLang="zh-CN" sz="2400" dirty="0">
                <a:latin typeface="Times New Roman" panose="02020603050405020304" pitchFamily="18" charset="0"/>
              </a:rPr>
              <a:t>       if (usr_guess == next_elem)</a:t>
            </a:r>
          </a:p>
          <a:p>
            <a:pPr marL="0" lvl="0" indent="0" eaLnBrk="1" hangingPunct="1">
              <a:spcBef>
                <a:spcPct val="0"/>
              </a:spcBef>
              <a:buClrTx/>
              <a:buSzTx/>
              <a:buNone/>
            </a:pPr>
            <a:r>
              <a:rPr lang="en-US" altLang="zh-CN" sz="2400" dirty="0">
                <a:latin typeface="Times New Roman" panose="02020603050405020304" pitchFamily="18" charset="0"/>
              </a:rPr>
              <a:t>           break;</a:t>
            </a:r>
          </a:p>
          <a:p>
            <a:pPr marL="0" lvl="0" indent="0" eaLnBrk="1" hangingPunct="1">
              <a:spcBef>
                <a:spcPct val="0"/>
              </a:spcBef>
              <a:buClrTx/>
              <a:buSzTx/>
              <a:buNone/>
            </a:pPr>
            <a:r>
              <a:rPr lang="en-US" altLang="zh-CN" sz="2400" dirty="0">
                <a:latin typeface="Times New Roman" panose="02020603050405020304" pitchFamily="18" charset="0"/>
              </a:rPr>
              <a:t>       usr_cnt++;</a:t>
            </a:r>
          </a:p>
          <a:p>
            <a:pPr marL="0" lvl="0" indent="0" eaLnBrk="1" hangingPunct="1">
              <a:spcBef>
                <a:spcPct val="0"/>
              </a:spcBef>
              <a:buClrTx/>
              <a:buSzTx/>
              <a:buNone/>
            </a:pPr>
            <a:r>
              <a:rPr lang="en-US" altLang="zh-CN" sz="2400" dirty="0">
                <a:latin typeface="Times New Roman" panose="02020603050405020304" pitchFamily="18" charset="0"/>
              </a:rPr>
              <a:t>}</a:t>
            </a:r>
          </a:p>
        </p:txBody>
      </p:sp>
      <p:sp>
        <p:nvSpPr>
          <p:cNvPr id="67589" name="矩形 7"/>
          <p:cNvSpPr/>
          <p:nvPr/>
        </p:nvSpPr>
        <p:spPr>
          <a:xfrm>
            <a:off x="4935538" y="2420938"/>
            <a:ext cx="3924300" cy="15700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latin typeface="+mn-lt"/>
                <a:ea typeface="+mn-ea"/>
                <a:cs typeface="+mn-cs"/>
              </a:defRPr>
            </a:lvl5pPr>
          </a:lstStyle>
          <a:p>
            <a:pPr marL="0" lvl="0" indent="0" eaLnBrk="1" hangingPunct="1">
              <a:spcBef>
                <a:spcPct val="0"/>
              </a:spcBef>
              <a:buClrTx/>
              <a:buSzTx/>
              <a:buNone/>
            </a:pPr>
            <a:r>
              <a:rPr lang="en-US" altLang="zh-CN" sz="2400" dirty="0">
                <a:latin typeface="Times New Roman" panose="02020603050405020304" pitchFamily="18" charset="0"/>
              </a:rPr>
              <a:t>for ( int i=2;  i&lt;seq_size; ++i )</a:t>
            </a:r>
          </a:p>
          <a:p>
            <a:pPr marL="0" lvl="0" indent="0" eaLnBrk="1" hangingPunct="1">
              <a:spcBef>
                <a:spcPct val="0"/>
              </a:spcBef>
              <a:buClrTx/>
              <a:buSzTx/>
              <a:buNone/>
            </a:pPr>
            <a:r>
              <a:rPr lang="en-US" altLang="zh-CN" sz="2400" dirty="0">
                <a:latin typeface="Times New Roman" panose="02020603050405020304" pitchFamily="18" charset="0"/>
              </a:rPr>
              <a:t>{</a:t>
            </a:r>
          </a:p>
          <a:p>
            <a:pPr marL="0" lvl="0" indent="0" eaLnBrk="1" hangingPunct="1">
              <a:spcBef>
                <a:spcPct val="0"/>
              </a:spcBef>
              <a:buClrTx/>
              <a:buSzTx/>
              <a:buNone/>
            </a:pPr>
            <a:r>
              <a:rPr lang="en-US" altLang="zh-CN" sz="2400" dirty="0">
                <a:latin typeface="Times New Roman" panose="02020603050405020304" pitchFamily="18" charset="0"/>
              </a:rPr>
              <a:t>       </a:t>
            </a:r>
            <a:r>
              <a:rPr lang="en-US" altLang="zh-CN" sz="2400" dirty="0">
                <a:solidFill>
                  <a:srgbClr val="FFFF00"/>
                </a:solidFill>
                <a:latin typeface="Times New Roman" panose="02020603050405020304" pitchFamily="18" charset="0"/>
              </a:rPr>
              <a:t>// statements;</a:t>
            </a:r>
          </a:p>
          <a:p>
            <a:pPr marL="0" lvl="0" indent="0" eaLnBrk="1" hangingPunct="1">
              <a:spcBef>
                <a:spcPct val="0"/>
              </a:spcBef>
              <a:buClrTx/>
              <a:buSzTx/>
              <a:buNone/>
            </a:pPr>
            <a:r>
              <a:rPr lang="en-US" altLang="zh-CN" sz="2400" dirty="0">
                <a:latin typeface="Times New Roman" panose="02020603050405020304" pitchFamily="18" charset="0"/>
              </a:rPr>
              <a:t>}</a:t>
            </a:r>
          </a:p>
        </p:txBody>
      </p:sp>
      <p:sp>
        <p:nvSpPr>
          <p:cNvPr id="9"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Reviewing C in 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Reviewing C in C++ (cont.)</a:t>
            </a:r>
          </a:p>
        </p:txBody>
      </p:sp>
      <p:sp>
        <p:nvSpPr>
          <p:cNvPr id="31747"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None/>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int main(int </a:t>
            </a: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argc</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char* </a:t>
            </a: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argv</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endPar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argc</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passes the number of elements in the </a:t>
            </a: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argv</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array, </a:t>
            </a: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argv</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are the character sub-sequences separated by spaces from the command line</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argv</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[ 0 ] is the path and program name, the real arguments start from </a:t>
            </a: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argv</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[ 1 ]</a:t>
            </a:r>
          </a:p>
        </p:txBody>
      </p:sp>
      <p:sp>
        <p:nvSpPr>
          <p:cNvPr id="68612" name="灯片编号占位符 4"/>
          <p:cNvSpPr txBox="1">
            <a:spLocks noGrp="1"/>
          </p:cNvSpPr>
          <p:nvPr>
            <p:ph type="sldNum" sz="quarter" idx="12"/>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34</a:t>
            </a:fld>
            <a:endParaRPr lang="en-US" altLang="zh-CN" sz="1200" dirty="0">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 calcmode="lin" valueType="num">
                                      <p:cBhvr additive="base">
                                        <p:cTn id="7" dur="500" fill="hold"/>
                                        <p:tgtEl>
                                          <p:spTgt spid="3174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17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1747">
                                            <p:txEl>
                                              <p:pRg st="2" end="2"/>
                                            </p:txEl>
                                          </p:spTgt>
                                        </p:tgtEl>
                                        <p:attrNameLst>
                                          <p:attrName>style.visibility</p:attrName>
                                        </p:attrNameLst>
                                      </p:cBhvr>
                                      <p:to>
                                        <p:strVal val="visible"/>
                                      </p:to>
                                    </p:set>
                                    <p:anim calcmode="lin" valueType="num">
                                      <p:cBhvr additive="base">
                                        <p:cTn id="13" dur="500" fill="hold"/>
                                        <p:tgtEl>
                                          <p:spTgt spid="31747">
                                            <p:txEl>
                                              <p:pRg st="2" end="2"/>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174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1747">
                                            <p:txEl>
                                              <p:pRg st="3" end="3"/>
                                            </p:txEl>
                                          </p:spTgt>
                                        </p:tgtEl>
                                        <p:attrNameLst>
                                          <p:attrName>style.visibility</p:attrName>
                                        </p:attrNameLst>
                                      </p:cBhvr>
                                      <p:to>
                                        <p:strVal val="visible"/>
                                      </p:to>
                                    </p:set>
                                    <p:anim calcmode="lin" valueType="num">
                                      <p:cBhvr additive="base">
                                        <p:cTn id="19" dur="500" fill="hold"/>
                                        <p:tgtEl>
                                          <p:spTgt spid="31747">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1747">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ctrTitle"/>
          </p:nvPr>
        </p:nvSpPr>
        <p:spPr>
          <a:xfrm>
            <a:off x="914400" y="2895600"/>
            <a:ext cx="7467600" cy="701675"/>
          </a:xfrm>
        </p:spPr>
        <p:txBody>
          <a:bodyPr vert="horz" wrap="square" lIns="91440" tIns="45720" rIns="91440" bIns="45720" numCol="1" anchor="b"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1200" cap="none" spc="0" normalizeH="0" baseline="0" noProof="0">
                <a:ln>
                  <a:noFill/>
                </a:ln>
                <a:solidFill>
                  <a:srgbClr val="FFCC00"/>
                </a:solidFill>
                <a:effectLst>
                  <a:outerShdw blurRad="38100" dist="38100" dir="2700000" algn="tl">
                    <a:srgbClr val="000000"/>
                  </a:outerShdw>
                </a:effectLst>
                <a:uLnTx/>
                <a:uFillTx/>
                <a:latin typeface="+mj-lt"/>
                <a:ea typeface="+mj-ea"/>
                <a:cs typeface="+mj-cs"/>
              </a:rPr>
              <a:t>From C to C++</a:t>
            </a:r>
          </a:p>
        </p:txBody>
      </p:sp>
      <p:sp>
        <p:nvSpPr>
          <p:cNvPr id="70659" name="灯片编号占位符 4"/>
          <p:cNvSpPr txBox="1">
            <a:spLocks noGrp="1"/>
          </p:cNvSpPr>
          <p:nvPr>
            <p:ph type="sldNum" sz="quarter" idx="4"/>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35</a:t>
            </a:fld>
            <a:endParaRPr lang="en-US" altLang="zh-CN" sz="1200" dirty="0">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Let</a:t>
            </a:r>
            <a:r>
              <a:rPr kumimoji="1" lang="en-US" altLang="zh-CN" sz="3600" b="0" i="0" u="none" strike="noStrike" kern="1200" cap="none" spc="0" normalizeH="0" baseline="0" noProof="0">
                <a:ln>
                  <a:noFill/>
                </a:ln>
                <a:solidFill>
                  <a:schemeClr val="tx2"/>
                </a:solidFill>
                <a:effectLst>
                  <a:outerShdw blurRad="38100" dist="38100" dir="2700000" algn="tl">
                    <a:srgbClr val="000000"/>
                  </a:outerShdw>
                </a:effectLst>
                <a:uLnTx/>
                <a:uFillTx/>
                <a:latin typeface="Times New Roman" panose="02020603050405020304" pitchFamily="18" charset="0"/>
                <a:ea typeface="+mj-ea"/>
                <a:cs typeface="+mj-cs"/>
              </a:rPr>
              <a:t>’</a:t>
            </a:r>
            <a:r>
              <a:rPr kumimoji="1" lang="en-US" altLang="zh-CN" sz="3600" b="0" i="0" u="none" strike="noStrike" kern="120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s compare these</a:t>
            </a:r>
          </a:p>
        </p:txBody>
      </p:sp>
      <p:sp>
        <p:nvSpPr>
          <p:cNvPr id="30723" name="Rectangle 3"/>
          <p:cNvSpPr>
            <a:spLocks noGrp="1" noChangeArrowheads="1"/>
          </p:cNvSpPr>
          <p:nvPr>
            <p:ph idx="1"/>
          </p:nvPr>
        </p:nvSpPr>
        <p:spPr>
          <a:xfrm>
            <a:off x="533400" y="1981200"/>
            <a:ext cx="4114800" cy="403860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None/>
              <a:defRPr/>
            </a:pPr>
            <a:endParaRPr kumimoji="1" lang="en-US" altLang="zh-CN" sz="1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None/>
              <a:defRPr/>
            </a:pPr>
            <a:r>
              <a:rPr kumimoji="1" lang="en-US" altLang="zh-CN" sz="1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include &lt;</a:t>
            </a:r>
            <a:r>
              <a:rPr kumimoji="1" lang="en-US" altLang="zh-CN" sz="16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iostream.h</a:t>
            </a: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&gt;</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None/>
              <a:defRPr/>
            </a:pPr>
            <a:endPar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None/>
              <a:defRPr/>
            </a:pP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void main()</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None/>
              <a:defRPr/>
            </a:pP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None/>
              <a:defRPr/>
            </a:pP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int j;</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None/>
              <a:defRPr/>
            </a:pP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int v[ 5 ] = {1,2,3,4,5};</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None/>
              <a:defRPr/>
            </a:pPr>
            <a:endPar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None/>
              <a:defRPr/>
            </a:pP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None/>
              <a:defRPr/>
            </a:pPr>
            <a:endPar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None/>
              <a:defRPr/>
            </a:pP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None/>
              <a:defRPr/>
            </a:pP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for (j = 0; j &lt; 5; </a:t>
            </a:r>
            <a:r>
              <a:rPr kumimoji="1" lang="en-US" altLang="zh-CN" sz="16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j++</a:t>
            </a: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None/>
              <a:defRPr/>
            </a:pP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None/>
              <a:defRPr/>
            </a:pP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1" lang="en-US" altLang="zh-CN" sz="16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printf</a:t>
            </a: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%d\n</a:t>
            </a: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v[ j ]);</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None/>
              <a:defRPr/>
            </a:pP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None/>
              <a:defRPr/>
            </a:pPr>
            <a:endPar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None/>
              <a:defRPr/>
            </a:pP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p:txBody>
      </p:sp>
      <p:sp>
        <p:nvSpPr>
          <p:cNvPr id="30724" name="Rectangle 4"/>
          <p:cNvSpPr>
            <a:spLocks noChangeArrowheads="1"/>
          </p:cNvSpPr>
          <p:nvPr/>
        </p:nvSpPr>
        <p:spPr bwMode="auto">
          <a:xfrm>
            <a:off x="4800600" y="1981200"/>
            <a:ext cx="4114800" cy="4114800"/>
          </a:xfrm>
          <a:prstGeom prst="rect">
            <a:avLst/>
          </a:prstGeom>
          <a:noFill/>
          <a:ln>
            <a:noFill/>
          </a:ln>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#include &lt;vector&gt; </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#include &lt;iostream&gt;</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using namespace std;</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int main()</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vector&lt; int &gt; v;</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for (int j = 0; j &lt; 5; </a:t>
            </a:r>
            <a:r>
              <a:rPr kumimoji="1" lang="en-US" altLang="zh-CN" sz="16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j++</a:t>
            </a: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a:t>
            </a:r>
            <a:r>
              <a:rPr kumimoji="1" lang="en-US" altLang="zh-CN" sz="16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v.push_back</a:t>
            </a: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(j + 1);</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for (int j = 0; j &lt; </a:t>
            </a:r>
            <a:r>
              <a:rPr kumimoji="1" lang="en-US" altLang="zh-CN" sz="16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v.size</a:t>
            </a: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a:t>
            </a:r>
            <a:r>
              <a:rPr kumimoji="1" lang="en-US" altLang="zh-CN" sz="16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j++</a:t>
            </a: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a:t>
            </a:r>
            <a:r>
              <a:rPr kumimoji="1" lang="en-US" altLang="zh-CN" sz="16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cout</a:t>
            </a: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&lt;&lt; v[ j ] &lt;&lt; </a:t>
            </a:r>
            <a:r>
              <a:rPr kumimoji="1" lang="en-US" altLang="zh-CN" sz="16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endl</a:t>
            </a: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return 0;</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a:t>
            </a:r>
          </a:p>
        </p:txBody>
      </p:sp>
      <p:sp>
        <p:nvSpPr>
          <p:cNvPr id="30725" name="Text Box 5"/>
          <p:cNvSpPr txBox="1"/>
          <p:nvPr/>
        </p:nvSpPr>
        <p:spPr>
          <a:xfrm>
            <a:off x="1371600" y="6278563"/>
            <a:ext cx="6629400" cy="5794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latin typeface="+mn-lt"/>
                <a:ea typeface="+mn-ea"/>
                <a:cs typeface="+mn-cs"/>
              </a:defRPr>
            </a:lvl5pPr>
          </a:lstStyle>
          <a:p>
            <a:pPr marL="0" lvl="0" indent="0" eaLnBrk="1" hangingPunct="1">
              <a:spcBef>
                <a:spcPct val="50000"/>
              </a:spcBef>
              <a:buClrTx/>
              <a:buSzTx/>
              <a:buFontTx/>
              <a:buNone/>
            </a:pPr>
            <a:r>
              <a:rPr lang="en-US" altLang="zh-CN" b="1" dirty="0">
                <a:solidFill>
                  <a:srgbClr val="FFCC00"/>
                </a:solidFill>
                <a:latin typeface="Times New Roman" panose="02020603050405020304" pitchFamily="18" charset="0"/>
              </a:rPr>
              <a:t>C Style				C++ Style</a:t>
            </a:r>
          </a:p>
        </p:txBody>
      </p:sp>
      <p:sp>
        <p:nvSpPr>
          <p:cNvPr id="71686" name="灯片编号占位符 4"/>
          <p:cNvSpPr txBox="1">
            <a:spLocks noGrp="1"/>
          </p:cNvSpPr>
          <p:nvPr>
            <p:ph type="sldNum" sz="quarter" idx="12"/>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36</a:t>
            </a:fld>
            <a:endParaRPr lang="en-US" altLang="zh-CN" sz="1200" dirty="0">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30725"/>
                                        </p:tgtEl>
                                        <p:attrNameLst>
                                          <p:attrName>style.visibility</p:attrName>
                                        </p:attrNameLst>
                                      </p:cBhvr>
                                      <p:to>
                                        <p:strVal val="visible"/>
                                      </p:to>
                                    </p:set>
                                    <p:anim calcmode="lin" valueType="num">
                                      <p:cBhvr additive="base">
                                        <p:cTn id="7" dur="500" fill="hold"/>
                                        <p:tgtEl>
                                          <p:spTgt spid="30725"/>
                                        </p:tgtEl>
                                        <p:attrNameLst>
                                          <p:attrName>ppt_x</p:attrName>
                                        </p:attrNameLst>
                                      </p:cBhvr>
                                      <p:tavLst>
                                        <p:tav tm="0">
                                          <p:val>
                                            <p:strVal val="#ppt_x"/>
                                          </p:val>
                                        </p:tav>
                                        <p:tav tm="100000">
                                          <p:val>
                                            <p:strVal val="#ppt_x"/>
                                          </p:val>
                                        </p:tav>
                                      </p:tavLst>
                                    </p:anim>
                                    <p:anim calcmode="lin" valueType="num">
                                      <p:cBhvr additive="base">
                                        <p:cTn id="8" dur="500" fill="hold"/>
                                        <p:tgtEl>
                                          <p:spTgt spid="3072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0" i="0" u="none" strike="noStrike" kern="1200" cap="none" spc="0" normalizeH="0" baseline="0" noProof="0">
                <a:ln>
                  <a:noFill/>
                </a:ln>
                <a:solidFill>
                  <a:schemeClr val="tx2"/>
                </a:solidFill>
                <a:effectLst>
                  <a:outerShdw blurRad="38100" dist="38100" dir="2700000" algn="tl">
                    <a:srgbClr val="000000"/>
                  </a:outerShdw>
                </a:effectLst>
                <a:uLnTx/>
                <a:uFillTx/>
                <a:latin typeface="Arial" panose="020B0604020202020204" pitchFamily="34" charset="0"/>
                <a:ea typeface="+mj-ea"/>
                <a:cs typeface="Arial" panose="020B0604020202020204" pitchFamily="34" charset="0"/>
              </a:rPr>
              <a:t>Namespace</a:t>
            </a:r>
            <a:endParaRPr kumimoji="1" lang="zh-CN" altLang="en-US" sz="4000" b="0" i="0" u="none" strike="noStrike" kern="1200" cap="none" spc="0" normalizeH="0" baseline="0" noProof="0">
              <a:ln>
                <a:noFill/>
              </a:ln>
              <a:solidFill>
                <a:schemeClr val="tx2"/>
              </a:solidFill>
              <a:effectLst>
                <a:outerShdw blurRad="38100" dist="38100" dir="2700000" algn="tl">
                  <a:srgbClr val="000000"/>
                </a:outerShdw>
              </a:effectLst>
              <a:uLnTx/>
              <a:uFillTx/>
              <a:latin typeface="Arial" panose="020B0604020202020204" pitchFamily="34" charset="0"/>
              <a:ea typeface="+mj-ea"/>
              <a:cs typeface="Arial" panose="020B0604020202020204" pitchFamily="34" charset="0"/>
            </a:endParaRPr>
          </a:p>
        </p:txBody>
      </p:sp>
      <p:sp>
        <p:nvSpPr>
          <p:cNvPr id="3" name="内容占位符 2"/>
          <p:cNvSpPr>
            <a:spLocks noGrp="1"/>
          </p:cNvSpPr>
          <p:nvPr>
            <p:ph idx="1"/>
          </p:nvPr>
        </p:nvSpPr>
        <p:spPr>
          <a:xfrm>
            <a:off x="433388" y="2009775"/>
            <a:ext cx="7977188" cy="449421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The problem: When two variables (or functions) in global scope have the same identifier (name), we get a compile error.</a:t>
            </a:r>
          </a:p>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To avoid such </a:t>
            </a:r>
            <a:r>
              <a:rPr kumimoji="1" lang="en-US" altLang="zh-CN" sz="26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name collisions</a:t>
            </a:r>
            <a:r>
              <a:rPr kumimoji="1" lang="en-US" altLang="zh-CN" sz="2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 programmers need to use unique identifiers in their own code.</a:t>
            </a:r>
          </a:p>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In C, if you use multiple </a:t>
            </a:r>
            <a:r>
              <a:rPr kumimoji="1" lang="en-US" altLang="zh-CN" sz="26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third-party libraries</a:t>
            </a:r>
            <a:r>
              <a:rPr kumimoji="1" lang="en-US" altLang="zh-CN" sz="2600" b="0" i="0" u="none" strike="noStrike" kern="1200" cap="none" spc="0" normalizeH="0" baseline="0" noProof="0" dirty="0">
                <a:ln>
                  <a:noFill/>
                </a:ln>
                <a:solidFill>
                  <a:srgbClr val="C00000"/>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 </a:t>
            </a:r>
            <a:r>
              <a:rPr kumimoji="1" lang="en-US" altLang="zh-CN" sz="26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and there is a name collision, you have three choices: </a:t>
            </a:r>
          </a:p>
          <a:p>
            <a:pPr marL="742950" marR="0" lvl="1" indent="-28575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Char char="n"/>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get the source code to the libraries and modify and recompile it. </a:t>
            </a:r>
          </a:p>
          <a:p>
            <a:pPr marL="742950" marR="0" lvl="1" indent="-28575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Char char="n"/>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ask one of the library publishers to rename their identifiers, or  </a:t>
            </a:r>
          </a:p>
          <a:p>
            <a:pPr marL="742950" marR="0" lvl="1" indent="-28575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Char char="n"/>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decide not to use one of the libraries.</a:t>
            </a:r>
          </a:p>
        </p:txBody>
      </p:sp>
      <p:sp>
        <p:nvSpPr>
          <p:cNvPr id="73732" name="日期占位符 3"/>
          <p:cNvSpPr txBox="1">
            <a:spLocks noGrp="1"/>
          </p:cNvSpPr>
          <p:nvPr>
            <p:ph type="dt" sz="half" idx="10"/>
          </p:nvPr>
        </p:nvSpPr>
        <p:spPr>
          <a:ln/>
        </p:spPr>
        <p:txBody>
          <a:bodyPr/>
          <a:lstStyle/>
          <a:p>
            <a:pPr marL="0" indent="0" eaLnBrk="1" hangingPunct="1">
              <a:spcBef>
                <a:spcPct val="50000"/>
              </a:spcBef>
              <a:buClrTx/>
              <a:buSzTx/>
              <a:buFontTx/>
              <a:buNone/>
            </a:pPr>
            <a:fld id="{BB962C8B-B14F-4D97-AF65-F5344CB8AC3E}" type="datetime1">
              <a:rPr lang="zh-CN" altLang="en-US" sz="1400" dirty="0">
                <a:solidFill>
                  <a:srgbClr val="000000"/>
                </a:solidFill>
                <a:effectLst/>
                <a:latin typeface="Times New Roman" panose="02020603050405020304" pitchFamily="18" charset="0"/>
              </a:rPr>
              <a:t>2025/9/15</a:t>
            </a:fld>
            <a:endParaRPr lang="zh-CN" altLang="en-US" sz="1400" dirty="0">
              <a:solidFill>
                <a:srgbClr val="000000"/>
              </a:solidFill>
              <a:effectLst/>
              <a:latin typeface="Times New Roman" panose="02020603050405020304" pitchFamily="18" charset="0"/>
            </a:endParaRPr>
          </a:p>
        </p:txBody>
      </p:sp>
      <p:sp>
        <p:nvSpPr>
          <p:cNvPr id="73733" name="灯片编号占位符 5"/>
          <p:cNvSpPr txBox="1">
            <a:spLocks noGrp="1"/>
          </p:cNvSpPr>
          <p:nvPr>
            <p:ph type="sldNum" sz="quarter" idx="12"/>
          </p:nvPr>
        </p:nvSpPr>
        <p:spPr>
          <a:ln/>
        </p:spPr>
        <p:txBody>
          <a:bodyPr/>
          <a:lstStyle/>
          <a:p>
            <a:pPr marL="0" indent="0" algn="r" eaLnBrk="1" hangingPunct="1">
              <a:spcBef>
                <a:spcPct val="50000"/>
              </a:spcBef>
              <a:buClrTx/>
              <a:buSzTx/>
              <a:buFontTx/>
              <a:buNone/>
            </a:pPr>
            <a:fld id="{9A0DB2DC-4C9A-4742-B13C-FB6460FD3503}" type="slidenum">
              <a:rPr lang="zh-CN" altLang="en-US" sz="1400" dirty="0">
                <a:solidFill>
                  <a:srgbClr val="000000"/>
                </a:solidFill>
                <a:effectLst/>
                <a:latin typeface="Times New Roman" panose="02020603050405020304" pitchFamily="18" charset="0"/>
              </a:rPr>
              <a:t>37</a:t>
            </a:fld>
            <a:endParaRPr lang="zh-CN" altLang="en-US" sz="1400" dirty="0">
              <a:solidFill>
                <a:srgbClr val="000000"/>
              </a:solidFill>
              <a:effectLst/>
              <a:latin typeface="Times New Roman" panose="02020603050405020304" pitchFamily="18" charset="0"/>
            </a:endParaRPr>
          </a:p>
        </p:txBody>
      </p:sp>
      <p:sp>
        <p:nvSpPr>
          <p:cNvPr id="9" name="圆角矩形 8"/>
          <p:cNvSpPr/>
          <p:nvPr/>
        </p:nvSpPr>
        <p:spPr bwMode="auto">
          <a:xfrm>
            <a:off x="309674" y="1844824"/>
            <a:ext cx="8224622" cy="4804612"/>
          </a:xfrm>
          <a:prstGeom prst="roundRect">
            <a:avLst/>
          </a:prstGeom>
          <a:noFill/>
          <a:ln w="9525" cap="flat" cmpd="sng" algn="ctr">
            <a:solidFill>
              <a:schemeClr val="tx1"/>
            </a:solidFill>
            <a:prstDash val="solid"/>
            <a:round/>
            <a:headEnd type="none" w="med" len="med"/>
            <a:tailEnd type="none" w="med" len="med"/>
          </a:ln>
          <a:effectLst>
            <a:glow rad="63500">
              <a:schemeClr val="accent3">
                <a:satMod val="175000"/>
                <a:alpha val="40000"/>
              </a:schemeClr>
            </a:glow>
            <a:outerShdw blurRad="368300" dist="50800" dir="5400000" algn="ctr" rotWithShape="0">
              <a:srgbClr val="000000">
                <a:alpha val="43137"/>
              </a:srgbClr>
            </a:outerShdw>
            <a:reflection endPos="0" dir="5400000" sy="-100000" algn="bl" rotWithShape="0"/>
          </a:effectLst>
          <a:scene3d>
            <a:camera prst="orthographicFront"/>
            <a:lightRig rig="threePt" dir="t"/>
          </a:scene3d>
          <a:sp3d>
            <a:bevelT/>
          </a:sp3d>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73735" name="灯片编号占位符 4"/>
          <p:cNvSpPr txBox="1"/>
          <p:nvPr/>
        </p:nvSpPr>
        <p:spPr>
          <a:xfrm>
            <a:off x="7885113" y="6442075"/>
            <a:ext cx="1008062" cy="215900"/>
          </a:xfrm>
          <a:prstGeom prst="rect">
            <a:avLst/>
          </a:prstGeom>
          <a:noFill/>
          <a:ln w="9525">
            <a:noFill/>
          </a:ln>
        </p:spPr>
        <p:txBody>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latin typeface="+mn-lt"/>
                <a:ea typeface="+mn-ea"/>
                <a:cs typeface="+mn-cs"/>
              </a:defRPr>
            </a:lvl5pPr>
          </a:lstStyle>
          <a:p>
            <a:pPr marL="0" lvl="0" indent="0" algn="r">
              <a:buClrTx/>
              <a:buSzTx/>
              <a:buFontTx/>
              <a:buNone/>
            </a:pPr>
            <a:fld id="{9A0DB2DC-4C9A-4742-B13C-FB6460FD3503}" type="slidenum">
              <a:rPr lang="en-US" altLang="zh-CN" sz="1200" dirty="0">
                <a:latin typeface="微软雅黑" panose="020B0503020204020204" pitchFamily="34" charset="-122"/>
                <a:ea typeface="微软雅黑" panose="020B0503020204020204" pitchFamily="34" charset="-122"/>
              </a:rPr>
              <a:t>37</a:t>
            </a:fld>
            <a:endParaRPr lang="en-US" altLang="zh-CN" sz="1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Namespace</a:t>
            </a:r>
          </a:p>
        </p:txBody>
      </p:sp>
      <p:sp>
        <p:nvSpPr>
          <p:cNvPr id="33795" name="Rectangle 3"/>
          <p:cNvSpPr>
            <a:spLocks noGrp="1" noChangeArrowheads="1"/>
          </p:cNvSpPr>
          <p:nvPr>
            <p:ph idx="1"/>
          </p:nvPr>
        </p:nvSpPr>
        <p:spPr>
          <a:xfrm>
            <a:off x="609600" y="1981200"/>
            <a:ext cx="8382000" cy="44196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Wrap the library to avoid name collision in global scope, a better way than prefixes</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int </a:t>
            </a:r>
            <a:r>
              <a:rPr kumimoji="1" lang="en-US" altLang="zh-CN" sz="20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abc_NumOfInstances</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 0;	namespace </a:t>
            </a:r>
            <a:r>
              <a:rPr kumimoji="1" lang="en-US" altLang="zh-CN" sz="20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abc</a:t>
            </a:r>
            <a:endPar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int </a:t>
            </a:r>
            <a:r>
              <a:rPr kumimoji="1" lang="en-US" altLang="zh-CN" sz="20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abc_Create</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(int </a:t>
            </a:r>
            <a:r>
              <a:rPr kumimoji="1" lang="en-US" altLang="zh-CN" sz="20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InstNo</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{int </a:t>
            </a:r>
            <a:r>
              <a:rPr kumimoji="1" lang="en-US" altLang="zh-CN" sz="20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NumOfInstances</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 0;</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int Create(int </a:t>
            </a:r>
            <a:r>
              <a:rPr kumimoji="1" lang="en-US" altLang="zh-CN" sz="20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InstNo</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std is the namespace wrapping all standard C++ libraries</a:t>
            </a:r>
          </a:p>
        </p:txBody>
      </p:sp>
      <p:sp>
        <p:nvSpPr>
          <p:cNvPr id="75780" name="灯片编号占位符 4"/>
          <p:cNvSpPr txBox="1">
            <a:spLocks noGrp="1"/>
          </p:cNvSpPr>
          <p:nvPr>
            <p:ph type="sldNum" sz="quarter" idx="12"/>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38</a:t>
            </a:fld>
            <a:endParaRPr lang="en-US" altLang="zh-CN" sz="1200" dirty="0">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Namespace(cont.)</a:t>
            </a:r>
          </a:p>
        </p:txBody>
      </p:sp>
      <p:sp>
        <p:nvSpPr>
          <p:cNvPr id="54275" name="Rectangle 3"/>
          <p:cNvSpPr>
            <a:spLocks noGrp="1" noChangeArrowheads="1"/>
          </p:cNvSpPr>
          <p:nvPr>
            <p:ph idx="1"/>
          </p:nvPr>
        </p:nvSpPr>
        <p:spPr>
          <a:xfrm>
            <a:off x="152400" y="1981200"/>
            <a:ext cx="8991600" cy="441960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3 ways to use namespace</a:t>
            </a: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Char char="n"/>
              <a:defRPr/>
            </a:pP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Use prefix style to specify every time</a:t>
            </a:r>
          </a:p>
          <a:p>
            <a:pPr marL="1600200" marR="0" lvl="3" indent="-228600" algn="l" defTabSz="914400" rtl="0" eaLnBrk="1" fontAlgn="base" latinLnBrk="0" hangingPunct="1">
              <a:lnSpc>
                <a:spcPct val="90000"/>
              </a:lnSpc>
              <a:spcBef>
                <a:spcPct val="20000"/>
              </a:spcBef>
              <a:spcAft>
                <a:spcPct val="0"/>
              </a:spcAft>
              <a:buClrTx/>
              <a:buSzTx/>
              <a:buFontTx/>
              <a:buNone/>
              <a:defRPr/>
            </a:pPr>
            <a:r>
              <a:rPr kumimoji="1" lang="en-US" altLang="zh-CN" sz="1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void f1() </a:t>
            </a:r>
          </a:p>
          <a:p>
            <a:pPr marL="1600200" marR="0" lvl="3" indent="-228600" algn="l" defTabSz="914400" rtl="0" eaLnBrk="1" fontAlgn="base" latinLnBrk="0" hangingPunct="1">
              <a:lnSpc>
                <a:spcPct val="90000"/>
              </a:lnSpc>
              <a:spcBef>
                <a:spcPct val="20000"/>
              </a:spcBef>
              <a:spcAft>
                <a:spcPct val="0"/>
              </a:spcAft>
              <a:buClrTx/>
              <a:buSzTx/>
              <a:buFontTx/>
              <a:buNone/>
              <a:defRPr/>
            </a:pPr>
            <a:r>
              <a:rPr kumimoji="1" lang="en-US" altLang="zh-CN" sz="1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1" lang="en-US" altLang="zh-CN" sz="1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abc</a:t>
            </a:r>
            <a:r>
              <a:rPr kumimoji="1" lang="en-US" altLang="zh-CN" sz="1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::Create(</a:t>
            </a:r>
            <a:r>
              <a:rPr kumimoji="1" lang="en-US" altLang="zh-CN" sz="1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NumOfInstances</a:t>
            </a:r>
            <a:r>
              <a:rPr kumimoji="1" lang="en-US" altLang="zh-CN" sz="1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a:p>
            <a:pPr marL="1600200" marR="0" lvl="3" indent="-228600" algn="l" defTabSz="914400" rtl="0" eaLnBrk="1" fontAlgn="base" latinLnBrk="0" hangingPunct="1">
              <a:lnSpc>
                <a:spcPct val="90000"/>
              </a:lnSpc>
              <a:spcBef>
                <a:spcPct val="20000"/>
              </a:spcBef>
              <a:spcAft>
                <a:spcPct val="0"/>
              </a:spcAft>
              <a:buClrTx/>
              <a:buSzTx/>
              <a:buFontTx/>
              <a:buNone/>
              <a:defRPr/>
            </a:pPr>
            <a:r>
              <a:rPr kumimoji="1" lang="en-US" altLang="zh-CN" sz="1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1" lang="en-US" altLang="zh-CN" sz="1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abc</a:t>
            </a:r>
            <a:r>
              <a:rPr kumimoji="1" lang="en-US" altLang="zh-CN" sz="1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1" lang="en-US" altLang="zh-CN" sz="1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NumOfInstances</a:t>
            </a:r>
            <a:r>
              <a:rPr kumimoji="1" lang="en-US" altLang="zh-CN" sz="1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Char char="n"/>
              <a:defRPr/>
            </a:pP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Import one symbol to current scope</a:t>
            </a:r>
          </a:p>
          <a:p>
            <a:pPr marL="1600200" marR="0" lvl="3" indent="-228600" algn="l" defTabSz="914400" rtl="0" eaLnBrk="1" fontAlgn="base" latinLnBrk="0" hangingPunct="1">
              <a:lnSpc>
                <a:spcPct val="90000"/>
              </a:lnSpc>
              <a:spcBef>
                <a:spcPct val="20000"/>
              </a:spcBef>
              <a:spcAft>
                <a:spcPct val="0"/>
              </a:spcAft>
              <a:buClrTx/>
              <a:buSzTx/>
              <a:buFontTx/>
              <a:buNone/>
              <a:defRPr/>
            </a:pPr>
            <a:r>
              <a:rPr kumimoji="1" lang="en-US" altLang="zh-CN" sz="1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void f2() </a:t>
            </a:r>
          </a:p>
          <a:p>
            <a:pPr marL="1600200" marR="0" lvl="3" indent="-228600" algn="l" defTabSz="914400" rtl="0" eaLnBrk="1" fontAlgn="base" latinLnBrk="0" hangingPunct="1">
              <a:lnSpc>
                <a:spcPct val="90000"/>
              </a:lnSpc>
              <a:spcBef>
                <a:spcPct val="20000"/>
              </a:spcBef>
              <a:spcAft>
                <a:spcPct val="0"/>
              </a:spcAft>
              <a:buClrTx/>
              <a:buSzTx/>
              <a:buFontTx/>
              <a:buNone/>
              <a:defRPr/>
            </a:pPr>
            <a:r>
              <a:rPr kumimoji="1" lang="en-US" altLang="zh-CN" sz="1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using </a:t>
            </a:r>
            <a:r>
              <a:rPr kumimoji="1" lang="en-US" altLang="zh-CN" sz="1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abc</a:t>
            </a:r>
            <a:r>
              <a:rPr kumimoji="1" lang="en-US" altLang="zh-CN" sz="1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1" lang="en-US" altLang="zh-CN" sz="1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NumOfInstances</a:t>
            </a:r>
            <a:r>
              <a:rPr kumimoji="1" lang="en-US" altLang="zh-CN" sz="1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p>
          <a:p>
            <a:pPr marL="1600200" marR="0" lvl="3" indent="-228600" algn="l" defTabSz="914400" rtl="0" eaLnBrk="1" fontAlgn="base" latinLnBrk="0" hangingPunct="1">
              <a:lnSpc>
                <a:spcPct val="90000"/>
              </a:lnSpc>
              <a:spcBef>
                <a:spcPct val="20000"/>
              </a:spcBef>
              <a:spcAft>
                <a:spcPct val="0"/>
              </a:spcAft>
              <a:buClrTx/>
              <a:buSzTx/>
              <a:buFontTx/>
              <a:buNone/>
              <a:defRPr/>
            </a:pPr>
            <a:r>
              <a:rPr kumimoji="1" lang="en-US" altLang="zh-CN" sz="1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Create(</a:t>
            </a:r>
            <a:r>
              <a:rPr kumimoji="1" lang="en-US" altLang="zh-CN" sz="1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NumOfInstances</a:t>
            </a:r>
            <a:r>
              <a:rPr kumimoji="1" lang="en-US" altLang="zh-CN" sz="1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1" lang="en-US" altLang="zh-CN" sz="1400" b="0" i="0" u="none" strike="noStrike" kern="1200" cap="none" spc="0" normalizeH="0" baseline="0" noProof="0" dirty="0">
                <a:ln>
                  <a:noFill/>
                </a:ln>
                <a:solidFill>
                  <a:srgbClr val="FFCC00"/>
                </a:solidFill>
                <a:effectLst>
                  <a:outerShdw blurRad="38100" dist="38100" dir="2700000" algn="tl">
                    <a:srgbClr val="000000"/>
                  </a:outerShdw>
                </a:effectLst>
                <a:uLnTx/>
                <a:uFillTx/>
                <a:latin typeface="+mn-lt"/>
                <a:ea typeface="+mn-ea"/>
                <a:cs typeface="+mn-cs"/>
              </a:rPr>
              <a:t>Error! Only </a:t>
            </a:r>
            <a:r>
              <a:rPr kumimoji="1" lang="en-US" altLang="zh-CN" sz="1400" b="0" i="0" u="none" strike="noStrike" kern="1200" cap="none" spc="0" normalizeH="0" baseline="0" noProof="0" dirty="0" err="1">
                <a:ln>
                  <a:noFill/>
                </a:ln>
                <a:solidFill>
                  <a:srgbClr val="FFCC00"/>
                </a:solidFill>
                <a:effectLst>
                  <a:outerShdw blurRad="38100" dist="38100" dir="2700000" algn="tl">
                    <a:srgbClr val="000000"/>
                  </a:outerShdw>
                </a:effectLst>
                <a:uLnTx/>
                <a:uFillTx/>
                <a:latin typeface="+mn-lt"/>
                <a:ea typeface="+mn-ea"/>
                <a:cs typeface="+mn-cs"/>
              </a:rPr>
              <a:t>NumOfInstances</a:t>
            </a:r>
            <a:r>
              <a:rPr kumimoji="1" lang="en-US" altLang="zh-CN" sz="1400" b="0" i="0" u="none" strike="noStrike" kern="1200" cap="none" spc="0" normalizeH="0" baseline="0" noProof="0" dirty="0">
                <a:ln>
                  <a:noFill/>
                </a:ln>
                <a:solidFill>
                  <a:srgbClr val="FFCC00"/>
                </a:solidFill>
                <a:effectLst>
                  <a:outerShdw blurRad="38100" dist="38100" dir="2700000" algn="tl">
                    <a:srgbClr val="000000"/>
                  </a:outerShdw>
                </a:effectLst>
                <a:uLnTx/>
                <a:uFillTx/>
                <a:latin typeface="+mn-lt"/>
                <a:ea typeface="+mn-ea"/>
                <a:cs typeface="+mn-cs"/>
              </a:rPr>
              <a:t> is visible, Create not imported</a:t>
            </a:r>
          </a:p>
          <a:p>
            <a:pPr marL="1600200" marR="0" lvl="3" indent="-228600" algn="l" defTabSz="914400" rtl="0" eaLnBrk="1" fontAlgn="base" latinLnBrk="0" hangingPunct="1">
              <a:lnSpc>
                <a:spcPct val="90000"/>
              </a:lnSpc>
              <a:spcBef>
                <a:spcPct val="20000"/>
              </a:spcBef>
              <a:spcAft>
                <a:spcPct val="0"/>
              </a:spcAft>
              <a:buClrTx/>
              <a:buSzTx/>
              <a:buFontTx/>
              <a:buNone/>
              <a:defRPr/>
            </a:pPr>
            <a:r>
              <a:rPr kumimoji="1" lang="en-US" altLang="zh-CN" sz="1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1" lang="en-US" altLang="zh-CN" sz="1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NumOfInstances</a:t>
            </a:r>
            <a:r>
              <a:rPr kumimoji="1" lang="en-US" altLang="zh-CN" sz="1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//OK</a:t>
            </a:r>
          </a:p>
          <a:p>
            <a:pPr marL="1600200" marR="0" lvl="3" indent="-228600" algn="l" defTabSz="914400" rtl="0" eaLnBrk="1" fontAlgn="base" latinLnBrk="0" hangingPunct="1">
              <a:lnSpc>
                <a:spcPct val="90000"/>
              </a:lnSpc>
              <a:spcBef>
                <a:spcPct val="20000"/>
              </a:spcBef>
              <a:spcAft>
                <a:spcPct val="0"/>
              </a:spcAft>
              <a:buClrTx/>
              <a:buSzTx/>
              <a:buFontTx/>
              <a:buNone/>
              <a:defRPr/>
            </a:pPr>
            <a:r>
              <a:rPr kumimoji="1" lang="en-US" altLang="zh-CN" sz="1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a:p>
            <a:pPr marL="1143000" marR="0" lvl="2" indent="-228600" algn="l" defTabSz="914400" rtl="0" eaLnBrk="1" fontAlgn="base" latinLnBrk="0" hangingPunct="1">
              <a:lnSpc>
                <a:spcPct val="90000"/>
              </a:lnSpc>
              <a:spcBef>
                <a:spcPct val="20000"/>
              </a:spcBef>
              <a:spcAft>
                <a:spcPct val="0"/>
              </a:spcAft>
              <a:buClr>
                <a:schemeClr val="accent1"/>
              </a:buClr>
              <a:buSzPct val="65000"/>
              <a:buFont typeface="Wingdings" panose="05000000000000000000" pitchFamily="2" charset="2"/>
              <a:buChar char="n"/>
              <a:defRPr/>
            </a:pP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Import all symbols in a namespace to current scope </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using directive</a:t>
            </a:r>
          </a:p>
          <a:p>
            <a:pPr marL="1600200" marR="0" lvl="3" indent="-228600" algn="l" defTabSz="914400" rtl="0" eaLnBrk="1" fontAlgn="base" latinLnBrk="0" hangingPunct="1">
              <a:lnSpc>
                <a:spcPct val="90000"/>
              </a:lnSpc>
              <a:spcBef>
                <a:spcPct val="20000"/>
              </a:spcBef>
              <a:spcAft>
                <a:spcPct val="0"/>
              </a:spcAft>
              <a:buClrTx/>
              <a:buSzTx/>
              <a:buFontTx/>
              <a:buNone/>
              <a:defRPr/>
            </a:pPr>
            <a:r>
              <a:rPr kumimoji="1" lang="en-US" altLang="zh-CN" sz="1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void f3() </a:t>
            </a:r>
          </a:p>
          <a:p>
            <a:pPr marL="1600200" marR="0" lvl="3" indent="-228600" algn="l" defTabSz="914400" rtl="0" eaLnBrk="1" fontAlgn="base" latinLnBrk="0" hangingPunct="1">
              <a:lnSpc>
                <a:spcPct val="90000"/>
              </a:lnSpc>
              <a:spcBef>
                <a:spcPct val="20000"/>
              </a:spcBef>
              <a:spcAft>
                <a:spcPct val="0"/>
              </a:spcAft>
              <a:buClrTx/>
              <a:buSzTx/>
              <a:buFontTx/>
              <a:buNone/>
              <a:defRPr/>
            </a:pPr>
            <a:r>
              <a:rPr kumimoji="1" lang="en-US" altLang="zh-CN" sz="1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using namespace </a:t>
            </a:r>
            <a:r>
              <a:rPr kumimoji="1" lang="en-US" altLang="zh-CN" sz="1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abc</a:t>
            </a:r>
            <a:r>
              <a:rPr kumimoji="1" lang="en-US" altLang="zh-CN" sz="1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p>
          <a:p>
            <a:pPr marL="1600200" marR="0" lvl="3" indent="-228600" algn="l" defTabSz="914400" rtl="0" eaLnBrk="1" fontAlgn="base" latinLnBrk="0" hangingPunct="1">
              <a:lnSpc>
                <a:spcPct val="90000"/>
              </a:lnSpc>
              <a:spcBef>
                <a:spcPct val="20000"/>
              </a:spcBef>
              <a:spcAft>
                <a:spcPct val="0"/>
              </a:spcAft>
              <a:buClrTx/>
              <a:buSzTx/>
              <a:buFontTx/>
              <a:buNone/>
              <a:defRPr/>
            </a:pPr>
            <a:r>
              <a:rPr kumimoji="1" lang="en-US" altLang="zh-CN" sz="1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Create(</a:t>
            </a:r>
            <a:r>
              <a:rPr kumimoji="1" lang="en-US" altLang="zh-CN" sz="1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NumOfInstances</a:t>
            </a:r>
            <a:r>
              <a:rPr kumimoji="1" lang="en-US" altLang="zh-CN" sz="1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//OK</a:t>
            </a:r>
          </a:p>
          <a:p>
            <a:pPr marL="1600200" marR="0" lvl="3" indent="-228600" algn="l" defTabSz="914400" rtl="0" eaLnBrk="1" fontAlgn="base" latinLnBrk="0" hangingPunct="1">
              <a:lnSpc>
                <a:spcPct val="90000"/>
              </a:lnSpc>
              <a:spcBef>
                <a:spcPct val="20000"/>
              </a:spcBef>
              <a:spcAft>
                <a:spcPct val="0"/>
              </a:spcAft>
              <a:buClrTx/>
              <a:buSzTx/>
              <a:buFontTx/>
              <a:buNone/>
              <a:defRPr/>
            </a:pPr>
            <a:r>
              <a:rPr kumimoji="1" lang="en-US" altLang="zh-CN" sz="1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1" lang="en-US" altLang="zh-CN" sz="1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NumOfInstances</a:t>
            </a:r>
            <a:r>
              <a:rPr kumimoji="1" lang="en-US" altLang="zh-CN" sz="1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//OK</a:t>
            </a:r>
          </a:p>
          <a:p>
            <a:pPr marL="1600200" marR="0" lvl="3" indent="-228600" algn="l" defTabSz="914400" rtl="0" eaLnBrk="1" fontAlgn="base" latinLnBrk="0" hangingPunct="1">
              <a:lnSpc>
                <a:spcPct val="90000"/>
              </a:lnSpc>
              <a:spcBef>
                <a:spcPct val="20000"/>
              </a:spcBef>
              <a:spcAft>
                <a:spcPct val="0"/>
              </a:spcAft>
              <a:buClrTx/>
              <a:buSzTx/>
              <a:buFontTx/>
              <a:buNone/>
              <a:defRPr/>
            </a:pPr>
            <a:r>
              <a:rPr kumimoji="1" lang="en-US" altLang="zh-CN" sz="1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endPar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77828" name="灯片编号占位符 4"/>
          <p:cNvSpPr txBox="1">
            <a:spLocks noGrp="1"/>
          </p:cNvSpPr>
          <p:nvPr>
            <p:ph type="sldNum" sz="quarter" idx="12"/>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39</a:t>
            </a:fld>
            <a:endParaRPr lang="en-US" altLang="zh-CN" sz="1200" dirty="0">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Namespace(cont.)</a:t>
            </a:r>
          </a:p>
        </p:txBody>
      </p:sp>
      <p:sp>
        <p:nvSpPr>
          <p:cNvPr id="55299" name="Rectangle 3"/>
          <p:cNvSpPr>
            <a:spLocks noGrp="1" noChangeArrowheads="1"/>
          </p:cNvSpPr>
          <p:nvPr>
            <p:ph idx="1"/>
          </p:nvPr>
        </p:nvSpPr>
        <p:spPr>
          <a:xfrm>
            <a:off x="152400" y="1981200"/>
            <a:ext cx="8991600" cy="44196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3200" b="0" i="0" u="none" strike="noStrike" kern="120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But we suggest the </a:t>
            </a:r>
            <a:r>
              <a:rPr kumimoji="1" lang="en-US" altLang="zh-CN" sz="3200" b="0" i="0" u="none" strike="noStrike" kern="1200" cap="none" spc="0" normalizeH="0" baseline="0" noProof="0">
                <a:ln>
                  <a:noFill/>
                </a:ln>
                <a:solidFill>
                  <a:srgbClr val="FFCC00"/>
                </a:solidFill>
                <a:effectLst>
                  <a:outerShdw blurRad="38100" dist="38100" dir="2700000" algn="tl">
                    <a:srgbClr val="000000"/>
                  </a:outerShdw>
                </a:effectLst>
                <a:uLnTx/>
                <a:uFillTx/>
                <a:latin typeface="+mn-lt"/>
                <a:ea typeface="+mn-ea"/>
                <a:cs typeface="+mn-cs"/>
              </a:rPr>
              <a:t>using directive</a:t>
            </a:r>
            <a:r>
              <a:rPr kumimoji="1" lang="en-US" altLang="zh-CN" sz="3200" b="0" i="0" u="none" strike="noStrike" kern="120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 form to expose all names in standard libraries</a:t>
            </a:r>
          </a:p>
          <a:p>
            <a:pPr marL="1143000" marR="0" lvl="2" indent="-2286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defRPr/>
            </a:pPr>
            <a:r>
              <a:rPr kumimoji="1" lang="en-US" altLang="zh-CN" sz="2400" b="0" i="0" u="none" strike="noStrike" kern="120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using namespace std;</a:t>
            </a:r>
          </a:p>
        </p:txBody>
      </p:sp>
      <p:sp>
        <p:nvSpPr>
          <p:cNvPr id="79876" name="灯片编号占位符 4"/>
          <p:cNvSpPr txBox="1">
            <a:spLocks noGrp="1"/>
          </p:cNvSpPr>
          <p:nvPr>
            <p:ph type="sldNum" sz="quarter" idx="12"/>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40</a:t>
            </a:fld>
            <a:endParaRPr lang="en-US" altLang="zh-CN" sz="1200" dirty="0">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anim calcmode="lin" valueType="num">
                                      <p:cBhvr additive="base">
                                        <p:cTn id="7" dur="500" fill="hold"/>
                                        <p:tgtEl>
                                          <p:spTgt spid="5529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5299">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55299">
                                            <p:txEl>
                                              <p:pRg st="1" end="1"/>
                                            </p:txEl>
                                          </p:spTgt>
                                        </p:tgtEl>
                                        <p:attrNameLst>
                                          <p:attrName>style.visibility</p:attrName>
                                        </p:attrNameLst>
                                      </p:cBhvr>
                                      <p:to>
                                        <p:strVal val="visible"/>
                                      </p:to>
                                    </p:set>
                                    <p:anim calcmode="lin" valueType="num">
                                      <p:cBhvr additive="base">
                                        <p:cTn id="11" dur="500" fill="hold"/>
                                        <p:tgtEl>
                                          <p:spTgt spid="55299">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55299">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0" i="0" u="none" strike="noStrike" kern="1200" cap="none" spc="0" normalizeH="0" baseline="0" noProof="0">
                <a:ln>
                  <a:noFill/>
                </a:ln>
                <a:solidFill>
                  <a:schemeClr val="tx2"/>
                </a:solidFill>
                <a:effectLst>
                  <a:outerShdw blurRad="38100" dist="38100" dir="2700000" algn="tl">
                    <a:srgbClr val="000000"/>
                  </a:outerShdw>
                </a:effectLst>
                <a:uLnTx/>
                <a:uFillTx/>
                <a:latin typeface="Arial" panose="020B0604020202020204" pitchFamily="34" charset="0"/>
                <a:ea typeface="+mj-ea"/>
                <a:cs typeface="Arial" panose="020B0604020202020204" pitchFamily="34" charset="0"/>
              </a:rPr>
              <a:t>Vector-Except for arrays</a:t>
            </a:r>
            <a:endParaRPr kumimoji="1" lang="zh-CN" altLang="en-US" sz="4000" b="0" i="0" u="none" strike="noStrike" kern="1200" cap="none" spc="0" normalizeH="0" baseline="0" noProof="0">
              <a:ln>
                <a:noFill/>
              </a:ln>
              <a:solidFill>
                <a:schemeClr val="tx2"/>
              </a:solidFill>
              <a:effectLst>
                <a:outerShdw blurRad="38100" dist="38100" dir="2700000" algn="tl">
                  <a:srgbClr val="000000"/>
                </a:outerShdw>
              </a:effectLst>
              <a:uLnTx/>
              <a:uFillTx/>
              <a:latin typeface="Arial" panose="020B0604020202020204" pitchFamily="34" charset="0"/>
              <a:ea typeface="+mj-ea"/>
              <a:cs typeface="Arial" panose="020B0604020202020204" pitchFamily="34" charset="0"/>
            </a:endParaRPr>
          </a:p>
        </p:txBody>
      </p:sp>
      <p:sp>
        <p:nvSpPr>
          <p:cNvPr id="80899" name="日期占位符 3"/>
          <p:cNvSpPr txBox="1">
            <a:spLocks noGrp="1"/>
          </p:cNvSpPr>
          <p:nvPr>
            <p:ph type="dt" sz="half" idx="10"/>
          </p:nvPr>
        </p:nvSpPr>
        <p:spPr>
          <a:ln/>
        </p:spPr>
        <p:txBody>
          <a:bodyPr/>
          <a:lstStyle/>
          <a:p>
            <a:pPr marL="0" indent="0" eaLnBrk="1" hangingPunct="1">
              <a:spcBef>
                <a:spcPct val="50000"/>
              </a:spcBef>
              <a:buClrTx/>
              <a:buSzTx/>
              <a:buFontTx/>
              <a:buNone/>
            </a:pPr>
            <a:fld id="{BB962C8B-B14F-4D97-AF65-F5344CB8AC3E}" type="datetime1">
              <a:rPr lang="zh-CN" altLang="en-US" sz="1400" dirty="0">
                <a:solidFill>
                  <a:srgbClr val="000000"/>
                </a:solidFill>
                <a:effectLst/>
                <a:latin typeface="Times New Roman" panose="02020603050405020304" pitchFamily="18" charset="0"/>
              </a:rPr>
              <a:t>2025/9/15</a:t>
            </a:fld>
            <a:endParaRPr lang="zh-CN" altLang="en-US" sz="1400" dirty="0">
              <a:solidFill>
                <a:srgbClr val="000000"/>
              </a:solidFill>
              <a:effectLst/>
              <a:latin typeface="Times New Roman" panose="02020603050405020304" pitchFamily="18" charset="0"/>
            </a:endParaRPr>
          </a:p>
        </p:txBody>
      </p:sp>
      <p:sp>
        <p:nvSpPr>
          <p:cNvPr id="80900" name="灯片编号占位符 5"/>
          <p:cNvSpPr txBox="1">
            <a:spLocks noGrp="1"/>
          </p:cNvSpPr>
          <p:nvPr>
            <p:ph type="sldNum" sz="quarter" idx="12"/>
          </p:nvPr>
        </p:nvSpPr>
        <p:spPr>
          <a:ln/>
        </p:spPr>
        <p:txBody>
          <a:bodyPr/>
          <a:lstStyle/>
          <a:p>
            <a:pPr marL="0" indent="0" algn="r" eaLnBrk="1" hangingPunct="1">
              <a:spcBef>
                <a:spcPct val="50000"/>
              </a:spcBef>
              <a:buClrTx/>
              <a:buSzTx/>
              <a:buFontTx/>
              <a:buNone/>
            </a:pPr>
            <a:fld id="{9A0DB2DC-4C9A-4742-B13C-FB6460FD3503}" type="slidenum">
              <a:rPr lang="zh-CN" altLang="en-US" sz="1400" dirty="0">
                <a:solidFill>
                  <a:srgbClr val="000000"/>
                </a:solidFill>
                <a:effectLst/>
                <a:latin typeface="Times New Roman" panose="02020603050405020304" pitchFamily="18" charset="0"/>
              </a:rPr>
              <a:t>41</a:t>
            </a:fld>
            <a:endParaRPr lang="zh-CN" altLang="en-US" sz="1400" dirty="0">
              <a:solidFill>
                <a:srgbClr val="000000"/>
              </a:solidFill>
              <a:effectLst/>
              <a:latin typeface="Times New Roman" panose="02020603050405020304" pitchFamily="18" charset="0"/>
            </a:endParaRPr>
          </a:p>
        </p:txBody>
      </p:sp>
      <p:sp>
        <p:nvSpPr>
          <p:cNvPr id="9" name="圆角矩形 8"/>
          <p:cNvSpPr/>
          <p:nvPr/>
        </p:nvSpPr>
        <p:spPr bwMode="auto">
          <a:xfrm>
            <a:off x="301946" y="1884412"/>
            <a:ext cx="8086478" cy="4363988"/>
          </a:xfrm>
          <a:prstGeom prst="roundRect">
            <a:avLst/>
          </a:prstGeom>
          <a:noFill/>
          <a:ln w="9525" cap="flat" cmpd="sng" algn="ctr">
            <a:solidFill>
              <a:schemeClr val="tx1"/>
            </a:solidFill>
            <a:prstDash val="solid"/>
            <a:round/>
            <a:headEnd type="none" w="med" len="med"/>
            <a:tailEnd type="none" w="med" len="med"/>
          </a:ln>
          <a:effectLst>
            <a:glow rad="63500">
              <a:schemeClr val="accent3">
                <a:satMod val="175000"/>
                <a:alpha val="40000"/>
              </a:schemeClr>
            </a:glow>
            <a:outerShdw blurRad="368300" dist="50800" dir="5400000" algn="ctr" rotWithShape="0">
              <a:srgbClr val="000000">
                <a:alpha val="43137"/>
              </a:srgbClr>
            </a:outerShdw>
            <a:reflection endPos="0" dir="5400000" sy="-100000" algn="bl" rotWithShape="0"/>
          </a:effectLst>
          <a:scene3d>
            <a:camera prst="orthographicFront"/>
            <a:lightRig rig="threePt" dir="t"/>
          </a:scene3d>
          <a:sp3d>
            <a:bevelT/>
          </a:sp3d>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3" name="内容占位符 2"/>
          <p:cNvSpPr>
            <a:spLocks noGrp="1"/>
          </p:cNvSpPr>
          <p:nvPr>
            <p:ph idx="1"/>
          </p:nvPr>
        </p:nvSpPr>
        <p:spPr>
          <a:xfrm>
            <a:off x="576263" y="1979613"/>
            <a:ext cx="7991475" cy="4497388"/>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Arrays have a number of drawbacks:</a:t>
            </a:r>
          </a:p>
          <a:p>
            <a:pPr marL="742950" marR="0" lvl="1" indent="-28575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Array size is a fixed constant.</a:t>
            </a:r>
          </a:p>
          <a:p>
            <a:pPr marL="742950" marR="0" lvl="1" indent="-28575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Passing an array as a parameter to a function is inconvenient, the size of the array must be passed as a separate parameter.</a:t>
            </a:r>
          </a:p>
          <a:p>
            <a:pPr marL="742950" marR="0" lvl="1" indent="-28575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There is no way to conveniently insert elements at the beginning or in the middle of an array. </a:t>
            </a:r>
          </a:p>
          <a:p>
            <a:pPr marL="742950" marR="0" lvl="1" indent="-28575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Similarly, it is inconvenient to remove an element from an array.</a:t>
            </a:r>
          </a:p>
          <a:p>
            <a:pPr marL="742950" marR="0" lvl="1" indent="-28575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You cannot return an array from a function.</a:t>
            </a:r>
          </a:p>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endParaRPr kumimoji="1" lang="zh-CN" altLang="en-US"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80903" name="灯片编号占位符 4"/>
          <p:cNvSpPr txBox="1"/>
          <p:nvPr/>
        </p:nvSpPr>
        <p:spPr>
          <a:xfrm>
            <a:off x="7885113" y="6442075"/>
            <a:ext cx="1008062" cy="215900"/>
          </a:xfrm>
          <a:prstGeom prst="rect">
            <a:avLst/>
          </a:prstGeom>
          <a:noFill/>
          <a:ln w="9525">
            <a:noFill/>
          </a:ln>
        </p:spPr>
        <p:txBody>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latin typeface="+mn-lt"/>
                <a:ea typeface="+mn-ea"/>
                <a:cs typeface="+mn-cs"/>
              </a:defRPr>
            </a:lvl5pPr>
          </a:lstStyle>
          <a:p>
            <a:pPr marL="0" lvl="0" indent="0" algn="r">
              <a:buClrTx/>
              <a:buSzTx/>
              <a:buFontTx/>
              <a:buNone/>
            </a:pPr>
            <a:fld id="{9A0DB2DC-4C9A-4742-B13C-FB6460FD3503}" type="slidenum">
              <a:rPr lang="en-US" altLang="zh-CN" sz="1200" dirty="0">
                <a:latin typeface="微软雅黑" panose="020B0503020204020204" pitchFamily="34" charset="-122"/>
                <a:ea typeface="微软雅黑" panose="020B0503020204020204" pitchFamily="34" charset="-122"/>
              </a:rPr>
              <a:t>41</a:t>
            </a:fld>
            <a:endParaRPr lang="en-US" altLang="zh-CN" sz="1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Vectors</a:t>
            </a:r>
          </a:p>
        </p:txBody>
      </p:sp>
      <p:sp>
        <p:nvSpPr>
          <p:cNvPr id="34819" name="Rectangle 3"/>
          <p:cNvSpPr>
            <a:spLocks noGrp="1" noChangeArrowheads="1"/>
          </p:cNvSpPr>
          <p:nvPr>
            <p:ph idx="1"/>
          </p:nvPr>
        </p:nvSpPr>
        <p:spPr>
          <a:xfrm>
            <a:off x="179388" y="1981200"/>
            <a:ext cx="8964613" cy="4419600"/>
          </a:xfrm>
        </p:spPr>
        <p:txBody>
          <a:bodyPr vert="horz" wrap="square" lIns="91440" tIns="45720" rIns="91440" bIns="45720" numCol="1" anchor="t" anchorCtr="0" compatLnSpc="1"/>
          <a:lstStyle/>
          <a:p>
            <a:pPr marL="342900" marR="0" lvl="0" indent="-342900" algn="just"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We recommend using the class template &lt;vector&gt;</a:t>
            </a:r>
          </a:p>
          <a:p>
            <a:pPr marL="342900" marR="0" lvl="0" indent="-342900" algn="just"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a:pPr>
            <a:endPar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just"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endPar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just"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Features:</a:t>
            </a:r>
          </a:p>
          <a:p>
            <a:pPr marL="1143000" marR="0" lvl="2" indent="-228600" algn="just"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 sequential container</a:t>
            </a:r>
          </a:p>
          <a:p>
            <a:pPr marL="1143000" marR="0" lvl="2" indent="-228600" algn="just"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Can use index to access </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p>
          <a:p>
            <a:pPr marL="1143000" marR="0" lvl="2" indent="-228600" algn="just"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Be self-aware of size</a:t>
            </a:r>
          </a:p>
          <a:p>
            <a:pPr marL="1143000" marR="0" lvl="2" indent="-228600" algn="just"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Self-manage memory and increase on demand </a:t>
            </a:r>
          </a:p>
          <a:p>
            <a:pPr marL="342900" marR="0" lvl="0" indent="-342900" algn="just"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Frequent used member functions &amp; operators:</a:t>
            </a:r>
          </a:p>
          <a:p>
            <a:pPr marL="1143000" marR="0" lvl="2" indent="-228600" algn="just"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0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push_back</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1" lang="en-US" altLang="zh-CN" sz="20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pop_back</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size(), clear(), empty(), </a:t>
            </a:r>
          </a:p>
        </p:txBody>
      </p:sp>
      <p:sp>
        <p:nvSpPr>
          <p:cNvPr id="82948" name="灯片编号占位符 4"/>
          <p:cNvSpPr txBox="1">
            <a:spLocks noGrp="1"/>
          </p:cNvSpPr>
          <p:nvPr>
            <p:ph type="sldNum" sz="quarter" idx="12"/>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42</a:t>
            </a:fld>
            <a:endParaRPr lang="en-US" altLang="zh-CN" sz="1200" dirty="0">
              <a:effectLst/>
              <a:latin typeface="微软雅黑" panose="020B0503020204020204" pitchFamily="34" charset="-122"/>
              <a:ea typeface="微软雅黑" panose="020B0503020204020204" pitchFamily="34" charset="-122"/>
            </a:endParaRPr>
          </a:p>
        </p:txBody>
      </p:sp>
      <p:sp>
        <p:nvSpPr>
          <p:cNvPr id="82949" name="Rectangle 4"/>
          <p:cNvSpPr/>
          <p:nvPr/>
        </p:nvSpPr>
        <p:spPr>
          <a:xfrm>
            <a:off x="609600" y="2565400"/>
            <a:ext cx="8283575" cy="1008063"/>
          </a:xfrm>
          <a:prstGeom prst="rect">
            <a:avLst/>
          </a:prstGeom>
          <a:noFill/>
          <a:ln w="9525" cap="flat" cmpd="sng">
            <a:solidFill>
              <a:schemeClr val="tx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latin typeface="+mn-lt"/>
                <a:ea typeface="+mn-ea"/>
                <a:cs typeface="+mn-cs"/>
              </a:defRPr>
            </a:lvl5pPr>
          </a:lstStyle>
          <a:p>
            <a:pPr marL="0" lvl="0" indent="0">
              <a:spcBef>
                <a:spcPct val="0"/>
              </a:spcBef>
              <a:buClrTx/>
              <a:buSzTx/>
              <a:buFontTx/>
              <a:buNone/>
            </a:pPr>
            <a:r>
              <a:rPr lang="is-IS" altLang="zh-CN" sz="2000" b="1" dirty="0">
                <a:latin typeface="Lucida Console" panose="020B0609040504020204" pitchFamily="49" charset="0"/>
              </a:rPr>
              <a:t>#include &lt;</a:t>
            </a:r>
            <a:r>
              <a:rPr lang="is-IS" altLang="zh-CN" sz="2000" b="1" dirty="0">
                <a:solidFill>
                  <a:srgbClr val="FFFF00"/>
                </a:solidFill>
                <a:latin typeface="Lucida Console" panose="020B0609040504020204" pitchFamily="49" charset="0"/>
              </a:rPr>
              <a:t>vector</a:t>
            </a:r>
            <a:r>
              <a:rPr lang="is-IS" altLang="zh-CN" sz="2000" b="1" dirty="0">
                <a:latin typeface="Lucida Console" panose="020B0609040504020204" pitchFamily="49" charset="0"/>
              </a:rPr>
              <a:t>&gt;     </a:t>
            </a:r>
            <a:r>
              <a:rPr lang="is-IS" altLang="zh-CN" sz="2000" b="1" dirty="0">
                <a:solidFill>
                  <a:srgbClr val="FFFF00"/>
                </a:solidFill>
                <a:latin typeface="Lucida Console" panose="020B0609040504020204" pitchFamily="49" charset="0"/>
              </a:rPr>
              <a:t>//you must include this header</a:t>
            </a:r>
          </a:p>
          <a:p>
            <a:pPr marL="0" lvl="0" indent="0">
              <a:spcBef>
                <a:spcPct val="0"/>
              </a:spcBef>
              <a:buClrTx/>
              <a:buSzTx/>
              <a:buFontTx/>
              <a:buNone/>
            </a:pPr>
            <a:r>
              <a:rPr lang="en-US" altLang="zh-CN" sz="2000" b="1" dirty="0">
                <a:latin typeface="Lucida Console" panose="020B0609040504020204" pitchFamily="49" charset="0"/>
              </a:rPr>
              <a:t>U</a:t>
            </a:r>
            <a:r>
              <a:rPr lang="is-IS" altLang="zh-CN" sz="2000" b="1" dirty="0">
                <a:latin typeface="Lucida Console" panose="020B0609040504020204" pitchFamily="49" charset="0"/>
              </a:rPr>
              <a:t>sing namespace std;  </a:t>
            </a:r>
            <a:r>
              <a:rPr lang="is-IS" altLang="zh-CN" sz="2000" b="1" dirty="0">
                <a:solidFill>
                  <a:srgbClr val="FFFF00"/>
                </a:solidFill>
                <a:latin typeface="Lucida Console" panose="020B0609040504020204" pitchFamily="49" charset="0"/>
              </a:rPr>
              <a:t>//like everything else, vectors live in the std namespace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 calcmode="lin" valueType="num">
                                      <p:cBhvr additive="base">
                                        <p:cTn id="7" dur="500" fill="hold"/>
                                        <p:tgtEl>
                                          <p:spTgt spid="3481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48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4819">
                                            <p:txEl>
                                              <p:pRg st="3" end="3"/>
                                            </p:txEl>
                                          </p:spTgt>
                                        </p:tgtEl>
                                        <p:attrNameLst>
                                          <p:attrName>style.visibility</p:attrName>
                                        </p:attrNameLst>
                                      </p:cBhvr>
                                      <p:to>
                                        <p:strVal val="visible"/>
                                      </p:to>
                                    </p:set>
                                    <p:anim calcmode="lin" valueType="num">
                                      <p:cBhvr additive="base">
                                        <p:cTn id="13" dur="500" fill="hold"/>
                                        <p:tgtEl>
                                          <p:spTgt spid="34819">
                                            <p:txEl>
                                              <p:pRg st="3" end="3"/>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481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4819">
                                            <p:txEl>
                                              <p:pRg st="4" end="4"/>
                                            </p:txEl>
                                          </p:spTgt>
                                        </p:tgtEl>
                                        <p:attrNameLst>
                                          <p:attrName>style.visibility</p:attrName>
                                        </p:attrNameLst>
                                      </p:cBhvr>
                                      <p:to>
                                        <p:strVal val="visible"/>
                                      </p:to>
                                    </p:set>
                                    <p:anim calcmode="lin" valueType="num">
                                      <p:cBhvr additive="base">
                                        <p:cTn id="19" dur="500" fill="hold"/>
                                        <p:tgtEl>
                                          <p:spTgt spid="34819">
                                            <p:txEl>
                                              <p:pRg st="4" end="4"/>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481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34819">
                                            <p:txEl>
                                              <p:pRg st="5" end="5"/>
                                            </p:txEl>
                                          </p:spTgt>
                                        </p:tgtEl>
                                        <p:attrNameLst>
                                          <p:attrName>style.visibility</p:attrName>
                                        </p:attrNameLst>
                                      </p:cBhvr>
                                      <p:to>
                                        <p:strVal val="visible"/>
                                      </p:to>
                                    </p:set>
                                    <p:anim calcmode="lin" valueType="num">
                                      <p:cBhvr additive="base">
                                        <p:cTn id="25" dur="500" fill="hold"/>
                                        <p:tgtEl>
                                          <p:spTgt spid="34819">
                                            <p:txEl>
                                              <p:pRg st="5" end="5"/>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481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34819">
                                            <p:txEl>
                                              <p:pRg st="6" end="6"/>
                                            </p:txEl>
                                          </p:spTgt>
                                        </p:tgtEl>
                                        <p:attrNameLst>
                                          <p:attrName>style.visibility</p:attrName>
                                        </p:attrNameLst>
                                      </p:cBhvr>
                                      <p:to>
                                        <p:strVal val="visible"/>
                                      </p:to>
                                    </p:set>
                                    <p:anim calcmode="lin" valueType="num">
                                      <p:cBhvr additive="base">
                                        <p:cTn id="31" dur="500" fill="hold"/>
                                        <p:tgtEl>
                                          <p:spTgt spid="34819">
                                            <p:txEl>
                                              <p:pRg st="6" end="6"/>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3481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34819">
                                            <p:txEl>
                                              <p:pRg st="7" end="7"/>
                                            </p:txEl>
                                          </p:spTgt>
                                        </p:tgtEl>
                                        <p:attrNameLst>
                                          <p:attrName>style.visibility</p:attrName>
                                        </p:attrNameLst>
                                      </p:cBhvr>
                                      <p:to>
                                        <p:strVal val="visible"/>
                                      </p:to>
                                    </p:set>
                                    <p:anim calcmode="lin" valueType="num">
                                      <p:cBhvr additive="base">
                                        <p:cTn id="37" dur="500" fill="hold"/>
                                        <p:tgtEl>
                                          <p:spTgt spid="34819">
                                            <p:txEl>
                                              <p:pRg st="7" end="7"/>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34819">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34819">
                                            <p:txEl>
                                              <p:pRg st="8" end="8"/>
                                            </p:txEl>
                                          </p:spTgt>
                                        </p:tgtEl>
                                        <p:attrNameLst>
                                          <p:attrName>style.visibility</p:attrName>
                                        </p:attrNameLst>
                                      </p:cBhvr>
                                      <p:to>
                                        <p:strVal val="visible"/>
                                      </p:to>
                                    </p:set>
                                    <p:anim calcmode="lin" valueType="num">
                                      <p:cBhvr additive="base">
                                        <p:cTn id="43" dur="500" fill="hold"/>
                                        <p:tgtEl>
                                          <p:spTgt spid="34819">
                                            <p:txEl>
                                              <p:pRg st="8" end="8"/>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34819">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34819">
                                            <p:txEl>
                                              <p:pRg st="9" end="9"/>
                                            </p:txEl>
                                          </p:spTgt>
                                        </p:tgtEl>
                                        <p:attrNameLst>
                                          <p:attrName>style.visibility</p:attrName>
                                        </p:attrNameLst>
                                      </p:cBhvr>
                                      <p:to>
                                        <p:strVal val="visible"/>
                                      </p:to>
                                    </p:set>
                                    <p:anim calcmode="lin" valueType="num">
                                      <p:cBhvr additive="base">
                                        <p:cTn id="49" dur="500" fill="hold"/>
                                        <p:tgtEl>
                                          <p:spTgt spid="34819">
                                            <p:txEl>
                                              <p:pRg st="9" end="9"/>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34819">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bldLvl="3"/>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Vector</a:t>
            </a:r>
          </a:p>
        </p:txBody>
      </p:sp>
      <p:sp>
        <p:nvSpPr>
          <p:cNvPr id="34819" name="Rectangle 3"/>
          <p:cNvSpPr>
            <a:spLocks noGrp="1" noChangeArrowheads="1"/>
          </p:cNvSpPr>
          <p:nvPr>
            <p:ph idx="1"/>
          </p:nvPr>
        </p:nvSpPr>
        <p:spPr>
          <a:xfrm>
            <a:off x="147638" y="1963738"/>
            <a:ext cx="4208463" cy="4419600"/>
          </a:xfrm>
        </p:spPr>
        <p:txBody>
          <a:bodyPr vert="horz" wrap="square" lIns="91440" tIns="45720" rIns="91440" bIns="45720" numCol="1" anchor="t" anchorCtr="0" compatLnSpc="1"/>
          <a:lstStyle/>
          <a:p>
            <a:pPr marL="0" marR="0" lvl="0" indent="0" algn="just"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template &lt;</a:t>
            </a:r>
            <a:r>
              <a:rPr kumimoji="1" lang="en-US" altLang="zh-CN" sz="1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typename</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T&gt;</a:t>
            </a:r>
          </a:p>
          <a:p>
            <a:pPr marL="0" marR="0" lvl="0" indent="0" algn="just"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class Vector {</a:t>
            </a:r>
          </a:p>
          <a:p>
            <a:pPr marL="0" marR="0" lvl="0" indent="0" algn="just"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private:</a:t>
            </a:r>
          </a:p>
          <a:p>
            <a:pPr marL="0" marR="0" lvl="0" indent="0" algn="just"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T*  p;      </a:t>
            </a:r>
            <a:r>
              <a:rPr kumimoji="1" lang="en-US" altLang="zh-CN" sz="18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mn-lt"/>
                <a:ea typeface="+mn-ea"/>
                <a:cs typeface="+mn-cs"/>
              </a:rPr>
              <a:t>// pointer to vector</a:t>
            </a:r>
            <a:endParaRPr kumimoji="1" lang="zh-CN" altLang="en-US" sz="18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mn-lt"/>
              <a:ea typeface="+mn-ea"/>
              <a:cs typeface="+mn-cs"/>
            </a:endParaRPr>
          </a:p>
          <a:p>
            <a:pPr marL="0" marR="0" lvl="0" indent="0" algn="just"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zh-CN" altLang="en-US"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int  size;  </a:t>
            </a:r>
            <a:r>
              <a:rPr kumimoji="1" lang="en-US" altLang="zh-CN" sz="18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mn-lt"/>
                <a:ea typeface="+mn-ea"/>
                <a:cs typeface="+mn-cs"/>
              </a:rPr>
              <a:t>// number of elements</a:t>
            </a:r>
            <a:endParaRPr kumimoji="1" lang="zh-CN" altLang="en-US" sz="18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mn-lt"/>
              <a:ea typeface="+mn-ea"/>
              <a:cs typeface="+mn-cs"/>
            </a:endParaRPr>
          </a:p>
          <a:p>
            <a:pPr marL="0" marR="0" lvl="0" indent="0" algn="just"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public:</a:t>
            </a:r>
          </a:p>
          <a:p>
            <a:pPr marL="0" marR="0" lvl="0" indent="0" algn="just"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Vector() : p (</a:t>
            </a:r>
            <a:r>
              <a:rPr kumimoji="1" lang="en-US" altLang="zh-CN" sz="1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nullptr</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size(0) {}</a:t>
            </a:r>
            <a:r>
              <a:rPr kumimoji="1" lang="zh-CN" altLang="en-US"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endPar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just"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void </a:t>
            </a:r>
            <a:r>
              <a:rPr kumimoji="1" lang="en-US" altLang="zh-CN" sz="1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push_back</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(const T&amp; value);       </a:t>
            </a:r>
          </a:p>
          <a:p>
            <a:pPr marL="0" marR="0" lvl="0" indent="0" algn="just"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int </a:t>
            </a:r>
            <a:r>
              <a:rPr kumimoji="1" lang="en-US" altLang="zh-CN" sz="1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get_size</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const;      </a:t>
            </a:r>
          </a:p>
          <a:p>
            <a:pPr marL="0" marR="0" lvl="0" indent="0" algn="just"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T&amp; operator[](int index);</a:t>
            </a:r>
          </a:p>
          <a:p>
            <a:pPr marL="0" marR="0" lvl="0" indent="0" algn="just"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~Vector() ;  </a:t>
            </a:r>
            <a:endParaRPr kumimoji="1" lang="zh-CN" altLang="en-US"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just"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p:txBody>
      </p:sp>
      <p:sp>
        <p:nvSpPr>
          <p:cNvPr id="84996" name="灯片编号占位符 4"/>
          <p:cNvSpPr txBox="1">
            <a:spLocks noGrp="1"/>
          </p:cNvSpPr>
          <p:nvPr>
            <p:ph type="sldNum" sz="quarter" idx="12"/>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43</a:t>
            </a:fld>
            <a:endParaRPr lang="en-US" altLang="zh-CN" sz="1200" dirty="0">
              <a:effectLst/>
              <a:latin typeface="微软雅黑" panose="020B0503020204020204" pitchFamily="34" charset="-122"/>
              <a:ea typeface="微软雅黑" panose="020B0503020204020204" pitchFamily="34" charset="-122"/>
            </a:endParaRPr>
          </a:p>
        </p:txBody>
      </p:sp>
      <p:sp>
        <p:nvSpPr>
          <p:cNvPr id="6" name="Rectangle 3"/>
          <p:cNvSpPr txBox="1">
            <a:spLocks noChangeArrowheads="1"/>
          </p:cNvSpPr>
          <p:nvPr/>
        </p:nvSpPr>
        <p:spPr bwMode="auto">
          <a:xfrm>
            <a:off x="4095750" y="1052513"/>
            <a:ext cx="4721225" cy="5472113"/>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outerShdw blurRad="38100" dist="38100" dir="2700000" algn="tl">
                    <a:srgbClr val="000000"/>
                  </a:outerShdw>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outerShdw blurRad="38100" dist="38100" dir="2700000" algn="tl">
                    <a:srgbClr val="000000"/>
                  </a:outerShdw>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outerShdw blurRad="38100" dist="38100" dir="2700000" algn="tl">
                    <a:srgbClr val="000000"/>
                  </a:outerShdw>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outerShdw blurRad="38100" dist="38100" dir="2700000" algn="tl">
                    <a:srgbClr val="00000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template &lt;</a:t>
            </a:r>
            <a:r>
              <a:rPr kumimoji="1" lang="en-US" altLang="zh-CN" sz="1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typename</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T&gt;</a:t>
            </a:r>
          </a:p>
          <a:p>
            <a:pPr marL="0" marR="0" lvl="0" indent="0" algn="just"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void Vector&lt;T&gt;::</a:t>
            </a:r>
            <a:r>
              <a:rPr kumimoji="1" lang="en-US" altLang="zh-CN" sz="1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push_back</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(const T&amp; value) {</a:t>
            </a:r>
            <a:endParaRPr kumimoji="1" lang="zh-CN" altLang="en-US"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just"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zh-CN" altLang="en-US"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T* </a:t>
            </a:r>
            <a:r>
              <a:rPr kumimoji="1" lang="en-US" altLang="zh-CN" sz="1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new_p</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 new T[size + 1];</a:t>
            </a:r>
          </a:p>
          <a:p>
            <a:pPr marL="0" marR="0" lvl="0" indent="0" algn="just"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for (int </a:t>
            </a:r>
            <a:r>
              <a:rPr kumimoji="1" lang="en-US" altLang="zh-CN" sz="1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 0; </a:t>
            </a:r>
            <a:r>
              <a:rPr kumimoji="1" lang="en-US" altLang="zh-CN" sz="1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&lt; size; ++</a:t>
            </a:r>
            <a:r>
              <a:rPr kumimoji="1" lang="en-US" altLang="zh-CN" sz="1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p>
          <a:p>
            <a:pPr marL="0" marR="0" lvl="0" indent="0" algn="just"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1" lang="en-US" altLang="zh-CN" sz="1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new_p</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1" lang="en-US" altLang="zh-CN" sz="1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 p[</a:t>
            </a:r>
            <a:r>
              <a:rPr kumimoji="1" lang="en-US" altLang="zh-CN" sz="1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a:p>
            <a:pPr marL="0" marR="0" lvl="0" indent="0" algn="just"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p>
          <a:p>
            <a:pPr marL="0" marR="0" lvl="0" indent="0" algn="just"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1" lang="en-US" altLang="zh-CN" sz="1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new_p</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[size++] = value;</a:t>
            </a:r>
            <a:endParaRPr kumimoji="1" lang="zh-CN" altLang="en-US"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just"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zh-CN" altLang="en-US"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delete[] p;</a:t>
            </a:r>
          </a:p>
          <a:p>
            <a:pPr marL="0" marR="0" lvl="0" indent="0" algn="just"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p = </a:t>
            </a:r>
            <a:r>
              <a:rPr kumimoji="1" lang="en-US" altLang="zh-CN" sz="1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new_p</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a:p>
            <a:pPr marL="0" marR="0" lvl="0" indent="0" algn="just"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1" lang="en-US" altLang="zh-CN" sz="18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mn-lt"/>
                <a:ea typeface="+mn-ea"/>
                <a:cs typeface="+mn-cs"/>
              </a:rPr>
              <a:t>// dynamically add elements to vector</a:t>
            </a:r>
          </a:p>
          <a:p>
            <a:pPr marL="0" marR="0" lvl="0" indent="0" algn="just"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endParaRPr kumimoji="1" lang="en-US" altLang="zh-CN" sz="18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mn-lt"/>
              <a:ea typeface="+mn-ea"/>
              <a:cs typeface="+mn-cs"/>
            </a:endParaRPr>
          </a:p>
          <a:p>
            <a:pPr marL="0" marR="0" lvl="0" indent="0" algn="just"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template &lt;</a:t>
            </a:r>
            <a:r>
              <a:rPr kumimoji="1" lang="en-US" altLang="zh-CN" sz="1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typename</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T&gt;</a:t>
            </a:r>
            <a:endParaRPr kumimoji="1" lang="en-US" altLang="zh-CN" sz="18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mn-lt"/>
              <a:ea typeface="+mn-ea"/>
              <a:cs typeface="+mn-cs"/>
            </a:endParaRPr>
          </a:p>
          <a:p>
            <a:pPr marL="0" marR="0" lvl="0" indent="0" algn="just"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int Vector&lt;T&gt;::</a:t>
            </a:r>
            <a:r>
              <a:rPr kumimoji="1" lang="en-US" altLang="zh-CN" sz="1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get_size</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const {</a:t>
            </a:r>
          </a:p>
          <a:p>
            <a:pPr marL="0" marR="0" lvl="0" indent="0" algn="just"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return size;</a:t>
            </a:r>
          </a:p>
          <a:p>
            <a:pPr marL="0" marR="0" lvl="0" indent="0" algn="just"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1" lang="en-US" altLang="zh-CN" sz="18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mn-lt"/>
                <a:ea typeface="+mn-ea"/>
                <a:cs typeface="+mn-cs"/>
              </a:rPr>
              <a:t>  // get the current size</a:t>
            </a:r>
            <a:endPar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1"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string</a:t>
            </a:r>
            <a:r>
              <a:rPr kumimoji="1" lang="en-US" altLang="zh-CN" sz="36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 class</a:t>
            </a:r>
          </a:p>
        </p:txBody>
      </p:sp>
      <p:sp>
        <p:nvSpPr>
          <p:cNvPr id="52227" name="Rectangle 3"/>
          <p:cNvSpPr>
            <a:spLocks noGrp="1" noChangeArrowheads="1"/>
          </p:cNvSpPr>
          <p:nvPr>
            <p:ph idx="1"/>
          </p:nvPr>
        </p:nvSpPr>
        <p:spPr>
          <a:xfrm>
            <a:off x="323850" y="1874838"/>
            <a:ext cx="8208963" cy="352901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The </a:t>
            </a:r>
            <a:r>
              <a:rPr kumimoji="1" lang="en-US" altLang="zh-CN" sz="3200" b="0" i="1"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string</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class library</a:t>
            </a:r>
          </a:p>
          <a:p>
            <a:pPr marL="1143000" marR="0" lvl="2" indent="-2286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#include &lt; string &gt;</a:t>
            </a:r>
          </a:p>
          <a:p>
            <a:pPr marL="1143000" marR="0" lvl="2" indent="-2286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string </a:t>
            </a:r>
            <a:r>
              <a:rPr kumimoji="1" lang="en-US" altLang="zh-CN" sz="2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myString</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(“Hello folks!”);  </a:t>
            </a:r>
            <a:r>
              <a:rPr kumimoji="1" lang="en-US" altLang="zh-CN" sz="24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mn-lt"/>
                <a:ea typeface="+mn-ea"/>
                <a:cs typeface="+mn-cs"/>
              </a:rPr>
              <a:t>// initialize strings</a:t>
            </a:r>
          </a:p>
          <a:p>
            <a:pPr marL="1143000" marR="0" lvl="2" indent="-2286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string </a:t>
            </a:r>
            <a:r>
              <a:rPr kumimoji="1" lang="en-US" altLang="zh-CN" sz="2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myOtherString</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1" lang="en-US" altLang="zh-CN" sz="2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myString</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a:p>
            <a:pPr marL="1143000" marR="0" lvl="2" indent="-2286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string </a:t>
            </a:r>
            <a:r>
              <a:rPr kumimoji="1" lang="en-US" altLang="zh-CN" sz="2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myFinalString</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1" lang="en-US" altLang="zh-CN" sz="24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mn-lt"/>
                <a:ea typeface="+mn-ea"/>
                <a:cs typeface="+mn-cs"/>
              </a:rPr>
              <a:t>//empty string </a:t>
            </a:r>
          </a:p>
          <a:p>
            <a:pPr marL="742950" marR="0" lvl="1" indent="-28575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Important ops and member functions:</a:t>
            </a:r>
          </a:p>
          <a:p>
            <a:pPr marL="1143000" marR="0" lvl="2" indent="-2286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 []</a:t>
            </a:r>
          </a:p>
          <a:p>
            <a:pPr marL="1143000" marR="0" lvl="2" indent="-2286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assign(), append(), at()</a:t>
            </a:r>
          </a:p>
          <a:p>
            <a:pPr marL="1143000" marR="0" lvl="2" indent="-2286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empty(), size(), find(), swap()</a:t>
            </a:r>
          </a:p>
          <a:p>
            <a:pPr marL="1143000" marR="0" lvl="2" indent="-2286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c_str</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p:txBody>
      </p:sp>
      <p:sp>
        <p:nvSpPr>
          <p:cNvPr id="87044" name="灯片编号占位符 4"/>
          <p:cNvSpPr txBox="1">
            <a:spLocks noGrp="1"/>
          </p:cNvSpPr>
          <p:nvPr>
            <p:ph type="sldNum" sz="quarter" idx="12"/>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44</a:t>
            </a:fld>
            <a:endParaRPr lang="en-US" altLang="zh-CN" sz="1200" dirty="0">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2227">
                                            <p:txEl>
                                              <p:pRg st="0" end="0"/>
                                            </p:txEl>
                                          </p:spTgt>
                                        </p:tgtEl>
                                        <p:attrNameLst>
                                          <p:attrName>style.visibility</p:attrName>
                                        </p:attrNameLst>
                                      </p:cBhvr>
                                      <p:to>
                                        <p:strVal val="visible"/>
                                      </p:to>
                                    </p:set>
                                    <p:anim calcmode="lin" valueType="num">
                                      <p:cBhvr additive="base">
                                        <p:cTn id="7" dur="500" fill="hold"/>
                                        <p:tgtEl>
                                          <p:spTgt spid="5222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22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2227">
                                            <p:txEl>
                                              <p:pRg st="1" end="1"/>
                                            </p:txEl>
                                          </p:spTgt>
                                        </p:tgtEl>
                                        <p:attrNameLst>
                                          <p:attrName>style.visibility</p:attrName>
                                        </p:attrNameLst>
                                      </p:cBhvr>
                                      <p:to>
                                        <p:strVal val="visible"/>
                                      </p:to>
                                    </p:set>
                                    <p:anim calcmode="lin" valueType="num">
                                      <p:cBhvr additive="base">
                                        <p:cTn id="13" dur="500" fill="hold"/>
                                        <p:tgtEl>
                                          <p:spTgt spid="5222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522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2227">
                                            <p:txEl>
                                              <p:pRg st="2" end="2"/>
                                            </p:txEl>
                                          </p:spTgt>
                                        </p:tgtEl>
                                        <p:attrNameLst>
                                          <p:attrName>style.visibility</p:attrName>
                                        </p:attrNameLst>
                                      </p:cBhvr>
                                      <p:to>
                                        <p:strVal val="visible"/>
                                      </p:to>
                                    </p:set>
                                    <p:anim calcmode="lin" valueType="num">
                                      <p:cBhvr additive="base">
                                        <p:cTn id="19" dur="500" fill="hold"/>
                                        <p:tgtEl>
                                          <p:spTgt spid="5222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5222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52227">
                                            <p:txEl>
                                              <p:pRg st="3" end="3"/>
                                            </p:txEl>
                                          </p:spTgt>
                                        </p:tgtEl>
                                        <p:attrNameLst>
                                          <p:attrName>style.visibility</p:attrName>
                                        </p:attrNameLst>
                                      </p:cBhvr>
                                      <p:to>
                                        <p:strVal val="visible"/>
                                      </p:to>
                                    </p:set>
                                    <p:anim calcmode="lin" valueType="num">
                                      <p:cBhvr additive="base">
                                        <p:cTn id="25" dur="500" fill="hold"/>
                                        <p:tgtEl>
                                          <p:spTgt spid="52227">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5222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52227">
                                            <p:txEl>
                                              <p:pRg st="4" end="4"/>
                                            </p:txEl>
                                          </p:spTgt>
                                        </p:tgtEl>
                                        <p:attrNameLst>
                                          <p:attrName>style.visibility</p:attrName>
                                        </p:attrNameLst>
                                      </p:cBhvr>
                                      <p:to>
                                        <p:strVal val="visible"/>
                                      </p:to>
                                    </p:set>
                                    <p:anim calcmode="lin" valueType="num">
                                      <p:cBhvr additive="base">
                                        <p:cTn id="31" dur="500" fill="hold"/>
                                        <p:tgtEl>
                                          <p:spTgt spid="52227">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5222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52227">
                                            <p:txEl>
                                              <p:pRg st="5" end="5"/>
                                            </p:txEl>
                                          </p:spTgt>
                                        </p:tgtEl>
                                        <p:attrNameLst>
                                          <p:attrName>style.visibility</p:attrName>
                                        </p:attrNameLst>
                                      </p:cBhvr>
                                      <p:to>
                                        <p:strVal val="visible"/>
                                      </p:to>
                                    </p:set>
                                    <p:anim calcmode="lin" valueType="num">
                                      <p:cBhvr additive="base">
                                        <p:cTn id="37" dur="500" fill="hold"/>
                                        <p:tgtEl>
                                          <p:spTgt spid="52227">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5222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52227">
                                            <p:txEl>
                                              <p:pRg st="6" end="6"/>
                                            </p:txEl>
                                          </p:spTgt>
                                        </p:tgtEl>
                                        <p:attrNameLst>
                                          <p:attrName>style.visibility</p:attrName>
                                        </p:attrNameLst>
                                      </p:cBhvr>
                                      <p:to>
                                        <p:strVal val="visible"/>
                                      </p:to>
                                    </p:set>
                                    <p:anim calcmode="lin" valueType="num">
                                      <p:cBhvr additive="base">
                                        <p:cTn id="43" dur="500" fill="hold"/>
                                        <p:tgtEl>
                                          <p:spTgt spid="52227">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5222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52227">
                                            <p:txEl>
                                              <p:pRg st="7" end="7"/>
                                            </p:txEl>
                                          </p:spTgt>
                                        </p:tgtEl>
                                        <p:attrNameLst>
                                          <p:attrName>style.visibility</p:attrName>
                                        </p:attrNameLst>
                                      </p:cBhvr>
                                      <p:to>
                                        <p:strVal val="visible"/>
                                      </p:to>
                                    </p:set>
                                    <p:anim calcmode="lin" valueType="num">
                                      <p:cBhvr additive="base">
                                        <p:cTn id="49" dur="500" fill="hold"/>
                                        <p:tgtEl>
                                          <p:spTgt spid="52227">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52227">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52227">
                                            <p:txEl>
                                              <p:pRg st="8" end="8"/>
                                            </p:txEl>
                                          </p:spTgt>
                                        </p:tgtEl>
                                        <p:attrNameLst>
                                          <p:attrName>style.visibility</p:attrName>
                                        </p:attrNameLst>
                                      </p:cBhvr>
                                      <p:to>
                                        <p:strVal val="visible"/>
                                      </p:to>
                                    </p:set>
                                    <p:anim calcmode="lin" valueType="num">
                                      <p:cBhvr additive="base">
                                        <p:cTn id="55" dur="500" fill="hold"/>
                                        <p:tgtEl>
                                          <p:spTgt spid="52227">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52227">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52227">
                                            <p:txEl>
                                              <p:pRg st="9" end="9"/>
                                            </p:txEl>
                                          </p:spTgt>
                                        </p:tgtEl>
                                        <p:attrNameLst>
                                          <p:attrName>style.visibility</p:attrName>
                                        </p:attrNameLst>
                                      </p:cBhvr>
                                      <p:to>
                                        <p:strVal val="visible"/>
                                      </p:to>
                                    </p:set>
                                    <p:anim calcmode="lin" valueType="num">
                                      <p:cBhvr additive="base">
                                        <p:cTn id="61" dur="500" fill="hold"/>
                                        <p:tgtEl>
                                          <p:spTgt spid="52227">
                                            <p:txEl>
                                              <p:pRg st="9" end="9"/>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52227">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build="p" bldLvl="3"/>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Arial" panose="020B0604020202020204" pitchFamily="34" charset="0"/>
                <a:ea typeface="+mj-ea"/>
                <a:cs typeface="Arial" panose="020B0604020202020204" pitchFamily="34" charset="0"/>
              </a:rPr>
              <a:t>Input and Output (IO)</a:t>
            </a:r>
            <a:endParaRPr kumimoji="1" lang="zh-CN" altLang="en-US" sz="40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Arial" panose="020B0604020202020204" pitchFamily="34" charset="0"/>
              <a:ea typeface="+mj-ea"/>
              <a:cs typeface="Arial" panose="020B0604020202020204" pitchFamily="34" charset="0"/>
            </a:endParaRPr>
          </a:p>
        </p:txBody>
      </p:sp>
      <p:sp>
        <p:nvSpPr>
          <p:cNvPr id="3" name="内容占位符 2"/>
          <p:cNvSpPr>
            <a:spLocks noGrp="1"/>
          </p:cNvSpPr>
          <p:nvPr>
            <p:ph idx="1"/>
          </p:nvPr>
        </p:nvSpPr>
        <p:spPr>
          <a:xfrm>
            <a:off x="742950" y="1981200"/>
            <a:ext cx="7510463" cy="46482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C’s printing facility is clever but unsafe</a:t>
            </a:r>
          </a:p>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Lucida Console" panose="020B0609040504020204" pitchFamily="49" charset="0"/>
                <a:ea typeface="+mn-ea"/>
                <a:cs typeface="+mn-cs"/>
              </a:rPr>
              <a:t>     char *s; int d; double g;</a:t>
            </a:r>
          </a:p>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Lucida Console" panose="020B0609040504020204" pitchFamily="49" charset="0"/>
                <a:ea typeface="+mn-ea"/>
                <a:cs typeface="+mn-cs"/>
              </a:rPr>
              <a:t>     </a:t>
            </a:r>
            <a:r>
              <a:rPr kumimoji="1" lang="en-US" altLang="zh-CN" sz="1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Lucida Console" panose="020B0609040504020204" pitchFamily="49" charset="0"/>
                <a:ea typeface="+mn-ea"/>
                <a:cs typeface="+mn-cs"/>
              </a:rPr>
              <a:t>printf</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Lucida Console" panose="020B0609040504020204" pitchFamily="49" charset="0"/>
                <a:ea typeface="+mn-ea"/>
                <a:cs typeface="+mn-cs"/>
              </a:rPr>
              <a:t>(“%s %d %g”, s, d, g);</a:t>
            </a:r>
          </a:p>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Hard for compiler to type check argument types against format string</a:t>
            </a:r>
          </a:p>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endPar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C++ IO overloads the </a:t>
            </a:r>
            <a:r>
              <a:rPr kumimoji="1" lang="en-US" altLang="zh-CN" sz="2800" b="0" i="0" u="none" strike="noStrike" kern="1200" cap="none" spc="0" normalizeH="0" baseline="0" noProof="0" dirty="0">
                <a:ln>
                  <a:noFill/>
                </a:ln>
                <a:solidFill>
                  <a:srgbClr val="C00000"/>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&lt;&lt;</a:t>
            </a: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 and </a:t>
            </a:r>
            <a:r>
              <a:rPr kumimoji="1" lang="en-US" altLang="zh-CN" sz="2800" b="0" i="0" u="none" strike="noStrike" kern="1200" cap="none" spc="0" normalizeH="0" baseline="0" noProof="0" dirty="0">
                <a:ln>
                  <a:noFill/>
                </a:ln>
                <a:solidFill>
                  <a:srgbClr val="C00000"/>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&gt;&gt;</a:t>
            </a: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 operators</a:t>
            </a:r>
          </a:p>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Lucida Console" panose="020B0609040504020204" pitchFamily="49" charset="0"/>
                <a:ea typeface="+mn-ea"/>
                <a:cs typeface="+mn-cs"/>
              </a:rPr>
              <a:t>     </a:t>
            </a:r>
            <a:r>
              <a:rPr kumimoji="1" lang="en-US" altLang="zh-CN" sz="1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Lucida Console" panose="020B0609040504020204" pitchFamily="49" charset="0"/>
                <a:ea typeface="+mn-ea"/>
                <a:cs typeface="+mn-cs"/>
              </a:rPr>
              <a:t>cout</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Lucida Console" panose="020B0609040504020204" pitchFamily="49" charset="0"/>
                <a:ea typeface="+mn-ea"/>
                <a:cs typeface="+mn-cs"/>
              </a:rPr>
              <a:t> &lt;&lt; s &lt;&lt; ‘ ‘ &lt;&lt; d &lt;&lt; ‘ ‘ &lt;&lt; g;</a:t>
            </a:r>
          </a:p>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Type safe</a:t>
            </a:r>
          </a:p>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endPar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endParaRPr>
          </a:p>
        </p:txBody>
      </p:sp>
      <p:sp>
        <p:nvSpPr>
          <p:cNvPr id="89092" name="灯片编号占位符 5"/>
          <p:cNvSpPr txBox="1">
            <a:spLocks noGrp="1"/>
          </p:cNvSpPr>
          <p:nvPr>
            <p:ph type="sldNum" sz="quarter" idx="12"/>
          </p:nvPr>
        </p:nvSpPr>
        <p:spPr>
          <a:ln/>
        </p:spPr>
        <p:txBody>
          <a:bodyPr/>
          <a:lstStyle/>
          <a:p>
            <a:pPr marL="0" indent="0" algn="r" eaLnBrk="1" hangingPunct="1">
              <a:spcBef>
                <a:spcPct val="50000"/>
              </a:spcBef>
              <a:buClrTx/>
              <a:buSzTx/>
              <a:buFontTx/>
              <a:buNone/>
            </a:pPr>
            <a:fld id="{9A0DB2DC-4C9A-4742-B13C-FB6460FD3503}" type="slidenum">
              <a:rPr lang="zh-CN" altLang="en-US" sz="1400" dirty="0">
                <a:solidFill>
                  <a:srgbClr val="000000"/>
                </a:solidFill>
                <a:effectLst/>
                <a:latin typeface="Times New Roman" panose="02020603050405020304" pitchFamily="18" charset="0"/>
              </a:rPr>
              <a:t>45</a:t>
            </a:fld>
            <a:endParaRPr lang="zh-CN" altLang="en-US" sz="1400" dirty="0">
              <a:solidFill>
                <a:srgbClr val="000000"/>
              </a:solidFill>
              <a:effectLst/>
              <a:latin typeface="Times New Roman" panose="02020603050405020304" pitchFamily="18" charset="0"/>
            </a:endParaRPr>
          </a:p>
        </p:txBody>
      </p:sp>
      <p:sp>
        <p:nvSpPr>
          <p:cNvPr id="9" name="圆角矩形 8"/>
          <p:cNvSpPr/>
          <p:nvPr/>
        </p:nvSpPr>
        <p:spPr bwMode="auto">
          <a:xfrm>
            <a:off x="385872" y="1818202"/>
            <a:ext cx="8224622" cy="4876620"/>
          </a:xfrm>
          <a:prstGeom prst="roundRect">
            <a:avLst/>
          </a:prstGeom>
          <a:noFill/>
          <a:ln w="9525" cap="flat" cmpd="sng" algn="ctr">
            <a:solidFill>
              <a:schemeClr val="tx1"/>
            </a:solidFill>
            <a:prstDash val="solid"/>
            <a:round/>
            <a:headEnd type="none" w="med" len="med"/>
            <a:tailEnd type="none" w="med" len="med"/>
          </a:ln>
          <a:effectLst>
            <a:glow rad="63500">
              <a:schemeClr val="accent3">
                <a:satMod val="175000"/>
                <a:alpha val="40000"/>
              </a:schemeClr>
            </a:glow>
            <a:outerShdw blurRad="368300" dist="50800" dir="5400000" algn="ctr" rotWithShape="0">
              <a:srgbClr val="000000">
                <a:alpha val="43137"/>
              </a:srgbClr>
            </a:outerShdw>
            <a:reflection endPos="0" dir="5400000" sy="-100000" algn="bl" rotWithShape="0"/>
          </a:effectLst>
          <a:scene3d>
            <a:camera prst="orthographicFront"/>
            <a:lightRig rig="threePt" dir="t"/>
          </a:scene3d>
          <a:sp3d>
            <a:bevelT/>
          </a:sp3d>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89094" name="灯片编号占位符 4"/>
          <p:cNvSpPr txBox="1"/>
          <p:nvPr/>
        </p:nvSpPr>
        <p:spPr>
          <a:xfrm>
            <a:off x="7885113" y="6442075"/>
            <a:ext cx="1008062" cy="215900"/>
          </a:xfrm>
          <a:prstGeom prst="rect">
            <a:avLst/>
          </a:prstGeom>
          <a:noFill/>
          <a:ln w="9525">
            <a:noFill/>
          </a:ln>
        </p:spPr>
        <p:txBody>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latin typeface="+mn-lt"/>
                <a:ea typeface="+mn-ea"/>
                <a:cs typeface="+mn-cs"/>
              </a:defRPr>
            </a:lvl5pPr>
          </a:lstStyle>
          <a:p>
            <a:pPr marL="0" lvl="0" indent="0" algn="r">
              <a:buClrTx/>
              <a:buSzTx/>
              <a:buFontTx/>
              <a:buNone/>
            </a:pPr>
            <a:fld id="{9A0DB2DC-4C9A-4742-B13C-FB6460FD3503}" type="slidenum">
              <a:rPr lang="en-US" altLang="zh-CN" sz="1200" dirty="0">
                <a:latin typeface="微软雅黑" panose="020B0503020204020204" pitchFamily="34" charset="-122"/>
                <a:ea typeface="微软雅黑" panose="020B0503020204020204" pitchFamily="34" charset="-122"/>
              </a:rPr>
              <a:t>45</a:t>
            </a:fld>
            <a:endParaRPr lang="en-US" altLang="zh-CN" sz="1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C++</a:t>
            </a:r>
            <a:r>
              <a:rPr kumimoji="1" lang="zh-CN" altLang="en-US" sz="40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 </a:t>
            </a:r>
            <a:r>
              <a:rPr kumimoji="1" lang="en-US" altLang="zh-CN" sz="40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Arial" panose="020B0604020202020204" pitchFamily="34" charset="0"/>
                <a:ea typeface="Arial" panose="020B0604020202020204" pitchFamily="34" charset="0"/>
                <a:cs typeface="Arial" panose="020B0604020202020204" pitchFamily="34" charset="0"/>
              </a:rPr>
              <a:t>IO</a:t>
            </a:r>
          </a:p>
        </p:txBody>
      </p:sp>
      <p:sp>
        <p:nvSpPr>
          <p:cNvPr id="55299" name="Rectangle 3"/>
          <p:cNvSpPr>
            <a:spLocks noGrp="1" noChangeArrowheads="1"/>
          </p:cNvSpPr>
          <p:nvPr>
            <p:ph idx="1"/>
          </p:nvPr>
        </p:nvSpPr>
        <p:spPr>
          <a:xfrm>
            <a:off x="395288" y="1773238"/>
            <a:ext cx="8534400" cy="49530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Stream: sequence of bytes</a:t>
            </a:r>
          </a:p>
          <a:p>
            <a:pPr marL="742950" marR="0" lvl="1" indent="-28575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Input: from device (keyboard, disk drive) to memory</a:t>
            </a:r>
          </a:p>
          <a:p>
            <a:pPr marL="742950" marR="0" lvl="1" indent="-28575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Output: from memory to device (monitor, printer, etc.)</a:t>
            </a:r>
          </a:p>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800" b="1" i="1"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iostream</a:t>
            </a: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 library</a:t>
            </a:r>
          </a:p>
          <a:p>
            <a:pPr marL="742950" marR="0" lvl="1" indent="-28575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Has header files with hundreds of I/O capabilities</a:t>
            </a:r>
          </a:p>
          <a:p>
            <a:pPr marL="742950" marR="0" lvl="1" indent="-28575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Char char="n"/>
              <a:defRPr/>
            </a:pPr>
            <a:r>
              <a:rPr kumimoji="1" lang="en-US" altLang="zh-CN" sz="2400" b="1" i="1"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#include&lt;iostream&gt;</a:t>
            </a:r>
          </a:p>
          <a:p>
            <a:pPr marL="1143000" marR="0" lvl="2" indent="-228600" algn="l" defTabSz="914400" rtl="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Standard input (</a:t>
            </a:r>
            <a:r>
              <a:rPr kumimoji="1" lang="en-US" altLang="zh-CN" sz="2000" b="1" i="1" u="none" strike="noStrike" kern="1200" cap="none" spc="0" normalizeH="0" baseline="0" noProof="0" dirty="0" err="1">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cin</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a:t>
            </a:r>
          </a:p>
          <a:p>
            <a:pPr marL="1143000" marR="0" lvl="2" indent="-228600" algn="l" defTabSz="914400" rtl="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Standard output (</a:t>
            </a:r>
            <a:r>
              <a:rPr kumimoji="1" lang="en-US" altLang="zh-CN" sz="2000" b="1" i="1" u="none" strike="noStrike" kern="1200" cap="none" spc="0" normalizeH="0" baseline="0" noProof="0" dirty="0" err="1">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cout</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a:t>
            </a:r>
          </a:p>
          <a:p>
            <a:pPr marL="1143000" marR="0" lvl="2" indent="-228600" algn="l" defTabSz="914400" rtl="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Unbuffered error (</a:t>
            </a:r>
            <a:r>
              <a:rPr kumimoji="1" lang="en-US" altLang="zh-CN" sz="2000" b="1" i="1" u="none" strike="noStrike" kern="1200" cap="none" spc="0" normalizeH="0" baseline="0" noProof="0" dirty="0" err="1">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cerr</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rPr>
              <a:t>)</a:t>
            </a:r>
          </a:p>
          <a:p>
            <a:pPr marL="342900" marR="0" lvl="0" indent="-342900" algn="l" defTabSz="914400" rtl="0" eaLnBrk="0" fontAlgn="base" latinLnBrk="0" hangingPunct="0">
              <a:lnSpc>
                <a:spcPct val="100000"/>
              </a:lnSpc>
              <a:spcBef>
                <a:spcPct val="20000"/>
              </a:spcBef>
              <a:spcAft>
                <a:spcPct val="0"/>
              </a:spcAft>
              <a:buClr>
                <a:schemeClr val="accent1"/>
              </a:buClr>
              <a:buSzPct val="80000"/>
              <a:buFont typeface="Wingdings" panose="05000000000000000000" pitchFamily="2" charset="2"/>
              <a:buNone/>
              <a:defRPr/>
            </a:pPr>
            <a:endPar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mn-ea"/>
              <a:cs typeface="Arial" panose="020B0604020202020204" pitchFamily="34" charset="0"/>
            </a:endParaRPr>
          </a:p>
        </p:txBody>
      </p:sp>
      <p:sp>
        <p:nvSpPr>
          <p:cNvPr id="91140" name="灯片编号占位符 4"/>
          <p:cNvSpPr txBox="1"/>
          <p:nvPr/>
        </p:nvSpPr>
        <p:spPr>
          <a:xfrm>
            <a:off x="7885113" y="6442075"/>
            <a:ext cx="1008062" cy="215900"/>
          </a:xfrm>
          <a:prstGeom prst="rect">
            <a:avLst/>
          </a:prstGeom>
          <a:noFill/>
          <a:ln w="9525">
            <a:noFill/>
          </a:ln>
        </p:spPr>
        <p:txBody>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latin typeface="+mn-lt"/>
                <a:ea typeface="+mn-ea"/>
                <a:cs typeface="+mn-cs"/>
              </a:defRPr>
            </a:lvl5pPr>
          </a:lstStyle>
          <a:p>
            <a:pPr marL="0" lvl="0" indent="0" algn="r">
              <a:buClrTx/>
              <a:buSzTx/>
              <a:buFontTx/>
              <a:buNone/>
            </a:pPr>
            <a:fld id="{9A0DB2DC-4C9A-4742-B13C-FB6460FD3503}" type="slidenum">
              <a:rPr lang="en-US" altLang="zh-CN" sz="1200" dirty="0">
                <a:latin typeface="微软雅黑" panose="020B0503020204020204" pitchFamily="34" charset="-122"/>
                <a:ea typeface="微软雅黑" panose="020B0503020204020204" pitchFamily="34" charset="-122"/>
              </a:rPr>
              <a:t>46</a:t>
            </a:fld>
            <a:endParaRPr lang="en-US" altLang="zh-CN" sz="12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anim calcmode="lin" valueType="num">
                                      <p:cBhvr additive="base">
                                        <p:cTn id="7" dur="500" fill="hold"/>
                                        <p:tgtEl>
                                          <p:spTgt spid="5529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5299">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55299">
                                            <p:txEl>
                                              <p:pRg st="1" end="1"/>
                                            </p:txEl>
                                          </p:spTgt>
                                        </p:tgtEl>
                                        <p:attrNameLst>
                                          <p:attrName>style.visibility</p:attrName>
                                        </p:attrNameLst>
                                      </p:cBhvr>
                                      <p:to>
                                        <p:strVal val="visible"/>
                                      </p:to>
                                    </p:set>
                                    <p:anim calcmode="lin" valueType="num">
                                      <p:cBhvr additive="base">
                                        <p:cTn id="11" dur="500" fill="hold"/>
                                        <p:tgtEl>
                                          <p:spTgt spid="55299">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55299">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55299">
                                            <p:txEl>
                                              <p:pRg st="2" end="2"/>
                                            </p:txEl>
                                          </p:spTgt>
                                        </p:tgtEl>
                                        <p:attrNameLst>
                                          <p:attrName>style.visibility</p:attrName>
                                        </p:attrNameLst>
                                      </p:cBhvr>
                                      <p:to>
                                        <p:strVal val="visible"/>
                                      </p:to>
                                    </p:set>
                                    <p:anim calcmode="lin" valueType="num">
                                      <p:cBhvr additive="base">
                                        <p:cTn id="15" dur="500" fill="hold"/>
                                        <p:tgtEl>
                                          <p:spTgt spid="55299">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5529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55299">
                                            <p:txEl>
                                              <p:pRg st="3" end="3"/>
                                            </p:txEl>
                                          </p:spTgt>
                                        </p:tgtEl>
                                        <p:attrNameLst>
                                          <p:attrName>style.visibility</p:attrName>
                                        </p:attrNameLst>
                                      </p:cBhvr>
                                      <p:to>
                                        <p:strVal val="visible"/>
                                      </p:to>
                                    </p:set>
                                    <p:anim calcmode="lin" valueType="num">
                                      <p:cBhvr additive="base">
                                        <p:cTn id="21" dur="500" fill="hold"/>
                                        <p:tgtEl>
                                          <p:spTgt spid="55299">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55299">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55299">
                                            <p:txEl>
                                              <p:pRg st="4" end="4"/>
                                            </p:txEl>
                                          </p:spTgt>
                                        </p:tgtEl>
                                        <p:attrNameLst>
                                          <p:attrName>style.visibility</p:attrName>
                                        </p:attrNameLst>
                                      </p:cBhvr>
                                      <p:to>
                                        <p:strVal val="visible"/>
                                      </p:to>
                                    </p:set>
                                    <p:anim calcmode="lin" valueType="num">
                                      <p:cBhvr additive="base">
                                        <p:cTn id="25" dur="500" fill="hold"/>
                                        <p:tgtEl>
                                          <p:spTgt spid="55299">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55299">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55299">
                                            <p:txEl>
                                              <p:pRg st="5" end="5"/>
                                            </p:txEl>
                                          </p:spTgt>
                                        </p:tgtEl>
                                        <p:attrNameLst>
                                          <p:attrName>style.visibility</p:attrName>
                                        </p:attrNameLst>
                                      </p:cBhvr>
                                      <p:to>
                                        <p:strVal val="visible"/>
                                      </p:to>
                                    </p:set>
                                    <p:anim calcmode="lin" valueType="num">
                                      <p:cBhvr additive="base">
                                        <p:cTn id="29" dur="500" fill="hold"/>
                                        <p:tgtEl>
                                          <p:spTgt spid="55299">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55299">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55299">
                                            <p:txEl>
                                              <p:pRg st="6" end="6"/>
                                            </p:txEl>
                                          </p:spTgt>
                                        </p:tgtEl>
                                        <p:attrNameLst>
                                          <p:attrName>style.visibility</p:attrName>
                                        </p:attrNameLst>
                                      </p:cBhvr>
                                      <p:to>
                                        <p:strVal val="visible"/>
                                      </p:to>
                                    </p:set>
                                    <p:anim calcmode="lin" valueType="num">
                                      <p:cBhvr additive="base">
                                        <p:cTn id="33" dur="500" fill="hold"/>
                                        <p:tgtEl>
                                          <p:spTgt spid="55299">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55299">
                                            <p:txEl>
                                              <p:pRg st="6" end="6"/>
                                            </p:txEl>
                                          </p:spTgt>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55299">
                                            <p:txEl>
                                              <p:pRg st="7" end="7"/>
                                            </p:txEl>
                                          </p:spTgt>
                                        </p:tgtEl>
                                        <p:attrNameLst>
                                          <p:attrName>style.visibility</p:attrName>
                                        </p:attrNameLst>
                                      </p:cBhvr>
                                      <p:to>
                                        <p:strVal val="visible"/>
                                      </p:to>
                                    </p:set>
                                    <p:anim calcmode="lin" valueType="num">
                                      <p:cBhvr additive="base">
                                        <p:cTn id="37" dur="500" fill="hold"/>
                                        <p:tgtEl>
                                          <p:spTgt spid="55299">
                                            <p:txEl>
                                              <p:pRg st="7" end="7"/>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55299">
                                            <p:txEl>
                                              <p:pRg st="7" end="7"/>
                                            </p:txEl>
                                          </p:spTgt>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55299">
                                            <p:txEl>
                                              <p:pRg st="8" end="8"/>
                                            </p:txEl>
                                          </p:spTgt>
                                        </p:tgtEl>
                                        <p:attrNameLst>
                                          <p:attrName>style.visibility</p:attrName>
                                        </p:attrNameLst>
                                      </p:cBhvr>
                                      <p:to>
                                        <p:strVal val="visible"/>
                                      </p:to>
                                    </p:set>
                                    <p:anim calcmode="lin" valueType="num">
                                      <p:cBhvr additive="base">
                                        <p:cTn id="41" dur="500" fill="hold"/>
                                        <p:tgtEl>
                                          <p:spTgt spid="55299">
                                            <p:txEl>
                                              <p:pRg st="8" end="8"/>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55299">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0" i="0" u="none" strike="noStrike" kern="120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Streaming File</a:t>
            </a:r>
            <a:endParaRPr kumimoji="1" lang="en-US" altLang="zh-CN" sz="4000" b="0" i="0" u="none" strike="noStrike" kern="1200" cap="none" spc="0" normalizeH="0" baseline="0" noProof="0">
              <a:ln>
                <a:noFill/>
              </a:ln>
              <a:solidFill>
                <a:schemeClr val="tx2"/>
              </a:solidFill>
              <a:effectLst>
                <a:outerShdw blurRad="38100" dist="38100" dir="2700000" algn="tl">
                  <a:srgbClr val="000000"/>
                </a:outerShdw>
              </a:effectLst>
              <a:uLnTx/>
              <a:uFillTx/>
              <a:latin typeface="Arial" panose="020B0604020202020204" pitchFamily="34" charset="0"/>
              <a:ea typeface="+mj-ea"/>
              <a:cs typeface="Arial" panose="020B0604020202020204" pitchFamily="34" charset="0"/>
            </a:endParaRPr>
          </a:p>
        </p:txBody>
      </p:sp>
      <p:sp>
        <p:nvSpPr>
          <p:cNvPr id="93187" name="灯片编号占位符 4"/>
          <p:cNvSpPr txBox="1"/>
          <p:nvPr/>
        </p:nvSpPr>
        <p:spPr>
          <a:xfrm>
            <a:off x="7885113" y="6442075"/>
            <a:ext cx="1008062" cy="215900"/>
          </a:xfrm>
          <a:prstGeom prst="rect">
            <a:avLst/>
          </a:prstGeom>
          <a:noFill/>
          <a:ln w="9525">
            <a:noFill/>
          </a:ln>
        </p:spPr>
        <p:txBody>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latin typeface="+mn-lt"/>
                <a:ea typeface="+mn-ea"/>
                <a:cs typeface="+mn-cs"/>
              </a:defRPr>
            </a:lvl5pPr>
          </a:lstStyle>
          <a:p>
            <a:pPr marL="0" lvl="0" indent="0" algn="r">
              <a:buClrTx/>
              <a:buSzTx/>
              <a:buFontTx/>
              <a:buNone/>
            </a:pPr>
            <a:fld id="{9A0DB2DC-4C9A-4742-B13C-FB6460FD3503}" type="slidenum">
              <a:rPr lang="en-US" altLang="zh-CN" sz="1200" dirty="0">
                <a:latin typeface="微软雅黑" panose="020B0503020204020204" pitchFamily="34" charset="-122"/>
                <a:ea typeface="微软雅黑" panose="020B0503020204020204" pitchFamily="34" charset="-122"/>
              </a:rPr>
              <a:t>47</a:t>
            </a:fld>
            <a:endParaRPr lang="en-US" altLang="zh-CN" sz="1200" dirty="0">
              <a:latin typeface="微软雅黑" panose="020B0503020204020204" pitchFamily="34" charset="-122"/>
              <a:ea typeface="微软雅黑" panose="020B0503020204020204" pitchFamily="34" charset="-122"/>
            </a:endParaRPr>
          </a:p>
        </p:txBody>
      </p:sp>
      <p:sp>
        <p:nvSpPr>
          <p:cNvPr id="8" name="Rectangle 3"/>
          <p:cNvSpPr txBox="1">
            <a:spLocks noChangeArrowheads="1"/>
          </p:cNvSpPr>
          <p:nvPr/>
        </p:nvSpPr>
        <p:spPr bwMode="auto">
          <a:xfrm>
            <a:off x="504825" y="1989138"/>
            <a:ext cx="8134350" cy="4343400"/>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outerShdw blurRad="38100" dist="38100" dir="2700000" algn="tl">
                    <a:srgbClr val="000000"/>
                  </a:outerShdw>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outerShdw blurRad="38100" dist="38100" dir="2700000" algn="tl">
                    <a:srgbClr val="000000"/>
                  </a:outerShdw>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outerShdw blurRad="38100" dist="38100" dir="2700000" algn="tl">
                    <a:srgbClr val="000000"/>
                  </a:outerShdw>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outerShdw blurRad="38100" dist="38100" dir="2700000" algn="tl">
                    <a:srgbClr val="00000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Output</a:t>
            </a:r>
          </a:p>
          <a:p>
            <a:pPr marL="1143000" marR="0" lvl="2" indent="-2286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#include &lt;</a:t>
            </a:r>
            <a:r>
              <a:rPr kumimoji="1" lang="en-US" altLang="zh-CN" sz="20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fstream</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&gt;</a:t>
            </a:r>
          </a:p>
          <a:p>
            <a:pPr marL="1143000" marR="0" lvl="2" indent="-2286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0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ofstream</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1" lang="en-US" altLang="zh-CN" sz="20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OutFile</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20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out.txt</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 Output file</a:t>
            </a:r>
          </a:p>
          <a:p>
            <a:pPr marL="1143000" marR="0" lvl="2" indent="-2286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0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ofstream</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1" lang="en-US" altLang="zh-CN" sz="20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OutFile</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20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out.txt</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1" lang="en-US" altLang="zh-CN" sz="20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ios_base</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::app); -- (append mode)</a:t>
            </a:r>
          </a:p>
          <a:p>
            <a:pPr marL="742950" marR="0" lvl="1" indent="-28575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Usage</a:t>
            </a:r>
          </a:p>
          <a:p>
            <a:pPr marL="1143000" marR="0" lvl="2" indent="-2286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0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OutFile</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&lt;&lt; data;</a:t>
            </a:r>
          </a:p>
          <a:p>
            <a:pPr marL="1143000" marR="0" lvl="2" indent="-2286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On Failure, object will be evaluated as false</a:t>
            </a:r>
          </a:p>
          <a:p>
            <a:pPr marL="1600200" marR="0" lvl="3" indent="-228600" algn="l" defTabSz="914400" rtl="0" eaLnBrk="1" fontAlgn="base" latinLnBrk="0" hangingPunct="1">
              <a:lnSpc>
                <a:spcPct val="100000"/>
              </a:lnSpc>
              <a:spcBef>
                <a:spcPct val="20000"/>
              </a:spcBef>
              <a:spcAft>
                <a:spcPct val="0"/>
              </a:spcAft>
              <a:buClrTx/>
              <a:buSzTx/>
              <a:buFontTx/>
              <a:buChar char="–"/>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if (! </a:t>
            </a:r>
            <a:r>
              <a:rPr kumimoji="1" lang="en-US" altLang="zh-CN" sz="1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OutFile</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 </a:t>
            </a:r>
            <a:r>
              <a:rPr kumimoji="1" lang="en-US" altLang="zh-CN" sz="1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cout</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&lt;&lt; </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Open Failed!</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&lt;&lt; </a:t>
            </a:r>
            <a:r>
              <a:rPr kumimoji="1" lang="en-US" altLang="zh-CN" sz="1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endl</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anim calcmode="lin" valueType="num">
                                      <p:cBhvr additive="base">
                                        <p:cTn id="25" dur="500" fill="hold"/>
                                        <p:tgtEl>
                                          <p:spTgt spid="8">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8">
                                            <p:txEl>
                                              <p:pRg st="4" end="4"/>
                                            </p:txEl>
                                          </p:spTgt>
                                        </p:tgtEl>
                                        <p:attrNameLst>
                                          <p:attrName>style.visibility</p:attrName>
                                        </p:attrNameLst>
                                      </p:cBhvr>
                                      <p:to>
                                        <p:strVal val="visible"/>
                                      </p:to>
                                    </p:set>
                                    <p:anim calcmode="lin" valueType="num">
                                      <p:cBhvr additive="base">
                                        <p:cTn id="31" dur="500" fill="hold"/>
                                        <p:tgtEl>
                                          <p:spTgt spid="8">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8">
                                            <p:txEl>
                                              <p:pRg st="5" end="5"/>
                                            </p:txEl>
                                          </p:spTgt>
                                        </p:tgtEl>
                                        <p:attrNameLst>
                                          <p:attrName>style.visibility</p:attrName>
                                        </p:attrNameLst>
                                      </p:cBhvr>
                                      <p:to>
                                        <p:strVal val="visible"/>
                                      </p:to>
                                    </p:set>
                                    <p:anim calcmode="lin" valueType="num">
                                      <p:cBhvr additive="base">
                                        <p:cTn id="37" dur="500" fill="hold"/>
                                        <p:tgtEl>
                                          <p:spTgt spid="8">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8">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8">
                                            <p:txEl>
                                              <p:pRg st="6" end="6"/>
                                            </p:txEl>
                                          </p:spTgt>
                                        </p:tgtEl>
                                        <p:attrNameLst>
                                          <p:attrName>style.visibility</p:attrName>
                                        </p:attrNameLst>
                                      </p:cBhvr>
                                      <p:to>
                                        <p:strVal val="visible"/>
                                      </p:to>
                                    </p:set>
                                    <p:anim calcmode="lin" valueType="num">
                                      <p:cBhvr additive="base">
                                        <p:cTn id="43" dur="500" fill="hold"/>
                                        <p:tgtEl>
                                          <p:spTgt spid="8">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8">
                                            <p:txEl>
                                              <p:pRg st="6" end="6"/>
                                            </p:txEl>
                                          </p:spTgt>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p:stCondLst>
                                    <p:cond delay="0"/>
                                  </p:stCondLst>
                                  <p:childTnLst>
                                    <p:set>
                                      <p:cBhvr>
                                        <p:cTn id="46" dur="1" fill="hold">
                                          <p:stCondLst>
                                            <p:cond delay="0"/>
                                          </p:stCondLst>
                                        </p:cTn>
                                        <p:tgtEl>
                                          <p:spTgt spid="8">
                                            <p:txEl>
                                              <p:pRg st="7" end="7"/>
                                            </p:txEl>
                                          </p:spTgt>
                                        </p:tgtEl>
                                        <p:attrNameLst>
                                          <p:attrName>style.visibility</p:attrName>
                                        </p:attrNameLst>
                                      </p:cBhvr>
                                      <p:to>
                                        <p:strVal val="visible"/>
                                      </p:to>
                                    </p:set>
                                    <p:anim calcmode="lin" valueType="num">
                                      <p:cBhvr additive="base">
                                        <p:cTn id="47" dur="500" fill="hold"/>
                                        <p:tgtEl>
                                          <p:spTgt spid="8">
                                            <p:txEl>
                                              <p:pRg st="7" end="7"/>
                                            </p:txEl>
                                          </p:spTgt>
                                        </p:tgtEl>
                                        <p:attrNameLst>
                                          <p:attrName>ppt_x</p:attrName>
                                        </p:attrNameLst>
                                      </p:cBhvr>
                                      <p:tavLst>
                                        <p:tav tm="0">
                                          <p:val>
                                            <p:strVal val="1+#ppt_w/2"/>
                                          </p:val>
                                        </p:tav>
                                        <p:tav tm="100000">
                                          <p:val>
                                            <p:strVal val="#ppt_x"/>
                                          </p:val>
                                        </p:tav>
                                      </p:tavLst>
                                    </p:anim>
                                    <p:anim calcmode="lin" valueType="num">
                                      <p:cBhvr additive="base">
                                        <p:cTn id="48" dur="500" fill="hold"/>
                                        <p:tgtEl>
                                          <p:spTgt spid="8">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bldLvl="3"/>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0" i="0" u="none" strike="noStrike" kern="120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Streaming File</a:t>
            </a:r>
            <a:endParaRPr kumimoji="1" lang="en-US" altLang="zh-CN" sz="4000" b="0" i="0" u="none" strike="noStrike" kern="1200" cap="none" spc="0" normalizeH="0" baseline="0" noProof="0">
              <a:ln>
                <a:noFill/>
              </a:ln>
              <a:solidFill>
                <a:schemeClr val="tx2"/>
              </a:solidFill>
              <a:effectLst>
                <a:outerShdw blurRad="38100" dist="38100" dir="2700000" algn="tl">
                  <a:srgbClr val="000000"/>
                </a:outerShdw>
              </a:effectLst>
              <a:uLnTx/>
              <a:uFillTx/>
              <a:latin typeface="Arial" panose="020B0604020202020204" pitchFamily="34" charset="0"/>
              <a:ea typeface="+mj-ea"/>
              <a:cs typeface="Arial" panose="020B0604020202020204" pitchFamily="34" charset="0"/>
            </a:endParaRPr>
          </a:p>
        </p:txBody>
      </p:sp>
      <p:sp>
        <p:nvSpPr>
          <p:cNvPr id="95235" name="灯片编号占位符 4"/>
          <p:cNvSpPr txBox="1"/>
          <p:nvPr/>
        </p:nvSpPr>
        <p:spPr>
          <a:xfrm>
            <a:off x="7885113" y="6442075"/>
            <a:ext cx="1008062" cy="215900"/>
          </a:xfrm>
          <a:prstGeom prst="rect">
            <a:avLst/>
          </a:prstGeom>
          <a:noFill/>
          <a:ln w="9525">
            <a:noFill/>
          </a:ln>
        </p:spPr>
        <p:txBody>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latin typeface="+mn-lt"/>
                <a:ea typeface="+mn-ea"/>
                <a:cs typeface="+mn-cs"/>
              </a:defRPr>
            </a:lvl5pPr>
          </a:lstStyle>
          <a:p>
            <a:pPr marL="0" lvl="0" indent="0" algn="r">
              <a:buClrTx/>
              <a:buSzTx/>
              <a:buFontTx/>
              <a:buNone/>
            </a:pPr>
            <a:fld id="{9A0DB2DC-4C9A-4742-B13C-FB6460FD3503}" type="slidenum">
              <a:rPr lang="en-US" altLang="zh-CN" sz="1200" dirty="0">
                <a:latin typeface="微软雅黑" panose="020B0503020204020204" pitchFamily="34" charset="-122"/>
                <a:ea typeface="微软雅黑" panose="020B0503020204020204" pitchFamily="34" charset="-122"/>
              </a:rPr>
              <a:t>48</a:t>
            </a:fld>
            <a:endParaRPr lang="en-US" altLang="zh-CN" sz="1200" dirty="0">
              <a:latin typeface="微软雅黑" panose="020B0503020204020204" pitchFamily="34" charset="-122"/>
              <a:ea typeface="微软雅黑" panose="020B0503020204020204" pitchFamily="34" charset="-122"/>
            </a:endParaRPr>
          </a:p>
        </p:txBody>
      </p:sp>
      <p:sp>
        <p:nvSpPr>
          <p:cNvPr id="7" name="Rectangle 3"/>
          <p:cNvSpPr txBox="1">
            <a:spLocks noChangeArrowheads="1"/>
          </p:cNvSpPr>
          <p:nvPr/>
        </p:nvSpPr>
        <p:spPr bwMode="auto">
          <a:xfrm>
            <a:off x="685800" y="1981200"/>
            <a:ext cx="7772400" cy="4343400"/>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outerShdw blurRad="38100" dist="38100" dir="2700000" algn="tl">
                    <a:srgbClr val="000000"/>
                  </a:outerShdw>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outerShdw blurRad="38100" dist="38100" dir="2700000" algn="tl">
                    <a:srgbClr val="000000"/>
                  </a:outerShdw>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outerShdw blurRad="38100" dist="38100" dir="2700000" algn="tl">
                    <a:srgbClr val="000000"/>
                  </a:outerShdw>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outerShdw blurRad="38100" dist="38100" dir="2700000" algn="tl">
                    <a:srgbClr val="00000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Input</a:t>
            </a:r>
          </a:p>
          <a:p>
            <a:pPr marL="1143000" marR="0" lvl="2" indent="-2286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#include &lt;</a:t>
            </a:r>
            <a:r>
              <a:rPr kumimoji="1" lang="en-US" altLang="zh-CN" sz="20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fstream</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&gt;</a:t>
            </a:r>
          </a:p>
          <a:p>
            <a:pPr marL="1143000" marR="0" lvl="2" indent="-2286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0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ifstream</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1" lang="en-US" altLang="zh-CN" sz="20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InFile</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20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in.txt</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 Input file</a:t>
            </a:r>
          </a:p>
          <a:p>
            <a:pPr marL="1143000" marR="0" lvl="2" indent="-2286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0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fstream</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1" lang="en-US" altLang="zh-CN" sz="20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IOFile</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20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io.txt</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 In-&amp;Out-put file</a:t>
            </a:r>
          </a:p>
          <a:p>
            <a:pPr marL="742950" marR="0" lvl="1" indent="-28575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Usage</a:t>
            </a:r>
          </a:p>
          <a:p>
            <a:pPr marL="1143000" marR="0" lvl="2" indent="-2286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0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InFile</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&gt;&gt;data;</a:t>
            </a:r>
          </a:p>
          <a:p>
            <a:pPr marL="1143000" marR="0" lvl="2" indent="-2286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On Failure, object will be evaluated as false</a:t>
            </a:r>
          </a:p>
          <a:p>
            <a:pPr marL="1600200" marR="0" lvl="3" indent="-228600" algn="l" defTabSz="914400" rtl="0" eaLnBrk="1" fontAlgn="base" latinLnBrk="0" hangingPunct="1">
              <a:lnSpc>
                <a:spcPct val="100000"/>
              </a:lnSpc>
              <a:spcBef>
                <a:spcPct val="20000"/>
              </a:spcBef>
              <a:spcAft>
                <a:spcPct val="0"/>
              </a:spcAft>
              <a:buClrTx/>
              <a:buSzTx/>
              <a:buFontTx/>
              <a:buChar char="–"/>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if (! </a:t>
            </a:r>
            <a:r>
              <a:rPr kumimoji="1" lang="en-US" altLang="zh-CN" sz="1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InFile</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 </a:t>
            </a:r>
            <a:r>
              <a:rPr kumimoji="1" lang="en-US" altLang="zh-CN" sz="1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cout</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&lt;&lt; </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Open Failed!</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&lt;&lt; </a:t>
            </a:r>
            <a:r>
              <a:rPr kumimoji="1" lang="en-US" altLang="zh-CN" sz="1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endl</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 calcmode="lin" valueType="num">
                                      <p:cBhvr additive="base">
                                        <p:cTn id="25" dur="500" fill="hold"/>
                                        <p:tgtEl>
                                          <p:spTgt spid="7">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7">
                                            <p:txEl>
                                              <p:pRg st="4" end="4"/>
                                            </p:txEl>
                                          </p:spTgt>
                                        </p:tgtEl>
                                        <p:attrNameLst>
                                          <p:attrName>style.visibility</p:attrName>
                                        </p:attrNameLst>
                                      </p:cBhvr>
                                      <p:to>
                                        <p:strVal val="visible"/>
                                      </p:to>
                                    </p:set>
                                    <p:anim calcmode="lin" valueType="num">
                                      <p:cBhvr additive="base">
                                        <p:cTn id="31" dur="500" fill="hold"/>
                                        <p:tgtEl>
                                          <p:spTgt spid="7">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7">
                                            <p:txEl>
                                              <p:pRg st="5" end="5"/>
                                            </p:txEl>
                                          </p:spTgt>
                                        </p:tgtEl>
                                        <p:attrNameLst>
                                          <p:attrName>style.visibility</p:attrName>
                                        </p:attrNameLst>
                                      </p:cBhvr>
                                      <p:to>
                                        <p:strVal val="visible"/>
                                      </p:to>
                                    </p:set>
                                    <p:anim calcmode="lin" valueType="num">
                                      <p:cBhvr additive="base">
                                        <p:cTn id="37" dur="500" fill="hold"/>
                                        <p:tgtEl>
                                          <p:spTgt spid="7">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7">
                                            <p:txEl>
                                              <p:pRg st="6" end="6"/>
                                            </p:txEl>
                                          </p:spTgt>
                                        </p:tgtEl>
                                        <p:attrNameLst>
                                          <p:attrName>style.visibility</p:attrName>
                                        </p:attrNameLst>
                                      </p:cBhvr>
                                      <p:to>
                                        <p:strVal val="visible"/>
                                      </p:to>
                                    </p:set>
                                    <p:anim calcmode="lin" valueType="num">
                                      <p:cBhvr additive="base">
                                        <p:cTn id="43" dur="500" fill="hold"/>
                                        <p:tgtEl>
                                          <p:spTgt spid="7">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7">
                                            <p:txEl>
                                              <p:pRg st="6" end="6"/>
                                            </p:txEl>
                                          </p:spTgt>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p:stCondLst>
                                    <p:cond delay="0"/>
                                  </p:stCondLst>
                                  <p:childTnLst>
                                    <p:set>
                                      <p:cBhvr>
                                        <p:cTn id="46" dur="1" fill="hold">
                                          <p:stCondLst>
                                            <p:cond delay="0"/>
                                          </p:stCondLst>
                                        </p:cTn>
                                        <p:tgtEl>
                                          <p:spTgt spid="7">
                                            <p:txEl>
                                              <p:pRg st="7" end="7"/>
                                            </p:txEl>
                                          </p:spTgt>
                                        </p:tgtEl>
                                        <p:attrNameLst>
                                          <p:attrName>style.visibility</p:attrName>
                                        </p:attrNameLst>
                                      </p:cBhvr>
                                      <p:to>
                                        <p:strVal val="visible"/>
                                      </p:to>
                                    </p:set>
                                    <p:anim calcmode="lin" valueType="num">
                                      <p:cBhvr additive="base">
                                        <p:cTn id="47" dur="500" fill="hold"/>
                                        <p:tgtEl>
                                          <p:spTgt spid="7">
                                            <p:txEl>
                                              <p:pRg st="7" end="7"/>
                                            </p:txEl>
                                          </p:spTgt>
                                        </p:tgtEl>
                                        <p:attrNameLst>
                                          <p:attrName>ppt_x</p:attrName>
                                        </p:attrNameLst>
                                      </p:cBhvr>
                                      <p:tavLst>
                                        <p:tav tm="0">
                                          <p:val>
                                            <p:strVal val="1+#ppt_w/2"/>
                                          </p:val>
                                        </p:tav>
                                        <p:tav tm="100000">
                                          <p:val>
                                            <p:strVal val="#ppt_x"/>
                                          </p:val>
                                        </p:tav>
                                      </p:tavLst>
                                    </p:anim>
                                    <p:anim calcmode="lin" valueType="num">
                                      <p:cBhvr additive="base">
                                        <p:cTn id="48" dur="500" fill="hold"/>
                                        <p:tgtEl>
                                          <p:spTgt spid="7">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bldLvl="3"/>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Reference</a:t>
            </a:r>
          </a:p>
        </p:txBody>
      </p:sp>
      <p:sp>
        <p:nvSpPr>
          <p:cNvPr id="22531" name="Rectangle 3"/>
          <p:cNvSpPr>
            <a:spLocks noGrp="1" noChangeArrowheads="1"/>
          </p:cNvSpPr>
          <p:nvPr>
            <p:ph idx="1"/>
          </p:nvPr>
        </p:nvSpPr>
        <p:spPr>
          <a:xfrm>
            <a:off x="685800" y="1905000"/>
            <a:ext cx="7772400" cy="2362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int </a:t>
            </a: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iX</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 1024, </a:t>
            </a: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iY</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 4096;</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int </a:t>
            </a:r>
            <a:r>
              <a:rPr kumimoji="1" lang="en-US" altLang="zh-CN" sz="3200" b="0" i="0" u="none" strike="noStrike" kern="1200" cap="none" spc="0" normalizeH="0" baseline="0" noProof="0" dirty="0">
                <a:ln>
                  <a:noFill/>
                </a:ln>
                <a:solidFill>
                  <a:srgbClr val="FFCC00"/>
                </a:solidFill>
                <a:effectLst>
                  <a:outerShdw blurRad="38100" dist="38100" dir="2700000" algn="tl">
                    <a:srgbClr val="000000"/>
                  </a:outerShdw>
                </a:effectLst>
                <a:uLnTx/>
                <a:uFillTx/>
                <a:latin typeface="+mn-lt"/>
                <a:ea typeface="+mn-ea"/>
                <a:cs typeface="+mn-cs"/>
              </a:rPr>
              <a:t>&amp;</a:t>
            </a: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rX</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 </a:t>
            </a: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iX</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int* pi = </a:t>
            </a:r>
            <a:r>
              <a:rPr kumimoji="1" lang="en-US" altLang="zh-CN" sz="3200" b="0" i="0" u="none" strike="noStrike" kern="1200" cap="none" spc="0" normalizeH="0" baseline="0" noProof="0" dirty="0">
                <a:ln>
                  <a:noFill/>
                </a:ln>
                <a:solidFill>
                  <a:srgbClr val="FFCC00"/>
                </a:solidFill>
                <a:effectLst>
                  <a:outerShdw blurRad="38100" dist="38100" dir="2700000" algn="tl">
                    <a:srgbClr val="000000"/>
                  </a:outerShdw>
                </a:effectLst>
                <a:uLnTx/>
                <a:uFillTx/>
                <a:latin typeface="+mn-lt"/>
                <a:ea typeface="+mn-ea"/>
                <a:cs typeface="+mn-cs"/>
              </a:rPr>
              <a:t>&amp;</a:t>
            </a: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rX</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rX</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 </a:t>
            </a: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iY</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p:txBody>
      </p:sp>
      <p:sp>
        <p:nvSpPr>
          <p:cNvPr id="22532" name="Rectangle 4"/>
          <p:cNvSpPr>
            <a:spLocks noChangeArrowheads="1"/>
          </p:cNvSpPr>
          <p:nvPr/>
        </p:nvSpPr>
        <p:spPr bwMode="auto">
          <a:xfrm>
            <a:off x="685800" y="4241800"/>
            <a:ext cx="8062913" cy="2362200"/>
          </a:xfrm>
          <a:prstGeom prst="rect">
            <a:avLst/>
          </a:prstGeom>
          <a:noFill/>
          <a:ln>
            <a:noFill/>
          </a:ln>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Reference </a:t>
            </a: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rX</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could be regarded as an alias or another name of </a:t>
            </a: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iX</a:t>
            </a:r>
            <a:endPar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Could </a:t>
            </a: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rX</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represent </a:t>
            </a: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iY</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later? --- No!</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pi = &amp;</a:t>
            </a: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iY</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;//---Only a pointer could do that</a:t>
            </a:r>
          </a:p>
        </p:txBody>
      </p:sp>
      <p:sp>
        <p:nvSpPr>
          <p:cNvPr id="97285" name="灯片编号占位符 4"/>
          <p:cNvSpPr txBox="1">
            <a:spLocks noGrp="1"/>
          </p:cNvSpPr>
          <p:nvPr>
            <p:ph type="sldNum" sz="quarter" idx="12"/>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49</a:t>
            </a:fld>
            <a:endParaRPr lang="en-US" altLang="zh-CN" sz="1200" dirty="0">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25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grpId="0" nodeType="clickEffect">
                                  <p:stCondLst>
                                    <p:cond delay="0"/>
                                  </p:stCondLst>
                                  <p:childTnLst>
                                    <p:set>
                                      <p:cBhvr>
                                        <p:cTn id="10" dur="1" fill="hold">
                                          <p:stCondLst>
                                            <p:cond delay="0"/>
                                          </p:stCondLst>
                                        </p:cTn>
                                        <p:tgtEl>
                                          <p:spTgt spid="22532">
                                            <p:txEl>
                                              <p:pRg st="0" end="0"/>
                                            </p:txEl>
                                          </p:spTgt>
                                        </p:tgtEl>
                                        <p:attrNameLst>
                                          <p:attrName>style.visibility</p:attrName>
                                        </p:attrNameLst>
                                      </p:cBhvr>
                                      <p:to>
                                        <p:strVal val="visible"/>
                                      </p:to>
                                    </p:set>
                                    <p:anim calcmode="lin" valueType="num">
                                      <p:cBhvr additive="base">
                                        <p:cTn id="11" dur="500" fill="hold"/>
                                        <p:tgtEl>
                                          <p:spTgt spid="22532">
                                            <p:txEl>
                                              <p:pRg st="0" end="0"/>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2253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22532">
                                            <p:txEl>
                                              <p:pRg st="1" end="1"/>
                                            </p:txEl>
                                          </p:spTgt>
                                        </p:tgtEl>
                                        <p:attrNameLst>
                                          <p:attrName>style.visibility</p:attrName>
                                        </p:attrNameLst>
                                      </p:cBhvr>
                                      <p:to>
                                        <p:strVal val="visible"/>
                                      </p:to>
                                    </p:set>
                                    <p:anim calcmode="lin" valueType="num">
                                      <p:cBhvr additive="base">
                                        <p:cTn id="17" dur="500" fill="hold"/>
                                        <p:tgtEl>
                                          <p:spTgt spid="22532">
                                            <p:txEl>
                                              <p:pRg st="1" end="1"/>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2253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22532">
                                            <p:txEl>
                                              <p:pRg st="2" end="2"/>
                                            </p:txEl>
                                          </p:spTgt>
                                        </p:tgtEl>
                                        <p:attrNameLst>
                                          <p:attrName>style.visibility</p:attrName>
                                        </p:attrNameLst>
                                      </p:cBhvr>
                                      <p:to>
                                        <p:strVal val="visible"/>
                                      </p:to>
                                    </p:set>
                                    <p:anim calcmode="lin" valueType="num">
                                      <p:cBhvr additive="base">
                                        <p:cTn id="23" dur="500" fill="hold"/>
                                        <p:tgtEl>
                                          <p:spTgt spid="22532">
                                            <p:txEl>
                                              <p:pRg st="2" end="2"/>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22532">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p:bldP spid="22532"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Reference</a:t>
            </a:r>
          </a:p>
        </p:txBody>
      </p:sp>
      <p:sp>
        <p:nvSpPr>
          <p:cNvPr id="23555" name="Rectangle 3"/>
          <p:cNvSpPr>
            <a:spLocks noGrp="1" noChangeArrowheads="1"/>
          </p:cNvSpPr>
          <p:nvPr>
            <p:ph idx="1"/>
          </p:nvPr>
        </p:nvSpPr>
        <p:spPr>
          <a:xfrm>
            <a:off x="685800" y="1981200"/>
            <a:ext cx="7772400" cy="180816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int Swap(int </a:t>
            </a: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iX</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int </a:t>
            </a: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iY</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int Swap(int* </a:t>
            </a: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pX</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int* </a:t>
            </a: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pY</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int Swap(int </a:t>
            </a:r>
            <a:r>
              <a:rPr kumimoji="1" lang="en-US" altLang="zh-CN" sz="3200" b="0" i="0" u="none" strike="noStrike" kern="1200" cap="none" spc="0" normalizeH="0" baseline="0" noProof="0" dirty="0">
                <a:ln>
                  <a:noFill/>
                </a:ln>
                <a:solidFill>
                  <a:srgbClr val="FFCC00"/>
                </a:solidFill>
                <a:effectLst>
                  <a:outerShdw blurRad="38100" dist="38100" dir="2700000" algn="tl">
                    <a:srgbClr val="000000"/>
                  </a:outerShdw>
                </a:effectLst>
                <a:uLnTx/>
                <a:uFillTx/>
                <a:latin typeface="+mn-lt"/>
                <a:ea typeface="+mn-ea"/>
                <a:cs typeface="+mn-cs"/>
              </a:rPr>
              <a:t>&amp;</a:t>
            </a: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iX</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int </a:t>
            </a:r>
            <a:r>
              <a:rPr kumimoji="1" lang="en-US" altLang="zh-CN" sz="3200" b="0" i="0" u="none" strike="noStrike" kern="1200" cap="none" spc="0" normalizeH="0" baseline="0" noProof="0" dirty="0">
                <a:ln>
                  <a:noFill/>
                </a:ln>
                <a:solidFill>
                  <a:srgbClr val="FFCC00"/>
                </a:solidFill>
                <a:effectLst>
                  <a:outerShdw blurRad="38100" dist="38100" dir="2700000" algn="tl">
                    <a:srgbClr val="000000"/>
                  </a:outerShdw>
                </a:effectLst>
                <a:uLnTx/>
                <a:uFillTx/>
                <a:latin typeface="+mn-lt"/>
                <a:ea typeface="+mn-ea"/>
                <a:cs typeface="+mn-cs"/>
              </a:rPr>
              <a:t>&amp;</a:t>
            </a:r>
            <a:r>
              <a:rPr kumimoji="1" lang="en-US" altLang="zh-CN" sz="3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iY</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p:txBody>
      </p:sp>
      <p:sp>
        <p:nvSpPr>
          <p:cNvPr id="23556" name="Rectangle 4"/>
          <p:cNvSpPr>
            <a:spLocks noChangeArrowheads="1"/>
          </p:cNvSpPr>
          <p:nvPr/>
        </p:nvSpPr>
        <p:spPr bwMode="auto">
          <a:xfrm>
            <a:off x="684213" y="4076700"/>
            <a:ext cx="7772400" cy="1668463"/>
          </a:xfrm>
          <a:prstGeom prst="rect">
            <a:avLst/>
          </a:prstGeom>
          <a:noFill/>
          <a:ln>
            <a:noFill/>
          </a:ln>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The first two are </a:t>
            </a:r>
            <a:r>
              <a:rPr kumimoji="1" lang="en-US" altLang="zh-CN" sz="3200" b="0" i="0" u="none" strike="noStrike" kern="1200" cap="none" spc="0" normalizeH="0" baseline="0" noProof="0" dirty="0">
                <a:ln>
                  <a:noFill/>
                </a:ln>
                <a:solidFill>
                  <a:srgbClr val="FFCC00"/>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passing by value</a:t>
            </a: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the last is </a:t>
            </a:r>
            <a:r>
              <a:rPr kumimoji="1" lang="en-US" altLang="zh-CN" sz="3200" b="0" i="0" u="none" strike="noStrike" kern="1200" cap="none" spc="0" normalizeH="0" baseline="0" noProof="0" dirty="0">
                <a:ln>
                  <a:noFill/>
                </a:ln>
                <a:solidFill>
                  <a:srgbClr val="FFCC00"/>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passing by reference</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The first could not modify the value of arguments outside of Swap, while the last two could</a:t>
            </a:r>
          </a:p>
        </p:txBody>
      </p:sp>
      <p:sp>
        <p:nvSpPr>
          <p:cNvPr id="99333" name="灯片编号占位符 4"/>
          <p:cNvSpPr txBox="1">
            <a:spLocks noGrp="1"/>
          </p:cNvSpPr>
          <p:nvPr>
            <p:ph type="sldNum" sz="quarter" idx="12"/>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50</a:t>
            </a:fld>
            <a:endParaRPr lang="en-US" altLang="zh-CN" sz="1200" dirty="0">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35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35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355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23556">
                                            <p:txEl>
                                              <p:pRg st="0" end="0"/>
                                            </p:txEl>
                                          </p:spTgt>
                                        </p:tgtEl>
                                        <p:attrNameLst>
                                          <p:attrName>style.visibility</p:attrName>
                                        </p:attrNameLst>
                                      </p:cBhvr>
                                      <p:to>
                                        <p:strVal val="visible"/>
                                      </p:to>
                                    </p:set>
                                    <p:anim calcmode="lin" valueType="num">
                                      <p:cBhvr additive="base">
                                        <p:cTn id="19" dur="500" fill="hold"/>
                                        <p:tgtEl>
                                          <p:spTgt spid="23556">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2355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23556">
                                            <p:txEl>
                                              <p:pRg st="1" end="1"/>
                                            </p:txEl>
                                          </p:spTgt>
                                        </p:tgtEl>
                                        <p:attrNameLst>
                                          <p:attrName>style.visibility</p:attrName>
                                        </p:attrNameLst>
                                      </p:cBhvr>
                                      <p:to>
                                        <p:strVal val="visible"/>
                                      </p:to>
                                    </p:set>
                                    <p:anim calcmode="lin" valueType="num">
                                      <p:cBhvr additive="base">
                                        <p:cTn id="25" dur="500" fill="hold"/>
                                        <p:tgtEl>
                                          <p:spTgt spid="23556">
                                            <p:txEl>
                                              <p:pRg st="1" end="1"/>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23556">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P spid="23556" grpId="0" build="p" bldLvl="3"/>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Reference (cont.)</a:t>
            </a:r>
          </a:p>
        </p:txBody>
      </p:sp>
      <p:sp>
        <p:nvSpPr>
          <p:cNvPr id="62469" name="Rectangle 5"/>
          <p:cNvSpPr>
            <a:spLocks noGrp="1" noChangeArrowheads="1"/>
          </p:cNvSpPr>
          <p:nvPr>
            <p:ph idx="1"/>
          </p:nvPr>
        </p:nvSpPr>
        <p:spPr>
          <a:xfrm>
            <a:off x="539750" y="1773238"/>
            <a:ext cx="7772400" cy="2447925"/>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3 Reasons to use passing by reference:</a:t>
            </a:r>
          </a:p>
          <a:p>
            <a:pPr marL="1143000" marR="0" lvl="2" indent="-2286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To modify the objects that passed in the function</a:t>
            </a:r>
          </a:p>
          <a:p>
            <a:pPr marL="1143000" marR="0" lvl="2" indent="-2286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To avoid the cost of copying large objects</a:t>
            </a:r>
          </a:p>
          <a:p>
            <a:pPr marL="1143000" marR="0" lvl="2" indent="-2286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To have more than one return values</a:t>
            </a:r>
          </a:p>
        </p:txBody>
      </p:sp>
      <p:sp>
        <p:nvSpPr>
          <p:cNvPr id="62470" name="Text Box 6"/>
          <p:cNvSpPr txBox="1"/>
          <p:nvPr/>
        </p:nvSpPr>
        <p:spPr>
          <a:xfrm>
            <a:off x="323850" y="4365625"/>
            <a:ext cx="4176713" cy="11906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latin typeface="+mn-lt"/>
                <a:ea typeface="+mn-ea"/>
                <a:cs typeface="+mn-cs"/>
              </a:defRPr>
            </a:lvl5pPr>
          </a:lstStyle>
          <a:p>
            <a:pPr marL="0" lvl="0" indent="0" eaLnBrk="1" hangingPunct="1">
              <a:spcBef>
                <a:spcPct val="0"/>
              </a:spcBef>
              <a:buClrTx/>
              <a:buSzTx/>
              <a:buFontTx/>
              <a:buNone/>
            </a:pPr>
            <a:r>
              <a:rPr lang="fr-FR" altLang="zh-CN" sz="1800" dirty="0">
                <a:latin typeface="Times New Roman" panose="02020603050405020304" pitchFamily="18" charset="0"/>
              </a:rPr>
              <a:t>struct Matrix { double a[10000][10000] };</a:t>
            </a:r>
          </a:p>
          <a:p>
            <a:pPr marL="0" lvl="0" indent="0" eaLnBrk="1" hangingPunct="1">
              <a:spcBef>
                <a:spcPct val="0"/>
              </a:spcBef>
              <a:buClrTx/>
              <a:buSzTx/>
              <a:buFontTx/>
              <a:buNone/>
            </a:pPr>
            <a:endParaRPr lang="fr-FR" altLang="zh-CN" sz="1800" dirty="0">
              <a:latin typeface="Times New Roman" panose="02020603050405020304" pitchFamily="18" charset="0"/>
            </a:endParaRPr>
          </a:p>
          <a:p>
            <a:pPr marL="0" lvl="0" indent="0" eaLnBrk="1" hangingPunct="1">
              <a:spcBef>
                <a:spcPct val="0"/>
              </a:spcBef>
              <a:buClrTx/>
              <a:buSzTx/>
              <a:buFontTx/>
              <a:buNone/>
            </a:pPr>
            <a:r>
              <a:rPr lang="fr-FR" altLang="zh-CN" sz="1800" dirty="0">
                <a:latin typeface="Times New Roman" panose="02020603050405020304" pitchFamily="18" charset="0"/>
              </a:rPr>
              <a:t>int f1(Matrix m);</a:t>
            </a:r>
          </a:p>
          <a:p>
            <a:pPr marL="0" lvl="0" indent="0" eaLnBrk="1" hangingPunct="1">
              <a:spcBef>
                <a:spcPct val="0"/>
              </a:spcBef>
              <a:buClrTx/>
              <a:buSzTx/>
              <a:buFontTx/>
              <a:buNone/>
            </a:pPr>
            <a:r>
              <a:rPr lang="fr-FR" altLang="zh-CN" sz="1800" dirty="0">
                <a:latin typeface="Times New Roman" panose="02020603050405020304" pitchFamily="18" charset="0"/>
              </a:rPr>
              <a:t>int f2(Matrix&amp; m);</a:t>
            </a:r>
            <a:r>
              <a:rPr lang="en-US" altLang="zh-CN" sz="1800" dirty="0">
                <a:latin typeface="Times New Roman" panose="02020603050405020304" pitchFamily="18" charset="0"/>
              </a:rPr>
              <a:t> </a:t>
            </a:r>
          </a:p>
        </p:txBody>
      </p:sp>
      <p:sp>
        <p:nvSpPr>
          <p:cNvPr id="62471" name="Text Box 7"/>
          <p:cNvSpPr txBox="1"/>
          <p:nvPr/>
        </p:nvSpPr>
        <p:spPr>
          <a:xfrm>
            <a:off x="4572000" y="4308475"/>
            <a:ext cx="4176713" cy="22891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latin typeface="+mn-lt"/>
                <a:ea typeface="+mn-ea"/>
                <a:cs typeface="+mn-cs"/>
              </a:defRPr>
            </a:lvl5pPr>
          </a:lstStyle>
          <a:p>
            <a:pPr marL="0" lvl="0" indent="0" eaLnBrk="1" hangingPunct="1">
              <a:spcBef>
                <a:spcPct val="0"/>
              </a:spcBef>
              <a:buClrTx/>
              <a:buSzTx/>
              <a:buFontTx/>
              <a:buNone/>
            </a:pPr>
            <a:r>
              <a:rPr lang="en-US" altLang="zh-CN" sz="1800" dirty="0">
                <a:latin typeface="Times New Roman" panose="02020603050405020304" pitchFamily="18" charset="0"/>
              </a:rPr>
              <a:t>bool add_even(int a, int b, int&amp; c)</a:t>
            </a:r>
          </a:p>
          <a:p>
            <a:pPr marL="0" lvl="0" indent="0" eaLnBrk="1" hangingPunct="1">
              <a:spcBef>
                <a:spcPct val="0"/>
              </a:spcBef>
              <a:buClrTx/>
              <a:buSzTx/>
              <a:buFontTx/>
              <a:buNone/>
            </a:pPr>
            <a:r>
              <a:rPr lang="en-US" altLang="zh-CN" sz="1800" dirty="0">
                <a:latin typeface="Times New Roman" panose="02020603050405020304" pitchFamily="18" charset="0"/>
              </a:rPr>
              <a:t>{</a:t>
            </a:r>
          </a:p>
          <a:p>
            <a:pPr marL="0" lvl="0" indent="0" eaLnBrk="1" hangingPunct="1">
              <a:spcBef>
                <a:spcPct val="0"/>
              </a:spcBef>
              <a:buClrTx/>
              <a:buSzTx/>
              <a:buFontTx/>
              <a:buNone/>
            </a:pPr>
            <a:r>
              <a:rPr lang="en-US" altLang="zh-CN" sz="1800" dirty="0">
                <a:latin typeface="Times New Roman" panose="02020603050405020304" pitchFamily="18" charset="0"/>
              </a:rPr>
              <a:t>  if (a%2 == 0 &amp;&amp; b%2 == 0) </a:t>
            </a:r>
          </a:p>
          <a:p>
            <a:pPr marL="0" lvl="0" indent="0" eaLnBrk="1" hangingPunct="1">
              <a:spcBef>
                <a:spcPct val="0"/>
              </a:spcBef>
              <a:buClrTx/>
              <a:buSzTx/>
              <a:buFontTx/>
              <a:buNone/>
            </a:pPr>
            <a:r>
              <a:rPr lang="en-US" altLang="zh-CN" sz="1800" dirty="0">
                <a:latin typeface="Times New Roman" panose="02020603050405020304" pitchFamily="18" charset="0"/>
              </a:rPr>
              <a:t>  {</a:t>
            </a:r>
          </a:p>
          <a:p>
            <a:pPr marL="0" lvl="0" indent="0" eaLnBrk="1" hangingPunct="1">
              <a:spcBef>
                <a:spcPct val="0"/>
              </a:spcBef>
              <a:buClrTx/>
              <a:buSzTx/>
              <a:buFontTx/>
              <a:buNone/>
            </a:pPr>
            <a:r>
              <a:rPr lang="en-US" altLang="zh-CN" sz="1800" dirty="0">
                <a:latin typeface="Times New Roman" panose="02020603050405020304" pitchFamily="18" charset="0"/>
              </a:rPr>
              <a:t>     c = a+b; return true;</a:t>
            </a:r>
          </a:p>
          <a:p>
            <a:pPr marL="0" lvl="0" indent="0" eaLnBrk="1" hangingPunct="1">
              <a:spcBef>
                <a:spcPct val="0"/>
              </a:spcBef>
              <a:buClrTx/>
              <a:buSzTx/>
              <a:buFontTx/>
              <a:buNone/>
            </a:pPr>
            <a:r>
              <a:rPr lang="en-US" altLang="zh-CN" sz="1800" dirty="0">
                <a:latin typeface="Times New Roman" panose="02020603050405020304" pitchFamily="18" charset="0"/>
              </a:rPr>
              <a:t>  }</a:t>
            </a:r>
          </a:p>
          <a:p>
            <a:pPr marL="0" lvl="0" indent="0" eaLnBrk="1" hangingPunct="1">
              <a:spcBef>
                <a:spcPct val="0"/>
              </a:spcBef>
              <a:buClrTx/>
              <a:buSzTx/>
              <a:buFontTx/>
              <a:buNone/>
            </a:pPr>
            <a:r>
              <a:rPr lang="en-US" altLang="zh-CN" sz="1800" dirty="0">
                <a:latin typeface="Times New Roman" panose="02020603050405020304" pitchFamily="18" charset="0"/>
              </a:rPr>
              <a:t>  return false;</a:t>
            </a:r>
          </a:p>
          <a:p>
            <a:pPr marL="0" lvl="0" indent="0" eaLnBrk="1" hangingPunct="1">
              <a:spcBef>
                <a:spcPct val="0"/>
              </a:spcBef>
              <a:buClrTx/>
              <a:buSzTx/>
              <a:buFontTx/>
              <a:buNone/>
            </a:pPr>
            <a:r>
              <a:rPr lang="en-US" altLang="zh-CN" sz="1800" dirty="0">
                <a:latin typeface="Times New Roman" panose="02020603050405020304" pitchFamily="18" charset="0"/>
              </a:rPr>
              <a:t>}</a:t>
            </a:r>
          </a:p>
        </p:txBody>
      </p:sp>
      <p:sp>
        <p:nvSpPr>
          <p:cNvPr id="101382" name="灯片编号占位符 4"/>
          <p:cNvSpPr txBox="1">
            <a:spLocks noGrp="1"/>
          </p:cNvSpPr>
          <p:nvPr>
            <p:ph type="sldNum" sz="quarter" idx="12"/>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51</a:t>
            </a:fld>
            <a:endParaRPr lang="en-US" altLang="zh-CN" sz="1200" dirty="0">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469">
                                            <p:txEl>
                                              <p:pRg st="0" end="0"/>
                                            </p:txEl>
                                          </p:spTgt>
                                        </p:tgtEl>
                                        <p:attrNameLst>
                                          <p:attrName>style.visibility</p:attrName>
                                        </p:attrNameLst>
                                      </p:cBhvr>
                                      <p:to>
                                        <p:strVal val="visible"/>
                                      </p:to>
                                    </p:set>
                                    <p:anim calcmode="lin" valueType="num">
                                      <p:cBhvr additive="base">
                                        <p:cTn id="7" dur="500" fill="hold"/>
                                        <p:tgtEl>
                                          <p:spTgt spid="6246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46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2469">
                                            <p:txEl>
                                              <p:pRg st="1" end="1"/>
                                            </p:txEl>
                                          </p:spTgt>
                                        </p:tgtEl>
                                        <p:attrNameLst>
                                          <p:attrName>style.visibility</p:attrName>
                                        </p:attrNameLst>
                                      </p:cBhvr>
                                      <p:to>
                                        <p:strVal val="visible"/>
                                      </p:to>
                                    </p:set>
                                    <p:anim calcmode="lin" valueType="num">
                                      <p:cBhvr additive="base">
                                        <p:cTn id="13" dur="500" fill="hold"/>
                                        <p:tgtEl>
                                          <p:spTgt spid="6246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246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2469">
                                            <p:txEl>
                                              <p:pRg st="2" end="2"/>
                                            </p:txEl>
                                          </p:spTgt>
                                        </p:tgtEl>
                                        <p:attrNameLst>
                                          <p:attrName>style.visibility</p:attrName>
                                        </p:attrNameLst>
                                      </p:cBhvr>
                                      <p:to>
                                        <p:strVal val="visible"/>
                                      </p:to>
                                    </p:set>
                                    <p:anim calcmode="lin" valueType="num">
                                      <p:cBhvr additive="base">
                                        <p:cTn id="19" dur="500" fill="hold"/>
                                        <p:tgtEl>
                                          <p:spTgt spid="6246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246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2470"/>
                                        </p:tgtEl>
                                        <p:attrNameLst>
                                          <p:attrName>style.visibility</p:attrName>
                                        </p:attrNameLst>
                                      </p:cBhvr>
                                      <p:to>
                                        <p:strVal val="visible"/>
                                      </p:to>
                                    </p:set>
                                    <p:anim calcmode="lin" valueType="num">
                                      <p:cBhvr additive="base">
                                        <p:cTn id="25" dur="500" fill="hold"/>
                                        <p:tgtEl>
                                          <p:spTgt spid="62470"/>
                                        </p:tgtEl>
                                        <p:attrNameLst>
                                          <p:attrName>ppt_x</p:attrName>
                                        </p:attrNameLst>
                                      </p:cBhvr>
                                      <p:tavLst>
                                        <p:tav tm="0">
                                          <p:val>
                                            <p:strVal val="0-#ppt_w/2"/>
                                          </p:val>
                                        </p:tav>
                                        <p:tav tm="100000">
                                          <p:val>
                                            <p:strVal val="#ppt_x"/>
                                          </p:val>
                                        </p:tav>
                                      </p:tavLst>
                                    </p:anim>
                                    <p:anim calcmode="lin" valueType="num">
                                      <p:cBhvr additive="base">
                                        <p:cTn id="26" dur="500" fill="hold"/>
                                        <p:tgtEl>
                                          <p:spTgt spid="62470"/>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2469">
                                            <p:txEl>
                                              <p:pRg st="3" end="3"/>
                                            </p:txEl>
                                          </p:spTgt>
                                        </p:tgtEl>
                                        <p:attrNameLst>
                                          <p:attrName>style.visibility</p:attrName>
                                        </p:attrNameLst>
                                      </p:cBhvr>
                                      <p:to>
                                        <p:strVal val="visible"/>
                                      </p:to>
                                    </p:set>
                                    <p:anim calcmode="lin" valueType="num">
                                      <p:cBhvr additive="base">
                                        <p:cTn id="31" dur="500" fill="hold"/>
                                        <p:tgtEl>
                                          <p:spTgt spid="62469">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246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62471"/>
                                        </p:tgtEl>
                                        <p:attrNameLst>
                                          <p:attrName>style.visibility</p:attrName>
                                        </p:attrNameLst>
                                      </p:cBhvr>
                                      <p:to>
                                        <p:strVal val="visible"/>
                                      </p:to>
                                    </p:set>
                                    <p:anim calcmode="lin" valueType="num">
                                      <p:cBhvr additive="base">
                                        <p:cTn id="37" dur="500" fill="hold"/>
                                        <p:tgtEl>
                                          <p:spTgt spid="62471"/>
                                        </p:tgtEl>
                                        <p:attrNameLst>
                                          <p:attrName>ppt_x</p:attrName>
                                        </p:attrNameLst>
                                      </p:cBhvr>
                                      <p:tavLst>
                                        <p:tav tm="0">
                                          <p:val>
                                            <p:strVal val="1+#ppt_w/2"/>
                                          </p:val>
                                        </p:tav>
                                        <p:tav tm="100000">
                                          <p:val>
                                            <p:strVal val="#ppt_x"/>
                                          </p:val>
                                        </p:tav>
                                      </p:tavLst>
                                    </p:anim>
                                    <p:anim calcmode="lin" valueType="num">
                                      <p:cBhvr additive="base">
                                        <p:cTn id="38" dur="500" fill="hold"/>
                                        <p:tgtEl>
                                          <p:spTgt spid="6247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9" grpId="0" uiExpand="1" build="p"/>
      <p:bldP spid="62470" grpId="0"/>
      <p:bldP spid="62471"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Reference</a:t>
            </a:r>
          </a:p>
        </p:txBody>
      </p:sp>
      <p:sp>
        <p:nvSpPr>
          <p:cNvPr id="57348" name="Rectangle 4"/>
          <p:cNvSpPr>
            <a:spLocks noChangeArrowheads="1"/>
          </p:cNvSpPr>
          <p:nvPr/>
        </p:nvSpPr>
        <p:spPr bwMode="auto">
          <a:xfrm>
            <a:off x="457200" y="1828800"/>
            <a:ext cx="8305800" cy="4343400"/>
          </a:xfrm>
          <a:prstGeom prst="rect">
            <a:avLst/>
          </a:prstGeom>
          <a:noFill/>
          <a:ln>
            <a:noFill/>
          </a:ln>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The inner mechanism of reference and pointer may be similar, but they are quite different in usage</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Using Reference when you find </a:t>
            </a:r>
          </a:p>
          <a:p>
            <a:pPr marL="742950" marR="0" lvl="1" indent="-28575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It always represents a non-null object</a:t>
            </a:r>
          </a:p>
          <a:p>
            <a:pPr marL="742950" marR="0" lvl="1" indent="-28575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And it will not represent any other objects</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Using Pointer otherwise</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Char char="n"/>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Pointer could be re-assigned values, while reference could not</a:t>
            </a:r>
          </a:p>
        </p:txBody>
      </p:sp>
      <p:sp>
        <p:nvSpPr>
          <p:cNvPr id="103428" name="灯片编号占位符 4"/>
          <p:cNvSpPr txBox="1">
            <a:spLocks noGrp="1"/>
          </p:cNvSpPr>
          <p:nvPr>
            <p:ph type="sldNum" sz="quarter" idx="12"/>
          </p:nvPr>
        </p:nvSpPr>
        <p:spPr>
          <a:xfrm>
            <a:off x="7885113" y="6442075"/>
            <a:ext cx="1008062" cy="215900"/>
          </a:xfrm>
          <a:ln/>
        </p:spPr>
        <p:txBody>
          <a:bodyPr/>
          <a:lstStyle/>
          <a:p>
            <a:pPr marL="0" indent="0" algn="r">
              <a:buClrTx/>
              <a:buSzTx/>
              <a:buFontTx/>
              <a:buNone/>
            </a:pPr>
            <a:fld id="{9A0DB2DC-4C9A-4742-B13C-FB6460FD3503}" type="slidenum">
              <a:rPr lang="en-US" altLang="zh-CN" sz="1200" dirty="0">
                <a:effectLst/>
                <a:latin typeface="微软雅黑" panose="020B0503020204020204" pitchFamily="34" charset="-122"/>
                <a:ea typeface="微软雅黑" panose="020B0503020204020204" pitchFamily="34" charset="-122"/>
              </a:rPr>
              <a:t>52</a:t>
            </a:fld>
            <a:endParaRPr lang="en-US" altLang="zh-CN" sz="1200" dirty="0">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7348">
                                            <p:txEl>
                                              <p:pRg st="0" end="0"/>
                                            </p:txEl>
                                          </p:spTgt>
                                        </p:tgtEl>
                                        <p:attrNameLst>
                                          <p:attrName>style.visibility</p:attrName>
                                        </p:attrNameLst>
                                      </p:cBhvr>
                                      <p:to>
                                        <p:strVal val="visible"/>
                                      </p:to>
                                    </p:set>
                                    <p:anim calcmode="lin" valueType="num">
                                      <p:cBhvr additive="base">
                                        <p:cTn id="7" dur="500" fill="hold"/>
                                        <p:tgtEl>
                                          <p:spTgt spid="5734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734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7348">
                                            <p:txEl>
                                              <p:pRg st="1" end="1"/>
                                            </p:txEl>
                                          </p:spTgt>
                                        </p:tgtEl>
                                        <p:attrNameLst>
                                          <p:attrName>style.visibility</p:attrName>
                                        </p:attrNameLst>
                                      </p:cBhvr>
                                      <p:to>
                                        <p:strVal val="visible"/>
                                      </p:to>
                                    </p:set>
                                    <p:anim calcmode="lin" valueType="num">
                                      <p:cBhvr additive="base">
                                        <p:cTn id="13" dur="500" fill="hold"/>
                                        <p:tgtEl>
                                          <p:spTgt spid="57348">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5734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7348">
                                            <p:txEl>
                                              <p:pRg st="2" end="2"/>
                                            </p:txEl>
                                          </p:spTgt>
                                        </p:tgtEl>
                                        <p:attrNameLst>
                                          <p:attrName>style.visibility</p:attrName>
                                        </p:attrNameLst>
                                      </p:cBhvr>
                                      <p:to>
                                        <p:strVal val="visible"/>
                                      </p:to>
                                    </p:set>
                                    <p:anim calcmode="lin" valueType="num">
                                      <p:cBhvr additive="base">
                                        <p:cTn id="19" dur="500" fill="hold"/>
                                        <p:tgtEl>
                                          <p:spTgt spid="57348">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5734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57348">
                                            <p:txEl>
                                              <p:pRg st="3" end="3"/>
                                            </p:txEl>
                                          </p:spTgt>
                                        </p:tgtEl>
                                        <p:attrNameLst>
                                          <p:attrName>style.visibility</p:attrName>
                                        </p:attrNameLst>
                                      </p:cBhvr>
                                      <p:to>
                                        <p:strVal val="visible"/>
                                      </p:to>
                                    </p:set>
                                    <p:anim calcmode="lin" valueType="num">
                                      <p:cBhvr additive="base">
                                        <p:cTn id="25" dur="500" fill="hold"/>
                                        <p:tgtEl>
                                          <p:spTgt spid="57348">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5734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57348">
                                            <p:txEl>
                                              <p:pRg st="4" end="4"/>
                                            </p:txEl>
                                          </p:spTgt>
                                        </p:tgtEl>
                                        <p:attrNameLst>
                                          <p:attrName>style.visibility</p:attrName>
                                        </p:attrNameLst>
                                      </p:cBhvr>
                                      <p:to>
                                        <p:strVal val="visible"/>
                                      </p:to>
                                    </p:set>
                                    <p:anim calcmode="lin" valueType="num">
                                      <p:cBhvr additive="base">
                                        <p:cTn id="31" dur="500" fill="hold"/>
                                        <p:tgtEl>
                                          <p:spTgt spid="57348">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5734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57348">
                                            <p:txEl>
                                              <p:pRg st="5" end="5"/>
                                            </p:txEl>
                                          </p:spTgt>
                                        </p:tgtEl>
                                        <p:attrNameLst>
                                          <p:attrName>style.visibility</p:attrName>
                                        </p:attrNameLst>
                                      </p:cBhvr>
                                      <p:to>
                                        <p:strVal val="visible"/>
                                      </p:to>
                                    </p:set>
                                    <p:anim calcmode="lin" valueType="num">
                                      <p:cBhvr additive="base">
                                        <p:cTn id="37" dur="500" fill="hold"/>
                                        <p:tgtEl>
                                          <p:spTgt spid="57348">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57348">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8" grpId="0" build="p" bldLvl="3"/>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Const (cont.)</a:t>
            </a:r>
          </a:p>
        </p:txBody>
      </p:sp>
      <p:sp>
        <p:nvSpPr>
          <p:cNvPr id="24579" name="Rectangle 3"/>
          <p:cNvSpPr>
            <a:spLocks noGrp="1" noChangeArrowheads="1"/>
          </p:cNvSpPr>
          <p:nvPr>
            <p:ph idx="1"/>
          </p:nvPr>
        </p:nvSpPr>
        <p:spPr>
          <a:xfrm>
            <a:off x="685800" y="1981200"/>
            <a:ext cx="7772400" cy="4256088"/>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
                <a:schemeClr val="accent1"/>
              </a:buClr>
              <a:buSzPct val="80000"/>
              <a:buFont typeface="Wingdings" panose="05000000000000000000" pitchFamily="2" charset="2"/>
              <a:buNone/>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int f(int&amp; </a:t>
            </a:r>
            <a:r>
              <a:rPr kumimoji="1" lang="en-US" altLang="zh-CN" sz="2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ri</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a:p>
            <a:pPr marL="342900" marR="0" lvl="0" indent="-342900" algn="l" defTabSz="914400" rtl="0" eaLnBrk="1" fontAlgn="base" latinLnBrk="0" hangingPunct="1">
              <a:lnSpc>
                <a:spcPct val="80000"/>
              </a:lnSpc>
              <a:spcBef>
                <a:spcPct val="20000"/>
              </a:spcBef>
              <a:spcAft>
                <a:spcPct val="0"/>
              </a:spcAft>
              <a:buClr>
                <a:schemeClr val="accent1"/>
              </a:buClr>
              <a:buSzPct val="80000"/>
              <a:buFont typeface="Wingdings" panose="05000000000000000000" pitchFamily="2" charset="2"/>
              <a:buNone/>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if (</a:t>
            </a:r>
            <a:r>
              <a:rPr kumimoji="1" lang="en-US" altLang="zh-CN" sz="2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ri</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 0) return 0;</a:t>
            </a:r>
          </a:p>
          <a:p>
            <a:pPr marL="342900" marR="0" lvl="0" indent="-342900" algn="l" defTabSz="914400" rtl="0" eaLnBrk="1" fontAlgn="base" latinLnBrk="0" hangingPunct="1">
              <a:lnSpc>
                <a:spcPct val="80000"/>
              </a:lnSpc>
              <a:spcBef>
                <a:spcPct val="20000"/>
              </a:spcBef>
              <a:spcAft>
                <a:spcPct val="0"/>
              </a:spcAft>
              <a:buClr>
                <a:schemeClr val="accent1"/>
              </a:buClr>
              <a:buSzPct val="80000"/>
              <a:buFont typeface="Wingdings" panose="05000000000000000000" pitchFamily="2" charset="2"/>
              <a:buNone/>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return 1; }</a:t>
            </a:r>
            <a:endPar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accent1"/>
              </a:buClr>
              <a:buSzPct val="80000"/>
              <a:buFont typeface="Wingdings" panose="05000000000000000000" pitchFamily="2" charset="2"/>
              <a:buChar char="n"/>
              <a:defRPr/>
            </a:pP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If a reference is used for performance in parameters, and will not be changed, using keyword const is recommended (for safe)</a:t>
            </a:r>
          </a:p>
          <a:p>
            <a:pPr marL="742950" marR="0" lvl="1" indent="-285750" algn="l" defTabSz="914400" rtl="0" eaLnBrk="1" fontAlgn="base" latinLnBrk="0" hangingPunct="1">
              <a:lnSpc>
                <a:spcPct val="80000"/>
              </a:lnSpc>
              <a:spcBef>
                <a:spcPct val="20000"/>
              </a:spcBef>
              <a:spcAft>
                <a:spcPct val="0"/>
              </a:spcAft>
              <a:buClr>
                <a:schemeClr val="tx2"/>
              </a:buClr>
              <a:buSzPct val="70000"/>
              <a:buFont typeface="Wingdings" panose="05000000000000000000" pitchFamily="2" charset="2"/>
              <a:buChar char="n"/>
              <a:defRPr/>
            </a:pP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int f(const int&amp; </a:t>
            </a:r>
            <a:r>
              <a:rPr kumimoji="1" lang="en-US" altLang="zh-CN" sz="20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ri</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endParaRPr kumimoji="1" lang="en-US" altLang="zh-CN" sz="1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accent1"/>
              </a:buClr>
              <a:buSzPct val="80000"/>
              <a:buFont typeface="Wingdings" panose="05000000000000000000" pitchFamily="2" charset="2"/>
              <a:buChar char="n"/>
              <a:defRPr/>
            </a:pPr>
            <a:endPar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accent1"/>
              </a:buClr>
              <a:buSzPct val="80000"/>
              <a:buFont typeface="Wingdings" panose="05000000000000000000" pitchFamily="2" charset="2"/>
              <a:buNone/>
              <a:defRPr/>
            </a:pP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#define MAX 5000;  	  </a:t>
            </a:r>
            <a:r>
              <a:rPr kumimoji="1" lang="en-US" altLang="zh-CN" sz="2000" b="0" i="0" u="none" strike="noStrike" kern="1200" cap="none" spc="0" normalizeH="0" baseline="0" noProof="0" dirty="0">
                <a:ln>
                  <a:noFill/>
                </a:ln>
                <a:solidFill>
                  <a:srgbClr val="FFCC00"/>
                </a:solidFill>
                <a:effectLst>
                  <a:outerShdw blurRad="38100" dist="38100" dir="2700000" algn="tl">
                    <a:srgbClr val="000000"/>
                  </a:outerShdw>
                </a:effectLst>
                <a:uLnTx/>
                <a:uFillTx/>
                <a:latin typeface="+mn-lt"/>
                <a:ea typeface="+mn-ea"/>
                <a:cs typeface="+mn-cs"/>
              </a:rPr>
              <a:t>const</a:t>
            </a: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int MAX = 5000;</a:t>
            </a:r>
          </a:p>
          <a:p>
            <a:pPr marL="342900" marR="0" lvl="0" indent="-342900" algn="l" defTabSz="914400" rtl="0" eaLnBrk="1" fontAlgn="base" latinLnBrk="0" hangingPunct="1">
              <a:lnSpc>
                <a:spcPct val="80000"/>
              </a:lnSpc>
              <a:spcBef>
                <a:spcPct val="20000"/>
              </a:spcBef>
              <a:spcAft>
                <a:spcPct val="0"/>
              </a:spcAft>
              <a:buClr>
                <a:schemeClr val="accent1"/>
              </a:buClr>
              <a:buSzPct val="80000"/>
              <a:buFont typeface="Wingdings" panose="05000000000000000000" pitchFamily="2" charset="2"/>
              <a:buChar char="n"/>
              <a:defRPr/>
            </a:pPr>
            <a:r>
              <a:rPr kumimoji="1"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const is also recommended to replace the #define macro, for the visibility in symbol table during compiling</a:t>
            </a:r>
          </a:p>
        </p:txBody>
      </p:sp>
      <p:sp>
        <p:nvSpPr>
          <p:cNvPr id="105476" name="灯片编号占位符 4"/>
          <p:cNvSpPr txBox="1"/>
          <p:nvPr/>
        </p:nvSpPr>
        <p:spPr>
          <a:xfrm>
            <a:off x="7885113" y="6442075"/>
            <a:ext cx="1008062" cy="215900"/>
          </a:xfrm>
          <a:prstGeom prst="rect">
            <a:avLst/>
          </a:prstGeom>
          <a:noFill/>
          <a:ln w="9525">
            <a:noFill/>
          </a:ln>
        </p:spPr>
        <p:txBody>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latin typeface="+mn-lt"/>
                <a:ea typeface="+mn-ea"/>
                <a:cs typeface="+mn-cs"/>
              </a:defRPr>
            </a:lvl5pPr>
          </a:lstStyle>
          <a:p>
            <a:pPr marL="0" lvl="0" indent="0" algn="r">
              <a:buClrTx/>
              <a:buSzTx/>
              <a:buFontTx/>
              <a:buNone/>
            </a:pPr>
            <a:fld id="{9A0DB2DC-4C9A-4742-B13C-FB6460FD3503}" type="slidenum">
              <a:rPr lang="en-US" altLang="zh-CN" sz="1200" dirty="0">
                <a:latin typeface="微软雅黑" panose="020B0503020204020204" pitchFamily="34" charset="-122"/>
                <a:ea typeface="微软雅黑" panose="020B0503020204020204" pitchFamily="34" charset="-122"/>
              </a:rPr>
              <a:t>53</a:t>
            </a:fld>
            <a:endParaRPr lang="en-US" altLang="zh-CN" sz="12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 calcmode="lin" valueType="num">
                                      <p:cBhvr additive="base">
                                        <p:cTn id="7" dur="500" fill="hold"/>
                                        <p:tgtEl>
                                          <p:spTgt spid="2457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457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4579">
                                            <p:txEl>
                                              <p:pRg st="1" end="1"/>
                                            </p:txEl>
                                          </p:spTgt>
                                        </p:tgtEl>
                                        <p:attrNameLst>
                                          <p:attrName>style.visibility</p:attrName>
                                        </p:attrNameLst>
                                      </p:cBhvr>
                                      <p:to>
                                        <p:strVal val="visible"/>
                                      </p:to>
                                    </p:set>
                                    <p:anim calcmode="lin" valueType="num">
                                      <p:cBhvr additive="base">
                                        <p:cTn id="13" dur="500" fill="hold"/>
                                        <p:tgtEl>
                                          <p:spTgt spid="2457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2457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24579">
                                            <p:txEl>
                                              <p:pRg st="2" end="2"/>
                                            </p:txEl>
                                          </p:spTgt>
                                        </p:tgtEl>
                                        <p:attrNameLst>
                                          <p:attrName>style.visibility</p:attrName>
                                        </p:attrNameLst>
                                      </p:cBhvr>
                                      <p:to>
                                        <p:strVal val="visible"/>
                                      </p:to>
                                    </p:set>
                                    <p:anim calcmode="lin" valueType="num">
                                      <p:cBhvr additive="base">
                                        <p:cTn id="19" dur="500" fill="hold"/>
                                        <p:tgtEl>
                                          <p:spTgt spid="24579">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2457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24579">
                                            <p:txEl>
                                              <p:pRg st="3" end="3"/>
                                            </p:txEl>
                                          </p:spTgt>
                                        </p:tgtEl>
                                        <p:attrNameLst>
                                          <p:attrName>style.visibility</p:attrName>
                                        </p:attrNameLst>
                                      </p:cBhvr>
                                      <p:to>
                                        <p:strVal val="visible"/>
                                      </p:to>
                                    </p:set>
                                    <p:anim calcmode="lin" valueType="num">
                                      <p:cBhvr additive="base">
                                        <p:cTn id="25" dur="500" fill="hold"/>
                                        <p:tgtEl>
                                          <p:spTgt spid="24579">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24579">
                                            <p:txEl>
                                              <p:pRg st="3" end="3"/>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24579">
                                            <p:txEl>
                                              <p:pRg st="4" end="4"/>
                                            </p:txEl>
                                          </p:spTgt>
                                        </p:tgtEl>
                                        <p:attrNameLst>
                                          <p:attrName>style.visibility</p:attrName>
                                        </p:attrNameLst>
                                      </p:cBhvr>
                                      <p:to>
                                        <p:strVal val="visible"/>
                                      </p:to>
                                    </p:set>
                                    <p:anim calcmode="lin" valueType="num">
                                      <p:cBhvr additive="base">
                                        <p:cTn id="29" dur="500" fill="hold"/>
                                        <p:tgtEl>
                                          <p:spTgt spid="24579">
                                            <p:txEl>
                                              <p:pRg st="4" end="4"/>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2457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24579">
                                            <p:txEl>
                                              <p:pRg st="6" end="6"/>
                                            </p:txEl>
                                          </p:spTgt>
                                        </p:tgtEl>
                                        <p:attrNameLst>
                                          <p:attrName>style.visibility</p:attrName>
                                        </p:attrNameLst>
                                      </p:cBhvr>
                                      <p:to>
                                        <p:strVal val="visible"/>
                                      </p:to>
                                    </p:set>
                                    <p:anim calcmode="lin" valueType="num">
                                      <p:cBhvr additive="base">
                                        <p:cTn id="35" dur="500" fill="hold"/>
                                        <p:tgtEl>
                                          <p:spTgt spid="24579">
                                            <p:txEl>
                                              <p:pRg st="6" end="6"/>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2457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24579">
                                            <p:txEl>
                                              <p:pRg st="7" end="7"/>
                                            </p:txEl>
                                          </p:spTgt>
                                        </p:tgtEl>
                                        <p:attrNameLst>
                                          <p:attrName>style.visibility</p:attrName>
                                        </p:attrNameLst>
                                      </p:cBhvr>
                                      <p:to>
                                        <p:strVal val="visible"/>
                                      </p:to>
                                    </p:set>
                                    <p:anim calcmode="lin" valueType="num">
                                      <p:cBhvr additive="base">
                                        <p:cTn id="41" dur="500" fill="hold"/>
                                        <p:tgtEl>
                                          <p:spTgt spid="24579">
                                            <p:txEl>
                                              <p:pRg st="7" end="7"/>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24579">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Const (cont.)</a:t>
            </a:r>
          </a:p>
        </p:txBody>
      </p:sp>
      <p:sp>
        <p:nvSpPr>
          <p:cNvPr id="63491" name="Rectangle 3"/>
          <p:cNvSpPr>
            <a:spLocks noGrp="1" noChangeArrowheads="1"/>
          </p:cNvSpPr>
          <p:nvPr>
            <p:ph idx="1"/>
          </p:nvPr>
        </p:nvSpPr>
        <p:spPr>
          <a:xfrm>
            <a:off x="685800" y="1981200"/>
            <a:ext cx="7772400" cy="4256088"/>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Overview of the const</a:t>
            </a:r>
          </a:p>
          <a:p>
            <a:pPr marL="1143000" marR="0" lvl="2" indent="-2286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400" b="0" i="0" u="none" strike="noStrike" kern="1200" cap="none" spc="0" normalizeH="0" baseline="0" noProof="0" dirty="0">
                <a:ln>
                  <a:noFill/>
                </a:ln>
                <a:solidFill>
                  <a:srgbClr val="FFCC00"/>
                </a:solidFill>
                <a:effectLst>
                  <a:outerShdw blurRad="38100" dist="38100" dir="2700000" algn="tl">
                    <a:srgbClr val="000000"/>
                  </a:outerShdw>
                </a:effectLst>
                <a:uLnTx/>
                <a:uFillTx/>
                <a:latin typeface="+mn-lt"/>
                <a:ea typeface="+mn-ea"/>
                <a:cs typeface="+mn-cs"/>
              </a:rPr>
              <a:t>const </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int*p =&amp;</a:t>
            </a:r>
            <a:r>
              <a:rPr kumimoji="1" lang="en-US" altLang="zh-CN" sz="2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a:p>
            <a:pPr marL="1143000" marR="0" lvl="2" indent="-2286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int </a:t>
            </a:r>
            <a:r>
              <a:rPr kumimoji="1" lang="en-US" altLang="zh-CN" sz="2400" b="0" i="0" u="none" strike="noStrike" kern="1200" cap="none" spc="0" normalizeH="0" baseline="0" noProof="0" dirty="0">
                <a:ln>
                  <a:noFill/>
                </a:ln>
                <a:solidFill>
                  <a:srgbClr val="FFCC00"/>
                </a:solidFill>
                <a:effectLst>
                  <a:outerShdw blurRad="38100" dist="38100" dir="2700000" algn="tl">
                    <a:srgbClr val="000000"/>
                  </a:outerShdw>
                </a:effectLst>
                <a:uLnTx/>
                <a:uFillTx/>
                <a:latin typeface="+mn-lt"/>
                <a:ea typeface="+mn-ea"/>
                <a:cs typeface="+mn-cs"/>
              </a:rPr>
              <a:t>const</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p =&amp;</a:t>
            </a:r>
            <a:r>
              <a:rPr kumimoji="1" lang="en-US" altLang="zh-CN" sz="2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a:p>
            <a:pPr marL="1143000" marR="0" lvl="2" indent="-2286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int* </a:t>
            </a:r>
            <a:r>
              <a:rPr kumimoji="1" lang="en-US" altLang="zh-CN" sz="2400" b="0" i="0" u="none" strike="noStrike" kern="1200" cap="none" spc="0" normalizeH="0" baseline="0" noProof="0" dirty="0">
                <a:ln>
                  <a:noFill/>
                </a:ln>
                <a:solidFill>
                  <a:srgbClr val="FFCC00"/>
                </a:solidFill>
                <a:effectLst>
                  <a:outerShdw blurRad="38100" dist="38100" dir="2700000" algn="tl">
                    <a:srgbClr val="000000"/>
                  </a:outerShdw>
                </a:effectLst>
                <a:uLnTx/>
                <a:uFillTx/>
                <a:latin typeface="+mn-lt"/>
                <a:ea typeface="+mn-ea"/>
                <a:cs typeface="+mn-cs"/>
              </a:rPr>
              <a:t>const</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p =&amp;</a:t>
            </a:r>
            <a:r>
              <a:rPr kumimoji="1" lang="en-US" altLang="zh-CN" sz="2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a:p>
            <a:pPr marL="1143000" marR="0" lvl="2" indent="-2286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400" b="0" i="0" u="none" strike="noStrike" kern="1200" cap="none" spc="0" normalizeH="0" baseline="0" noProof="0" dirty="0">
                <a:ln>
                  <a:noFill/>
                </a:ln>
                <a:solidFill>
                  <a:srgbClr val="FFCC00"/>
                </a:solidFill>
                <a:effectLst>
                  <a:outerShdw blurRad="38100" dist="38100" dir="2700000" algn="tl">
                    <a:srgbClr val="000000"/>
                  </a:outerShdw>
                </a:effectLst>
                <a:uLnTx/>
                <a:uFillTx/>
                <a:latin typeface="+mn-lt"/>
                <a:ea typeface="+mn-ea"/>
                <a:cs typeface="+mn-cs"/>
              </a:rPr>
              <a:t>const </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int* </a:t>
            </a:r>
            <a:r>
              <a:rPr kumimoji="1" lang="en-US" altLang="zh-CN" sz="2400" b="0" i="0" u="none" strike="noStrike" kern="1200" cap="none" spc="0" normalizeH="0" baseline="0" noProof="0" dirty="0">
                <a:ln>
                  <a:noFill/>
                </a:ln>
                <a:solidFill>
                  <a:srgbClr val="FFCC00"/>
                </a:solidFill>
                <a:effectLst>
                  <a:outerShdw blurRad="38100" dist="38100" dir="2700000" algn="tl">
                    <a:srgbClr val="000000"/>
                  </a:outerShdw>
                </a:effectLst>
                <a:uLnTx/>
                <a:uFillTx/>
                <a:latin typeface="+mn-lt"/>
                <a:ea typeface="+mn-ea"/>
                <a:cs typeface="+mn-cs"/>
              </a:rPr>
              <a:t>const</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p=&amp;</a:t>
            </a:r>
            <a:r>
              <a:rPr kumimoji="1" lang="en-US" altLang="zh-CN" sz="24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a:p>
            <a:pPr marL="1143000" marR="0" lvl="2" indent="-2286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400" b="0" i="0" u="none" strike="noStrike" kern="1200" cap="none" spc="0" normalizeH="0" baseline="0" noProof="0" dirty="0">
                <a:ln>
                  <a:noFill/>
                </a:ln>
                <a:solidFill>
                  <a:srgbClr val="FFCC00"/>
                </a:solidFill>
                <a:effectLst>
                  <a:outerShdw blurRad="38100" dist="38100" dir="2700000" algn="tl">
                    <a:srgbClr val="000000"/>
                  </a:outerShdw>
                </a:effectLst>
                <a:uLnTx/>
                <a:uFillTx/>
                <a:latin typeface="+mn-lt"/>
                <a:ea typeface="+mn-ea"/>
                <a:cs typeface="+mn-cs"/>
              </a:rPr>
              <a:t>const</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X&amp; X::clone();</a:t>
            </a:r>
          </a:p>
          <a:p>
            <a:pPr marL="1143000" marR="0" lvl="2" indent="-2286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a:pPr>
            <a:endPar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1143000" marR="0" lvl="2" indent="-2286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a:pP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int X::f() </a:t>
            </a:r>
            <a:r>
              <a:rPr kumimoji="1" lang="en-US" altLang="zh-CN" sz="2400" b="0" i="0" u="none" strike="noStrike" kern="1200" cap="none" spc="0" normalizeH="0" baseline="0" noProof="0" dirty="0">
                <a:ln>
                  <a:noFill/>
                </a:ln>
                <a:solidFill>
                  <a:srgbClr val="FFCC00"/>
                </a:solidFill>
                <a:effectLst>
                  <a:outerShdw blurRad="38100" dist="38100" dir="2700000" algn="tl">
                    <a:srgbClr val="000000"/>
                  </a:outerShdw>
                </a:effectLst>
                <a:uLnTx/>
                <a:uFillTx/>
                <a:latin typeface="+mn-lt"/>
                <a:ea typeface="+mn-ea"/>
                <a:cs typeface="+mn-cs"/>
              </a:rPr>
              <a:t>const</a:t>
            </a:r>
            <a:r>
              <a:rPr kumimoji="1" lang="en-US" altLang="zh-CN" sz="24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p:txBody>
      </p:sp>
      <p:sp>
        <p:nvSpPr>
          <p:cNvPr id="107524" name="灯片编号占位符 4"/>
          <p:cNvSpPr txBox="1"/>
          <p:nvPr/>
        </p:nvSpPr>
        <p:spPr>
          <a:xfrm>
            <a:off x="7885113" y="6442075"/>
            <a:ext cx="1008062" cy="215900"/>
          </a:xfrm>
          <a:prstGeom prst="rect">
            <a:avLst/>
          </a:prstGeom>
          <a:noFill/>
          <a:ln w="9525">
            <a:noFill/>
          </a:ln>
        </p:spPr>
        <p:txBody>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latin typeface="+mn-lt"/>
                <a:ea typeface="+mn-ea"/>
                <a:cs typeface="+mn-cs"/>
              </a:defRPr>
            </a:lvl5pPr>
          </a:lstStyle>
          <a:p>
            <a:pPr marL="0" lvl="0" indent="0" algn="r">
              <a:buClrTx/>
              <a:buSzTx/>
              <a:buFontTx/>
              <a:buNone/>
            </a:pPr>
            <a:fld id="{9A0DB2DC-4C9A-4742-B13C-FB6460FD3503}" type="slidenum">
              <a:rPr lang="en-US" altLang="zh-CN" sz="1200" dirty="0">
                <a:latin typeface="微软雅黑" panose="020B0503020204020204" pitchFamily="34" charset="-122"/>
                <a:ea typeface="微软雅黑" panose="020B0503020204020204" pitchFamily="34" charset="-122"/>
              </a:rPr>
              <a:t>54</a:t>
            </a:fld>
            <a:endParaRPr lang="en-US" altLang="zh-CN" sz="12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anim calcmode="lin" valueType="num">
                                      <p:cBhvr additive="base">
                                        <p:cTn id="7" dur="500" fill="hold"/>
                                        <p:tgtEl>
                                          <p:spTgt spid="6349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349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3491">
                                            <p:txEl>
                                              <p:pRg st="1" end="1"/>
                                            </p:txEl>
                                          </p:spTgt>
                                        </p:tgtEl>
                                        <p:attrNameLst>
                                          <p:attrName>style.visibility</p:attrName>
                                        </p:attrNameLst>
                                      </p:cBhvr>
                                      <p:to>
                                        <p:strVal val="visible"/>
                                      </p:to>
                                    </p:set>
                                    <p:anim calcmode="lin" valueType="num">
                                      <p:cBhvr additive="base">
                                        <p:cTn id="11" dur="500" fill="hold"/>
                                        <p:tgtEl>
                                          <p:spTgt spid="63491">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63491">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63491">
                                            <p:txEl>
                                              <p:pRg st="2" end="2"/>
                                            </p:txEl>
                                          </p:spTgt>
                                        </p:tgtEl>
                                        <p:attrNameLst>
                                          <p:attrName>style.visibility</p:attrName>
                                        </p:attrNameLst>
                                      </p:cBhvr>
                                      <p:to>
                                        <p:strVal val="visible"/>
                                      </p:to>
                                    </p:set>
                                    <p:anim calcmode="lin" valueType="num">
                                      <p:cBhvr additive="base">
                                        <p:cTn id="15" dur="500" fill="hold"/>
                                        <p:tgtEl>
                                          <p:spTgt spid="63491">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63491">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63491">
                                            <p:txEl>
                                              <p:pRg st="3" end="3"/>
                                            </p:txEl>
                                          </p:spTgt>
                                        </p:tgtEl>
                                        <p:attrNameLst>
                                          <p:attrName>style.visibility</p:attrName>
                                        </p:attrNameLst>
                                      </p:cBhvr>
                                      <p:to>
                                        <p:strVal val="visible"/>
                                      </p:to>
                                    </p:set>
                                    <p:anim calcmode="lin" valueType="num">
                                      <p:cBhvr additive="base">
                                        <p:cTn id="19" dur="500" fill="hold"/>
                                        <p:tgtEl>
                                          <p:spTgt spid="63491">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63491">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63491">
                                            <p:txEl>
                                              <p:pRg st="4" end="4"/>
                                            </p:txEl>
                                          </p:spTgt>
                                        </p:tgtEl>
                                        <p:attrNameLst>
                                          <p:attrName>style.visibility</p:attrName>
                                        </p:attrNameLst>
                                      </p:cBhvr>
                                      <p:to>
                                        <p:strVal val="visible"/>
                                      </p:to>
                                    </p:set>
                                    <p:anim calcmode="lin" valueType="num">
                                      <p:cBhvr additive="base">
                                        <p:cTn id="23" dur="500" fill="hold"/>
                                        <p:tgtEl>
                                          <p:spTgt spid="63491">
                                            <p:txEl>
                                              <p:pRg st="4" end="4"/>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63491">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63491">
                                            <p:txEl>
                                              <p:pRg st="5" end="5"/>
                                            </p:txEl>
                                          </p:spTgt>
                                        </p:tgtEl>
                                        <p:attrNameLst>
                                          <p:attrName>style.visibility</p:attrName>
                                        </p:attrNameLst>
                                      </p:cBhvr>
                                      <p:to>
                                        <p:strVal val="visible"/>
                                      </p:to>
                                    </p:set>
                                    <p:anim calcmode="lin" valueType="num">
                                      <p:cBhvr additive="base">
                                        <p:cTn id="27" dur="500" fill="hold"/>
                                        <p:tgtEl>
                                          <p:spTgt spid="63491">
                                            <p:txEl>
                                              <p:pRg st="5" end="5"/>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63491">
                                            <p:txEl>
                                              <p:pRg st="5" end="5"/>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63491">
                                            <p:txEl>
                                              <p:pRg st="7" end="7"/>
                                            </p:txEl>
                                          </p:spTgt>
                                        </p:tgtEl>
                                        <p:attrNameLst>
                                          <p:attrName>style.visibility</p:attrName>
                                        </p:attrNameLst>
                                      </p:cBhvr>
                                      <p:to>
                                        <p:strVal val="visible"/>
                                      </p:to>
                                    </p:set>
                                    <p:anim calcmode="lin" valueType="num">
                                      <p:cBhvr additive="base">
                                        <p:cTn id="31" dur="500" fill="hold"/>
                                        <p:tgtEl>
                                          <p:spTgt spid="63491">
                                            <p:txEl>
                                              <p:pRg st="7" end="7"/>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63491">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Class</a:t>
            </a:r>
          </a:p>
        </p:txBody>
      </p:sp>
      <p:sp>
        <p:nvSpPr>
          <p:cNvPr id="25603" name="Rectangle 3"/>
          <p:cNvSpPr>
            <a:spLocks noGrp="1" noChangeArrowheads="1"/>
          </p:cNvSpPr>
          <p:nvPr>
            <p:ph idx="1"/>
          </p:nvPr>
        </p:nvSpPr>
        <p:spPr>
          <a:xfrm>
            <a:off x="533400" y="1752600"/>
            <a:ext cx="7620000" cy="251460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None/>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class </a:t>
            </a:r>
            <a:r>
              <a:rPr kumimoji="1" lang="en-US" altLang="zh-CN" sz="2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CExap</a:t>
            </a: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class </a:t>
            </a:r>
            <a:r>
              <a:rPr kumimoji="1" lang="en-US" altLang="zh-CN" sz="2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CExap</a:t>
            </a:r>
            <a:endPar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None/>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None/>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public:                         public:</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None/>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int </a:t>
            </a:r>
            <a:r>
              <a:rPr kumimoji="1" lang="en-US" altLang="zh-CN" sz="2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m_iX</a:t>
            </a: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int </a:t>
            </a:r>
            <a:r>
              <a:rPr kumimoji="1" lang="en-US" altLang="zh-CN" sz="2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m_iX</a:t>
            </a: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None/>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None/>
              <a:defRPr/>
            </a:pPr>
            <a:r>
              <a:rPr kumimoji="1" lang="en-US" altLang="zh-CN" sz="2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CExap</a:t>
            </a: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v;                     </a:t>
            </a:r>
            <a:r>
              <a:rPr kumimoji="1" lang="en-US" altLang="zh-CN" sz="28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CExap</a:t>
            </a: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v; </a:t>
            </a:r>
          </a:p>
          <a:p>
            <a:pPr marL="342900" marR="0" lvl="0" indent="-342900" algn="l" defTabSz="914400" rtl="0" eaLnBrk="1" fontAlgn="base" latinLnBrk="0" hangingPunct="1">
              <a:lnSpc>
                <a:spcPct val="90000"/>
              </a:lnSpc>
              <a:spcBef>
                <a:spcPct val="20000"/>
              </a:spcBef>
              <a:spcAft>
                <a:spcPct val="0"/>
              </a:spcAft>
              <a:buClr>
                <a:schemeClr val="accent1"/>
              </a:buClr>
              <a:buSzPct val="80000"/>
              <a:buFont typeface="Wingdings" panose="05000000000000000000" pitchFamily="2" charset="2"/>
              <a:buNone/>
              <a:defRPr/>
            </a:pPr>
            <a:endPar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25604" name="Rectangle 4"/>
          <p:cNvSpPr>
            <a:spLocks noChangeArrowheads="1"/>
          </p:cNvSpPr>
          <p:nvPr/>
        </p:nvSpPr>
        <p:spPr bwMode="auto">
          <a:xfrm>
            <a:off x="533400" y="4572000"/>
            <a:ext cx="7772400" cy="762000"/>
          </a:xfrm>
          <a:prstGeom prst="rect">
            <a:avLst/>
          </a:prstGeom>
          <a:noFill/>
          <a:ln>
            <a:noFill/>
          </a:ln>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a:pPr>
            <a:r>
              <a:rPr kumimoji="1" lang="en-US" altLang="zh-CN" sz="3200" b="0" i="0" u="none" strike="noStrike" kern="1200" cap="none" spc="0" normalizeH="0" baseline="0" noProof="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v</a:t>
            </a:r>
            <a:r>
              <a:rPr kumimoji="1" lang="en-US" altLang="zh-CN" sz="3200" b="0" i="0" u="none" strike="noStrike" kern="1200" cap="none" spc="0" normalizeH="0" baseline="0" noProof="0">
                <a:ln>
                  <a:noFill/>
                </a:ln>
                <a:solidFill>
                  <a:srgbClr val="FFCC00"/>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a:t>
            </a:r>
            <a:r>
              <a:rPr kumimoji="1" lang="en-US" altLang="zh-CN" sz="3200" b="0" i="0" u="none" strike="noStrike" kern="1200" cap="none" spc="0" normalizeH="0" baseline="0" noProof="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m_iX = 0;		 v</a:t>
            </a:r>
            <a:r>
              <a:rPr kumimoji="1" lang="en-US" altLang="zh-CN" sz="3200" b="0" i="0" u="none" strike="noStrike" kern="1200" cap="none" spc="0" normalizeH="0" baseline="0" noProof="0">
                <a:ln>
                  <a:noFill/>
                </a:ln>
                <a:solidFill>
                  <a:srgbClr val="FFCC00"/>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-&gt;</a:t>
            </a:r>
            <a:r>
              <a:rPr kumimoji="1" lang="en-US" altLang="zh-CN" sz="3200" b="0" i="0" u="none" strike="noStrike" kern="1200" cap="none" spc="0" normalizeH="0" baseline="0" noProof="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m_iX = 0;</a:t>
            </a:r>
          </a:p>
        </p:txBody>
      </p:sp>
      <p:sp>
        <p:nvSpPr>
          <p:cNvPr id="25605" name="Rectangle 5"/>
          <p:cNvSpPr>
            <a:spLocks noChangeArrowheads="1"/>
          </p:cNvSpPr>
          <p:nvPr/>
        </p:nvSpPr>
        <p:spPr bwMode="auto">
          <a:xfrm>
            <a:off x="533400" y="5257800"/>
            <a:ext cx="7772400" cy="1143000"/>
          </a:xfrm>
          <a:prstGeom prst="rect">
            <a:avLst/>
          </a:prstGeom>
          <a:noFill/>
          <a:ln>
            <a:noFill/>
          </a:ln>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3200" b="0" i="0" u="none" strike="noStrike" kern="1200" cap="none" spc="0" normalizeH="0" baseline="0" noProof="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 is after an object, -&gt; is after a pointer (or iterator)</a:t>
            </a:r>
          </a:p>
        </p:txBody>
      </p:sp>
      <p:sp>
        <p:nvSpPr>
          <p:cNvPr id="109574" name="灯片编号占位符 4"/>
          <p:cNvSpPr txBox="1"/>
          <p:nvPr/>
        </p:nvSpPr>
        <p:spPr>
          <a:xfrm>
            <a:off x="7885113" y="6442075"/>
            <a:ext cx="1008062" cy="215900"/>
          </a:xfrm>
          <a:prstGeom prst="rect">
            <a:avLst/>
          </a:prstGeom>
          <a:noFill/>
          <a:ln w="9525">
            <a:noFill/>
          </a:ln>
        </p:spPr>
        <p:txBody>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latin typeface="+mn-lt"/>
                <a:ea typeface="+mn-ea"/>
                <a:cs typeface="+mn-cs"/>
              </a:defRPr>
            </a:lvl5pPr>
          </a:lstStyle>
          <a:p>
            <a:pPr marL="0" lvl="0" indent="0" algn="r">
              <a:buClrTx/>
              <a:buSzTx/>
              <a:buFontTx/>
              <a:buNone/>
            </a:pPr>
            <a:fld id="{9A0DB2DC-4C9A-4742-B13C-FB6460FD3503}" type="slidenum">
              <a:rPr lang="en-US" altLang="zh-CN" sz="1200" dirty="0">
                <a:latin typeface="微软雅黑" panose="020B0503020204020204" pitchFamily="34" charset="-122"/>
                <a:ea typeface="微软雅黑" panose="020B0503020204020204" pitchFamily="34" charset="-122"/>
              </a:rPr>
              <a:t>55</a:t>
            </a:fld>
            <a:endParaRPr lang="en-US" altLang="zh-CN" sz="12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56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560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grpId="0" nodeType="clickEffect">
                                  <p:stCondLst>
                                    <p:cond delay="0"/>
                                  </p:stCondLst>
                                  <p:childTnLst>
                                    <p:set>
                                      <p:cBhvr>
                                        <p:cTn id="14" dur="1" fill="hold">
                                          <p:stCondLst>
                                            <p:cond delay="0"/>
                                          </p:stCondLst>
                                        </p:cTn>
                                        <p:tgtEl>
                                          <p:spTgt spid="25605"/>
                                        </p:tgtEl>
                                        <p:attrNameLst>
                                          <p:attrName>style.visibility</p:attrName>
                                        </p:attrNameLst>
                                      </p:cBhvr>
                                      <p:to>
                                        <p:strVal val="visible"/>
                                      </p:to>
                                    </p:set>
                                    <p:anim calcmode="lin" valueType="num">
                                      <p:cBhvr additive="base">
                                        <p:cTn id="15" dur="500" fill="hold"/>
                                        <p:tgtEl>
                                          <p:spTgt spid="25605"/>
                                        </p:tgtEl>
                                        <p:attrNameLst>
                                          <p:attrName>ppt_x</p:attrName>
                                        </p:attrNameLst>
                                      </p:cBhvr>
                                      <p:tavLst>
                                        <p:tav tm="0">
                                          <p:val>
                                            <p:strVal val="1+#ppt_w/2"/>
                                          </p:val>
                                        </p:tav>
                                        <p:tav tm="100000">
                                          <p:val>
                                            <p:strVal val="#ppt_x"/>
                                          </p:val>
                                        </p:tav>
                                      </p:tavLst>
                                    </p:anim>
                                    <p:anim calcmode="lin" valueType="num">
                                      <p:cBhvr additive="base">
                                        <p:cTn id="16" dur="500" fill="hold"/>
                                        <p:tgtEl>
                                          <p:spTgt spid="2560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p:bldP spid="25604" grpId="0"/>
      <p:bldP spid="2560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120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Summary</a:t>
            </a:r>
          </a:p>
        </p:txBody>
      </p:sp>
      <p:sp>
        <p:nvSpPr>
          <p:cNvPr id="36867"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Important concepts in C, still useful in C++</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C++ coding style</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Namespace</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Vector class template</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String &amp; streaming file class library </a:t>
            </a:r>
          </a:p>
          <a:p>
            <a:pPr marL="342900" marR="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a:pPr>
            <a:r>
              <a:rPr kumimoji="1" lang="en-US" altLang="zh-CN"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Reference</a:t>
            </a:r>
          </a:p>
        </p:txBody>
      </p:sp>
      <p:sp>
        <p:nvSpPr>
          <p:cNvPr id="111620" name="灯片编号占位符 4"/>
          <p:cNvSpPr txBox="1"/>
          <p:nvPr/>
        </p:nvSpPr>
        <p:spPr>
          <a:xfrm>
            <a:off x="7885113" y="6442075"/>
            <a:ext cx="1008062" cy="215900"/>
          </a:xfrm>
          <a:prstGeom prst="rect">
            <a:avLst/>
          </a:prstGeom>
          <a:noFill/>
          <a:ln w="9525">
            <a:noFill/>
          </a:ln>
        </p:spPr>
        <p:txBody>
          <a:bodyPr/>
          <a:lstStyle>
            <a:lvl1pPr marL="342900" indent="-342900" algn="l" rtl="0" eaLnBrk="0" fontAlgn="base" hangingPunct="0">
              <a:spcBef>
                <a:spcPct val="20000"/>
              </a:spcBef>
              <a:spcAft>
                <a:spcPct val="0"/>
              </a:spcAft>
              <a:buClr>
                <a:schemeClr val="accent1"/>
              </a:buClr>
              <a:buSzPct val="80000"/>
              <a:buFont typeface="Wingdings" panose="05000000000000000000" pitchFamily="2" charset="2"/>
              <a:buChar char="n"/>
              <a:defRPr kumimoji="1" sz="3200" kern="1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n"/>
              <a:defRPr kumimoji="1" sz="2800" kern="1200">
                <a:solidFill>
                  <a:schemeClr val="tx1"/>
                </a:solidFill>
                <a:effectLst/>
                <a:latin typeface="+mn-lt"/>
                <a:ea typeface="+mn-ea"/>
                <a:cs typeface="+mn-cs"/>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n"/>
              <a:defRPr kumimoji="1" sz="2400" kern="1200">
                <a:solidFill>
                  <a:schemeClr val="tx1"/>
                </a:solidFill>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latin typeface="+mn-lt"/>
                <a:ea typeface="+mn-ea"/>
                <a:cs typeface="+mn-cs"/>
              </a:defRPr>
            </a:lvl4pPr>
            <a:lvl5pPr marL="2057400" indent="-228600" algn="l" rtl="0" eaLnBrk="0" fontAlgn="base" hangingPunct="0">
              <a:spcBef>
                <a:spcPct val="20000"/>
              </a:spcBef>
              <a:spcAft>
                <a:spcPct val="0"/>
              </a:spcAft>
              <a:buClr>
                <a:schemeClr val="tx2"/>
              </a:buClr>
              <a:buSzPct val="55000"/>
              <a:buFont typeface="Wingdings" panose="05000000000000000000" pitchFamily="2" charset="2"/>
              <a:buChar char="n"/>
              <a:defRPr kumimoji="1" sz="2000" kern="1200">
                <a:solidFill>
                  <a:schemeClr val="tx1"/>
                </a:solidFill>
                <a:effectLst/>
                <a:latin typeface="+mn-lt"/>
                <a:ea typeface="+mn-ea"/>
                <a:cs typeface="+mn-cs"/>
              </a:defRPr>
            </a:lvl5pPr>
          </a:lstStyle>
          <a:p>
            <a:pPr marL="0" lvl="0" indent="0" algn="r">
              <a:buClrTx/>
              <a:buSzTx/>
              <a:buFontTx/>
              <a:buNone/>
            </a:pPr>
            <a:fld id="{9A0DB2DC-4C9A-4742-B13C-FB6460FD3503}" type="slidenum">
              <a:rPr lang="en-US" altLang="zh-CN" sz="1200" dirty="0">
                <a:latin typeface="微软雅黑" panose="020B0503020204020204" pitchFamily="34" charset="-122"/>
                <a:ea typeface="微软雅黑" panose="020B0503020204020204" pitchFamily="34" charset="-122"/>
              </a:rPr>
              <a:t>56</a:t>
            </a:fld>
            <a:endParaRPr lang="en-US" altLang="zh-CN" sz="12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anim calcmode="lin" valueType="num">
                                      <p:cBhvr additive="base">
                                        <p:cTn id="7" dur="500" fill="hold"/>
                                        <p:tgtEl>
                                          <p:spTgt spid="3686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68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6867">
                                            <p:txEl>
                                              <p:pRg st="1" end="1"/>
                                            </p:txEl>
                                          </p:spTgt>
                                        </p:tgtEl>
                                        <p:attrNameLst>
                                          <p:attrName>style.visibility</p:attrName>
                                        </p:attrNameLst>
                                      </p:cBhvr>
                                      <p:to>
                                        <p:strVal val="visible"/>
                                      </p:to>
                                    </p:set>
                                    <p:anim calcmode="lin" valueType="num">
                                      <p:cBhvr additive="base">
                                        <p:cTn id="13" dur="500" fill="hold"/>
                                        <p:tgtEl>
                                          <p:spTgt spid="3686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68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6867">
                                            <p:txEl>
                                              <p:pRg st="2" end="2"/>
                                            </p:txEl>
                                          </p:spTgt>
                                        </p:tgtEl>
                                        <p:attrNameLst>
                                          <p:attrName>style.visibility</p:attrName>
                                        </p:attrNameLst>
                                      </p:cBhvr>
                                      <p:to>
                                        <p:strVal val="visible"/>
                                      </p:to>
                                    </p:set>
                                    <p:anim calcmode="lin" valueType="num">
                                      <p:cBhvr additive="base">
                                        <p:cTn id="19" dur="500" fill="hold"/>
                                        <p:tgtEl>
                                          <p:spTgt spid="3686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686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36867">
                                            <p:txEl>
                                              <p:pRg st="3" end="3"/>
                                            </p:txEl>
                                          </p:spTgt>
                                        </p:tgtEl>
                                        <p:attrNameLst>
                                          <p:attrName>style.visibility</p:attrName>
                                        </p:attrNameLst>
                                      </p:cBhvr>
                                      <p:to>
                                        <p:strVal val="visible"/>
                                      </p:to>
                                    </p:set>
                                    <p:anim calcmode="lin" valueType="num">
                                      <p:cBhvr additive="base">
                                        <p:cTn id="25" dur="500" fill="hold"/>
                                        <p:tgtEl>
                                          <p:spTgt spid="36867">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686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36867">
                                            <p:txEl>
                                              <p:pRg st="4" end="4"/>
                                            </p:txEl>
                                          </p:spTgt>
                                        </p:tgtEl>
                                        <p:attrNameLst>
                                          <p:attrName>style.visibility</p:attrName>
                                        </p:attrNameLst>
                                      </p:cBhvr>
                                      <p:to>
                                        <p:strVal val="visible"/>
                                      </p:to>
                                    </p:set>
                                    <p:anim calcmode="lin" valueType="num">
                                      <p:cBhvr additive="base">
                                        <p:cTn id="31" dur="500" fill="hold"/>
                                        <p:tgtEl>
                                          <p:spTgt spid="36867">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3686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36867">
                                            <p:txEl>
                                              <p:pRg st="5" end="5"/>
                                            </p:txEl>
                                          </p:spTgt>
                                        </p:tgtEl>
                                        <p:attrNameLst>
                                          <p:attrName>style.visibility</p:attrName>
                                        </p:attrNameLst>
                                      </p:cBhvr>
                                      <p:to>
                                        <p:strVal val="visible"/>
                                      </p:to>
                                    </p:set>
                                    <p:anim calcmode="lin" valueType="num">
                                      <p:cBhvr additive="base">
                                        <p:cTn id="37" dur="500" fill="hold"/>
                                        <p:tgtEl>
                                          <p:spTgt spid="36867">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3686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p:bldLst>
  </p:timing>
</p:sld>
</file>

<file path=ppt/theme/theme1.xml><?xml version="1.0" encoding="utf-8"?>
<a:theme xmlns:a="http://schemas.openxmlformats.org/drawingml/2006/main" name="Whirlpool">
  <a:themeElements>
    <a:clrScheme name="Whirlpool 1">
      <a:dk1>
        <a:srgbClr val="000066"/>
      </a:dk1>
      <a:lt1>
        <a:srgbClr val="FFFFFF"/>
      </a:lt1>
      <a:dk2>
        <a:srgbClr val="0000CC"/>
      </a:dk2>
      <a:lt2>
        <a:srgbClr val="CCFFFF"/>
      </a:lt2>
      <a:accent1>
        <a:srgbClr val="CC99FF"/>
      </a:accent1>
      <a:accent2>
        <a:srgbClr val="9999FF"/>
      </a:accent2>
      <a:accent3>
        <a:srgbClr val="AAAAE2"/>
      </a:accent3>
      <a:accent4>
        <a:srgbClr val="DADADA"/>
      </a:accent4>
      <a:accent5>
        <a:srgbClr val="E2CAFF"/>
      </a:accent5>
      <a:accent6>
        <a:srgbClr val="8A8AE7"/>
      </a:accent6>
      <a:hlink>
        <a:srgbClr val="99CCFF"/>
      </a:hlink>
      <a:folHlink>
        <a:srgbClr val="0066FF"/>
      </a:folHlink>
    </a:clrScheme>
    <a:fontScheme name="Whirlpool">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Whirlpool 1">
        <a:dk1>
          <a:srgbClr val="000066"/>
        </a:dk1>
        <a:lt1>
          <a:srgbClr val="FFFFFF"/>
        </a:lt1>
        <a:dk2>
          <a:srgbClr val="0000CC"/>
        </a:dk2>
        <a:lt2>
          <a:srgbClr val="CCFFFF"/>
        </a:lt2>
        <a:accent1>
          <a:srgbClr val="CC99FF"/>
        </a:accent1>
        <a:accent2>
          <a:srgbClr val="9999FF"/>
        </a:accent2>
        <a:accent3>
          <a:srgbClr val="AAAAE2"/>
        </a:accent3>
        <a:accent4>
          <a:srgbClr val="DADADA"/>
        </a:accent4>
        <a:accent5>
          <a:srgbClr val="E2CAFF"/>
        </a:accent5>
        <a:accent6>
          <a:srgbClr val="8A8AE7"/>
        </a:accent6>
        <a:hlink>
          <a:srgbClr val="99CCFF"/>
        </a:hlink>
        <a:folHlink>
          <a:srgbClr val="0066FF"/>
        </a:folHlink>
      </a:clrScheme>
      <a:clrMap bg1="dk2" tx1="lt1" bg2="dk1" tx2="lt2" accent1="accent1" accent2="accent2" accent3="accent3" accent4="accent4" accent5="accent5" accent6="accent6" hlink="hlink" folHlink="folHlink"/>
    </a:extraClrScheme>
    <a:extraClrScheme>
      <a:clrScheme name="Whirlpool 2">
        <a:dk1>
          <a:srgbClr val="000066"/>
        </a:dk1>
        <a:lt1>
          <a:srgbClr val="FFFFFF"/>
        </a:lt1>
        <a:dk2>
          <a:srgbClr val="6699FF"/>
        </a:dk2>
        <a:lt2>
          <a:srgbClr val="CCFFFF"/>
        </a:lt2>
        <a:accent1>
          <a:srgbClr val="CC99FF"/>
        </a:accent1>
        <a:accent2>
          <a:srgbClr val="9999FF"/>
        </a:accent2>
        <a:accent3>
          <a:srgbClr val="B8CAFF"/>
        </a:accent3>
        <a:accent4>
          <a:srgbClr val="DADADA"/>
        </a:accent4>
        <a:accent5>
          <a:srgbClr val="E2CAFF"/>
        </a:accent5>
        <a:accent6>
          <a:srgbClr val="8A8AE7"/>
        </a:accent6>
        <a:hlink>
          <a:srgbClr val="99CCFF"/>
        </a:hlink>
        <a:folHlink>
          <a:srgbClr val="0066FF"/>
        </a:folHlink>
      </a:clrScheme>
      <a:clrMap bg1="dk2" tx1="lt1" bg2="dk1" tx2="lt2" accent1="accent1" accent2="accent2" accent3="accent3" accent4="accent4" accent5="accent5" accent6="accent6" hlink="hlink" folHlink="folHlink"/>
    </a:extraClrScheme>
    <a:extraClrScheme>
      <a:clrScheme name="Whirlpool 3">
        <a:dk1>
          <a:srgbClr val="393939"/>
        </a:dk1>
        <a:lt1>
          <a:srgbClr val="FFFFFF"/>
        </a:lt1>
        <a:dk2>
          <a:srgbClr val="000000"/>
        </a:dk2>
        <a:lt2>
          <a:srgbClr val="FFFFFF"/>
        </a:lt2>
        <a:accent1>
          <a:srgbClr val="CBCBCB"/>
        </a:accent1>
        <a:accent2>
          <a:srgbClr val="868686"/>
        </a:accent2>
        <a:accent3>
          <a:srgbClr val="AAAAAA"/>
        </a:accent3>
        <a:accent4>
          <a:srgbClr val="DADADA"/>
        </a:accent4>
        <a:accent5>
          <a:srgbClr val="E2E2E2"/>
        </a:accent5>
        <a:accent6>
          <a:srgbClr val="797979"/>
        </a:accent6>
        <a:hlink>
          <a:srgbClr val="4D4D4D"/>
        </a:hlink>
        <a:folHlink>
          <a:srgbClr val="EAEAEA"/>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D:\office2000\Templates\Presentation Designs\Whirlpool.pot</Template>
  <TotalTime>33</TotalTime>
  <Words>9387</Words>
  <Application>Microsoft Office PowerPoint</Application>
  <PresentationFormat>全屏显示(4:3)</PresentationFormat>
  <Paragraphs>810</Paragraphs>
  <Slides>56</Slides>
  <Notes>39</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56</vt:i4>
      </vt:variant>
    </vt:vector>
  </HeadingPairs>
  <TitlesOfParts>
    <vt:vector size="65" baseType="lpstr">
      <vt:lpstr>等线</vt:lpstr>
      <vt:lpstr>微软雅黑</vt:lpstr>
      <vt:lpstr>Arial</vt:lpstr>
      <vt:lpstr>Courier New</vt:lpstr>
      <vt:lpstr>Lucida Console</vt:lpstr>
      <vt:lpstr>Tahoma</vt:lpstr>
      <vt:lpstr>Times New Roman</vt:lpstr>
      <vt:lpstr>Wingdings</vt:lpstr>
      <vt:lpstr>Whirlpool</vt:lpstr>
      <vt:lpstr>The C++  Programming Language</vt:lpstr>
      <vt:lpstr>Brief Introduction &amp; Requirements</vt:lpstr>
      <vt:lpstr>Why C++ is very important?</vt:lpstr>
      <vt:lpstr>Readings In-Depth</vt:lpstr>
      <vt:lpstr>We Need To Know This Guy</vt:lpstr>
      <vt:lpstr>Why C++ is very important?</vt:lpstr>
      <vt:lpstr>High-level Languages</vt:lpstr>
      <vt:lpstr>Procedural Languages</vt:lpstr>
      <vt:lpstr>Object-Oriented Languages</vt:lpstr>
      <vt:lpstr>Differences</vt:lpstr>
      <vt:lpstr>Differences -procedural</vt:lpstr>
      <vt:lpstr>Differences – OO</vt:lpstr>
      <vt:lpstr>PowerPoint 演示文稿</vt:lpstr>
      <vt:lpstr>Coding Style Requirements   -- Naming Conventions</vt:lpstr>
      <vt:lpstr>Coding Style Requirements   -- Naming Conventions (cont.)</vt:lpstr>
      <vt:lpstr>Coding Style Requirements   -- Naming Conventions (cont.)</vt:lpstr>
      <vt:lpstr>Coding Style Requirements   -- Code Indentation</vt:lpstr>
      <vt:lpstr>Useful Concepts Review</vt:lpstr>
      <vt:lpstr>PowerPoint 演示文稿</vt:lpstr>
      <vt:lpstr>PowerPoint 演示文稿</vt:lpstr>
      <vt:lpstr>PowerPoint 演示文稿</vt:lpstr>
      <vt:lpstr>PowerPoint 演示文稿</vt:lpstr>
      <vt:lpstr>Literal constants</vt:lpstr>
      <vt:lpstr>structures</vt:lpstr>
      <vt:lpstr>struct</vt:lpstr>
      <vt:lpstr>Pointer</vt:lpstr>
      <vt:lpstr>Reviewing C in C++</vt:lpstr>
      <vt:lpstr>Reviewing C in C++</vt:lpstr>
      <vt:lpstr>Reviewing C in C++ (cont.)</vt:lpstr>
      <vt:lpstr>Reviewing C in C++ (cont.)</vt:lpstr>
      <vt:lpstr>Reviewing C in C++</vt:lpstr>
      <vt:lpstr>Reviewing C in C++</vt:lpstr>
      <vt:lpstr>Reviewing C in C++</vt:lpstr>
      <vt:lpstr>Reviewing C in C++ (cont.)</vt:lpstr>
      <vt:lpstr>From C to C++</vt:lpstr>
      <vt:lpstr>Let’s compare these</vt:lpstr>
      <vt:lpstr>Namespace</vt:lpstr>
      <vt:lpstr>Namespace</vt:lpstr>
      <vt:lpstr>Namespace(cont.)</vt:lpstr>
      <vt:lpstr>Namespace(cont.)</vt:lpstr>
      <vt:lpstr>Vector-Except for arrays</vt:lpstr>
      <vt:lpstr>Vectors</vt:lpstr>
      <vt:lpstr>Vector</vt:lpstr>
      <vt:lpstr>string class</vt:lpstr>
      <vt:lpstr>Input and Output (IO)</vt:lpstr>
      <vt:lpstr>C++ IO</vt:lpstr>
      <vt:lpstr>Streaming File</vt:lpstr>
      <vt:lpstr>Streaming File</vt:lpstr>
      <vt:lpstr>Reference</vt:lpstr>
      <vt:lpstr>Reference</vt:lpstr>
      <vt:lpstr>Reference (cont.)</vt:lpstr>
      <vt:lpstr>Reference</vt:lpstr>
      <vt:lpstr>Const (cont.)</vt:lpstr>
      <vt:lpstr>Const (cont.)</vt:lpstr>
      <vt:lpstr>Class</vt:lpstr>
      <vt:lpstr>Summary</vt:lpstr>
    </vt:vector>
  </TitlesOfParts>
  <Company>Infoman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  Programming Language</dc:title>
  <dc:creator>guobin</dc:creator>
  <cp:lastModifiedBy>丰夏 韩</cp:lastModifiedBy>
  <cp:revision>580</cp:revision>
  <dcterms:created xsi:type="dcterms:W3CDTF">2002-10-05T03:55:09Z</dcterms:created>
  <dcterms:modified xsi:type="dcterms:W3CDTF">2025-09-15T07:33:36Z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E396F74E14D141269F6BCEA26F328642_12</vt:lpwstr>
  </property>
  <property fmtid="{D5CDD505-2E9C-101B-9397-08002B2CF9AE}" pid="3" name="KSOProductBuildVer">
    <vt:lpwstr>2052-12.1.0.22529</vt:lpwstr>
  </property>
</Properties>
</file>