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5"/>
  </p:notesMasterIdLst>
  <p:handoutMasterIdLst>
    <p:handoutMasterId r:id="rId46"/>
  </p:handoutMasterIdLst>
  <p:sldIdLst>
    <p:sldId id="256" r:id="rId3"/>
    <p:sldId id="257" r:id="rId4"/>
    <p:sldId id="282" r:id="rId5"/>
    <p:sldId id="284" r:id="rId6"/>
    <p:sldId id="258" r:id="rId7"/>
    <p:sldId id="321" r:id="rId8"/>
    <p:sldId id="259" r:id="rId9"/>
    <p:sldId id="260" r:id="rId10"/>
    <p:sldId id="285" r:id="rId11"/>
    <p:sldId id="322" r:id="rId12"/>
    <p:sldId id="262" r:id="rId13"/>
    <p:sldId id="263" r:id="rId14"/>
    <p:sldId id="264" r:id="rId15"/>
    <p:sldId id="265" r:id="rId16"/>
    <p:sldId id="266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7" r:id="rId25"/>
    <p:sldId id="298" r:id="rId26"/>
    <p:sldId id="280" r:id="rId27"/>
    <p:sldId id="278" r:id="rId28"/>
    <p:sldId id="279" r:id="rId29"/>
    <p:sldId id="286" r:id="rId30"/>
    <p:sldId id="281" r:id="rId31"/>
    <p:sldId id="283" r:id="rId32"/>
    <p:sldId id="299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9144000" cy="6858000" type="screen4x3"/>
  <p:notesSz cx="6858000" cy="9144000"/>
  <p:custDataLst>
    <p:tags r:id="rId4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FF3300"/>
    <a:srgbClr val="9900FF"/>
    <a:srgbClr val="DDDDDD"/>
    <a:srgbClr val="663300"/>
    <a:srgbClr val="000066"/>
    <a:srgbClr val="CC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6" autoAdjust="0"/>
    <p:restoredTop sz="93231" autoAdjust="0"/>
  </p:normalViewPr>
  <p:slideViewPr>
    <p:cSldViewPr>
      <p:cViewPr varScale="1">
        <p:scale>
          <a:sx n="80" d="100"/>
          <a:sy n="80" d="100"/>
        </p:scale>
        <p:origin x="1339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D980F655-E164-5CC6-480D-74268D32DCD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76C0FF55-2A69-A263-F1FB-3417FE68FBC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8548" name="Rectangle 4">
            <a:extLst>
              <a:ext uri="{FF2B5EF4-FFF2-40B4-BE49-F238E27FC236}">
                <a16:creationId xmlns:a16="http://schemas.microsoft.com/office/drawing/2014/main" id="{28F6206F-CD01-9C15-FD34-6A1DF682582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8549" name="Rectangle 5">
            <a:extLst>
              <a:ext uri="{FF2B5EF4-FFF2-40B4-BE49-F238E27FC236}">
                <a16:creationId xmlns:a16="http://schemas.microsoft.com/office/drawing/2014/main" id="{E1A76487-77EA-9D21-EF10-4A9CD10A388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4F7B204-25CF-463F-9C3E-982F758FC3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4E684DE-60D4-802E-FC2E-F6D66A69C5E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38C139A-B615-464F-88B2-BBCF0A76A41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4B81A6D-E682-240D-0904-F29BBB47613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B296A3FC-DD2A-520A-58F0-6254848858A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9047887C-705F-29D1-06C3-961D2C2BAAC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80DF8DB7-7E19-3609-4BC7-2C9D639E7D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64F042B-9B04-42F0-80E1-A0F978816B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597F86CB-3D47-0826-6A63-CCB7067D67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fld id="{9EA02714-A86B-4EA6-A15D-691972EE2FC6}" type="slidenum">
              <a:rPr lang="zh-CN" altLang="en-US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</a:t>
            </a:fld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88DEF3BB-BCDD-AE3A-105E-EF5FC8D1251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7256AF0D-1236-CFBD-28F4-2BB360E7D05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/>
              <a:t>欢迎辞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E17EC5DB-C2E8-370D-3B40-968A766831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49670E0F-4699-A9D3-6942-617A67A12C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51E3F086-BF07-447C-C585-2AFB489304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fld id="{7CEAF3A0-4683-4D0F-B7DC-0A02405089D8}" type="slidenum">
              <a:rPr lang="zh-CN" altLang="en-US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9</a:t>
            </a:fld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93756671-2AA9-EE95-EF87-9406A0E277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E060CA5F-2853-3E55-897C-45FCF0EC52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3D00E5DD-CD4A-F287-4C5D-281A055F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fld id="{0A253FEE-2AA3-41A6-8292-F8037F6107B7}" type="slidenum">
              <a:rPr lang="zh-CN" altLang="en-US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13</a:t>
            </a:fld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2C8AFD-007E-61A2-8213-01D78CE03F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AF19D8-5ED7-9342-73C2-20B580CBF1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22EC0A-5897-67A7-9F47-9D0DA3C556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BA454C-8312-4E93-BED1-7789088C53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996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9791810-C40F-8DC3-E300-12F2E9A0C6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58C4E9B-3CC8-BE51-D8E2-B4274D5636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DDCF46-797F-CD8E-C8EC-0AAA1B9736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CFB3EE-5C03-4D6D-A85A-924185B06D1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085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F3750C5-6EEB-FC6B-5E13-BC22188541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02B3F5-00D5-3B94-6065-3A0C2FFB0B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BE5A654-C57B-A880-16AD-EC95FEF475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1C0838-5F7B-4ECE-BEF7-C4FD5DEC2D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070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C566CC-48D2-E501-7455-97CF5E4855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FB2E06-9A63-F5A3-E0C0-99C7264EA4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9BE0B1-4094-ECB6-7222-B95FCF517B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CE155-E060-4869-B809-6565800F20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952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65E4889-9E53-4ADE-A580-AAE38BC885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A56DBC2-F877-4208-6243-8DBC1AC4B7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A9139F5-8F05-D1A8-F926-CCEECB9677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217A6-33C1-4701-BD00-DAD960E7494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097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57B1525-8699-4453-BA70-6F90D3EAC1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3FC15AB-2C0F-6375-D78E-199E580D93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B45CBFC-9D1F-0BDB-239C-4F738C2DFF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FE1FD-9711-4041-B32D-B9195C0B1C8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208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42821E4-D9A0-4E4B-33F4-7D17D947B6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5C26F16-A783-BAD7-47E5-17D965A4DC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610F184-4A7B-DE94-2AF1-CF7F71D580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33ED61-CC63-4211-8D1C-C0843FFFD4A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979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4C90B7-55EE-524A-F6EA-859629AB51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E9070C-0A06-68E2-868B-E5719FE1EA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94BFBB-4689-353B-F027-4665894671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16BA5-6350-4A5F-A50E-5724E1325B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693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EAAC85-6415-845F-535D-8BF2425F80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EAF87A-1B96-C44D-4DAB-F4B99058A9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BCD961-662D-180A-C9D4-00C64F67A3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791271-B0AB-4D88-9375-C8D3B46747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605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F99273-ACFA-1A0E-C414-A90F2DD6EB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3C2A8A-D6B0-4298-BD5F-C20CAE88A0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208034-460F-704E-D127-052C693B0F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009EF-84F0-451E-822E-166848AA9A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52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6FD6BF-8908-5864-25BB-B3F000EBDC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48518D-5C42-268A-B114-49136767D7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A284A5-404D-476D-41D5-DB2B599D44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7E5BA7-E8D3-4386-9D97-F8C6A4C49F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764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B4301D0-B917-D150-574B-34A2E65F12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D854ED1-0189-5226-7F0F-CDBFA4729D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A6741E-CBF7-0D75-B642-EDF6E9A6EE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CBD83C-EE34-4BE6-8242-2DA36D08F1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816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054628-9CC6-59F7-3CEE-E2A7D8959D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676162-CFEC-F4B5-38E3-BF51C345E8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FD0BAB-CFE5-7551-E26A-E7C3CED94F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FC376-8CD4-4385-A5B0-81C6A89BC9C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196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0B86DC-46E4-CAAA-5414-882390F07C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5BF980-C7A2-927F-BA45-2E75749C0B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9F572A-54FD-7C42-1DD2-024575E9A1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067F55-0F0A-4AC4-AF48-40A4581F015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813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89D677-ED64-1069-B90C-B77629EF2F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727661-B4FB-466D-629B-EB7C6FB36A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4386E1-7D1A-6DA3-B072-02A8B077EF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6D059F-D9E8-41A7-9C8B-7FE5030166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13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C9422A6-EB8A-4E06-6016-BCED875CC2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D3B8D14-B127-E0E3-E6A7-299E738D1F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EE056AD-FBD9-A789-2240-DD4F46A6FB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475BD-B1E3-45FB-9234-02EA073FE3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400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D482ECA-5687-0F27-983A-C83F3384C4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EB536FE-EBAF-C209-8237-5401CA75D2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06AFBD4-C15C-D783-541E-5BB1A9BF47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E98014-7DA3-40EE-A704-948F12A248B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8561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641A51E-1F8F-1A86-7037-471815B5D0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B3F318D-D91D-EF6C-4BDC-1B79C3BB5F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413AC3-6154-658C-9AC2-421667E890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548FD-DDE0-43B0-B205-36CEA446CCB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710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3D67A-848E-AD99-B4CA-9424F4A316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BEAB7D-D3C3-4592-E5FC-EEEE219AB5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5B6B33-6C8B-61D7-994C-8EE0752916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C3D3E0-6B7F-4E32-9522-BAD89FEFD8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3196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7F75D4-7A81-E807-7E3D-42C4E0A5B7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A04F-129C-0083-E2FB-D01F0A3ACF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8DE7AC-C853-388C-2AD1-37094DC7DD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3F8765-4E87-419E-BB38-E5240AFA260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6766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AD135B-2C74-8D5D-BE6E-033C2E83C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781B6A-CD0B-4BB0-2095-DB778B6E9F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B27DFF-D1B4-5085-265B-8BF308D80F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313AB7-ED89-4211-A4B7-C333EE4490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022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9473FA-794A-702E-32B9-8404E2ED3E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853634-A941-9A32-3202-7C2F47945C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C73E76-3101-E49E-1BF0-CE58CB5B34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D3B05-F730-463F-B990-D5B5402A83C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99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161564D-8DD0-F2A3-9333-5E1E45E2E84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14FAFA1-23B8-6AB7-3125-E910924BFC4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6132" name="Rectangle 4">
            <a:extLst>
              <a:ext uri="{FF2B5EF4-FFF2-40B4-BE49-F238E27FC236}">
                <a16:creationId xmlns:a16="http://schemas.microsoft.com/office/drawing/2014/main" id="{954DC814-2B58-4369-1E31-39312096658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BC7EF70F-C918-D431-9D38-F8A173769A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6134" name="Rectangle 6">
            <a:extLst>
              <a:ext uri="{FF2B5EF4-FFF2-40B4-BE49-F238E27FC236}">
                <a16:creationId xmlns:a16="http://schemas.microsoft.com/office/drawing/2014/main" id="{555DC4BE-3F75-683D-3490-E269AF7E71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08C74C8-B968-4AAA-A555-F45E23C60B8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33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6F3103F-56F8-11FC-6507-83C7AC61FA0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2C93A86-0189-C5F9-CC6C-3B9B71729C3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6132" name="Rectangle 4">
            <a:extLst>
              <a:ext uri="{FF2B5EF4-FFF2-40B4-BE49-F238E27FC236}">
                <a16:creationId xmlns:a16="http://schemas.microsoft.com/office/drawing/2014/main" id="{5D534106-8BA6-FD62-0614-E2D0092F7A0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BFDD4E67-B044-6978-BFBE-E87A4D5BEEA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6134" name="Rectangle 6">
            <a:extLst>
              <a:ext uri="{FF2B5EF4-FFF2-40B4-BE49-F238E27FC236}">
                <a16:creationId xmlns:a16="http://schemas.microsoft.com/office/drawing/2014/main" id="{5A81753D-7246-960A-CCE4-954AADF0F42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E543EF1-3A86-4CD0-8F90-FE4EF974CC5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33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12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9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>
            <a:extLst>
              <a:ext uri="{FF2B5EF4-FFF2-40B4-BE49-F238E27FC236}">
                <a16:creationId xmlns:a16="http://schemas.microsoft.com/office/drawing/2014/main" id="{E23941BF-6A27-F0CC-0B9A-BBDFCE4A4B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A0226A-314F-4B9E-B75E-201658D18820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zh-CN" altLang="en-US" sz="14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4E2D72E5-C7A8-3F3F-B62B-A2350D76996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1916113"/>
            <a:ext cx="8064500" cy="1081087"/>
          </a:xfrm>
        </p:spPr>
        <p:txBody>
          <a:bodyPr/>
          <a:lstStyle/>
          <a:p>
            <a:pPr eaLnBrk="1" hangingPunct="1"/>
            <a:r>
              <a:rPr lang="zh-CN" altLang="en-US" sz="4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第3章 一阶逻辑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>
            <a:extLst>
              <a:ext uri="{FF2B5EF4-FFF2-40B4-BE49-F238E27FC236}">
                <a16:creationId xmlns:a16="http://schemas.microsoft.com/office/drawing/2014/main" id="{CE87DE38-FF1F-F697-27B8-152DF90208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85B3B8-8581-40F4-8F63-94B4139DA73B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zh-CN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F97CCD06-4337-357A-204E-B41C5FDF66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800">
                <a:solidFill>
                  <a:srgbClr val="01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第3章</a:t>
            </a:r>
            <a:r>
              <a:rPr lang="zh-CN" altLang="en-US" sz="4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一阶逻辑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525D6F18-B5BE-D018-49F4-F882B83FD5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2341563"/>
            <a:ext cx="7772400" cy="2311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zh-CN" altLang="en-US" b="1"/>
              <a:t>3.1 一阶逻辑基本概念</a:t>
            </a:r>
          </a:p>
          <a:p>
            <a:pPr eaLnBrk="1" hangingPunct="1">
              <a:lnSpc>
                <a:spcPct val="200000"/>
              </a:lnSpc>
              <a:spcBef>
                <a:spcPct val="60000"/>
              </a:spcBef>
            </a:pPr>
            <a:r>
              <a:rPr lang="zh-CN" altLang="en-US" b="1"/>
              <a:t>3.2 一阶逻辑等值演算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06B7D8C2-FFD5-678D-62EB-35E85EC018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E62178-8EB6-454A-A79B-51E20C11E6EC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zh-CN" altLang="en-US" sz="14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51116D01-F645-DC09-FC75-1F35C973A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800">
                <a:solidFill>
                  <a:srgbClr val="800000"/>
                </a:solidFill>
                <a:ea typeface="黑体" panose="02010609060101010101" pitchFamily="49" charset="-122"/>
              </a:rPr>
              <a:t>3.1</a:t>
            </a:r>
            <a:r>
              <a:rPr lang="zh-CN" altLang="en-US" sz="4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一阶逻辑基本概念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EBD86C8-C621-B8C9-912A-64D91B1C4E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001000" cy="3962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zh-CN" altLang="en-US" b="1"/>
              <a:t>3.1.1 命题逻辑的局限性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b="1"/>
              <a:t>3.1.2 个体词、谓词与量词</a:t>
            </a:r>
          </a:p>
          <a:p>
            <a:pPr lvl="1" eaLnBrk="1" hangingPunct="1"/>
            <a:r>
              <a:rPr lang="zh-CN" altLang="en-US" b="1"/>
              <a:t>个体常项、个体变项、个体域、全总个体域</a:t>
            </a:r>
          </a:p>
          <a:p>
            <a:pPr lvl="1" eaLnBrk="1" hangingPunct="1"/>
            <a:r>
              <a:rPr lang="zh-CN" altLang="en-US" b="1"/>
              <a:t>谓词常项、谓词变项</a:t>
            </a:r>
          </a:p>
          <a:p>
            <a:pPr lvl="1" eaLnBrk="1" hangingPunct="1"/>
            <a:r>
              <a:rPr lang="zh-CN" altLang="en-US" b="1"/>
              <a:t>全称量词、存在量词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b="1"/>
              <a:t>3.1.3 一阶逻辑命题符号化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>
            <a:extLst>
              <a:ext uri="{FF2B5EF4-FFF2-40B4-BE49-F238E27FC236}">
                <a16:creationId xmlns:a16="http://schemas.microsoft.com/office/drawing/2014/main" id="{EB4D3D0A-129A-8671-113E-7AD87C4931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925AC9-8BF6-439A-B7D7-1D8BD8CB5273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zh-CN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A5A154F5-95DE-5F9F-848E-91790FCCB1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800">
                <a:solidFill>
                  <a:srgbClr val="800000"/>
                </a:solidFill>
                <a:ea typeface="黑体" panose="02010609060101010101" pitchFamily="49" charset="-122"/>
              </a:rPr>
              <a:t>3.1</a:t>
            </a:r>
            <a:r>
              <a:rPr lang="zh-CN" altLang="en-US" sz="4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一阶逻辑基本概念(续)</a:t>
            </a:r>
            <a:endParaRPr lang="en-US" altLang="zh-CN" sz="48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5D748B2C-2D33-ED4A-FF6F-AA2A2E94B3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4343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zh-CN" altLang="en-US" b="1"/>
              <a:t>3.1.4 一阶逻辑公式与分类</a:t>
            </a:r>
          </a:p>
          <a:p>
            <a:pPr lvl="1" eaLnBrk="1" hangingPunct="1"/>
            <a:r>
              <a:rPr lang="zh-CN" altLang="en-US" b="1"/>
              <a:t>一阶语言</a:t>
            </a:r>
            <a:r>
              <a:rPr lang="en-US" altLang="zh-CN" b="1" i="1">
                <a:latin typeface="Palace Script MT" panose="030303020206070C0B05" pitchFamily="66" charset="0"/>
              </a:rPr>
              <a:t>L</a:t>
            </a:r>
            <a:r>
              <a:rPr lang="zh-CN" altLang="en-US" b="1"/>
              <a:t> （字母表、项、原子公式、合式公式）</a:t>
            </a:r>
          </a:p>
          <a:p>
            <a:pPr lvl="1" eaLnBrk="1" hangingPunct="1"/>
            <a:r>
              <a:rPr lang="zh-CN" altLang="en-US" b="1"/>
              <a:t>辖域和指导变元、约束出现和自由出现</a:t>
            </a:r>
          </a:p>
          <a:p>
            <a:pPr lvl="1" eaLnBrk="1" hangingPunct="1"/>
            <a:r>
              <a:rPr lang="zh-CN" altLang="en-US" b="1"/>
              <a:t>闭式</a:t>
            </a:r>
          </a:p>
          <a:p>
            <a:pPr lvl="1" eaLnBrk="1" hangingPunct="1"/>
            <a:r>
              <a:rPr lang="zh-CN" altLang="en-US" b="1"/>
              <a:t>一阶语言</a:t>
            </a:r>
            <a:r>
              <a:rPr lang="en-US" altLang="zh-CN" b="1" i="1">
                <a:latin typeface="Palace Script MT" panose="030303020206070C0B05" pitchFamily="66" charset="0"/>
              </a:rPr>
              <a:t>L</a:t>
            </a:r>
            <a:r>
              <a:rPr lang="en-US" altLang="zh-CN" b="1" i="1">
                <a:latin typeface="English111 Vivace BT" pitchFamily="66" charset="0"/>
              </a:rPr>
              <a:t>  </a:t>
            </a:r>
            <a:r>
              <a:rPr lang="zh-CN" altLang="en-US" b="1"/>
              <a:t>的解释</a:t>
            </a:r>
          </a:p>
          <a:p>
            <a:pPr lvl="1" eaLnBrk="1" hangingPunct="1"/>
            <a:r>
              <a:rPr lang="zh-CN" altLang="en-US" b="1"/>
              <a:t>永真式、矛盾式、可满足式</a:t>
            </a:r>
          </a:p>
          <a:p>
            <a:pPr lvl="1" eaLnBrk="1" hangingPunct="1"/>
            <a:r>
              <a:rPr lang="zh-CN" altLang="en-US" b="1"/>
              <a:t>代换实例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01DC5B44-FDB4-31D6-5526-D351D9D5D7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FDC92E-1857-4A83-A64F-CAE66FB89DCA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zh-CN" altLang="en-US" sz="14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1668B74-2067-7CD8-A677-D6659BC21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命题逻辑的局限性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0FC98150-3C9E-C2F4-83AF-D80E927ACF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3505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/>
              <a:t>考虑下述推理: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凡偶数都能被2整除, 6是偶数, 所以6能被2整除.</a:t>
            </a:r>
          </a:p>
          <a:p>
            <a:pPr eaLnBrk="1" hangingPunct="1">
              <a:buFontTx/>
              <a:buNone/>
            </a:pPr>
            <a:endParaRPr lang="zh-CN" altLang="en-US" sz="2400" b="1"/>
          </a:p>
          <a:p>
            <a:pPr eaLnBrk="1" hangingPunct="1">
              <a:buFontTx/>
              <a:buNone/>
            </a:pPr>
            <a:r>
              <a:rPr lang="zh-CN" altLang="en-US" sz="2400" b="1"/>
              <a:t>在命题逻辑中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令 </a:t>
            </a:r>
            <a:r>
              <a:rPr lang="en-US" altLang="zh-CN" sz="2400" b="1" i="1"/>
              <a:t>p</a:t>
            </a:r>
            <a:r>
              <a:rPr lang="en-US" altLang="zh-CN" sz="2400" b="1"/>
              <a:t>: </a:t>
            </a:r>
            <a:r>
              <a:rPr lang="zh-CN" altLang="en-US" sz="2400" b="1"/>
              <a:t>凡偶数都能被2整除,  </a:t>
            </a:r>
            <a:r>
              <a:rPr lang="en-US" altLang="zh-CN" sz="2400" b="1" i="1"/>
              <a:t>q</a:t>
            </a:r>
            <a:r>
              <a:rPr lang="en-US" altLang="zh-CN" sz="2400" b="1"/>
              <a:t>: 6</a:t>
            </a:r>
            <a:r>
              <a:rPr lang="zh-CN" altLang="en-US" sz="2400" b="1"/>
              <a:t>是偶数,  </a:t>
            </a:r>
            <a:r>
              <a:rPr lang="en-US" altLang="zh-CN" sz="2400" b="1" i="1"/>
              <a:t>r</a:t>
            </a:r>
            <a:r>
              <a:rPr lang="en-US" altLang="zh-CN" sz="2400" b="1"/>
              <a:t>: 6</a:t>
            </a:r>
            <a:r>
              <a:rPr lang="zh-CN" altLang="en-US" sz="2400" b="1"/>
              <a:t>能被2整除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符号化为      (</a:t>
            </a:r>
            <a:r>
              <a:rPr lang="en-US" altLang="zh-CN" sz="2400" b="1" i="1"/>
              <a:t>p 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 q</a:t>
            </a:r>
            <a:r>
              <a:rPr lang="en-US" altLang="zh-CN" sz="2400" b="1"/>
              <a:t>) 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/>
              <a:t> </a:t>
            </a:r>
            <a:r>
              <a:rPr lang="en-US" altLang="zh-CN" sz="2400" b="1" i="1"/>
              <a:t>r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不能证明其正确性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0131DFDC-FB37-B9EB-AD72-977335AB5B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4A0952-6A2D-4CC1-85EC-FAF191E43B6F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zh-CN" altLang="en-US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A86555CC-03B8-7561-B8B7-2D7D5500E6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命题逻辑的局限性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4D3547C0-4EE5-908B-7BE0-801C221109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3505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/>
              <a:t>            </a:t>
            </a:r>
            <a:r>
              <a:rPr lang="zh-CN" altLang="en-US" sz="2400" b="1"/>
              <a:t>在命题逻辑中，命题是最基本的单位，对简单命题不再进行分解，并且不考虑命题之间的内在联系和数量关系。因而命题逻辑具有局限性，甚至无法判断一些简单而常见的推理。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4F5D6943-B00C-8E26-5F8A-F80A9ACA66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883B50-3193-4645-8000-456C4DB2AB15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zh-CN" altLang="en-US" sz="14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7E9C654-2872-B433-DCB9-AA0983C92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个体词与个体域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B611D19F-C477-D249-41DD-5D208493EE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077200" cy="4419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个体词</a:t>
            </a:r>
            <a:r>
              <a:rPr lang="zh-CN" altLang="en-US" sz="2400" b="1"/>
              <a:t>: 所研究对象中可以独立存在的具体或抽象的客体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    个体常项</a:t>
            </a:r>
            <a:r>
              <a:rPr lang="zh-CN" altLang="en-US" sz="2400" b="1"/>
              <a:t>: 表示具体事物的个体词, 用</a:t>
            </a:r>
            <a:r>
              <a:rPr lang="en-US" altLang="zh-CN" sz="2400" b="1" i="1"/>
              <a:t>a</a:t>
            </a:r>
            <a:r>
              <a:rPr lang="en-US" altLang="zh-CN" sz="2400" b="1"/>
              <a:t>, </a:t>
            </a:r>
            <a:r>
              <a:rPr lang="en-US" altLang="zh-CN" sz="2400" b="1" i="1"/>
              <a:t>b</a:t>
            </a:r>
            <a:r>
              <a:rPr lang="en-US" altLang="zh-CN" sz="2400" b="1"/>
              <a:t>, </a:t>
            </a:r>
            <a:r>
              <a:rPr lang="en-US" altLang="zh-CN" sz="2400" b="1" i="1"/>
              <a:t>c</a:t>
            </a:r>
            <a:r>
              <a:rPr lang="zh-CN" altLang="en-US" sz="2400" b="1"/>
              <a:t>等表示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    个体变项</a:t>
            </a:r>
            <a:r>
              <a:rPr lang="zh-CN" altLang="en-US" sz="2400" b="1"/>
              <a:t>: 表示抽象事物的个体词, 用</a:t>
            </a:r>
            <a:r>
              <a:rPr lang="en-US" altLang="zh-CN" sz="2400" b="1" i="1"/>
              <a:t>x</a:t>
            </a:r>
            <a:r>
              <a:rPr lang="en-US" altLang="zh-CN" sz="2400" b="1"/>
              <a:t>, </a:t>
            </a:r>
            <a:r>
              <a:rPr lang="en-US" altLang="zh-CN" sz="2400" b="1" i="1"/>
              <a:t>y</a:t>
            </a:r>
            <a:r>
              <a:rPr lang="en-US" altLang="zh-CN" sz="2400" b="1"/>
              <a:t>, </a:t>
            </a:r>
            <a:r>
              <a:rPr lang="en-US" altLang="zh-CN" sz="2400" b="1" i="1"/>
              <a:t>z</a:t>
            </a:r>
            <a:r>
              <a:rPr lang="zh-CN" altLang="en-US" sz="2400" b="1"/>
              <a:t>等表示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    个体域</a:t>
            </a:r>
            <a:r>
              <a:rPr lang="zh-CN" altLang="en-US" sz="2400" b="1"/>
              <a:t>: </a:t>
            </a:r>
            <a:r>
              <a:rPr lang="zh-CN" altLang="en-US" sz="2400" b="1">
                <a:solidFill>
                  <a:srgbClr val="00B050"/>
                </a:solidFill>
              </a:rPr>
              <a:t>个体变项</a:t>
            </a:r>
            <a:r>
              <a:rPr lang="zh-CN" altLang="en-US" sz="2400" b="1"/>
              <a:t>的取值范围（或称</a:t>
            </a:r>
            <a:r>
              <a:rPr lang="zh-CN" altLang="en-US" sz="2400" b="1">
                <a:solidFill>
                  <a:srgbClr val="FF0000"/>
                </a:solidFill>
              </a:rPr>
              <a:t>论域</a:t>
            </a:r>
            <a:r>
              <a:rPr lang="zh-CN" altLang="en-US" sz="2400" b="1"/>
              <a:t>）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        全总个体域</a:t>
            </a:r>
            <a:r>
              <a:rPr lang="zh-CN" altLang="en-US" sz="2400" b="1"/>
              <a:t>:   宇宙间一切事物组成的个体域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zh-CN" altLang="en-US" sz="2400" b="1"/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例如  “若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zh-CN" altLang="en-US" sz="2400" b="1">
                <a:solidFill>
                  <a:srgbClr val="000066"/>
                </a:solidFill>
              </a:rPr>
              <a:t>是偶数, 则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zh-CN" altLang="en-US" sz="2400" b="1">
                <a:solidFill>
                  <a:srgbClr val="000066"/>
                </a:solidFill>
              </a:rPr>
              <a:t>能被2整除.” 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     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zh-CN" altLang="en-US" sz="2400" b="1">
                <a:solidFill>
                  <a:srgbClr val="000066"/>
                </a:solidFill>
              </a:rPr>
              <a:t>、偶数和2是个体词, 偶数和2是个体常项, 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zh-CN" altLang="en-US" sz="2400" b="1">
                <a:solidFill>
                  <a:srgbClr val="000066"/>
                </a:solidFill>
              </a:rPr>
              <a:t>是个体变项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    个体域可以是自然数集</a:t>
            </a:r>
            <a:r>
              <a:rPr lang="en-US" altLang="zh-CN" sz="2400" b="1">
                <a:solidFill>
                  <a:srgbClr val="000066"/>
                </a:solidFill>
              </a:rPr>
              <a:t>N, </a:t>
            </a:r>
            <a:r>
              <a:rPr lang="zh-CN" altLang="en-US" sz="2400" b="1">
                <a:solidFill>
                  <a:srgbClr val="000066"/>
                </a:solidFill>
              </a:rPr>
              <a:t>整数集</a:t>
            </a:r>
            <a:r>
              <a:rPr lang="en-US" altLang="zh-CN" sz="2400" b="1">
                <a:solidFill>
                  <a:srgbClr val="000066"/>
                </a:solidFill>
              </a:rPr>
              <a:t>Z,…, </a:t>
            </a:r>
            <a:r>
              <a:rPr lang="zh-CN" altLang="en-US" sz="2400" b="1">
                <a:solidFill>
                  <a:srgbClr val="000066"/>
                </a:solidFill>
              </a:rPr>
              <a:t>也可以是全总个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    体域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645C942C-6D8C-3DC0-838E-80082959D7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E937F1-5D26-451F-BA2A-09E38CD0F363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zh-CN" altLang="en-US" sz="14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4E9C07B6-462B-2B44-E1F6-C7DA446485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066800"/>
          </a:xfrm>
        </p:spPr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谓词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F9D5CF85-68E9-F82D-B5FE-723D9C15F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8458200" cy="4840288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谓词</a:t>
            </a:r>
            <a:r>
              <a:rPr lang="zh-CN" altLang="en-US" sz="2400" b="1"/>
              <a:t>: 表示个体词性质或相互之间关系的词</a:t>
            </a:r>
          </a:p>
          <a:p>
            <a:pPr algn="just" eaLnBrk="1" hangingPunct="1">
              <a:buFontTx/>
              <a:buNone/>
            </a:pPr>
            <a:r>
              <a:rPr lang="zh-CN" altLang="en-US" sz="2400" b="1"/>
              <a:t>     </a:t>
            </a:r>
            <a:r>
              <a:rPr lang="zh-CN" altLang="en-US" sz="2400" b="1">
                <a:solidFill>
                  <a:srgbClr val="FF3300"/>
                </a:solidFill>
              </a:rPr>
              <a:t>谓词常项</a:t>
            </a:r>
            <a:r>
              <a:rPr lang="zh-CN" altLang="en-US" sz="2400" b="1"/>
              <a:t>: 表示具体性质或相互之间关系的谓词</a:t>
            </a:r>
            <a:endParaRPr lang="zh-CN" altLang="en-US" sz="2400" b="1">
              <a:solidFill>
                <a:schemeClr val="bg2"/>
              </a:solidFill>
            </a:endParaRPr>
          </a:p>
          <a:p>
            <a:pPr algn="just" eaLnBrk="1" hangingPunct="1">
              <a:buFontTx/>
              <a:buNone/>
            </a:pPr>
            <a:r>
              <a:rPr lang="zh-CN" altLang="en-US" sz="2400" b="1"/>
              <a:t>     </a:t>
            </a:r>
            <a:r>
              <a:rPr lang="zh-CN" altLang="en-US" sz="2400" b="1">
                <a:solidFill>
                  <a:srgbClr val="FF3300"/>
                </a:solidFill>
              </a:rPr>
              <a:t>谓词变项</a:t>
            </a:r>
            <a:r>
              <a:rPr lang="zh-CN" altLang="en-US" sz="2400" b="1"/>
              <a:t>: 表示抽象性质或相互之间关系的谓词</a:t>
            </a:r>
            <a:endParaRPr lang="en-US" altLang="zh-CN" sz="2400" b="1">
              <a:solidFill>
                <a:schemeClr val="bg2"/>
              </a:solidFill>
            </a:endParaRPr>
          </a:p>
          <a:p>
            <a:pPr algn="just" eaLnBrk="1" hangingPunct="1">
              <a:buFontTx/>
              <a:buNone/>
            </a:pPr>
            <a:r>
              <a:rPr lang="en-US" altLang="zh-CN" sz="2400" b="1"/>
              <a:t>                       </a:t>
            </a:r>
            <a:r>
              <a:rPr lang="zh-CN" altLang="en-US" sz="2400" b="1"/>
              <a:t>谓词用</a:t>
            </a:r>
            <a:r>
              <a:rPr lang="en-US" altLang="zh-CN" sz="2400" b="1" i="1"/>
              <a:t>F,G,H,P</a:t>
            </a:r>
            <a:r>
              <a:rPr lang="zh-CN" altLang="en-US" sz="2400" b="1"/>
              <a:t>等表示 </a:t>
            </a:r>
          </a:p>
          <a:p>
            <a:pPr algn="just" eaLnBrk="1" hangingPunct="1">
              <a:buFontTx/>
              <a:buNone/>
            </a:pPr>
            <a:endParaRPr lang="en-US" altLang="zh-CN" sz="2400" b="1" i="1">
              <a:solidFill>
                <a:srgbClr val="FF0000"/>
              </a:solidFill>
            </a:endParaRPr>
          </a:p>
          <a:p>
            <a:pPr algn="just" eaLnBrk="1" hangingPunct="1">
              <a:buFontTx/>
              <a:buNone/>
            </a:pPr>
            <a:r>
              <a:rPr lang="zh-CN" altLang="en-US" sz="2400" b="1"/>
              <a:t>一般的：</a:t>
            </a:r>
            <a:endParaRPr lang="en-US" altLang="zh-CN" sz="2400" b="1"/>
          </a:p>
          <a:p>
            <a:pPr algn="just" eaLnBrk="1" hangingPunct="1"/>
            <a:r>
              <a:rPr lang="zh-CN" altLang="en-US" sz="2400" b="1"/>
              <a:t>用</a:t>
            </a:r>
            <a:r>
              <a:rPr lang="en-US" altLang="zh-CN" sz="2400" b="1" i="1"/>
              <a:t>F(a)</a:t>
            </a:r>
            <a:r>
              <a:rPr lang="zh-CN" altLang="en-US" sz="2400" b="1"/>
              <a:t>表示个体常项</a:t>
            </a:r>
            <a:r>
              <a:rPr lang="en-US" altLang="zh-CN" sz="2400" b="1"/>
              <a:t>a</a:t>
            </a:r>
            <a:r>
              <a:rPr lang="zh-CN" altLang="en-US" sz="2400" b="1"/>
              <a:t>具有性质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zh-CN" altLang="en-US" sz="2400" b="1"/>
              <a:t>是谓词常项或谓词变项</a:t>
            </a:r>
            <a:r>
              <a:rPr lang="en-US" altLang="zh-CN" sz="2400" b="1"/>
              <a:t>);</a:t>
            </a:r>
          </a:p>
          <a:p>
            <a:pPr algn="just" eaLnBrk="1" hangingPunct="1"/>
            <a:r>
              <a:rPr lang="zh-CN" altLang="en-US" sz="2400" b="1"/>
              <a:t>用 </a:t>
            </a:r>
            <a:r>
              <a:rPr lang="en-US" altLang="zh-CN" sz="2400" b="1" i="1"/>
              <a:t>F(x) </a:t>
            </a:r>
            <a:r>
              <a:rPr lang="zh-CN" altLang="en-US" sz="2400" b="1"/>
              <a:t>表示个体变项</a:t>
            </a:r>
            <a:r>
              <a:rPr lang="en-US" altLang="zh-CN" sz="2400" b="1" i="1"/>
              <a:t>x</a:t>
            </a:r>
            <a:r>
              <a:rPr lang="zh-CN" altLang="en-US" sz="2400" b="1"/>
              <a:t>具有性质</a:t>
            </a:r>
            <a:r>
              <a:rPr lang="en-US" altLang="zh-CN" sz="2400" b="1" i="1"/>
              <a:t>F</a:t>
            </a:r>
            <a:r>
              <a:rPr lang="en-US" altLang="zh-CN" sz="2400" b="1"/>
              <a:t> ;</a:t>
            </a:r>
          </a:p>
          <a:p>
            <a:pPr algn="just" eaLnBrk="1" hangingPunct="1"/>
            <a:r>
              <a:rPr lang="zh-CN" altLang="en-US" sz="2400" b="1"/>
              <a:t>用</a:t>
            </a:r>
            <a:r>
              <a:rPr lang="en-US" altLang="zh-CN" sz="2400" b="1" i="1"/>
              <a:t>F(a,b) </a:t>
            </a:r>
            <a:r>
              <a:rPr lang="zh-CN" altLang="en-US" sz="2400" b="1"/>
              <a:t>表示个体常项</a:t>
            </a:r>
            <a:r>
              <a:rPr lang="en-US" altLang="zh-CN" sz="2400" b="1" i="1"/>
              <a:t>a,b</a:t>
            </a:r>
            <a:r>
              <a:rPr lang="zh-CN" altLang="en-US" sz="2400" b="1"/>
              <a:t>具有关系</a:t>
            </a:r>
            <a:r>
              <a:rPr lang="en-US" altLang="zh-CN" sz="2400" b="1" i="1"/>
              <a:t>F</a:t>
            </a:r>
            <a:r>
              <a:rPr lang="en-US" altLang="zh-CN" sz="2400" b="1"/>
              <a:t>;</a:t>
            </a:r>
          </a:p>
          <a:p>
            <a:pPr algn="just" eaLnBrk="1" hangingPunct="1"/>
            <a:r>
              <a:rPr lang="zh-CN" altLang="en-US" sz="2400" b="1"/>
              <a:t>用 </a:t>
            </a:r>
            <a:r>
              <a:rPr lang="en-US" altLang="zh-CN" sz="2400" b="1" i="1"/>
              <a:t>F(x,y)</a:t>
            </a:r>
            <a:r>
              <a:rPr lang="zh-CN" altLang="en-US" sz="2400" b="1"/>
              <a:t>表示个体变项</a:t>
            </a:r>
            <a:r>
              <a:rPr lang="en-US" altLang="zh-CN" sz="2400" b="1" i="1"/>
              <a:t>x,y</a:t>
            </a:r>
            <a:r>
              <a:rPr lang="zh-CN" altLang="en-US" sz="2400" b="1"/>
              <a:t>具有关系</a:t>
            </a:r>
            <a:r>
              <a:rPr lang="en-US" altLang="zh-CN" sz="2400" b="1" i="1"/>
              <a:t>F</a:t>
            </a:r>
            <a:endParaRPr lang="zh-CN" altLang="en-US" sz="2400" b="1"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21089F82-1C06-D6F0-3FEA-C94FBD612C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2D78F2-2265-4D75-BE58-CBC6B4003046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zh-CN" altLang="en-US" sz="14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1F34F20-D6C5-DC8B-BCAA-5B8398F4E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066800"/>
          </a:xfrm>
        </p:spPr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实例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8E364EC9-ABDB-9E5C-0EDF-0F799BCB56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7772400" cy="4343400"/>
          </a:xfrm>
        </p:spPr>
        <p:txBody>
          <a:bodyPr/>
          <a:lstStyle/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</a:rPr>
              <a:t>例1</a:t>
            </a:r>
            <a:r>
              <a:rPr lang="zh-CN" altLang="en-US" sz="2400" b="1"/>
              <a:t>  (1) 4是偶数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    4是个体常项, “是偶数”是</a:t>
            </a:r>
            <a:r>
              <a:rPr lang="zh-CN" altLang="en-US" sz="2400" b="1">
                <a:solidFill>
                  <a:srgbClr val="FF0000"/>
                </a:solidFill>
              </a:rPr>
              <a:t>谓词常项</a:t>
            </a:r>
            <a:r>
              <a:rPr lang="zh-CN" altLang="en-US" sz="2400" b="1"/>
              <a:t>, 符号化为: </a:t>
            </a:r>
            <a:r>
              <a:rPr lang="en-US" altLang="zh-CN" sz="2400" b="1" i="1"/>
              <a:t>F</a:t>
            </a:r>
            <a:r>
              <a:rPr lang="en-US" altLang="zh-CN" sz="2400" b="1"/>
              <a:t>(4)</a:t>
            </a:r>
            <a:r>
              <a:rPr lang="zh-CN" altLang="en-US" sz="2400" b="1"/>
              <a:t> 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(2) 小王和小李同岁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    小王, 小李是个体常项, 同岁是</a:t>
            </a:r>
            <a:r>
              <a:rPr lang="zh-CN" altLang="en-US" sz="2400" b="1">
                <a:solidFill>
                  <a:srgbClr val="FF0000"/>
                </a:solidFill>
              </a:rPr>
              <a:t>谓词常项</a:t>
            </a:r>
            <a:r>
              <a:rPr lang="zh-CN" altLang="en-US" sz="2400" b="1"/>
              <a:t>. 记</a:t>
            </a:r>
            <a:r>
              <a:rPr lang="en-US" altLang="zh-CN" sz="2400" b="1" i="1"/>
              <a:t>a</a:t>
            </a:r>
            <a:r>
              <a:rPr lang="en-US" altLang="zh-CN" sz="2400" b="1"/>
              <a:t>:</a:t>
            </a:r>
            <a:r>
              <a:rPr lang="zh-CN" altLang="en-US" sz="2400" b="1"/>
              <a:t>小王, 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     </a:t>
            </a:r>
            <a:r>
              <a:rPr lang="en-US" altLang="zh-CN" sz="2400" b="1" i="1"/>
              <a:t>b</a:t>
            </a:r>
            <a:r>
              <a:rPr lang="en-US" altLang="zh-CN" sz="2400" b="1"/>
              <a:t>: </a:t>
            </a:r>
            <a:r>
              <a:rPr lang="zh-CN" altLang="en-US" sz="2400" b="1"/>
              <a:t>小李, 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x,y</a:t>
            </a:r>
            <a:r>
              <a:rPr lang="en-US" altLang="zh-CN" sz="2400" b="1"/>
              <a:t>): </a:t>
            </a:r>
            <a:r>
              <a:rPr lang="en-US" altLang="zh-CN" sz="2400" b="1" i="1"/>
              <a:t>x</a:t>
            </a:r>
            <a:r>
              <a:rPr lang="zh-CN" altLang="en-US" sz="2400" b="1"/>
              <a:t>与</a:t>
            </a:r>
            <a:r>
              <a:rPr lang="en-US" altLang="zh-CN" sz="2400" b="1" i="1"/>
              <a:t>y</a:t>
            </a:r>
            <a:r>
              <a:rPr lang="zh-CN" altLang="en-US" sz="2400" b="1"/>
              <a:t>同岁, 符号化为: 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a,b</a:t>
            </a:r>
            <a:r>
              <a:rPr lang="en-US" altLang="zh-CN" sz="2400" b="1"/>
              <a:t>)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(3) </a:t>
            </a:r>
            <a:r>
              <a:rPr lang="en-US" altLang="zh-CN" sz="2400" b="1" i="1"/>
              <a:t>x&lt; y</a:t>
            </a:r>
            <a:r>
              <a:rPr lang="en-US" altLang="zh-CN" sz="2400" b="1"/>
              <a:t>  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    </a:t>
            </a:r>
            <a:r>
              <a:rPr lang="en-US" altLang="zh-CN" sz="2400" b="1" i="1"/>
              <a:t>x,y</a:t>
            </a:r>
            <a:r>
              <a:rPr lang="zh-CN" altLang="en-US" sz="2400" b="1"/>
              <a:t>是命题变项, &lt; 是</a:t>
            </a:r>
            <a:r>
              <a:rPr lang="zh-CN" altLang="en-US" sz="2400" b="1">
                <a:solidFill>
                  <a:srgbClr val="FF0000"/>
                </a:solidFill>
              </a:rPr>
              <a:t>谓词常项</a:t>
            </a:r>
            <a:r>
              <a:rPr lang="zh-CN" altLang="en-US" sz="2400" b="1"/>
              <a:t>, 符号化为: </a:t>
            </a:r>
            <a:r>
              <a:rPr lang="en-US" altLang="zh-CN" sz="2400" b="1" i="1"/>
              <a:t>L</a:t>
            </a:r>
            <a:r>
              <a:rPr lang="en-US" altLang="zh-CN" sz="2400" b="1"/>
              <a:t>(</a:t>
            </a:r>
            <a:r>
              <a:rPr lang="en-US" altLang="zh-CN" sz="2400" b="1" i="1"/>
              <a:t>x,y</a:t>
            </a:r>
            <a:r>
              <a:rPr lang="en-US" altLang="zh-CN" sz="2400" b="1"/>
              <a:t>)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(4) </a:t>
            </a:r>
            <a:r>
              <a:rPr lang="en-US" altLang="zh-CN" sz="2400" b="1" i="1"/>
              <a:t>x</a:t>
            </a:r>
            <a:r>
              <a:rPr lang="zh-CN" altLang="en-US" sz="2400" b="1"/>
              <a:t>具有某种性质</a:t>
            </a:r>
            <a:r>
              <a:rPr lang="en-US" altLang="zh-CN" sz="2400" b="1" i="1"/>
              <a:t>P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400" b="1"/>
              <a:t>    </a:t>
            </a:r>
            <a:r>
              <a:rPr lang="en-US" altLang="zh-CN" sz="2400" b="1" i="1"/>
              <a:t>x</a:t>
            </a:r>
            <a:r>
              <a:rPr lang="zh-CN" altLang="en-US" sz="2400" b="1"/>
              <a:t>是命题变项, </a:t>
            </a:r>
            <a:r>
              <a:rPr lang="en-US" altLang="zh-CN" sz="2400" b="1" i="1"/>
              <a:t>P</a:t>
            </a:r>
            <a:r>
              <a:rPr lang="zh-CN" altLang="en-US" sz="2400" b="1"/>
              <a:t>是</a:t>
            </a:r>
            <a:r>
              <a:rPr lang="zh-CN" altLang="en-US" sz="2400" b="1">
                <a:solidFill>
                  <a:srgbClr val="FF0000"/>
                </a:solidFill>
              </a:rPr>
              <a:t>谓词变项</a:t>
            </a:r>
            <a:r>
              <a:rPr lang="zh-CN" altLang="en-US" sz="2400" b="1"/>
              <a:t>, 符号化为: </a:t>
            </a:r>
            <a:r>
              <a:rPr lang="en-US" altLang="zh-CN" sz="2400" b="1" i="1"/>
              <a:t>P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endParaRPr lang="zh-CN" altLang="en-US" sz="2400" b="1"/>
          </a:p>
        </p:txBody>
      </p:sp>
      <p:sp>
        <p:nvSpPr>
          <p:cNvPr id="14341" name="文本框 4">
            <a:extLst>
              <a:ext uri="{FF2B5EF4-FFF2-40B4-BE49-F238E27FC236}">
                <a16:creationId xmlns:a16="http://schemas.microsoft.com/office/drawing/2014/main" id="{F19A338E-AC24-99BD-B8DC-E424B9849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127000"/>
            <a:ext cx="5688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330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谓词</a:t>
            </a:r>
            <a:r>
              <a:rPr lang="zh-CN" altLang="en-US" sz="20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: 表示个体词性质或相互之间关系的词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42C73250-BF1A-0E80-F16A-5B614581D3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62A9E2-3F2C-4F0B-8F7F-7A6BC48B7EEA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zh-CN" altLang="en-US" sz="14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04DA0DB-D7D9-EAA7-841C-6420A370F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066800"/>
          </a:xfrm>
        </p:spPr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谓词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9979C1-B6CC-4042-771B-4FAFD96CEB08}"/>
              </a:ext>
            </a:extLst>
          </p:cNvPr>
          <p:cNvSpPr txBox="1"/>
          <p:nvPr/>
        </p:nvSpPr>
        <p:spPr>
          <a:xfrm>
            <a:off x="620127" y="5497566"/>
            <a:ext cx="79037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这样一来，命题逻辑中的命题均可以表示成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元谓词，因而可以将命题看成特殊的谓词</a:t>
            </a:r>
          </a:p>
        </p:txBody>
      </p:sp>
      <p:pic>
        <p:nvPicPr>
          <p:cNvPr id="6" name="图片 5" descr="文本&#10;&#10;描述已自动生成">
            <a:extLst>
              <a:ext uri="{FF2B5EF4-FFF2-40B4-BE49-F238E27FC236}">
                <a16:creationId xmlns:a16="http://schemas.microsoft.com/office/drawing/2014/main" id="{0761DDAC-6FC3-F64B-371A-3D4824094F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32" b="16455"/>
          <a:stretch/>
        </p:blipFill>
        <p:spPr>
          <a:xfrm>
            <a:off x="620127" y="1336686"/>
            <a:ext cx="7772475" cy="41846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>
            <a:extLst>
              <a:ext uri="{FF2B5EF4-FFF2-40B4-BE49-F238E27FC236}">
                <a16:creationId xmlns:a16="http://schemas.microsoft.com/office/drawing/2014/main" id="{F7F8ABE5-2124-BF4F-E7D7-6312EE18DC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3DC087-1413-4980-A1EF-23940FA66732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zh-CN" altLang="en-US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00CF4DD7-9DC1-502A-7A73-7465421A3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实例</a:t>
            </a:r>
          </a:p>
        </p:txBody>
      </p:sp>
      <p:grpSp>
        <p:nvGrpSpPr>
          <p:cNvPr id="17412" name="Group 21">
            <a:extLst>
              <a:ext uri="{FF2B5EF4-FFF2-40B4-BE49-F238E27FC236}">
                <a16:creationId xmlns:a16="http://schemas.microsoft.com/office/drawing/2014/main" id="{4326E3EB-AEAE-67F5-2906-BDA8812EE154}"/>
              </a:ext>
            </a:extLst>
          </p:cNvPr>
          <p:cNvGrpSpPr>
            <a:grpSpLocks/>
          </p:cNvGrpSpPr>
          <p:nvPr/>
        </p:nvGrpSpPr>
        <p:grpSpPr bwMode="auto">
          <a:xfrm>
            <a:off x="646113" y="1697038"/>
            <a:ext cx="8421687" cy="4302125"/>
            <a:chOff x="240" y="1069"/>
            <a:chExt cx="5305" cy="2710"/>
          </a:xfrm>
        </p:grpSpPr>
        <p:sp>
          <p:nvSpPr>
            <p:cNvPr id="17413" name="Text Box 11">
              <a:extLst>
                <a:ext uri="{FF2B5EF4-FFF2-40B4-BE49-F238E27FC236}">
                  <a16:creationId xmlns:a16="http://schemas.microsoft.com/office/drawing/2014/main" id="{2F7D93C2-4F00-F236-F01B-90A9072DC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069"/>
              <a:ext cx="5305" cy="2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solidFill>
                    <a:srgbClr val="800000"/>
                  </a:solidFill>
                </a:rPr>
                <a:t>例2</a:t>
              </a:r>
              <a:r>
                <a:rPr lang="zh-CN" altLang="en-US" sz="2400" b="1" dirty="0"/>
                <a:t> 将下述命题用0元谓词符号化, 并讨论它们的真值:</a:t>
              </a:r>
            </a:p>
            <a:p>
              <a:pPr algn="just" eaLnBrk="1" hangingPunct="1"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 b="1" dirty="0"/>
                <a:t>(1)     是无理数, 而     是有理数</a:t>
              </a:r>
            </a:p>
            <a:p>
              <a:pPr algn="just" eaLnBrk="1" hangingPunct="1"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 b="1" dirty="0"/>
                <a:t>(2) 如果2&gt;3，则3&lt;4</a:t>
              </a:r>
            </a:p>
            <a:p>
              <a:pPr algn="just" eaLnBrk="1" hangingPunct="1"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 b="1" dirty="0"/>
                <a:t>解  (1) 设</a:t>
              </a:r>
              <a:r>
                <a:rPr lang="en-US" altLang="zh-CN" sz="2400" b="1" i="1" dirty="0"/>
                <a:t>F</a:t>
              </a:r>
              <a:r>
                <a:rPr lang="en-US" altLang="zh-CN" sz="2400" b="1" dirty="0"/>
                <a:t>(</a:t>
              </a:r>
              <a:r>
                <a:rPr lang="en-US" altLang="zh-CN" sz="2400" b="1" i="1" dirty="0"/>
                <a:t>x</a:t>
              </a:r>
              <a:r>
                <a:rPr lang="en-US" altLang="zh-CN" sz="2400" b="1" dirty="0"/>
                <a:t>): </a:t>
              </a:r>
              <a:r>
                <a:rPr lang="en-US" altLang="zh-CN" sz="2400" b="1" i="1" dirty="0"/>
                <a:t>x</a:t>
              </a:r>
              <a:r>
                <a:rPr lang="zh-CN" altLang="en-US" sz="2400" b="1" dirty="0"/>
                <a:t>是无理数, </a:t>
              </a:r>
              <a:r>
                <a:rPr lang="en-US" altLang="zh-CN" sz="2400" b="1" i="1" dirty="0"/>
                <a:t>G</a:t>
              </a:r>
              <a:r>
                <a:rPr lang="en-US" altLang="zh-CN" sz="2400" b="1" dirty="0"/>
                <a:t>(</a:t>
              </a:r>
              <a:r>
                <a:rPr lang="en-US" altLang="zh-CN" sz="2400" b="1" i="1" dirty="0"/>
                <a:t>x</a:t>
              </a:r>
              <a:r>
                <a:rPr lang="en-US" altLang="zh-CN" sz="2400" b="1" dirty="0"/>
                <a:t>): </a:t>
              </a:r>
              <a:r>
                <a:rPr lang="en-US" altLang="zh-CN" sz="2400" b="1" i="1" dirty="0"/>
                <a:t>x</a:t>
              </a:r>
              <a:r>
                <a:rPr lang="zh-CN" altLang="en-US" sz="2400" b="1" dirty="0"/>
                <a:t>是有理数</a:t>
              </a:r>
            </a:p>
            <a:p>
              <a:pPr algn="just" eaLnBrk="1" hangingPunct="1"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 b="1" dirty="0"/>
                <a:t>符号化为</a:t>
              </a:r>
            </a:p>
            <a:p>
              <a:pPr algn="just" eaLnBrk="1" hangingPunct="1"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 b="1" dirty="0"/>
                <a:t>真值为0</a:t>
              </a:r>
            </a:p>
            <a:p>
              <a:pPr algn="just" eaLnBrk="1" hangingPunct="1"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 b="1" dirty="0"/>
                <a:t>(2) 设 </a:t>
              </a:r>
              <a:r>
                <a:rPr lang="en-US" altLang="zh-CN" sz="2400" b="1" i="1" dirty="0"/>
                <a:t>F</a:t>
              </a:r>
              <a:r>
                <a:rPr lang="en-US" altLang="zh-CN" sz="2400" b="1" dirty="0"/>
                <a:t>(</a:t>
              </a:r>
              <a:r>
                <a:rPr lang="en-US" altLang="zh-CN" sz="2400" b="1" i="1" dirty="0" err="1"/>
                <a:t>x</a:t>
              </a:r>
              <a:r>
                <a:rPr lang="en-US" altLang="zh-CN" sz="2400" b="1" dirty="0" err="1"/>
                <a:t>,</a:t>
              </a:r>
              <a:r>
                <a:rPr lang="en-US" altLang="zh-CN" sz="2400" b="1" i="1" dirty="0" err="1"/>
                <a:t>y</a:t>
              </a:r>
              <a:r>
                <a:rPr lang="en-US" altLang="zh-CN" sz="2400" b="1" dirty="0"/>
                <a:t>): </a:t>
              </a:r>
              <a:r>
                <a:rPr lang="en-US" altLang="zh-CN" sz="2400" b="1" i="1" dirty="0"/>
                <a:t>x</a:t>
              </a:r>
              <a:r>
                <a:rPr lang="en-US" altLang="zh-CN" sz="2400" b="1" dirty="0"/>
                <a:t>&gt;</a:t>
              </a:r>
              <a:r>
                <a:rPr lang="en-US" altLang="zh-CN" sz="2400" b="1" i="1" dirty="0"/>
                <a:t>y</a:t>
              </a:r>
              <a:r>
                <a:rPr lang="en-US" altLang="zh-CN" sz="2400" b="1" dirty="0"/>
                <a:t>, </a:t>
              </a:r>
              <a:r>
                <a:rPr lang="en-US" altLang="zh-CN" sz="2400" b="1" i="1" dirty="0"/>
                <a:t>G</a:t>
              </a:r>
              <a:r>
                <a:rPr lang="en-US" altLang="zh-CN" sz="2400" b="1" dirty="0"/>
                <a:t>(</a:t>
              </a:r>
              <a:r>
                <a:rPr lang="en-US" altLang="zh-CN" sz="2400" b="1" i="1" dirty="0" err="1"/>
                <a:t>x</a:t>
              </a:r>
              <a:r>
                <a:rPr lang="en-US" altLang="zh-CN" sz="2400" b="1" dirty="0" err="1"/>
                <a:t>,</a:t>
              </a:r>
              <a:r>
                <a:rPr lang="en-US" altLang="zh-CN" sz="2400" b="1" i="1" dirty="0" err="1"/>
                <a:t>y</a:t>
              </a:r>
              <a:r>
                <a:rPr lang="en-US" altLang="zh-CN" sz="2400" b="1" dirty="0"/>
                <a:t>): </a:t>
              </a:r>
              <a:r>
                <a:rPr lang="en-US" altLang="zh-CN" sz="2400" b="1" i="1" dirty="0"/>
                <a:t>x</a:t>
              </a:r>
              <a:r>
                <a:rPr lang="en-US" altLang="zh-CN" sz="2400" b="1" dirty="0"/>
                <a:t>&lt;</a:t>
              </a:r>
              <a:r>
                <a:rPr lang="en-US" altLang="zh-CN" sz="2400" b="1" i="1" dirty="0"/>
                <a:t>y,</a:t>
              </a:r>
              <a:endParaRPr lang="en-US" altLang="zh-CN" sz="2400" b="1" dirty="0"/>
            </a:p>
            <a:p>
              <a:pPr algn="just" eaLnBrk="1" hangingPunct="1"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 b="1" dirty="0"/>
                <a:t>符号化为 </a:t>
              </a:r>
              <a:r>
                <a:rPr lang="en-US" altLang="zh-CN" sz="2400" b="1" i="1" dirty="0"/>
                <a:t>F</a:t>
              </a:r>
              <a:r>
                <a:rPr lang="en-US" altLang="zh-CN" sz="2400" b="1" dirty="0"/>
                <a:t>(2,3)</a:t>
              </a:r>
              <a:r>
                <a:rPr lang="en-US" altLang="zh-CN" sz="2400" b="1" dirty="0">
                  <a:sym typeface="Symbol" panose="05050102010706020507" pitchFamily="18" charset="2"/>
                </a:rPr>
                <a:t></a:t>
              </a:r>
              <a:r>
                <a:rPr lang="en-US" altLang="zh-CN" sz="2400" b="1" i="1" dirty="0"/>
                <a:t>G</a:t>
              </a:r>
              <a:r>
                <a:rPr lang="en-US" altLang="zh-CN" sz="2400" b="1" dirty="0"/>
                <a:t>(3,4)</a:t>
              </a:r>
            </a:p>
            <a:p>
              <a:pPr algn="just" eaLnBrk="1" hangingPunct="1"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 b="1" dirty="0"/>
                <a:t>真值为1</a:t>
              </a:r>
            </a:p>
          </p:txBody>
        </p:sp>
        <p:graphicFrame>
          <p:nvGraphicFramePr>
            <p:cNvPr id="17414" name="Object 17">
              <a:extLst>
                <a:ext uri="{FF2B5EF4-FFF2-40B4-BE49-F238E27FC236}">
                  <a16:creationId xmlns:a16="http://schemas.microsoft.com/office/drawing/2014/main" id="{171F1E6F-B12A-C681-EBC9-E48ECD45A25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28" y="1392"/>
            <a:ext cx="288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Equation" r:id="rId3" imgW="240986" imgH="215619" progId="Equation.DSMT4">
                    <p:embed/>
                  </p:oleObj>
                </mc:Choice>
                <mc:Fallback>
                  <p:oleObj name="Equation" r:id="rId3" imgW="240986" imgH="215619" progId="Equation.DSMT4">
                    <p:embed/>
                    <p:pic>
                      <p:nvPicPr>
                        <p:cNvPr id="0" name="Object 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392"/>
                          <a:ext cx="288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Object 18">
              <a:extLst>
                <a:ext uri="{FF2B5EF4-FFF2-40B4-BE49-F238E27FC236}">
                  <a16:creationId xmlns:a16="http://schemas.microsoft.com/office/drawing/2014/main" id="{6F628147-14B3-E25B-A283-FBF83352835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24" y="1404"/>
            <a:ext cx="288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Equation" r:id="rId5" imgW="241195" imgH="228501" progId="Equation.DSMT4">
                    <p:embed/>
                  </p:oleObj>
                </mc:Choice>
                <mc:Fallback>
                  <p:oleObj name="Equation" r:id="rId5" imgW="241195" imgH="228501" progId="Equation.DSMT4">
                    <p:embed/>
                    <p:pic>
                      <p:nvPicPr>
                        <p:cNvPr id="0" name="Object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404"/>
                          <a:ext cx="288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6" name="Object 19">
              <a:extLst>
                <a:ext uri="{FF2B5EF4-FFF2-40B4-BE49-F238E27FC236}">
                  <a16:creationId xmlns:a16="http://schemas.microsoft.com/office/drawing/2014/main" id="{ECFC4405-A976-6080-4B4C-BD7FACDBFBB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90" y="2304"/>
            <a:ext cx="1262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" name="Equation" r:id="rId7" imgW="1040948" imgH="241195" progId="Equation.DSMT4">
                    <p:embed/>
                  </p:oleObj>
                </mc:Choice>
                <mc:Fallback>
                  <p:oleObj name="Equation" r:id="rId7" imgW="1040948" imgH="241195" progId="Equation.DSMT4">
                    <p:embed/>
                    <p:pic>
                      <p:nvPicPr>
                        <p:cNvPr id="0" name="Object 1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0" y="2304"/>
                          <a:ext cx="1262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EEF44047-DC46-09E0-4D5D-BB69D3C1EE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98D417-1E83-4286-8D18-BF1E53D1ED15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zh-CN" altLang="en-US" sz="14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B947B4C4-8345-B23C-EC38-470891268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量词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989B934B-F4DB-80F9-0076-C104071067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量词</a:t>
            </a:r>
            <a:r>
              <a:rPr lang="zh-CN" altLang="en-US" sz="2400" b="1"/>
              <a:t>: 表示数量的词</a:t>
            </a:r>
          </a:p>
          <a:p>
            <a:pPr algn="just" eaLnBrk="1" hangingPunct="1">
              <a:buFontTx/>
              <a:buNone/>
            </a:pPr>
            <a:r>
              <a:rPr lang="zh-CN" altLang="en-US" sz="2400" b="1"/>
              <a:t>     </a:t>
            </a:r>
            <a:r>
              <a:rPr lang="zh-CN" altLang="en-US" sz="2400" b="1">
                <a:solidFill>
                  <a:srgbClr val="FF3300"/>
                </a:solidFill>
              </a:rPr>
              <a:t>全称量词</a:t>
            </a:r>
            <a:r>
              <a:rPr lang="zh-CN" altLang="en-US" sz="2400" b="1">
                <a:solidFill>
                  <a:srgbClr val="FF3300"/>
                </a:solidFill>
                <a:sym typeface="Symbol" panose="05050102010706020507" pitchFamily="18" charset="2"/>
              </a:rPr>
              <a:t></a:t>
            </a:r>
            <a:r>
              <a:rPr lang="zh-CN" altLang="en-US" sz="2400" b="1">
                <a:sym typeface="Symbol" panose="05050102010706020507" pitchFamily="18" charset="2"/>
              </a:rPr>
              <a:t>: 表示任意的, 所有的, 一切的等</a:t>
            </a:r>
            <a:endParaRPr lang="zh-CN" altLang="en-US" sz="2400" b="1"/>
          </a:p>
          <a:p>
            <a:pPr algn="just" eaLnBrk="1" hangingPunct="1">
              <a:buFontTx/>
              <a:buNone/>
            </a:pPr>
            <a:r>
              <a:rPr lang="zh-CN" altLang="en-US" sz="2400" b="1"/>
              <a:t>     </a:t>
            </a:r>
            <a:r>
              <a:rPr lang="zh-CN" altLang="en-US" sz="2400" b="1">
                <a:solidFill>
                  <a:srgbClr val="000066"/>
                </a:solidFill>
              </a:rPr>
              <a:t>如 </a:t>
            </a:r>
            <a:r>
              <a:rPr lang="zh-CN" altLang="en-US" sz="2400" b="1">
                <a:solidFill>
                  <a:srgbClr val="000066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solidFill>
                  <a:srgbClr val="000066"/>
                </a:solidFill>
              </a:rPr>
              <a:t>x </a:t>
            </a:r>
            <a:r>
              <a:rPr lang="zh-CN" altLang="en-US" sz="2400" b="1">
                <a:solidFill>
                  <a:srgbClr val="000066"/>
                </a:solidFill>
              </a:rPr>
              <a:t>表示对个体域中所有的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66"/>
                </a:solidFill>
              </a:rPr>
              <a:t>      </a:t>
            </a:r>
            <a:r>
              <a:rPr lang="zh-CN" altLang="en-US" sz="2400" b="1">
                <a:solidFill>
                  <a:srgbClr val="000066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 </a:t>
            </a:r>
            <a:r>
              <a:rPr lang="en-US" altLang="zh-CN" sz="2400" b="1" i="1">
                <a:solidFill>
                  <a:srgbClr val="000066"/>
                </a:solidFill>
              </a:rPr>
              <a:t>F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  <a:r>
              <a:rPr lang="zh-CN" altLang="en-US" sz="2400" b="1">
                <a:solidFill>
                  <a:srgbClr val="000066"/>
                </a:solidFill>
              </a:rPr>
              <a:t> 表示所有的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zh-CN" altLang="en-US" sz="2400" b="1">
                <a:solidFill>
                  <a:srgbClr val="000066"/>
                </a:solidFill>
              </a:rPr>
              <a:t>具有性质</a:t>
            </a:r>
            <a:r>
              <a:rPr lang="en-US" altLang="zh-CN" sz="2400" b="1" i="1">
                <a:solidFill>
                  <a:srgbClr val="000066"/>
                </a:solidFill>
              </a:rPr>
              <a:t>F</a:t>
            </a:r>
          </a:p>
          <a:p>
            <a:pPr eaLnBrk="1" hangingPunct="1">
              <a:buFontTx/>
              <a:buNone/>
            </a:pPr>
            <a:endParaRPr lang="zh-CN" altLang="en-US" sz="2400" b="1"/>
          </a:p>
          <a:p>
            <a:pPr eaLnBrk="1" hangingPunct="1">
              <a:buFontTx/>
              <a:buNone/>
            </a:pPr>
            <a:r>
              <a:rPr lang="zh-CN" altLang="en-US" sz="2400" b="1"/>
              <a:t>    </a:t>
            </a:r>
            <a:r>
              <a:rPr lang="zh-CN" altLang="en-US" sz="2400" b="1">
                <a:solidFill>
                  <a:srgbClr val="FF3300"/>
                </a:solidFill>
              </a:rPr>
              <a:t>存在量词</a:t>
            </a:r>
            <a:r>
              <a:rPr lang="zh-CN" altLang="en-US" sz="2400" b="1">
                <a:solidFill>
                  <a:srgbClr val="FF3300"/>
                </a:solidFill>
                <a:sym typeface="Symbol" panose="05050102010706020507" pitchFamily="18" charset="2"/>
              </a:rPr>
              <a:t></a:t>
            </a:r>
            <a:r>
              <a:rPr lang="zh-CN" altLang="en-US" sz="2400" b="1">
                <a:sym typeface="Symbol" panose="05050102010706020507" pitchFamily="18" charset="2"/>
              </a:rPr>
              <a:t>: 表示存在, 有的, 至少有一个等</a:t>
            </a:r>
            <a:endParaRPr lang="zh-CN" altLang="en-US" sz="2400" b="1"/>
          </a:p>
          <a:p>
            <a:pPr eaLnBrk="1" hangingPunct="1">
              <a:buFontTx/>
              <a:buNone/>
            </a:pPr>
            <a:r>
              <a:rPr lang="zh-CN" altLang="en-US" sz="2400" b="1"/>
              <a:t>     </a:t>
            </a:r>
            <a:r>
              <a:rPr lang="zh-CN" altLang="en-US" sz="2400" b="1">
                <a:solidFill>
                  <a:srgbClr val="000066"/>
                </a:solidFill>
              </a:rPr>
              <a:t>如 </a:t>
            </a:r>
            <a:r>
              <a:rPr lang="zh-CN" altLang="en-US" sz="2400" b="1">
                <a:solidFill>
                  <a:srgbClr val="000066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 </a:t>
            </a:r>
            <a:r>
              <a:rPr lang="zh-CN" altLang="en-US" sz="2400" b="1">
                <a:solidFill>
                  <a:srgbClr val="000066"/>
                </a:solidFill>
              </a:rPr>
              <a:t>表示在个体域中存在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  <a:sym typeface="Symbol" panose="05050102010706020507" pitchFamily="18" charset="2"/>
              </a:rPr>
              <a:t>      </a:t>
            </a:r>
            <a:r>
              <a:rPr lang="en-US" altLang="zh-CN" sz="2400" b="1" i="1">
                <a:solidFill>
                  <a:srgbClr val="000066"/>
                </a:solidFill>
              </a:rPr>
              <a:t>x F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  <a:r>
              <a:rPr lang="zh-CN" altLang="en-US" sz="2400" b="1">
                <a:solidFill>
                  <a:srgbClr val="000066"/>
                </a:solidFill>
              </a:rPr>
              <a:t> 表示存在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zh-CN" altLang="en-US" sz="2400" b="1">
                <a:solidFill>
                  <a:srgbClr val="000066"/>
                </a:solidFill>
              </a:rPr>
              <a:t>具有性质</a:t>
            </a:r>
            <a:r>
              <a:rPr lang="en-US" altLang="zh-CN" sz="2400" b="1" i="1">
                <a:solidFill>
                  <a:srgbClr val="000066"/>
                </a:solidFill>
              </a:rPr>
              <a:t>F</a:t>
            </a:r>
            <a:endParaRPr lang="zh-CN" altLang="en-US" sz="2400" b="1" i="1">
              <a:solidFill>
                <a:srgbClr val="00006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DDAFC0AB-3437-73F9-8FA2-C590F47288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F45910-C6E3-45F6-BBCF-D1C18B10E114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zh-CN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DA44295F-3A56-F08D-ACA4-15EF85F85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一阶逻辑命题符号化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1E9E345-E2DA-EE63-904A-16B30DC339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4419600"/>
          </a:xfrm>
        </p:spPr>
        <p:txBody>
          <a:bodyPr/>
          <a:lstStyle/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</a:rPr>
              <a:t>例3</a:t>
            </a:r>
            <a:r>
              <a:rPr lang="zh-CN" altLang="en-US" sz="2400" b="1"/>
              <a:t>  在一阶逻辑中将下面命题符号化: 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(1) 人都爱美;  (2) 有人用左手写字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个体域分别取(</a:t>
            </a:r>
            <a:r>
              <a:rPr lang="en-US" altLang="zh-CN" sz="2400" b="1" i="1"/>
              <a:t>a</a:t>
            </a:r>
            <a:r>
              <a:rPr lang="en-US" altLang="zh-CN" sz="2400" b="1"/>
              <a:t>) </a:t>
            </a:r>
            <a:r>
              <a:rPr lang="zh-CN" altLang="en-US" sz="2400" b="1"/>
              <a:t>人类集合,  (</a:t>
            </a:r>
            <a:r>
              <a:rPr lang="en-US" altLang="zh-CN" sz="2400" b="1" i="1"/>
              <a:t>b</a:t>
            </a:r>
            <a:r>
              <a:rPr lang="en-US" altLang="zh-CN" sz="2400" b="1"/>
              <a:t>) </a:t>
            </a:r>
            <a:r>
              <a:rPr lang="zh-CN" altLang="en-US" sz="2400" b="1"/>
              <a:t>全总个体域 .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解: (</a:t>
            </a:r>
            <a:r>
              <a:rPr lang="en-US" altLang="zh-CN" sz="2400" b="1" i="1"/>
              <a:t>a</a:t>
            </a:r>
            <a:r>
              <a:rPr lang="en-US" altLang="zh-CN" sz="2400" b="1"/>
              <a:t>) (1) </a:t>
            </a:r>
            <a:r>
              <a:rPr lang="zh-CN" altLang="en-US" sz="2400" b="1"/>
              <a:t>设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): </a:t>
            </a:r>
            <a:r>
              <a:rPr lang="en-US" altLang="zh-CN" sz="2400" b="1" i="1"/>
              <a:t>x</a:t>
            </a:r>
            <a:r>
              <a:rPr lang="zh-CN" altLang="en-US" sz="2400" b="1"/>
              <a:t>爱美,   符号化为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 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400" b="1"/>
              <a:t>            (2) </a:t>
            </a:r>
            <a:r>
              <a:rPr lang="zh-CN" altLang="en-US" sz="2400" b="1"/>
              <a:t>设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): </a:t>
            </a:r>
            <a:r>
              <a:rPr lang="en-US" altLang="zh-CN" sz="2400" b="1" i="1"/>
              <a:t>x</a:t>
            </a:r>
            <a:r>
              <a:rPr lang="zh-CN" altLang="en-US" sz="2400" b="1"/>
              <a:t>用左手写字,   符号化为 </a:t>
            </a:r>
            <a:r>
              <a:rPr lang="zh-CN" altLang="en-US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x 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400" b="1"/>
              <a:t>      (</a:t>
            </a:r>
            <a:r>
              <a:rPr lang="en-US" altLang="zh-CN" sz="2400" b="1" i="1"/>
              <a:t>b</a:t>
            </a:r>
            <a:r>
              <a:rPr lang="en-US" altLang="zh-CN" sz="2400" b="1"/>
              <a:t>) </a:t>
            </a:r>
            <a:r>
              <a:rPr lang="zh-CN" altLang="en-US" sz="2400" b="1"/>
              <a:t>设</a:t>
            </a:r>
            <a:r>
              <a:rPr lang="en-US" altLang="zh-CN" sz="2400" b="1" i="1"/>
              <a:t>M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): </a:t>
            </a:r>
            <a:r>
              <a:rPr lang="en-US" altLang="zh-CN" sz="2400" b="1" i="1"/>
              <a:t>x</a:t>
            </a:r>
            <a:r>
              <a:rPr lang="zh-CN" altLang="en-US" sz="2400" b="1"/>
              <a:t>为人， 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),</a:t>
            </a:r>
            <a:r>
              <a:rPr lang="zh-CN" altLang="en-US" sz="2400" b="1"/>
              <a:t> 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zh-CN" altLang="en-US" sz="2400" b="1"/>
              <a:t>同(</a:t>
            </a:r>
            <a:r>
              <a:rPr lang="en-US" altLang="zh-CN" sz="2400" b="1" i="1"/>
              <a:t>a</a:t>
            </a:r>
            <a:r>
              <a:rPr lang="en-US" altLang="zh-CN" sz="2400" b="1"/>
              <a:t>)</a:t>
            </a:r>
            <a:r>
              <a:rPr lang="zh-CN" altLang="en-US" sz="2400" b="1"/>
              <a:t>中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            (1)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 </a:t>
            </a:r>
            <a:r>
              <a:rPr lang="en-US" altLang="zh-CN" sz="2400" b="1"/>
              <a:t>(</a:t>
            </a:r>
            <a:r>
              <a:rPr lang="en-US" altLang="zh-CN" sz="2400" b="1" i="1"/>
              <a:t>M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400" b="1"/>
              <a:t>            (2) </a:t>
            </a:r>
            <a:r>
              <a:rPr lang="en-US" altLang="zh-CN" sz="2400" b="1">
                <a:sym typeface="Symbol" panose="05050102010706020507" pitchFamily="18" charset="2"/>
              </a:rPr>
              <a:t></a:t>
            </a:r>
            <a:r>
              <a:rPr lang="en-US" altLang="zh-CN" sz="2400" b="1"/>
              <a:t> </a:t>
            </a:r>
            <a:r>
              <a:rPr lang="en-US" altLang="zh-CN" sz="2400" b="1" i="1"/>
              <a:t>x </a:t>
            </a:r>
            <a:r>
              <a:rPr lang="en-US" altLang="zh-CN" sz="2400" b="1"/>
              <a:t>(</a:t>
            </a:r>
            <a:r>
              <a:rPr lang="en-US" altLang="zh-CN" sz="2400" b="1" i="1"/>
              <a:t>M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在使用全总个体域时，要将人与其他事物区分开来。为此引进了谓词</a:t>
            </a:r>
            <a:r>
              <a:rPr lang="en-US" altLang="zh-CN" sz="2400" b="1"/>
              <a:t>M(x) </a:t>
            </a:r>
            <a:r>
              <a:rPr lang="zh-CN" altLang="en-US" sz="2400" b="1"/>
              <a:t>，像这样的谓词称作</a:t>
            </a:r>
            <a:r>
              <a:rPr lang="zh-CN" altLang="en-US" sz="2400" b="1">
                <a:solidFill>
                  <a:srgbClr val="FF0000"/>
                </a:solidFill>
              </a:rPr>
              <a:t>特性谓词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>
            <a:extLst>
              <a:ext uri="{FF2B5EF4-FFF2-40B4-BE49-F238E27FC236}">
                <a16:creationId xmlns:a16="http://schemas.microsoft.com/office/drawing/2014/main" id="{0004ECEF-4136-99E5-1300-186527EF10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91D963-89B6-4300-AF9A-25B24B403829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zh-CN" altLang="en-US" sz="14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71A2B978-AB26-E65E-BB48-A32852177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实例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D9817B4E-5A2F-D439-CB99-88D07325B4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7772400" cy="41910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</a:rPr>
              <a:t>例4</a:t>
            </a:r>
            <a:r>
              <a:rPr lang="zh-CN" altLang="en-US" sz="2400" b="1"/>
              <a:t> 将下列命题符号化, 并讨论其真值:</a:t>
            </a:r>
          </a:p>
          <a:p>
            <a:pPr marL="609600" indent="-609600" eaLnBrk="1" hangingPunct="1">
              <a:buFontTx/>
              <a:buNone/>
            </a:pPr>
            <a:r>
              <a:rPr lang="zh-CN" altLang="en-US" sz="2400" b="1"/>
              <a:t>(1) 对任意的</a:t>
            </a:r>
            <a:r>
              <a:rPr lang="en-US" altLang="zh-CN" sz="2400" b="1" i="1"/>
              <a:t>x</a:t>
            </a:r>
            <a:r>
              <a:rPr lang="en-US" altLang="zh-CN" sz="2400" b="1"/>
              <a:t>, </a:t>
            </a:r>
            <a:r>
              <a:rPr lang="zh-CN" altLang="en-US" sz="2400" b="1"/>
              <a:t>均有</a:t>
            </a:r>
            <a:r>
              <a:rPr lang="en-US" altLang="zh-CN" sz="2400" b="1" i="1"/>
              <a:t>x</a:t>
            </a:r>
            <a:r>
              <a:rPr lang="en-US" altLang="zh-CN" sz="2400" b="1" baseline="30000"/>
              <a:t>2</a:t>
            </a:r>
            <a:r>
              <a:rPr lang="en-US" altLang="zh-CN" sz="2400" b="1"/>
              <a:t>-3</a:t>
            </a:r>
            <a:r>
              <a:rPr lang="en-US" altLang="zh-CN" sz="2400" b="1" i="1"/>
              <a:t>x</a:t>
            </a:r>
            <a:r>
              <a:rPr lang="en-US" altLang="zh-CN" sz="2400" b="1"/>
              <a:t>+2=(</a:t>
            </a:r>
            <a:r>
              <a:rPr lang="en-US" altLang="zh-CN" sz="2400" b="1" i="1"/>
              <a:t>x</a:t>
            </a:r>
            <a:r>
              <a:rPr lang="en-US" altLang="zh-CN" sz="2400" b="1"/>
              <a:t>-1)(</a:t>
            </a:r>
            <a:r>
              <a:rPr lang="en-US" altLang="zh-CN" sz="2400" b="1" i="1"/>
              <a:t>x</a:t>
            </a:r>
            <a:r>
              <a:rPr lang="en-US" altLang="zh-CN" sz="2400" b="1"/>
              <a:t>-2)</a:t>
            </a:r>
          </a:p>
          <a:p>
            <a:pPr marL="609600" indent="-609600" eaLnBrk="1" hangingPunct="1">
              <a:buFontTx/>
              <a:buNone/>
            </a:pPr>
            <a:r>
              <a:rPr lang="zh-CN" altLang="en-US" sz="2400" b="1"/>
              <a:t>(2) 存在</a:t>
            </a:r>
            <a:r>
              <a:rPr lang="en-US" altLang="zh-CN" sz="2400" b="1" i="1"/>
              <a:t>x</a:t>
            </a:r>
            <a:r>
              <a:rPr lang="en-US" altLang="zh-CN" sz="2400" b="1"/>
              <a:t>, </a:t>
            </a:r>
            <a:r>
              <a:rPr lang="zh-CN" altLang="en-US" sz="2400" b="1"/>
              <a:t>使得</a:t>
            </a:r>
            <a:r>
              <a:rPr lang="en-US" altLang="zh-CN" sz="2400" b="1" i="1"/>
              <a:t>x</a:t>
            </a:r>
            <a:r>
              <a:rPr lang="en-US" altLang="zh-CN" sz="2400" b="1"/>
              <a:t>+5=3</a:t>
            </a:r>
          </a:p>
          <a:p>
            <a:pPr marL="609600" indent="-609600" eaLnBrk="1" hangingPunct="1">
              <a:buFontTx/>
              <a:buNone/>
            </a:pPr>
            <a:r>
              <a:rPr lang="zh-CN" altLang="en-US" sz="2400" b="1"/>
              <a:t>分别取(</a:t>
            </a:r>
            <a:r>
              <a:rPr lang="en-US" altLang="zh-CN" sz="2400" b="1"/>
              <a:t>a) </a:t>
            </a:r>
            <a:r>
              <a:rPr lang="zh-CN" altLang="en-US" sz="2400" b="1"/>
              <a:t>个体域</a:t>
            </a:r>
            <a:r>
              <a:rPr lang="en-US" altLang="zh-CN" sz="2400" b="1" i="1"/>
              <a:t>D</a:t>
            </a:r>
            <a:r>
              <a:rPr lang="en-US" altLang="zh-CN" sz="2400" b="1" baseline="-25000"/>
              <a:t>1</a:t>
            </a:r>
            <a:r>
              <a:rPr lang="en-US" altLang="zh-CN" sz="2400" b="1"/>
              <a:t>=N, (b) </a:t>
            </a:r>
            <a:r>
              <a:rPr lang="zh-CN" altLang="en-US" sz="2400" b="1"/>
              <a:t>个体域</a:t>
            </a:r>
            <a:r>
              <a:rPr lang="en-US" altLang="zh-CN" sz="2400" b="1" i="1"/>
              <a:t>D</a:t>
            </a:r>
            <a:r>
              <a:rPr lang="en-US" altLang="zh-CN" sz="2400" b="1" baseline="-25000"/>
              <a:t>2</a:t>
            </a:r>
            <a:r>
              <a:rPr lang="en-US" altLang="zh-CN" sz="2400" b="1"/>
              <a:t>=R</a:t>
            </a:r>
          </a:p>
          <a:p>
            <a:pPr marL="609600" indent="-609600" eaLnBrk="1" hangingPunct="1">
              <a:buFontTx/>
              <a:buNone/>
            </a:pPr>
            <a:r>
              <a:rPr lang="zh-CN" altLang="en-US" sz="2400" b="1"/>
              <a:t>解 记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): </a:t>
            </a:r>
            <a:r>
              <a:rPr lang="en-US" altLang="zh-CN" sz="2400" b="1" i="1"/>
              <a:t>x</a:t>
            </a:r>
            <a:r>
              <a:rPr lang="en-US" altLang="zh-CN" sz="2400" b="1" baseline="30000"/>
              <a:t>2</a:t>
            </a:r>
            <a:r>
              <a:rPr lang="en-US" altLang="zh-CN" sz="2400" b="1"/>
              <a:t>-3</a:t>
            </a:r>
            <a:r>
              <a:rPr lang="en-US" altLang="zh-CN" sz="2400" b="1" i="1"/>
              <a:t>x</a:t>
            </a:r>
            <a:r>
              <a:rPr lang="en-US" altLang="zh-CN" sz="2400" b="1"/>
              <a:t>+2=(</a:t>
            </a:r>
            <a:r>
              <a:rPr lang="en-US" altLang="zh-CN" sz="2400" b="1" i="1"/>
              <a:t>x</a:t>
            </a:r>
            <a:r>
              <a:rPr lang="en-US" altLang="zh-CN" sz="2400" b="1"/>
              <a:t>-1)(</a:t>
            </a:r>
            <a:r>
              <a:rPr lang="en-US" altLang="zh-CN" sz="2400" b="1" i="1"/>
              <a:t>x</a:t>
            </a:r>
            <a:r>
              <a:rPr lang="en-US" altLang="zh-CN" sz="2400" b="1"/>
              <a:t>-2), </a:t>
            </a:r>
            <a:r>
              <a:rPr lang="en-US" altLang="zh-CN" sz="2400" b="1" i="1"/>
              <a:t> 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): </a:t>
            </a:r>
            <a:r>
              <a:rPr lang="en-US" altLang="zh-CN" sz="2400" b="1" i="1"/>
              <a:t>x</a:t>
            </a:r>
            <a:r>
              <a:rPr lang="en-US" altLang="zh-CN" sz="2400" b="1"/>
              <a:t>+5=3</a:t>
            </a:r>
          </a:p>
          <a:p>
            <a:pPr marL="609600" indent="-609600" eaLnBrk="1" hangingPunct="1">
              <a:buFontTx/>
              <a:buNone/>
            </a:pPr>
            <a:r>
              <a:rPr lang="en-US" altLang="zh-CN" sz="2400" b="1"/>
              <a:t>(a) (1)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 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       </a:t>
            </a:r>
            <a:r>
              <a:rPr lang="zh-CN" altLang="en-US" sz="2400" b="1"/>
              <a:t>真值为1</a:t>
            </a:r>
          </a:p>
          <a:p>
            <a:pPr marL="609600" indent="-609600" eaLnBrk="1" hangingPunct="1">
              <a:buFontTx/>
              <a:buNone/>
            </a:pPr>
            <a:r>
              <a:rPr lang="zh-CN" altLang="en-US" sz="2400" b="1"/>
              <a:t>      (2) </a:t>
            </a:r>
            <a:r>
              <a:rPr lang="zh-CN" altLang="en-US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x 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       </a:t>
            </a:r>
            <a:r>
              <a:rPr lang="zh-CN" altLang="en-US" sz="2400" b="1"/>
              <a:t>真值为0</a:t>
            </a:r>
          </a:p>
          <a:p>
            <a:pPr marL="609600" indent="-609600" eaLnBrk="1" hangingPunct="1">
              <a:buFontTx/>
              <a:buNone/>
            </a:pPr>
            <a:r>
              <a:rPr lang="zh-CN" altLang="en-US" sz="2400" b="1"/>
              <a:t>(</a:t>
            </a:r>
            <a:r>
              <a:rPr lang="en-US" altLang="zh-CN" sz="2400" b="1"/>
              <a:t>b) (1)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 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       </a:t>
            </a:r>
            <a:r>
              <a:rPr lang="zh-CN" altLang="en-US" sz="2400" b="1"/>
              <a:t>真值为1</a:t>
            </a:r>
          </a:p>
          <a:p>
            <a:pPr marL="609600" indent="-609600" eaLnBrk="1" hangingPunct="1">
              <a:buFontTx/>
              <a:buNone/>
            </a:pPr>
            <a:r>
              <a:rPr lang="zh-CN" altLang="en-US" sz="2400" b="1"/>
              <a:t>      (2) </a:t>
            </a:r>
            <a:r>
              <a:rPr lang="zh-CN" altLang="en-US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x 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       </a:t>
            </a:r>
            <a:r>
              <a:rPr lang="zh-CN" altLang="en-US" sz="2400" b="1"/>
              <a:t>真值为1</a:t>
            </a:r>
          </a:p>
          <a:p>
            <a:pPr marL="609600" indent="-609600" eaLnBrk="1" hangingPunct="1">
              <a:buFontTx/>
              <a:buNone/>
            </a:pPr>
            <a:endParaRPr lang="zh-CN" altLang="en-US" sz="24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05068212-4094-B9EA-3B86-724C9527EE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E1A740-6FAF-465B-98A1-1C4FFB6A50FB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zh-CN" altLang="en-US" sz="14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2DD49C19-0612-5434-D345-1011F75D12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14400"/>
          </a:xfrm>
        </p:spPr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实例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B315A82-59AD-F3FC-3763-BFFA97902E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pPr marL="533400" indent="-533400" algn="just" eaLnBrk="1" hangingPunct="1"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</a:rPr>
              <a:t>例5</a:t>
            </a:r>
            <a:r>
              <a:rPr lang="zh-CN" altLang="en-US" sz="2400" b="1"/>
              <a:t>  将下面命题符号化:</a:t>
            </a:r>
          </a:p>
          <a:p>
            <a:pPr marL="533400" indent="-533400" algn="just" eaLnBrk="1" hangingPunct="1">
              <a:buFontTx/>
              <a:buNone/>
            </a:pPr>
            <a:r>
              <a:rPr lang="zh-CN" altLang="en-US" sz="2400" b="1"/>
              <a:t>(1) 兔子比乌龟跑得快</a:t>
            </a:r>
          </a:p>
          <a:p>
            <a:pPr marL="533400" indent="-533400" algn="just" eaLnBrk="1" hangingPunct="1">
              <a:buFontTx/>
              <a:buNone/>
            </a:pPr>
            <a:r>
              <a:rPr lang="zh-CN" altLang="en-US" sz="2400" b="1"/>
              <a:t>(2) 有的兔子比所有的乌龟跑得快</a:t>
            </a:r>
          </a:p>
          <a:p>
            <a:pPr marL="533400" indent="-533400" algn="just" eaLnBrk="1" hangingPunct="1">
              <a:buFontTx/>
              <a:buNone/>
            </a:pPr>
            <a:r>
              <a:rPr lang="zh-CN" altLang="en-US" sz="2400" b="1"/>
              <a:t>(3) 并不是所有的兔子都比乌龟跑得快</a:t>
            </a:r>
          </a:p>
          <a:p>
            <a:pPr marL="533400" indent="-533400" algn="just" eaLnBrk="1" hangingPunct="1">
              <a:buFontTx/>
              <a:buNone/>
            </a:pPr>
            <a:r>
              <a:rPr lang="zh-CN" altLang="en-US" sz="2400" b="1"/>
              <a:t>(4) 不存在跑得一样快的兔子和乌龟</a:t>
            </a:r>
            <a:endParaRPr lang="en-US" altLang="zh-CN" sz="2400" b="1"/>
          </a:p>
          <a:p>
            <a:pPr marL="533400" indent="-533400" algn="just" eaLnBrk="1" hangingPunct="1">
              <a:buFontTx/>
              <a:buNone/>
            </a:pPr>
            <a:r>
              <a:rPr lang="zh-CN" altLang="en-US" sz="2400" b="1"/>
              <a:t>解  用全总个体域,   令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): </a:t>
            </a:r>
            <a:r>
              <a:rPr lang="en-US" altLang="zh-CN" sz="2400" b="1" i="1"/>
              <a:t>x</a:t>
            </a:r>
            <a:r>
              <a:rPr lang="zh-CN" altLang="en-US" sz="2400" b="1"/>
              <a:t>是兔子, 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): </a:t>
            </a:r>
            <a:r>
              <a:rPr lang="en-US" altLang="zh-CN" sz="2400" b="1" i="1"/>
              <a:t>y</a:t>
            </a:r>
            <a:r>
              <a:rPr lang="zh-CN" altLang="en-US" sz="2400" b="1"/>
              <a:t>是乌龟,</a:t>
            </a:r>
          </a:p>
          <a:p>
            <a:pPr marL="533400" indent="-533400" algn="just" eaLnBrk="1" hangingPunct="1">
              <a:buFontTx/>
              <a:buNone/>
            </a:pPr>
            <a:r>
              <a:rPr lang="zh-CN" altLang="en-US" sz="2400" b="1"/>
              <a:t>      </a:t>
            </a:r>
            <a:r>
              <a:rPr lang="en-US" altLang="zh-CN" sz="2400" b="1" i="1"/>
              <a:t>H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y</a:t>
            </a:r>
            <a:r>
              <a:rPr lang="en-US" altLang="zh-CN" sz="2400" b="1"/>
              <a:t>): </a:t>
            </a:r>
            <a:r>
              <a:rPr lang="en-US" altLang="zh-CN" sz="2400" b="1" i="1"/>
              <a:t>x</a:t>
            </a:r>
            <a:r>
              <a:rPr lang="zh-CN" altLang="en-US" sz="2400" b="1"/>
              <a:t>比</a:t>
            </a:r>
            <a:r>
              <a:rPr lang="en-US" altLang="zh-CN" sz="2400" b="1" i="1"/>
              <a:t>y</a:t>
            </a:r>
            <a:r>
              <a:rPr lang="zh-CN" altLang="en-US" sz="2400" b="1"/>
              <a:t>跑得快,   </a:t>
            </a:r>
            <a:r>
              <a:rPr lang="en-US" altLang="zh-CN" sz="2400" b="1" i="1"/>
              <a:t>L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y</a:t>
            </a:r>
            <a:r>
              <a:rPr lang="en-US" altLang="zh-CN" sz="2400" b="1"/>
              <a:t>): </a:t>
            </a:r>
            <a:r>
              <a:rPr lang="en-US" altLang="zh-CN" sz="2400" b="1" i="1"/>
              <a:t>x</a:t>
            </a:r>
            <a:r>
              <a:rPr lang="zh-CN" altLang="en-US" sz="2400" b="1"/>
              <a:t>和</a:t>
            </a:r>
            <a:r>
              <a:rPr lang="en-US" altLang="zh-CN" sz="2400" b="1" i="1"/>
              <a:t>y</a:t>
            </a:r>
            <a:r>
              <a:rPr lang="zh-CN" altLang="en-US" sz="2400" b="1"/>
              <a:t>跑得一样快</a:t>
            </a:r>
          </a:p>
          <a:p>
            <a:pPr marL="533400" indent="-533400" algn="just" eaLnBrk="1" hangingPunct="1"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(1)  </a:t>
            </a:r>
            <a:r>
              <a:rPr lang="en-US" altLang="zh-CN" sz="2400" b="1" i="1"/>
              <a:t>x</a:t>
            </a:r>
            <a:r>
              <a:rPr lang="en-US" altLang="zh-CN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y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H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y</a:t>
            </a:r>
            <a:r>
              <a:rPr lang="en-US" altLang="zh-CN" sz="2400" b="1"/>
              <a:t>)) </a:t>
            </a:r>
          </a:p>
          <a:p>
            <a:pPr marL="533400" indent="-533400" algn="just" eaLnBrk="1" hangingPunct="1">
              <a:buFontTx/>
              <a:buNone/>
            </a:pPr>
            <a:r>
              <a:rPr lang="zh-CN" altLang="en-US" sz="2400" b="1"/>
              <a:t>(2)  </a:t>
            </a:r>
            <a:r>
              <a:rPr lang="en-US" altLang="zh-CN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(</a:t>
            </a:r>
            <a:r>
              <a:rPr lang="en-US" altLang="zh-CN" sz="2400" b="1" i="1"/>
              <a:t>y </a:t>
            </a:r>
            <a:r>
              <a:rPr lang="en-US" altLang="zh-CN" sz="2400" b="1"/>
              <a:t>(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H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y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))</a:t>
            </a:r>
            <a:endParaRPr lang="en-US" altLang="zh-CN" sz="2400" b="1"/>
          </a:p>
          <a:p>
            <a:pPr marL="533400" indent="-533400" algn="just" eaLnBrk="1" hangingPunct="1">
              <a:buFontTx/>
              <a:buNone/>
            </a:pPr>
            <a:r>
              <a:rPr lang="en-US" altLang="zh-CN" sz="2400" b="1"/>
              <a:t>(3)  </a:t>
            </a:r>
            <a:r>
              <a:rPr lang="en-US" altLang="zh-CN" sz="2400" b="1">
                <a:sym typeface="Symbol" panose="05050102010706020507" pitchFamily="18" charset="2"/>
              </a:rPr>
              <a:t>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y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H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y</a:t>
            </a:r>
            <a:r>
              <a:rPr lang="en-US" altLang="zh-CN" sz="2400" b="1"/>
              <a:t>)) </a:t>
            </a:r>
          </a:p>
          <a:p>
            <a:pPr marL="533400" indent="-533400" algn="just" eaLnBrk="1" hangingPunct="1"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(4)  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zh-CN" altLang="en-US" sz="2400" b="1">
                <a:sym typeface="Symbol" panose="05050102010706020507" pitchFamily="18" charset="2"/>
              </a:rPr>
              <a:t> </a:t>
            </a:r>
            <a:r>
              <a:rPr lang="en-US" altLang="zh-CN" sz="2400" b="1" i="1"/>
              <a:t>x</a:t>
            </a:r>
            <a:r>
              <a:rPr lang="en-US" altLang="zh-CN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y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L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y</a:t>
            </a:r>
            <a:r>
              <a:rPr lang="en-US" altLang="zh-CN" sz="2400" b="1"/>
              <a:t>))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>
            <a:extLst>
              <a:ext uri="{FF2B5EF4-FFF2-40B4-BE49-F238E27FC236}">
                <a16:creationId xmlns:a16="http://schemas.microsoft.com/office/drawing/2014/main" id="{7FACB9CB-0B5B-846F-29FA-BBAB90EB99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5CC313-2C9C-4F07-A40A-EC03ED21C397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zh-CN" altLang="en-US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1DB9FD2-3BCA-01D0-8643-380DD38B4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14400"/>
          </a:xfrm>
        </p:spPr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注意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6E8728D-5370-83AA-314E-B3DC1284FB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648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/>
              <a:t>(1) 一元谓词和多元谓词的使用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(2) 全称量词和存在量词的区别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(3) 多个量词出现时, 不能随意交换顺序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如 在个体域</a:t>
            </a:r>
            <a:r>
              <a:rPr lang="en-US" altLang="zh-CN" sz="2400" b="1">
                <a:solidFill>
                  <a:srgbClr val="000066"/>
                </a:solidFill>
              </a:rPr>
              <a:t>R</a:t>
            </a:r>
            <a:r>
              <a:rPr lang="zh-CN" altLang="en-US" sz="2400" b="1">
                <a:solidFill>
                  <a:srgbClr val="000066"/>
                </a:solidFill>
              </a:rPr>
              <a:t>中, 记</a:t>
            </a:r>
            <a:r>
              <a:rPr lang="en-US" altLang="zh-CN" sz="2400" b="1" i="1">
                <a:solidFill>
                  <a:srgbClr val="000066"/>
                </a:solidFill>
              </a:rPr>
              <a:t>H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x,y</a:t>
            </a:r>
            <a:r>
              <a:rPr lang="en-US" altLang="zh-CN" sz="2400" b="1">
                <a:solidFill>
                  <a:srgbClr val="000066"/>
                </a:solidFill>
              </a:rPr>
              <a:t>): </a:t>
            </a:r>
            <a:r>
              <a:rPr lang="en-US" altLang="zh-CN" sz="2400" b="1" i="1">
                <a:solidFill>
                  <a:srgbClr val="000066"/>
                </a:solidFill>
              </a:rPr>
              <a:t>x+y</a:t>
            </a:r>
            <a:r>
              <a:rPr lang="en-US" altLang="zh-CN" sz="2400" b="1">
                <a:solidFill>
                  <a:srgbClr val="000066"/>
                </a:solidFill>
              </a:rPr>
              <a:t>=10     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      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b="1" i="1">
                <a:solidFill>
                  <a:srgbClr val="000066"/>
                </a:solidFill>
              </a:rPr>
              <a:t>y H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,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)               </a:t>
            </a:r>
            <a:r>
              <a:rPr lang="zh-CN" altLang="en-US" sz="2400" b="1">
                <a:solidFill>
                  <a:srgbClr val="000066"/>
                </a:solidFill>
              </a:rPr>
              <a:t>真值为1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      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solidFill>
                  <a:srgbClr val="000066"/>
                </a:solidFill>
              </a:rPr>
              <a:t>x H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,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)               </a:t>
            </a:r>
            <a:r>
              <a:rPr lang="zh-CN" altLang="en-US" sz="2400" b="1">
                <a:solidFill>
                  <a:srgbClr val="000066"/>
                </a:solidFill>
              </a:rPr>
              <a:t>真值为0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(4) 命题的符号化不惟一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如例5   (1) </a:t>
            </a:r>
            <a:r>
              <a:rPr lang="zh-CN" altLang="en-US" sz="2400" b="1">
                <a:solidFill>
                  <a:srgbClr val="000066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solidFill>
                  <a:srgbClr val="000066"/>
                </a:solidFill>
              </a:rPr>
              <a:t>x 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F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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G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solidFill>
                  <a:srgbClr val="000066"/>
                </a:solidFill>
              </a:rPr>
              <a:t>H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,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)))</a:t>
            </a:r>
            <a:endParaRPr lang="zh-CN" altLang="en-US" sz="2400" b="1">
              <a:solidFill>
                <a:srgbClr val="000066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(3) </a:t>
            </a:r>
            <a:r>
              <a:rPr lang="zh-CN" altLang="en-US" sz="2400" b="1">
                <a:solidFill>
                  <a:srgbClr val="000066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F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2400" b="1" i="1">
                <a:solidFill>
                  <a:srgbClr val="000066"/>
                </a:solidFill>
              </a:rPr>
              <a:t>G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</a:t>
            </a:r>
            <a:r>
              <a:rPr lang="en-US" altLang="zh-CN" sz="2400" b="1" i="1">
                <a:solidFill>
                  <a:srgbClr val="000066"/>
                </a:solidFill>
              </a:rPr>
              <a:t>H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,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))</a:t>
            </a:r>
            <a:endParaRPr lang="zh-CN" altLang="en-US" sz="2400" b="1">
              <a:solidFill>
                <a:srgbClr val="000066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(4) </a:t>
            </a:r>
            <a:r>
              <a:rPr lang="zh-CN" altLang="en-US" sz="2400" b="1">
                <a:solidFill>
                  <a:srgbClr val="000066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F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2400" b="1" i="1">
                <a:solidFill>
                  <a:srgbClr val="000066"/>
                </a:solidFill>
              </a:rPr>
              <a:t>G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</a:t>
            </a:r>
            <a:r>
              <a:rPr lang="en-US" altLang="zh-CN" sz="2400" b="1" i="1">
                <a:solidFill>
                  <a:srgbClr val="000066"/>
                </a:solidFill>
              </a:rPr>
              <a:t>L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,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))</a:t>
            </a:r>
            <a:endParaRPr lang="zh-CN" altLang="en-US" sz="2400" b="1">
              <a:solidFill>
                <a:srgbClr val="00006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9C1F7652-1796-62ED-3953-00697491AC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BBA4D1-E10E-41E2-AA67-2849063791D3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zh-CN" altLang="en-US" sz="14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697FC65-33EA-B999-4D95-CCFFCDC6C7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一阶语言</a:t>
            </a:r>
            <a:r>
              <a:rPr lang="en-US" altLang="zh-CN" sz="4000" i="1">
                <a:latin typeface="Palace Script MT" panose="030303020206070C0B05" pitchFamily="66" charset="0"/>
              </a:rPr>
              <a:t>L</a:t>
            </a:r>
            <a:r>
              <a:rPr lang="zh-CN" altLang="en-US" sz="4000">
                <a:solidFill>
                  <a:srgbClr val="800000"/>
                </a:solidFill>
              </a:rPr>
              <a:t> </a:t>
            </a:r>
            <a:r>
              <a:rPr lang="en-US" altLang="zh-CN" sz="4000" b="0" i="1"/>
              <a:t> 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C8C102EF-7EC9-4C13-625A-9C16CD44DE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3962400"/>
          </a:xfrm>
        </p:spPr>
        <p:txBody>
          <a:bodyPr/>
          <a:lstStyle/>
          <a:p>
            <a:pPr algn="just" eaLnBrk="1" hangingPunct="1">
              <a:spcBef>
                <a:spcPct val="35000"/>
              </a:spcBef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定义3.1 一阶语言</a:t>
            </a:r>
            <a:r>
              <a:rPr lang="en-US" altLang="zh-CN" sz="2400" b="1" i="1">
                <a:solidFill>
                  <a:srgbClr val="FF3300"/>
                </a:solidFill>
                <a:latin typeface="Palace Script MT" panose="030303020206070C0B05" pitchFamily="66" charset="0"/>
              </a:rPr>
              <a:t>L</a:t>
            </a:r>
            <a:r>
              <a:rPr lang="zh-CN" altLang="en-US" sz="2400" b="1">
                <a:solidFill>
                  <a:srgbClr val="FF3300"/>
                </a:solidFill>
              </a:rPr>
              <a:t> </a:t>
            </a:r>
            <a:r>
              <a:rPr lang="en-US" altLang="zh-CN" sz="2400" b="1" i="1">
                <a:solidFill>
                  <a:srgbClr val="FF3300"/>
                </a:solidFill>
              </a:rPr>
              <a:t> </a:t>
            </a:r>
            <a:r>
              <a:rPr lang="zh-CN" altLang="en-US" sz="2400" b="1">
                <a:solidFill>
                  <a:srgbClr val="FF0000"/>
                </a:solidFill>
              </a:rPr>
              <a:t>的</a:t>
            </a:r>
            <a:r>
              <a:rPr lang="zh-CN" altLang="en-US" sz="2400" b="1">
                <a:solidFill>
                  <a:srgbClr val="FF3300"/>
                </a:solidFill>
              </a:rPr>
              <a:t>字母表</a:t>
            </a:r>
            <a:r>
              <a:rPr lang="zh-CN" altLang="en-US" sz="2400" b="1"/>
              <a:t>定义如下：</a:t>
            </a:r>
          </a:p>
          <a:p>
            <a:pPr algn="just" eaLnBrk="1" hangingPunct="1">
              <a:spcBef>
                <a:spcPct val="35000"/>
              </a:spcBef>
              <a:buFontTx/>
              <a:buNone/>
            </a:pPr>
            <a:r>
              <a:rPr lang="zh-CN" altLang="en-US" sz="2400" b="1"/>
              <a:t>(1) 个体常项：</a:t>
            </a:r>
            <a:r>
              <a:rPr lang="en-US" altLang="zh-CN" sz="2400" b="1" i="1"/>
              <a:t>a</a:t>
            </a:r>
            <a:r>
              <a:rPr lang="en-US" altLang="zh-CN" sz="2400" b="1"/>
              <a:t>, </a:t>
            </a:r>
            <a:r>
              <a:rPr lang="en-US" altLang="zh-CN" sz="2400" b="1" i="1"/>
              <a:t>b</a:t>
            </a:r>
            <a:r>
              <a:rPr lang="en-US" altLang="zh-CN" sz="2400" b="1"/>
              <a:t>, </a:t>
            </a:r>
            <a:r>
              <a:rPr lang="en-US" altLang="zh-CN" sz="2400" b="1" i="1"/>
              <a:t>c</a:t>
            </a:r>
            <a:r>
              <a:rPr lang="en-US" altLang="zh-CN" sz="2400" b="1"/>
              <a:t>, …, </a:t>
            </a:r>
            <a:r>
              <a:rPr lang="en-US" altLang="zh-CN" sz="2400" b="1" i="1"/>
              <a:t>a</a:t>
            </a:r>
            <a:r>
              <a:rPr lang="en-US" altLang="zh-CN" sz="2400" b="1" i="1" baseline="-30000"/>
              <a:t>i</a:t>
            </a:r>
            <a:r>
              <a:rPr lang="en-US" altLang="zh-CN" sz="2400" b="1"/>
              <a:t>, </a:t>
            </a:r>
            <a:r>
              <a:rPr lang="en-US" altLang="zh-CN" sz="2400" b="1" i="1"/>
              <a:t>b</a:t>
            </a:r>
            <a:r>
              <a:rPr lang="en-US" altLang="zh-CN" sz="2400" b="1" i="1" baseline="-30000"/>
              <a:t>i</a:t>
            </a:r>
            <a:r>
              <a:rPr lang="en-US" altLang="zh-CN" sz="2400" b="1"/>
              <a:t>, </a:t>
            </a:r>
            <a:r>
              <a:rPr lang="en-US" altLang="zh-CN" sz="2400" b="1" i="1"/>
              <a:t>c</a:t>
            </a:r>
            <a:r>
              <a:rPr lang="en-US" altLang="zh-CN" sz="2400" b="1" i="1" baseline="-30000"/>
              <a:t>i</a:t>
            </a:r>
            <a:r>
              <a:rPr lang="en-US" altLang="zh-CN" sz="2400" b="1"/>
              <a:t>, …, </a:t>
            </a:r>
            <a:r>
              <a:rPr lang="en-US" altLang="zh-CN" sz="2400" b="1" i="1"/>
              <a:t>i</a:t>
            </a:r>
            <a:r>
              <a:rPr lang="en-US" altLang="zh-CN" sz="2400" b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</a:t>
            </a:r>
            <a:r>
              <a:rPr lang="en-US" altLang="zh-CN" sz="2400" b="1"/>
              <a:t>1</a:t>
            </a:r>
          </a:p>
          <a:p>
            <a:pPr algn="just" eaLnBrk="1" hangingPunct="1">
              <a:spcBef>
                <a:spcPct val="35000"/>
              </a:spcBef>
              <a:buFontTx/>
              <a:buNone/>
            </a:pPr>
            <a:r>
              <a:rPr lang="en-US" altLang="zh-CN" sz="2400" b="1"/>
              <a:t>(2) </a:t>
            </a:r>
            <a:r>
              <a:rPr lang="zh-CN" altLang="en-US" sz="2400" b="1"/>
              <a:t>个体变项：</a:t>
            </a:r>
            <a:r>
              <a:rPr lang="en-US" altLang="zh-CN" sz="2400" b="1" i="1"/>
              <a:t>x</a:t>
            </a:r>
            <a:r>
              <a:rPr lang="en-US" altLang="zh-CN" sz="2400" b="1"/>
              <a:t>, </a:t>
            </a:r>
            <a:r>
              <a:rPr lang="en-US" altLang="zh-CN" sz="2400" b="1" i="1"/>
              <a:t>y</a:t>
            </a:r>
            <a:r>
              <a:rPr lang="en-US" altLang="zh-CN" sz="2400" b="1"/>
              <a:t>, </a:t>
            </a:r>
            <a:r>
              <a:rPr lang="en-US" altLang="zh-CN" sz="2400" b="1" i="1"/>
              <a:t>z</a:t>
            </a:r>
            <a:r>
              <a:rPr lang="en-US" altLang="zh-CN" sz="2400" b="1"/>
              <a:t>, …, </a:t>
            </a:r>
            <a:r>
              <a:rPr lang="en-US" altLang="zh-CN" sz="2400" b="1" i="1"/>
              <a:t>x</a:t>
            </a:r>
            <a:r>
              <a:rPr lang="en-US" altLang="zh-CN" sz="2400" b="1" i="1" baseline="-30000"/>
              <a:t>i</a:t>
            </a:r>
            <a:r>
              <a:rPr lang="en-US" altLang="zh-CN" sz="2400" b="1"/>
              <a:t>, </a:t>
            </a:r>
            <a:r>
              <a:rPr lang="en-US" altLang="zh-CN" sz="2400" b="1" i="1"/>
              <a:t>y</a:t>
            </a:r>
            <a:r>
              <a:rPr lang="en-US" altLang="zh-CN" sz="2400" b="1" i="1" baseline="-30000"/>
              <a:t>i</a:t>
            </a:r>
            <a:r>
              <a:rPr lang="en-US" altLang="zh-CN" sz="2400" b="1"/>
              <a:t>, </a:t>
            </a:r>
            <a:r>
              <a:rPr lang="en-US" altLang="zh-CN" sz="2400" b="1" i="1"/>
              <a:t>z</a:t>
            </a:r>
            <a:r>
              <a:rPr lang="en-US" altLang="zh-CN" sz="2400" b="1" i="1" baseline="-30000"/>
              <a:t>i</a:t>
            </a:r>
            <a:r>
              <a:rPr lang="en-US" altLang="zh-CN" sz="2400" b="1"/>
              <a:t>, …, </a:t>
            </a:r>
            <a:r>
              <a:rPr lang="en-US" altLang="zh-CN" sz="2400" b="1" i="1"/>
              <a:t>i</a:t>
            </a:r>
            <a:r>
              <a:rPr lang="en-US" altLang="zh-CN" sz="2400" b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</a:t>
            </a:r>
            <a:r>
              <a:rPr lang="en-US" altLang="zh-CN" sz="2400" b="1"/>
              <a:t>1 </a:t>
            </a:r>
          </a:p>
          <a:p>
            <a:pPr algn="just" eaLnBrk="1" hangingPunct="1">
              <a:spcBef>
                <a:spcPct val="35000"/>
              </a:spcBef>
              <a:buFontTx/>
              <a:buNone/>
            </a:pPr>
            <a:r>
              <a:rPr lang="en-US" altLang="zh-CN" sz="2400" b="1"/>
              <a:t>(3) </a:t>
            </a:r>
            <a:r>
              <a:rPr lang="zh-CN" altLang="en-US" sz="2400" b="1"/>
              <a:t>函数符号：</a:t>
            </a:r>
            <a:r>
              <a:rPr lang="en-US" altLang="zh-CN" sz="2400" b="1" i="1"/>
              <a:t>f</a:t>
            </a:r>
            <a:r>
              <a:rPr lang="en-US" altLang="zh-CN" sz="2400" b="1"/>
              <a:t>, </a:t>
            </a:r>
            <a:r>
              <a:rPr lang="en-US" altLang="zh-CN" sz="2400" b="1" i="1"/>
              <a:t>g</a:t>
            </a:r>
            <a:r>
              <a:rPr lang="en-US" altLang="zh-CN" sz="2400" b="1"/>
              <a:t>, </a:t>
            </a:r>
            <a:r>
              <a:rPr lang="en-US" altLang="zh-CN" sz="2400" b="1" i="1"/>
              <a:t>h</a:t>
            </a:r>
            <a:r>
              <a:rPr lang="en-US" altLang="zh-CN" sz="2400" b="1"/>
              <a:t>, …, </a:t>
            </a:r>
            <a:r>
              <a:rPr lang="en-US" altLang="zh-CN" sz="2400" b="1" i="1"/>
              <a:t>f</a:t>
            </a:r>
            <a:r>
              <a:rPr lang="en-US" altLang="zh-CN" sz="2400" b="1" i="1" baseline="-30000"/>
              <a:t>i</a:t>
            </a:r>
            <a:r>
              <a:rPr lang="en-US" altLang="zh-CN" sz="2400" b="1"/>
              <a:t>, </a:t>
            </a:r>
            <a:r>
              <a:rPr lang="en-US" altLang="zh-CN" sz="2400" b="1" i="1"/>
              <a:t>g</a:t>
            </a:r>
            <a:r>
              <a:rPr lang="en-US" altLang="zh-CN" sz="2400" b="1" i="1" baseline="-30000"/>
              <a:t>i</a:t>
            </a:r>
            <a:r>
              <a:rPr lang="en-US" altLang="zh-CN" sz="2400" b="1"/>
              <a:t>, </a:t>
            </a:r>
            <a:r>
              <a:rPr lang="en-US" altLang="zh-CN" sz="2400" b="1" i="1"/>
              <a:t>h</a:t>
            </a:r>
            <a:r>
              <a:rPr lang="en-US" altLang="zh-CN" sz="2400" b="1" i="1" baseline="-30000"/>
              <a:t>i</a:t>
            </a:r>
            <a:r>
              <a:rPr lang="en-US" altLang="zh-CN" sz="2400" b="1"/>
              <a:t>, …, </a:t>
            </a:r>
            <a:r>
              <a:rPr lang="en-US" altLang="zh-CN" sz="2400" b="1" i="1"/>
              <a:t>i</a:t>
            </a:r>
            <a:r>
              <a:rPr lang="en-US" altLang="zh-CN" sz="2400" b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</a:t>
            </a:r>
            <a:r>
              <a:rPr lang="en-US" altLang="zh-CN" sz="2400" b="1"/>
              <a:t>1</a:t>
            </a:r>
          </a:p>
          <a:p>
            <a:pPr algn="just" eaLnBrk="1" hangingPunct="1">
              <a:spcBef>
                <a:spcPct val="35000"/>
              </a:spcBef>
              <a:buFontTx/>
              <a:buNone/>
            </a:pPr>
            <a:r>
              <a:rPr lang="en-US" altLang="zh-CN" sz="2400" b="1"/>
              <a:t>(4) </a:t>
            </a:r>
            <a:r>
              <a:rPr lang="zh-CN" altLang="en-US" sz="2400" b="1"/>
              <a:t>谓词符号：</a:t>
            </a:r>
            <a:r>
              <a:rPr lang="en-US" altLang="zh-CN" sz="2400" b="1" i="1"/>
              <a:t>F</a:t>
            </a:r>
            <a:r>
              <a:rPr lang="en-US" altLang="zh-CN" sz="2400" b="1"/>
              <a:t>, </a:t>
            </a:r>
            <a:r>
              <a:rPr lang="en-US" altLang="zh-CN" sz="2400" b="1" i="1"/>
              <a:t>G</a:t>
            </a:r>
            <a:r>
              <a:rPr lang="en-US" altLang="zh-CN" sz="2400" b="1"/>
              <a:t>, </a:t>
            </a:r>
            <a:r>
              <a:rPr lang="en-US" altLang="zh-CN" sz="2400" b="1" i="1"/>
              <a:t>H</a:t>
            </a:r>
            <a:r>
              <a:rPr lang="en-US" altLang="zh-CN" sz="2400" b="1"/>
              <a:t>, …, </a:t>
            </a:r>
            <a:r>
              <a:rPr lang="en-US" altLang="zh-CN" sz="2400" b="1" i="1"/>
              <a:t>F</a:t>
            </a:r>
            <a:r>
              <a:rPr lang="en-US" altLang="zh-CN" sz="2400" b="1" i="1" baseline="-30000"/>
              <a:t>i</a:t>
            </a:r>
            <a:r>
              <a:rPr lang="en-US" altLang="zh-CN" sz="2400" b="1"/>
              <a:t>, </a:t>
            </a:r>
            <a:r>
              <a:rPr lang="en-US" altLang="zh-CN" sz="2400" b="1" i="1"/>
              <a:t>G</a:t>
            </a:r>
            <a:r>
              <a:rPr lang="en-US" altLang="zh-CN" sz="2400" b="1" i="1" baseline="-30000"/>
              <a:t>i</a:t>
            </a:r>
            <a:r>
              <a:rPr lang="en-US" altLang="zh-CN" sz="2400" b="1"/>
              <a:t>, </a:t>
            </a:r>
            <a:r>
              <a:rPr lang="en-US" altLang="zh-CN" sz="2400" b="1" i="1"/>
              <a:t>H</a:t>
            </a:r>
            <a:r>
              <a:rPr lang="en-US" altLang="zh-CN" sz="2400" b="1" i="1" baseline="-30000"/>
              <a:t>i</a:t>
            </a:r>
            <a:r>
              <a:rPr lang="en-US" altLang="zh-CN" sz="2400" b="1"/>
              <a:t>, …, </a:t>
            </a:r>
            <a:r>
              <a:rPr lang="en-US" altLang="zh-CN" sz="2400" b="1" i="1"/>
              <a:t>i</a:t>
            </a:r>
            <a:r>
              <a:rPr lang="en-US" altLang="zh-CN" sz="2400" b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</a:t>
            </a:r>
            <a:r>
              <a:rPr lang="en-US" altLang="zh-CN" sz="2400" b="1"/>
              <a:t>1</a:t>
            </a:r>
          </a:p>
          <a:p>
            <a:pPr algn="just" eaLnBrk="1" hangingPunct="1">
              <a:spcBef>
                <a:spcPct val="35000"/>
              </a:spcBef>
              <a:buFontTx/>
              <a:buNone/>
            </a:pPr>
            <a:r>
              <a:rPr lang="en-US" altLang="zh-CN" sz="2400" b="1"/>
              <a:t>(5) </a:t>
            </a:r>
            <a:r>
              <a:rPr lang="zh-CN" altLang="en-US" sz="2400" b="1"/>
              <a:t>量词符号：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zh-CN" altLang="en-US" sz="2400" b="1"/>
              <a:t>, </a:t>
            </a:r>
            <a:r>
              <a:rPr lang="zh-CN" altLang="en-US" sz="2400" b="1">
                <a:sym typeface="Symbol" panose="05050102010706020507" pitchFamily="18" charset="2"/>
              </a:rPr>
              <a:t></a:t>
            </a:r>
            <a:endParaRPr lang="zh-CN" altLang="en-US" sz="2400" b="1"/>
          </a:p>
          <a:p>
            <a:pPr algn="just" eaLnBrk="1" hangingPunct="1">
              <a:spcBef>
                <a:spcPct val="35000"/>
              </a:spcBef>
              <a:buFontTx/>
              <a:buNone/>
            </a:pPr>
            <a:r>
              <a:rPr lang="zh-CN" altLang="en-US" sz="2400" b="1"/>
              <a:t>(6) 联结词符号：</a:t>
            </a:r>
            <a:r>
              <a:rPr lang="zh-CN" altLang="en-US" sz="2400" b="1">
                <a:sym typeface="Symbol" panose="05050102010706020507" pitchFamily="18" charset="2"/>
              </a:rPr>
              <a:t></a:t>
            </a:r>
            <a:r>
              <a:rPr lang="zh-CN" altLang="en-US" sz="2400" b="1"/>
              <a:t>, </a:t>
            </a:r>
            <a:r>
              <a:rPr lang="zh-CN" altLang="en-US" sz="2400" b="1">
                <a:sym typeface="Symbol" panose="05050102010706020507" pitchFamily="18" charset="2"/>
              </a:rPr>
              <a:t></a:t>
            </a:r>
            <a:r>
              <a:rPr lang="zh-CN" altLang="en-US" sz="2400" b="1"/>
              <a:t>, </a:t>
            </a:r>
            <a:r>
              <a:rPr lang="zh-CN" altLang="en-US" sz="2400" b="1">
                <a:sym typeface="Symbol" panose="05050102010706020507" pitchFamily="18" charset="2"/>
              </a:rPr>
              <a:t></a:t>
            </a:r>
            <a:r>
              <a:rPr lang="zh-CN" altLang="en-US" sz="2400" b="1"/>
              <a:t>, </a:t>
            </a:r>
            <a:r>
              <a:rPr lang="zh-CN" altLang="en-US" sz="2400" b="1">
                <a:sym typeface="Symbol" panose="05050102010706020507" pitchFamily="18" charset="2"/>
              </a:rPr>
              <a:t></a:t>
            </a:r>
            <a:r>
              <a:rPr lang="zh-CN" altLang="en-US" sz="2400" b="1"/>
              <a:t>, </a:t>
            </a:r>
            <a:r>
              <a:rPr lang="zh-CN" altLang="en-US" sz="2400" b="1">
                <a:sym typeface="Symbol" panose="05050102010706020507" pitchFamily="18" charset="2"/>
              </a:rPr>
              <a:t></a:t>
            </a:r>
            <a:r>
              <a:rPr lang="zh-CN" altLang="en-US" sz="2400" b="1"/>
              <a:t> </a:t>
            </a:r>
          </a:p>
          <a:p>
            <a:pPr eaLnBrk="1" hangingPunct="1">
              <a:spcBef>
                <a:spcPct val="35000"/>
              </a:spcBef>
              <a:buFontTx/>
              <a:buNone/>
            </a:pPr>
            <a:r>
              <a:rPr lang="zh-CN" altLang="en-US" sz="2400" b="1"/>
              <a:t>(7) 括号与逗号：( ), ，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>
            <a:extLst>
              <a:ext uri="{FF2B5EF4-FFF2-40B4-BE49-F238E27FC236}">
                <a16:creationId xmlns:a16="http://schemas.microsoft.com/office/drawing/2014/main" id="{05C69A96-9E4E-A51A-C825-7772537AA3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66298F-6C70-4911-B2AE-DFF863E170FF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zh-CN" altLang="en-US" sz="14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F3549F08-31A7-201B-E914-9A2D183462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一阶语言</a:t>
            </a:r>
            <a:r>
              <a:rPr lang="en-US" altLang="zh-CN" sz="4000" i="1">
                <a:latin typeface="Palace Script MT" panose="030303020206070C0B05" pitchFamily="66" charset="0"/>
              </a:rPr>
              <a:t>L</a:t>
            </a:r>
            <a:r>
              <a:rPr lang="en-US" altLang="zh-CN" sz="4000" b="0" i="1">
                <a:solidFill>
                  <a:srgbClr val="FF0000"/>
                </a:solidFill>
              </a:rPr>
              <a:t>  </a:t>
            </a:r>
            <a:r>
              <a:rPr lang="en-US" altLang="zh-CN" sz="4000">
                <a:solidFill>
                  <a:srgbClr val="800000"/>
                </a:solidFill>
              </a:rPr>
              <a:t>(</a:t>
            </a:r>
            <a:r>
              <a:rPr lang="zh-CN" altLang="en-US" sz="4000">
                <a:solidFill>
                  <a:srgbClr val="800000"/>
                </a:solidFill>
              </a:rPr>
              <a:t>续)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B49B7E51-0795-E544-06D6-E9D8400F26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4038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定义3.2 </a:t>
            </a:r>
            <a:r>
              <a:rPr lang="en-US" altLang="zh-CN" sz="2400" b="1" i="1">
                <a:solidFill>
                  <a:srgbClr val="FF0000"/>
                </a:solidFill>
                <a:latin typeface="Palace Script MT" panose="030303020206070C0B05" pitchFamily="66" charset="0"/>
              </a:rPr>
              <a:t>L</a:t>
            </a:r>
            <a:r>
              <a:rPr lang="en-US" altLang="zh-CN" sz="2400" b="1" i="1">
                <a:solidFill>
                  <a:srgbClr val="FF0000"/>
                </a:solidFill>
                <a:latin typeface="English111 Vivace BT" pitchFamily="66" charset="0"/>
              </a:rPr>
              <a:t> </a:t>
            </a:r>
            <a:r>
              <a:rPr lang="zh-CN" altLang="en-US" sz="2400" b="1">
                <a:solidFill>
                  <a:srgbClr val="FF0000"/>
                </a:solidFill>
              </a:rPr>
              <a:t>的</a:t>
            </a:r>
            <a:r>
              <a:rPr lang="zh-CN" altLang="en-US" sz="2400" b="1">
                <a:solidFill>
                  <a:srgbClr val="FF3300"/>
                </a:solidFill>
              </a:rPr>
              <a:t>项</a:t>
            </a:r>
            <a:r>
              <a:rPr lang="zh-CN" altLang="en-US" sz="2400" b="1"/>
              <a:t>的定义如下：</a:t>
            </a:r>
          </a:p>
          <a:p>
            <a:pPr algn="just" eaLnBrk="1" hangingPunct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zh-CN" altLang="en-US" sz="2400" b="1"/>
              <a:t>(1) 个体常项和个体变项是项.</a:t>
            </a:r>
          </a:p>
          <a:p>
            <a:pPr algn="just" eaLnBrk="1" hangingPunct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zh-CN" altLang="en-US" sz="2400" b="1"/>
              <a:t>(2) 若</a:t>
            </a:r>
            <a:r>
              <a:rPr lang="zh-CN" altLang="en-US" sz="2400" b="1" i="1">
                <a:sym typeface="Symbol" panose="05050102010706020507" pitchFamily="18" charset="2"/>
              </a:rPr>
              <a:t></a:t>
            </a:r>
            <a:r>
              <a:rPr lang="zh-CN" altLang="en-US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 baseline="-30000"/>
              <a:t>1</a:t>
            </a:r>
            <a:r>
              <a:rPr lang="en-US" altLang="zh-CN" sz="2400" b="1"/>
              <a:t>, </a:t>
            </a:r>
            <a:r>
              <a:rPr lang="en-US" altLang="zh-CN" sz="2400" b="1" i="1"/>
              <a:t>x</a:t>
            </a:r>
            <a:r>
              <a:rPr lang="en-US" altLang="zh-CN" sz="2400" b="1" baseline="-30000"/>
              <a:t>2</a:t>
            </a:r>
            <a:r>
              <a:rPr lang="en-US" altLang="zh-CN" sz="2400" b="1"/>
              <a:t>, …, </a:t>
            </a:r>
            <a:r>
              <a:rPr lang="en-US" altLang="zh-CN" sz="2400" b="1" i="1"/>
              <a:t>x</a:t>
            </a:r>
            <a:r>
              <a:rPr lang="en-US" altLang="zh-CN" sz="2400" b="1" i="1" baseline="-30000"/>
              <a:t>n</a:t>
            </a:r>
            <a:r>
              <a:rPr lang="en-US" altLang="zh-CN" sz="2400" b="1"/>
              <a:t>)</a:t>
            </a:r>
            <a:r>
              <a:rPr lang="zh-CN" altLang="en-US" sz="2400" b="1"/>
              <a:t>是任意的</a:t>
            </a:r>
            <a:r>
              <a:rPr lang="en-US" altLang="zh-CN" sz="2400" b="1" i="1"/>
              <a:t>n</a:t>
            </a:r>
            <a:r>
              <a:rPr lang="zh-CN" altLang="en-US" sz="2400" b="1"/>
              <a:t>元函数，</a:t>
            </a:r>
            <a:r>
              <a:rPr lang="en-US" altLang="zh-CN" sz="2400" b="1" i="1"/>
              <a:t>t</a:t>
            </a:r>
            <a:r>
              <a:rPr lang="en-US" altLang="zh-CN" sz="2400" b="1" baseline="-30000"/>
              <a:t>1</a:t>
            </a:r>
            <a:r>
              <a:rPr lang="en-US" altLang="zh-CN" sz="2400" b="1"/>
              <a:t>,</a:t>
            </a:r>
            <a:r>
              <a:rPr lang="en-US" altLang="zh-CN" sz="2400" b="1" i="1"/>
              <a:t>t</a:t>
            </a:r>
            <a:r>
              <a:rPr lang="en-US" altLang="zh-CN" sz="2400" b="1" baseline="-30000"/>
              <a:t>2</a:t>
            </a:r>
            <a:r>
              <a:rPr lang="en-US" altLang="zh-CN" sz="2400" b="1"/>
              <a:t>,…,</a:t>
            </a:r>
            <a:r>
              <a:rPr lang="en-US" altLang="zh-CN" sz="2400" b="1" i="1"/>
              <a:t>t</a:t>
            </a:r>
            <a:r>
              <a:rPr lang="en-US" altLang="zh-CN" sz="2400" b="1" i="1" baseline="-30000"/>
              <a:t>n</a:t>
            </a:r>
            <a:r>
              <a:rPr lang="zh-CN" altLang="en-US" sz="2400" b="1"/>
              <a:t>是任意</a:t>
            </a:r>
          </a:p>
          <a:p>
            <a:pPr algn="just" eaLnBrk="1" hangingPunct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zh-CN" altLang="en-US" sz="2400" b="1"/>
              <a:t>      的</a:t>
            </a:r>
            <a:r>
              <a:rPr lang="en-US" altLang="zh-CN" sz="2400" b="1" i="1"/>
              <a:t>n</a:t>
            </a:r>
            <a:r>
              <a:rPr lang="zh-CN" altLang="en-US" sz="2400" b="1"/>
              <a:t>个项，则</a:t>
            </a:r>
            <a:r>
              <a:rPr lang="zh-CN" altLang="en-US" sz="2400" b="1" i="1">
                <a:sym typeface="Symbol" panose="05050102010706020507" pitchFamily="18" charset="2"/>
              </a:rPr>
              <a:t></a:t>
            </a:r>
            <a:r>
              <a:rPr lang="zh-CN" altLang="en-US" sz="2400" b="1"/>
              <a:t>(</a:t>
            </a:r>
            <a:r>
              <a:rPr lang="en-US" altLang="zh-CN" sz="2400" b="1" i="1"/>
              <a:t>t</a:t>
            </a:r>
            <a:r>
              <a:rPr lang="en-US" altLang="zh-CN" sz="2400" b="1" baseline="-30000"/>
              <a:t>1</a:t>
            </a:r>
            <a:r>
              <a:rPr lang="en-US" altLang="zh-CN" sz="2400" b="1"/>
              <a:t>, </a:t>
            </a:r>
            <a:r>
              <a:rPr lang="en-US" altLang="zh-CN" sz="2400" b="1" i="1"/>
              <a:t>t</a:t>
            </a:r>
            <a:r>
              <a:rPr lang="en-US" altLang="zh-CN" sz="2400" b="1" baseline="-30000"/>
              <a:t>2</a:t>
            </a:r>
            <a:r>
              <a:rPr lang="en-US" altLang="zh-CN" sz="2400" b="1"/>
              <a:t>, …, </a:t>
            </a:r>
            <a:r>
              <a:rPr lang="en-US" altLang="zh-CN" sz="2400" b="1" i="1"/>
              <a:t>t</a:t>
            </a:r>
            <a:r>
              <a:rPr lang="en-US" altLang="zh-CN" sz="2400" b="1" i="1" baseline="-30000"/>
              <a:t>n</a:t>
            </a:r>
            <a:r>
              <a:rPr lang="en-US" altLang="zh-CN" sz="2400" b="1"/>
              <a:t>) </a:t>
            </a:r>
            <a:r>
              <a:rPr lang="zh-CN" altLang="en-US" sz="2400" b="1"/>
              <a:t>是项.</a:t>
            </a:r>
          </a:p>
          <a:p>
            <a:pPr algn="just" eaLnBrk="1" hangingPunct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zh-CN" altLang="en-US" sz="2400" b="1"/>
              <a:t>(3) 所有的项都是有限次使用 (1), (2) 得到的.</a:t>
            </a:r>
          </a:p>
          <a:p>
            <a:pPr algn="just" eaLnBrk="1" hangingPunct="1">
              <a:lnSpc>
                <a:spcPct val="90000"/>
              </a:lnSpc>
              <a:spcBef>
                <a:spcPct val="30000"/>
              </a:spcBef>
              <a:buFontTx/>
              <a:buNone/>
            </a:pPr>
            <a:endParaRPr lang="zh-CN" altLang="en-US" sz="2400" b="1"/>
          </a:p>
          <a:p>
            <a:pPr algn="just" eaLnBrk="1" hangingPunct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定义3.3</a:t>
            </a:r>
            <a:r>
              <a:rPr lang="zh-CN" altLang="en-US" sz="2400" b="1"/>
              <a:t> 设</a:t>
            </a:r>
            <a:r>
              <a:rPr lang="en-US" altLang="zh-CN" sz="2400" b="1" i="1"/>
              <a:t>R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 baseline="-30000"/>
              <a:t>1</a:t>
            </a:r>
            <a:r>
              <a:rPr lang="en-US" altLang="zh-CN" sz="2400" b="1"/>
              <a:t>, </a:t>
            </a:r>
            <a:r>
              <a:rPr lang="en-US" altLang="zh-CN" sz="2400" b="1" i="1"/>
              <a:t>x</a:t>
            </a:r>
            <a:r>
              <a:rPr lang="en-US" altLang="zh-CN" sz="2400" b="1" baseline="-30000"/>
              <a:t>2</a:t>
            </a:r>
            <a:r>
              <a:rPr lang="en-US" altLang="zh-CN" sz="2400" b="1"/>
              <a:t>, …, </a:t>
            </a:r>
            <a:r>
              <a:rPr lang="en-US" altLang="zh-CN" sz="2400" b="1" i="1"/>
              <a:t>x</a:t>
            </a:r>
            <a:r>
              <a:rPr lang="en-US" altLang="zh-CN" sz="2400" b="1" i="1" baseline="-30000"/>
              <a:t>n</a:t>
            </a:r>
            <a:r>
              <a:rPr lang="en-US" altLang="zh-CN" sz="2400" b="1"/>
              <a:t>)</a:t>
            </a:r>
            <a:r>
              <a:rPr lang="zh-CN" altLang="en-US" sz="2400" b="1"/>
              <a:t>是</a:t>
            </a:r>
            <a:r>
              <a:rPr lang="en-US" altLang="zh-CN" sz="2400" b="1" i="1">
                <a:latin typeface="Palace Script MT" panose="030303020206070C0B05" pitchFamily="66" charset="0"/>
              </a:rPr>
              <a:t>L</a:t>
            </a:r>
            <a:r>
              <a:rPr lang="en-US" altLang="zh-CN" sz="2400" b="1" i="1"/>
              <a:t> </a:t>
            </a:r>
            <a:r>
              <a:rPr lang="zh-CN" altLang="en-US" sz="2400" b="1"/>
              <a:t>的任意</a:t>
            </a:r>
            <a:r>
              <a:rPr lang="en-US" altLang="zh-CN" sz="2400" b="1" i="1"/>
              <a:t>n</a:t>
            </a:r>
            <a:r>
              <a:rPr lang="zh-CN" altLang="en-US" sz="2400" b="1"/>
              <a:t>元谓词，</a:t>
            </a:r>
            <a:r>
              <a:rPr lang="en-US" altLang="zh-CN" sz="2400" b="1" i="1"/>
              <a:t>t</a:t>
            </a:r>
            <a:r>
              <a:rPr lang="en-US" altLang="zh-CN" sz="2400" b="1" baseline="-30000"/>
              <a:t>1</a:t>
            </a:r>
            <a:r>
              <a:rPr lang="en-US" altLang="zh-CN" sz="2400" b="1"/>
              <a:t>,</a:t>
            </a:r>
            <a:r>
              <a:rPr lang="en-US" altLang="zh-CN" sz="2400" b="1" i="1"/>
              <a:t>t</a:t>
            </a:r>
            <a:r>
              <a:rPr lang="en-US" altLang="zh-CN" sz="2400" b="1" baseline="-30000"/>
              <a:t>2</a:t>
            </a:r>
            <a:r>
              <a:rPr lang="en-US" altLang="zh-CN" sz="2400" b="1"/>
              <a:t>,…, </a:t>
            </a:r>
            <a:r>
              <a:rPr lang="en-US" altLang="zh-CN" sz="2400" b="1" i="1"/>
              <a:t>t</a:t>
            </a:r>
            <a:r>
              <a:rPr lang="en-US" altLang="zh-CN" sz="2400" b="1" i="1" baseline="-30000"/>
              <a:t>n</a:t>
            </a:r>
          </a:p>
          <a:p>
            <a:pPr algn="just" eaLnBrk="1" hangingPunct="1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zh-CN" altLang="en-US" sz="2400" b="1"/>
              <a:t>是</a:t>
            </a:r>
            <a:r>
              <a:rPr lang="en-US" altLang="zh-CN" sz="2400" b="1" i="1">
                <a:latin typeface="Palace Script MT" panose="030303020206070C0B05" pitchFamily="66" charset="0"/>
              </a:rPr>
              <a:t>L</a:t>
            </a:r>
            <a:r>
              <a:rPr lang="en-US" altLang="zh-CN" sz="2400" b="1" i="1"/>
              <a:t> </a:t>
            </a:r>
            <a:r>
              <a:rPr lang="zh-CN" altLang="en-US" sz="2400" b="1"/>
              <a:t>的任意</a:t>
            </a:r>
            <a:r>
              <a:rPr lang="en-US" altLang="zh-CN" sz="2400" b="1" i="1"/>
              <a:t>n</a:t>
            </a:r>
            <a:r>
              <a:rPr lang="zh-CN" altLang="en-US" sz="2400" b="1"/>
              <a:t>个项，则称</a:t>
            </a:r>
            <a:r>
              <a:rPr lang="en-US" altLang="zh-CN" sz="2400" b="1" i="1"/>
              <a:t>R</a:t>
            </a:r>
            <a:r>
              <a:rPr lang="en-US" altLang="zh-CN" sz="2400" b="1"/>
              <a:t>(</a:t>
            </a:r>
            <a:r>
              <a:rPr lang="en-US" altLang="zh-CN" sz="2400" b="1" i="1"/>
              <a:t>t</a:t>
            </a:r>
            <a:r>
              <a:rPr lang="en-US" altLang="zh-CN" sz="2400" b="1" baseline="-30000"/>
              <a:t>1</a:t>
            </a:r>
            <a:r>
              <a:rPr lang="en-US" altLang="zh-CN" sz="2400" b="1"/>
              <a:t>, </a:t>
            </a:r>
            <a:r>
              <a:rPr lang="en-US" altLang="zh-CN" sz="2400" b="1" i="1"/>
              <a:t>t</a:t>
            </a:r>
            <a:r>
              <a:rPr lang="en-US" altLang="zh-CN" sz="2400" b="1" baseline="-30000"/>
              <a:t>2</a:t>
            </a:r>
            <a:r>
              <a:rPr lang="en-US" altLang="zh-CN" sz="2400" b="1"/>
              <a:t>, …, </a:t>
            </a:r>
            <a:r>
              <a:rPr lang="en-US" altLang="zh-CN" sz="2400" b="1" i="1"/>
              <a:t>t</a:t>
            </a:r>
            <a:r>
              <a:rPr lang="en-US" altLang="zh-CN" sz="2400" b="1" i="1" baseline="-30000"/>
              <a:t>n</a:t>
            </a:r>
            <a:r>
              <a:rPr lang="en-US" altLang="zh-CN" sz="2400" b="1"/>
              <a:t>)</a:t>
            </a:r>
            <a:r>
              <a:rPr lang="zh-CN" altLang="en-US" sz="2400" b="1"/>
              <a:t>是</a:t>
            </a:r>
            <a:r>
              <a:rPr lang="zh-CN" altLang="en-US" sz="2400" b="1">
                <a:solidFill>
                  <a:srgbClr val="FF3300"/>
                </a:solidFill>
              </a:rPr>
              <a:t>原子公式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86742BF9-C4B2-AF08-4A34-EFD4D01885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19C2EB-B62B-493A-8D8E-D7607242D1F0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zh-CN" altLang="en-US" sz="14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D1E19359-6A22-D073-8C9D-4877518DB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一阶语言</a:t>
            </a:r>
            <a:r>
              <a:rPr lang="en-US" altLang="zh-CN" sz="4000" i="1">
                <a:latin typeface="Palace Script MT" panose="030303020206070C0B05" pitchFamily="66" charset="0"/>
              </a:rPr>
              <a:t>L</a:t>
            </a:r>
            <a:r>
              <a:rPr lang="en-US" altLang="zh-CN" sz="4000" b="0" i="1"/>
              <a:t> </a:t>
            </a:r>
            <a:r>
              <a:rPr lang="zh-CN" altLang="en-US" sz="4000">
                <a:solidFill>
                  <a:srgbClr val="800000"/>
                </a:solidFill>
              </a:rPr>
              <a:t>(续)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8C1BD98-EA2C-EC6C-D2D0-BF92C94925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4038600"/>
          </a:xfrm>
        </p:spPr>
        <p:txBody>
          <a:bodyPr/>
          <a:lstStyle/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定义3.4  </a:t>
            </a:r>
            <a:r>
              <a:rPr lang="en-US" altLang="zh-CN" sz="2400" b="1" i="1">
                <a:solidFill>
                  <a:srgbClr val="FF0000"/>
                </a:solidFill>
                <a:latin typeface="Palace Script MT" panose="030303020206070C0B05" pitchFamily="66" charset="0"/>
              </a:rPr>
              <a:t>L </a:t>
            </a:r>
            <a:r>
              <a:rPr lang="zh-CN" altLang="en-US" sz="2400" b="1">
                <a:solidFill>
                  <a:srgbClr val="FF0000"/>
                </a:solidFill>
              </a:rPr>
              <a:t>的</a:t>
            </a:r>
            <a:r>
              <a:rPr lang="zh-CN" altLang="en-US" sz="2400" b="1">
                <a:solidFill>
                  <a:srgbClr val="FF3300"/>
                </a:solidFill>
              </a:rPr>
              <a:t>合式公式</a:t>
            </a:r>
            <a:r>
              <a:rPr lang="zh-CN" altLang="en-US" sz="2400" b="1"/>
              <a:t>定义如下：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(1) 原子公式是合式公式 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(2) 若</a:t>
            </a:r>
            <a:r>
              <a:rPr lang="en-US" altLang="zh-CN" sz="2400" b="1" i="1"/>
              <a:t>A</a:t>
            </a:r>
            <a:r>
              <a:rPr lang="zh-CN" altLang="en-US" sz="2400" b="1"/>
              <a:t>是合式公式, 则 (</a:t>
            </a:r>
            <a:r>
              <a:rPr lang="zh-CN" altLang="en-US" sz="2400" b="1">
                <a:sym typeface="Symbol" panose="05050102010706020507" pitchFamily="18" charset="2"/>
              </a:rPr>
              <a:t></a:t>
            </a:r>
            <a:r>
              <a:rPr lang="en-US" altLang="zh-CN" sz="2400" b="1" i="1"/>
              <a:t>A</a:t>
            </a:r>
            <a:r>
              <a:rPr lang="en-US" altLang="zh-CN" sz="2400" b="1"/>
              <a:t>)</a:t>
            </a:r>
            <a:r>
              <a:rPr lang="zh-CN" altLang="en-US" sz="2400" b="1"/>
              <a:t>也是合式公式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(3) 若</a:t>
            </a:r>
            <a:r>
              <a:rPr lang="en-US" altLang="zh-CN" sz="2400" b="1" i="1"/>
              <a:t>A</a:t>
            </a:r>
            <a:r>
              <a:rPr lang="en-US" altLang="zh-CN" sz="2400" b="1"/>
              <a:t>, </a:t>
            </a:r>
            <a:r>
              <a:rPr lang="en-US" altLang="zh-CN" sz="2400" b="1" i="1"/>
              <a:t>B</a:t>
            </a:r>
            <a:r>
              <a:rPr lang="zh-CN" altLang="en-US" sz="2400" b="1"/>
              <a:t>是合式公式, 则(</a:t>
            </a:r>
            <a:r>
              <a:rPr lang="en-US" altLang="zh-CN" sz="2400" b="1" i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B</a:t>
            </a:r>
            <a:r>
              <a:rPr lang="en-US" altLang="zh-CN" sz="2400" b="1"/>
              <a:t>), (</a:t>
            </a:r>
            <a:r>
              <a:rPr lang="en-US" altLang="zh-CN" sz="2400" b="1" i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400" b="1" i="1"/>
              <a:t>B</a:t>
            </a:r>
            <a:r>
              <a:rPr lang="en-US" altLang="zh-CN" sz="2400" b="1"/>
              <a:t>), (</a:t>
            </a:r>
            <a:r>
              <a:rPr lang="en-US" altLang="zh-CN" sz="2400" b="1" i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B</a:t>
            </a:r>
            <a:r>
              <a:rPr lang="en-US" altLang="zh-CN" sz="2400" b="1"/>
              <a:t>), (</a:t>
            </a:r>
            <a:r>
              <a:rPr lang="en-US" altLang="zh-CN" sz="2400" b="1" i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</a:t>
            </a:r>
            <a:r>
              <a:rPr lang="en-US" altLang="zh-CN" sz="2400" b="1" i="1"/>
              <a:t>B</a:t>
            </a:r>
            <a:r>
              <a:rPr lang="en-US" altLang="zh-CN" sz="2400" b="1"/>
              <a:t>)</a:t>
            </a:r>
            <a:r>
              <a:rPr lang="zh-CN" altLang="en-US" sz="2400" b="1"/>
              <a:t>也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      是合式公式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(4) 若</a:t>
            </a:r>
            <a:r>
              <a:rPr lang="en-US" altLang="zh-CN" sz="2400" b="1" i="1"/>
              <a:t>A</a:t>
            </a:r>
            <a:r>
              <a:rPr lang="zh-CN" altLang="en-US" sz="2400" b="1"/>
              <a:t>是合式公式, 则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xA</a:t>
            </a:r>
            <a:r>
              <a:rPr lang="en-US" altLang="zh-CN" sz="2400" b="1"/>
              <a:t>, </a:t>
            </a:r>
            <a:r>
              <a:rPr lang="en-US" altLang="zh-CN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xA</a:t>
            </a:r>
            <a:r>
              <a:rPr lang="zh-CN" altLang="en-US" sz="2400" b="1"/>
              <a:t>也是合式公式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(5) 只有有限次地应用(1)~(4)形成的符号串才是合式公式.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400" b="1"/>
              <a:t>合式公式又称</a:t>
            </a:r>
            <a:r>
              <a:rPr lang="zh-CN" altLang="en-US" sz="2400" b="1">
                <a:solidFill>
                  <a:srgbClr val="FF0000"/>
                </a:solidFill>
              </a:rPr>
              <a:t>谓词公式</a:t>
            </a:r>
            <a:r>
              <a:rPr lang="zh-CN" altLang="en-US" sz="2400" b="1"/>
              <a:t>, 简称</a:t>
            </a:r>
            <a:r>
              <a:rPr lang="zh-CN" altLang="en-US" sz="2400" b="1">
                <a:solidFill>
                  <a:srgbClr val="FF0000"/>
                </a:solidFill>
              </a:rPr>
              <a:t>公式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>
            <a:extLst>
              <a:ext uri="{FF2B5EF4-FFF2-40B4-BE49-F238E27FC236}">
                <a16:creationId xmlns:a16="http://schemas.microsoft.com/office/drawing/2014/main" id="{60EE7A0E-A1BB-636A-7E39-D25A5EC1A8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4DFD4D-8763-4F09-AF77-DB02CDD8F23F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zh-CN" altLang="en-US" sz="14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6581D066-287B-8BAC-02F8-9B939F35E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1143000"/>
          </a:xfrm>
        </p:spPr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量词的辖域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81A1BB6-1250-B0CC-CE15-10A9DA0433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8278813" cy="4572000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定义3.5 </a:t>
            </a:r>
            <a:r>
              <a:rPr lang="zh-CN" altLang="en-US" sz="2400" b="1"/>
              <a:t> 在公式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xA</a:t>
            </a:r>
            <a:r>
              <a:rPr lang="zh-CN" altLang="en-US" sz="2400" b="1"/>
              <a:t>和</a:t>
            </a:r>
            <a:r>
              <a:rPr lang="zh-CN" altLang="en-US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xA</a:t>
            </a:r>
            <a:r>
              <a:rPr lang="zh-CN" altLang="en-US" sz="2400" b="1"/>
              <a:t>中, 称</a:t>
            </a:r>
            <a:r>
              <a:rPr lang="en-US" altLang="zh-CN" sz="2400" b="1" i="1"/>
              <a:t>x</a:t>
            </a:r>
            <a:r>
              <a:rPr lang="zh-CN" altLang="en-US" sz="2400" b="1"/>
              <a:t>为</a:t>
            </a:r>
            <a:r>
              <a:rPr lang="zh-CN" altLang="en-US" sz="2400" b="1">
                <a:solidFill>
                  <a:srgbClr val="FF3300"/>
                </a:solidFill>
              </a:rPr>
              <a:t>指导变元</a:t>
            </a:r>
            <a:r>
              <a:rPr lang="zh-CN" altLang="en-US" sz="2400" b="1"/>
              <a:t>, </a:t>
            </a:r>
            <a:r>
              <a:rPr lang="en-US" altLang="zh-CN" sz="2400" b="1" i="1"/>
              <a:t>A</a:t>
            </a:r>
            <a:r>
              <a:rPr lang="zh-CN" altLang="en-US" sz="2400" b="1"/>
              <a:t>为相应量</a:t>
            </a:r>
          </a:p>
          <a:p>
            <a:pPr algn="just" eaLnBrk="1" hangingPunct="1">
              <a:buFontTx/>
              <a:buNone/>
            </a:pPr>
            <a:r>
              <a:rPr lang="zh-CN" altLang="en-US" sz="2400" b="1"/>
              <a:t>词的</a:t>
            </a:r>
            <a:r>
              <a:rPr lang="zh-CN" altLang="en-US" sz="2400" b="1">
                <a:solidFill>
                  <a:srgbClr val="FF3300"/>
                </a:solidFill>
              </a:rPr>
              <a:t>辖域</a:t>
            </a:r>
            <a:r>
              <a:rPr lang="zh-CN" altLang="en-US" sz="2400" b="1"/>
              <a:t>. 在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zh-CN" altLang="en-US" sz="2400" b="1"/>
              <a:t>和</a:t>
            </a:r>
            <a:r>
              <a:rPr lang="zh-CN" altLang="en-US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x</a:t>
            </a:r>
            <a:r>
              <a:rPr lang="zh-CN" altLang="en-US" sz="2400" b="1"/>
              <a:t>的</a:t>
            </a:r>
            <a:r>
              <a:rPr lang="zh-CN" altLang="en-US" sz="2400" b="1">
                <a:solidFill>
                  <a:srgbClr val="FF3300"/>
                </a:solidFill>
              </a:rPr>
              <a:t>辖域</a:t>
            </a:r>
            <a:r>
              <a:rPr lang="zh-CN" altLang="en-US" sz="2400" b="1"/>
              <a:t>中, </a:t>
            </a:r>
            <a:r>
              <a:rPr lang="en-US" altLang="zh-CN" sz="2400" b="1" i="1"/>
              <a:t>x</a:t>
            </a:r>
            <a:r>
              <a:rPr lang="zh-CN" altLang="en-US" sz="2400" b="1"/>
              <a:t>的所有出现称为</a:t>
            </a:r>
            <a:r>
              <a:rPr lang="zh-CN" altLang="en-US" sz="2400" b="1">
                <a:solidFill>
                  <a:srgbClr val="FF3300"/>
                </a:solidFill>
              </a:rPr>
              <a:t>约束出现</a:t>
            </a:r>
            <a:r>
              <a:rPr lang="zh-CN" altLang="en-US" sz="2400" b="1"/>
              <a:t>，</a:t>
            </a:r>
          </a:p>
          <a:p>
            <a:pPr algn="just" eaLnBrk="1" hangingPunct="1">
              <a:buFontTx/>
              <a:buNone/>
            </a:pPr>
            <a:r>
              <a:rPr lang="en-US" altLang="zh-CN" sz="2400" b="1" i="1"/>
              <a:t>A</a:t>
            </a:r>
            <a:r>
              <a:rPr lang="zh-CN" altLang="en-US" sz="2400" b="1"/>
              <a:t>中不是约束出现的其他变项称为</a:t>
            </a:r>
            <a:r>
              <a:rPr lang="zh-CN" altLang="en-US" sz="2400" b="1">
                <a:solidFill>
                  <a:srgbClr val="FF3300"/>
                </a:solidFill>
              </a:rPr>
              <a:t>自由出现</a:t>
            </a:r>
            <a:endParaRPr lang="zh-CN" altLang="en-US" sz="2400" b="1"/>
          </a:p>
          <a:p>
            <a:pPr algn="just" eaLnBrk="1" hangingPunct="1">
              <a:buFontTx/>
              <a:buNone/>
            </a:pPr>
            <a:endParaRPr lang="zh-CN" altLang="en-US" sz="2400" b="1">
              <a:solidFill>
                <a:srgbClr val="000066"/>
              </a:solidFill>
            </a:endParaRPr>
          </a:p>
          <a:p>
            <a:pPr algn="just" eaLnBrk="1" hangingPunct="1"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</a:rPr>
              <a:t>例6</a:t>
            </a:r>
            <a:r>
              <a:rPr lang="zh-CN" altLang="en-US" sz="2400" b="1">
                <a:solidFill>
                  <a:srgbClr val="000066"/>
                </a:solidFill>
              </a:rPr>
              <a:t>  </a:t>
            </a:r>
            <a:r>
              <a:rPr lang="zh-CN" altLang="en-US" sz="2400" b="1"/>
              <a:t>公式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y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zh-CN" altLang="en-US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yG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y</a:t>
            </a:r>
            <a:r>
              <a:rPr lang="en-US" altLang="zh-CN" sz="2400" b="1"/>
              <a:t>,</a:t>
            </a:r>
            <a:r>
              <a:rPr lang="en-US" altLang="zh-CN" sz="2400" b="1" i="1"/>
              <a:t>z</a:t>
            </a:r>
            <a:r>
              <a:rPr lang="en-US" altLang="zh-CN" sz="2400" b="1"/>
              <a:t>))</a:t>
            </a:r>
            <a:endParaRPr lang="zh-CN" altLang="en-US" sz="2400" b="1"/>
          </a:p>
          <a:p>
            <a:pPr algn="just" eaLnBrk="1" hangingPunct="1">
              <a:buFontTx/>
              <a:buNone/>
            </a:pPr>
            <a:r>
              <a:rPr lang="zh-CN" altLang="en-US" sz="2400" b="1" i="1"/>
              <a:t>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zh-CN" altLang="en-US" sz="2400" b="1"/>
              <a:t>的辖域: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y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zh-CN" altLang="en-US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yG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y</a:t>
            </a:r>
            <a:r>
              <a:rPr lang="en-US" altLang="zh-CN" sz="2400" b="1"/>
              <a:t>,</a:t>
            </a:r>
            <a:r>
              <a:rPr lang="en-US" altLang="zh-CN" sz="2400" b="1" i="1"/>
              <a:t>z</a:t>
            </a:r>
            <a:r>
              <a:rPr lang="en-US" altLang="zh-CN" sz="2400" b="1"/>
              <a:t>))</a:t>
            </a:r>
            <a:r>
              <a:rPr lang="zh-CN" altLang="en-US" sz="2400" b="1"/>
              <a:t>， 指导变元为</a:t>
            </a:r>
            <a:r>
              <a:rPr lang="en-US" altLang="zh-CN" sz="2400" b="1" i="1"/>
              <a:t>x</a:t>
            </a:r>
          </a:p>
          <a:p>
            <a:pPr algn="just" eaLnBrk="1" hangingPunct="1"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 </a:t>
            </a:r>
            <a:r>
              <a:rPr lang="en-US" altLang="zh-CN" sz="2400" b="1" i="1"/>
              <a:t>y</a:t>
            </a:r>
            <a:r>
              <a:rPr lang="zh-CN" altLang="en-US" sz="2400" b="1"/>
              <a:t>的辖域: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y</a:t>
            </a:r>
            <a:r>
              <a:rPr lang="en-US" altLang="zh-CN" sz="2400" b="1"/>
              <a:t>,</a:t>
            </a:r>
            <a:r>
              <a:rPr lang="en-US" altLang="zh-CN" sz="2400" b="1" i="1"/>
              <a:t>z</a:t>
            </a:r>
            <a:r>
              <a:rPr lang="en-US" altLang="zh-CN" sz="2400" b="1"/>
              <a:t>)</a:t>
            </a:r>
            <a:r>
              <a:rPr lang="zh-CN" altLang="en-US" sz="2400" b="1"/>
              <a:t>， 指导变元为</a:t>
            </a:r>
            <a:r>
              <a:rPr lang="en-US" altLang="zh-CN" sz="2400" b="1" i="1"/>
              <a:t>y</a:t>
            </a:r>
          </a:p>
          <a:p>
            <a:pPr algn="just" eaLnBrk="1" hangingPunct="1">
              <a:buFontTx/>
              <a:buNone/>
            </a:pPr>
            <a:r>
              <a:rPr lang="en-US" altLang="zh-CN" sz="2400" b="1"/>
              <a:t> </a:t>
            </a:r>
            <a:r>
              <a:rPr lang="en-US" altLang="zh-CN" sz="2400" b="1" i="1"/>
              <a:t>x</a:t>
            </a:r>
            <a:r>
              <a:rPr lang="zh-CN" altLang="en-US" sz="2400" b="1"/>
              <a:t>的两次出现均为约束出现</a:t>
            </a:r>
          </a:p>
          <a:p>
            <a:pPr algn="just" eaLnBrk="1" hangingPunct="1">
              <a:buFontTx/>
              <a:buNone/>
            </a:pPr>
            <a:r>
              <a:rPr lang="zh-CN" altLang="en-US" sz="2400" b="1"/>
              <a:t> </a:t>
            </a:r>
            <a:r>
              <a:rPr lang="en-US" altLang="zh-CN" sz="2400" b="1" i="1"/>
              <a:t>y</a:t>
            </a:r>
            <a:r>
              <a:rPr lang="zh-CN" altLang="en-US" sz="2400" b="1"/>
              <a:t>的第一次出现为自由出现, 第二次出现为约束出现</a:t>
            </a:r>
          </a:p>
          <a:p>
            <a:pPr algn="just" eaLnBrk="1" hangingPunct="1">
              <a:buFontTx/>
              <a:buNone/>
            </a:pPr>
            <a:r>
              <a:rPr lang="en-US" altLang="zh-CN" sz="2400" b="1" i="1"/>
              <a:t>z</a:t>
            </a:r>
            <a:r>
              <a:rPr lang="zh-CN" altLang="en-US" sz="2400" b="1"/>
              <a:t>为自由出现. </a:t>
            </a:r>
          </a:p>
        </p:txBody>
      </p:sp>
      <p:sp>
        <p:nvSpPr>
          <p:cNvPr id="27653" name="文本框 2">
            <a:extLst>
              <a:ext uri="{FF2B5EF4-FFF2-40B4-BE49-F238E27FC236}">
                <a16:creationId xmlns:a16="http://schemas.microsoft.com/office/drawing/2014/main" id="{A499C6B5-6A3F-4E59-92F7-A10D0B781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223838"/>
            <a:ext cx="4572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下面讨论一阶公式的一些性质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70492153-7664-4C84-5ACA-D02AC49255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0D7632-62B6-49BF-9C06-33485F25DF37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zh-CN" altLang="en-US" sz="14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30F75857-6719-0C89-BC4C-E486109E6F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实例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D8D6DF0-0087-A5BB-B2A5-9A8156D997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3505200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</a:rPr>
              <a:t>例7</a:t>
            </a:r>
            <a:r>
              <a:rPr lang="zh-CN" altLang="en-US" sz="2400" b="1">
                <a:solidFill>
                  <a:srgbClr val="000066"/>
                </a:solidFill>
              </a:rPr>
              <a:t>  </a:t>
            </a:r>
            <a:r>
              <a:rPr lang="zh-CN" altLang="en-US" sz="2400" b="1"/>
              <a:t>公式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zh-CN" altLang="en-US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xG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</a:t>
            </a:r>
            <a:endParaRPr lang="zh-CN" altLang="en-US" sz="2400" b="1"/>
          </a:p>
          <a:p>
            <a:pPr algn="just" eaLnBrk="1" hangingPunct="1"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zh-CN" altLang="en-US" sz="2400" b="1"/>
              <a:t>的辖域: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zh-CN" altLang="en-US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xG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</a:t>
            </a:r>
            <a:r>
              <a:rPr lang="zh-CN" altLang="en-US" sz="2400" b="1"/>
              <a:t>， 指导变元为</a:t>
            </a:r>
            <a:r>
              <a:rPr lang="en-US" altLang="zh-CN" sz="2400" b="1" i="1"/>
              <a:t>x</a:t>
            </a:r>
          </a:p>
          <a:p>
            <a:pPr algn="just" eaLnBrk="1" hangingPunct="1"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x</a:t>
            </a:r>
            <a:r>
              <a:rPr lang="zh-CN" altLang="en-US" sz="2400" b="1"/>
              <a:t>的辖域: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zh-CN" altLang="en-US" sz="2400" b="1"/>
              <a:t>， 指导变元为</a:t>
            </a:r>
            <a:r>
              <a:rPr lang="en-US" altLang="zh-CN" sz="2400" b="1" i="1"/>
              <a:t>x</a:t>
            </a:r>
          </a:p>
          <a:p>
            <a:pPr algn="just" eaLnBrk="1" hangingPunct="1">
              <a:buFontTx/>
              <a:buNone/>
            </a:pPr>
            <a:r>
              <a:rPr lang="en-US" altLang="zh-CN" sz="2400" b="1" i="1"/>
              <a:t>x</a:t>
            </a:r>
            <a:r>
              <a:rPr lang="zh-CN" altLang="en-US" sz="2400" b="1"/>
              <a:t>的两次出现均为约束出现. 但是, 第一次出现的</a:t>
            </a:r>
            <a:r>
              <a:rPr lang="en-US" altLang="zh-CN" sz="2400" b="1" i="1"/>
              <a:t>x</a:t>
            </a:r>
            <a:r>
              <a:rPr lang="zh-CN" altLang="en-US" sz="2400" b="1"/>
              <a:t>是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zh-CN" altLang="en-US" sz="2400" b="1"/>
              <a:t>中</a:t>
            </a:r>
          </a:p>
          <a:p>
            <a:pPr algn="just" eaLnBrk="1" hangingPunct="1">
              <a:buFontTx/>
              <a:buNone/>
            </a:pPr>
            <a:r>
              <a:rPr lang="zh-CN" altLang="en-US" sz="2400" b="1"/>
              <a:t>的</a:t>
            </a:r>
            <a:r>
              <a:rPr lang="en-US" altLang="zh-CN" sz="2400" b="1" i="1"/>
              <a:t>x,</a:t>
            </a:r>
            <a:r>
              <a:rPr lang="en-US" altLang="zh-CN" sz="2400" b="1"/>
              <a:t> </a:t>
            </a:r>
            <a:r>
              <a:rPr lang="zh-CN" altLang="en-US" sz="2400" b="1"/>
              <a:t>第二次出现的</a:t>
            </a:r>
            <a:r>
              <a:rPr lang="en-US" altLang="zh-CN" sz="2400" b="1" i="1"/>
              <a:t>x</a:t>
            </a:r>
            <a:r>
              <a:rPr lang="zh-CN" altLang="en-US" sz="2400" b="1"/>
              <a:t>是</a:t>
            </a:r>
            <a:r>
              <a:rPr lang="zh-CN" altLang="en-US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x</a:t>
            </a:r>
            <a:r>
              <a:rPr lang="zh-CN" altLang="en-US" sz="2400" b="1"/>
              <a:t>中的</a:t>
            </a:r>
            <a:r>
              <a:rPr lang="en-US" altLang="zh-CN" sz="2400" b="1" i="1"/>
              <a:t>x</a:t>
            </a:r>
            <a:r>
              <a:rPr lang="zh-CN" altLang="en-US" sz="2400" b="1"/>
              <a:t>. </a:t>
            </a:r>
          </a:p>
          <a:p>
            <a:pPr eaLnBrk="1" hangingPunct="1">
              <a:buFontTx/>
              <a:buNone/>
            </a:pPr>
            <a:endParaRPr lang="zh-CN" altLang="en-US" sz="2400" b="1"/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闭式</a:t>
            </a:r>
            <a:r>
              <a:rPr lang="zh-CN" altLang="en-US" sz="2400" b="1"/>
              <a:t>: 不含自由出现的个体变项的公式.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>
            <a:extLst>
              <a:ext uri="{FF2B5EF4-FFF2-40B4-BE49-F238E27FC236}">
                <a16:creationId xmlns:a16="http://schemas.microsoft.com/office/drawing/2014/main" id="{858674A3-9460-5E97-AD89-D78E21719E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DC8A43-E9AF-4AE8-B8FA-8E873169264D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zh-CN" altLang="en-US" sz="14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179EF1D4-70C2-0CAD-8DA4-C0B3E8FC79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解释和赋值的直观涵义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7F4692CD-DA6B-3548-5125-292FC497C2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062913" cy="41624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</a:rPr>
              <a:t>例</a:t>
            </a:r>
            <a:r>
              <a:rPr lang="zh-CN" altLang="en-US" sz="2400" b="1"/>
              <a:t>  </a:t>
            </a:r>
            <a:r>
              <a:rPr lang="zh-CN" altLang="en-US" sz="2400" b="1">
                <a:solidFill>
                  <a:srgbClr val="000066"/>
                </a:solidFill>
              </a:rPr>
              <a:t>公式</a:t>
            </a:r>
            <a:r>
              <a:rPr lang="zh-CN" altLang="en-US" sz="2400" b="1">
                <a:solidFill>
                  <a:srgbClr val="000066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F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solidFill>
                  <a:srgbClr val="000066"/>
                </a:solidFill>
              </a:rPr>
              <a:t>G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))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指定1  个体域:全总个体域, </a:t>
            </a:r>
            <a:r>
              <a:rPr lang="en-US" altLang="zh-CN" sz="2400" b="1" i="1">
                <a:solidFill>
                  <a:srgbClr val="000066"/>
                </a:solidFill>
              </a:rPr>
              <a:t>F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): 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zh-CN" altLang="en-US" sz="2400" b="1">
                <a:solidFill>
                  <a:srgbClr val="000066"/>
                </a:solidFill>
              </a:rPr>
              <a:t>是人, </a:t>
            </a:r>
            <a:r>
              <a:rPr lang="en-US" altLang="zh-CN" sz="2400" b="1" i="1">
                <a:solidFill>
                  <a:srgbClr val="000066"/>
                </a:solidFill>
              </a:rPr>
              <a:t>G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): 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zh-CN" altLang="en-US" sz="2400" b="1">
                <a:solidFill>
                  <a:srgbClr val="000066"/>
                </a:solidFill>
              </a:rPr>
              <a:t>是黄种人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             假命题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指定2  个体域:实数集, </a:t>
            </a:r>
            <a:r>
              <a:rPr lang="en-US" altLang="zh-CN" sz="2400" b="1" i="1">
                <a:solidFill>
                  <a:srgbClr val="000066"/>
                </a:solidFill>
              </a:rPr>
              <a:t>F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): </a:t>
            </a:r>
            <a:r>
              <a:rPr lang="en-US" altLang="zh-CN" sz="2400" b="1" i="1">
                <a:solidFill>
                  <a:srgbClr val="000066"/>
                </a:solidFill>
              </a:rPr>
              <a:t>x&gt;</a:t>
            </a:r>
            <a:r>
              <a:rPr lang="en-US" altLang="zh-CN" sz="2400" b="1">
                <a:solidFill>
                  <a:srgbClr val="000066"/>
                </a:solidFill>
              </a:rPr>
              <a:t>10</a:t>
            </a:r>
            <a:r>
              <a:rPr lang="zh-CN" altLang="en-US" sz="2400" b="1">
                <a:solidFill>
                  <a:srgbClr val="000066"/>
                </a:solidFill>
              </a:rPr>
              <a:t>, </a:t>
            </a:r>
            <a:r>
              <a:rPr lang="en-US" altLang="zh-CN" sz="2400" b="1" i="1">
                <a:solidFill>
                  <a:srgbClr val="000066"/>
                </a:solidFill>
              </a:rPr>
              <a:t>G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): 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zh-CN" altLang="en-US" sz="2400" b="1">
                <a:solidFill>
                  <a:srgbClr val="000066"/>
                </a:solidFill>
              </a:rPr>
              <a:t>&gt;0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             真命题</a:t>
            </a:r>
            <a:endParaRPr lang="en-US" altLang="zh-CN" sz="2400" b="1">
              <a:solidFill>
                <a:srgbClr val="000066"/>
              </a:solidFill>
            </a:endParaRPr>
          </a:p>
          <a:p>
            <a:pPr eaLnBrk="1" hangingPunct="1">
              <a:buFontTx/>
              <a:buNone/>
            </a:pPr>
            <a:endParaRPr lang="en-US" altLang="zh-CN" sz="2400" b="1">
              <a:solidFill>
                <a:srgbClr val="000066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</a:rPr>
              <a:t>例</a:t>
            </a:r>
            <a:r>
              <a:rPr lang="zh-CN" altLang="en-US" sz="2400" b="1">
                <a:solidFill>
                  <a:srgbClr val="000066"/>
                </a:solidFill>
              </a:rPr>
              <a:t>  </a:t>
            </a:r>
            <a:r>
              <a:rPr lang="zh-CN" altLang="en-US" sz="2400" b="1">
                <a:solidFill>
                  <a:srgbClr val="000066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b="1" i="1">
                <a:solidFill>
                  <a:srgbClr val="000066"/>
                </a:solidFill>
              </a:rPr>
              <a:t>xF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x,y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指定  个体域:自然数集, </a:t>
            </a:r>
            <a:r>
              <a:rPr lang="en-US" altLang="zh-CN" sz="2400" b="1" i="1">
                <a:solidFill>
                  <a:srgbClr val="000066"/>
                </a:solidFill>
              </a:rPr>
              <a:t>F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x,y</a:t>
            </a:r>
            <a:r>
              <a:rPr lang="en-US" altLang="zh-CN" sz="2400" b="1">
                <a:solidFill>
                  <a:srgbClr val="000066"/>
                </a:solidFill>
              </a:rPr>
              <a:t>): </a:t>
            </a:r>
            <a:r>
              <a:rPr lang="en-US" altLang="zh-CN" sz="2400" b="1" i="1">
                <a:solidFill>
                  <a:srgbClr val="000066"/>
                </a:solidFill>
              </a:rPr>
              <a:t>x=y</a:t>
            </a:r>
          </a:p>
          <a:p>
            <a:pPr eaLnBrk="1" hangingPunct="1">
              <a:buFontTx/>
              <a:buNone/>
            </a:pPr>
            <a:r>
              <a:rPr lang="en-US" altLang="zh-CN" sz="2400" b="1" i="1">
                <a:solidFill>
                  <a:srgbClr val="000066"/>
                </a:solidFill>
              </a:rPr>
              <a:t>            y</a:t>
            </a:r>
            <a:r>
              <a:rPr lang="en-US" altLang="zh-CN" sz="2400" b="1">
                <a:solidFill>
                  <a:srgbClr val="000066"/>
                </a:solidFill>
              </a:rPr>
              <a:t>=0</a:t>
            </a:r>
            <a:endParaRPr lang="zh-CN" altLang="en-US" sz="2400" b="1">
              <a:solidFill>
                <a:srgbClr val="000066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43745468-7E6E-B90A-13F5-7F062B6B13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5855222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01365A-BBFE-46CE-88CE-13A4BB9B08A4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zh-CN" altLang="en-US" sz="14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EB2EA6EF-C282-6C0F-2DC8-3D8D09D330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33375"/>
            <a:ext cx="7772400" cy="1033463"/>
          </a:xfrm>
        </p:spPr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解释与赋值</a:t>
            </a:r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2366A981-4051-D5B1-135B-6EF852831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84784"/>
            <a:ext cx="7848600" cy="51514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定义3.7</a:t>
            </a:r>
            <a:r>
              <a:rPr lang="zh-CN" altLang="en-US" sz="2400" b="1" dirty="0"/>
              <a:t> 设一阶语言</a:t>
            </a:r>
            <a:r>
              <a:rPr lang="en-US" altLang="zh-CN" sz="2400" b="1" i="1" dirty="0">
                <a:latin typeface="Palace Script MT" panose="030303020206070C0B05" pitchFamily="66" charset="0"/>
                <a:ea typeface="华文行楷" panose="02010800040101010101" pitchFamily="2" charset="-122"/>
              </a:rPr>
              <a:t>L</a:t>
            </a:r>
            <a:r>
              <a:rPr lang="en-US" altLang="zh-CN" sz="2400" b="1" i="1" dirty="0"/>
              <a:t> </a:t>
            </a:r>
            <a:r>
              <a:rPr lang="zh-CN" altLang="en-US" sz="2400" b="1" dirty="0"/>
              <a:t>的个体常项集{</a:t>
            </a:r>
            <a:r>
              <a:rPr lang="en-US" altLang="zh-CN" sz="2400" b="1" i="1" dirty="0"/>
              <a:t>a</a:t>
            </a:r>
            <a:r>
              <a:rPr lang="en-US" altLang="zh-CN" sz="2400" b="1" i="1" baseline="-25000" dirty="0"/>
              <a:t>i</a:t>
            </a:r>
            <a:r>
              <a:rPr lang="en-US" altLang="zh-CN" sz="2400" b="1" dirty="0"/>
              <a:t>| </a:t>
            </a:r>
            <a:r>
              <a:rPr lang="en-US" altLang="zh-CN" sz="2400" b="1" i="1" dirty="0"/>
              <a:t>i</a:t>
            </a:r>
            <a:r>
              <a:rPr lang="en-US" altLang="zh-CN" sz="2400" b="1" dirty="0">
                <a:sym typeface="Symbol" panose="05050102010706020507" pitchFamily="18" charset="2"/>
              </a:rPr>
              <a:t>1}, </a:t>
            </a:r>
            <a:r>
              <a:rPr lang="zh-CN" altLang="en-US" sz="2400" b="1" dirty="0">
                <a:sym typeface="Symbol" panose="05050102010706020507" pitchFamily="18" charset="2"/>
              </a:rPr>
              <a:t>函数符号集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{</a:t>
            </a:r>
            <a:r>
              <a:rPr lang="en-US" altLang="zh-CN" sz="2400" b="1" i="1" dirty="0"/>
              <a:t>f</a:t>
            </a:r>
            <a:r>
              <a:rPr lang="en-US" altLang="zh-CN" sz="2400" b="1" i="1" baseline="-25000" dirty="0"/>
              <a:t>i</a:t>
            </a:r>
            <a:r>
              <a:rPr lang="en-US" altLang="zh-CN" sz="2400" b="1" dirty="0"/>
              <a:t>| </a:t>
            </a:r>
            <a:r>
              <a:rPr lang="en-US" altLang="zh-CN" sz="2400" b="1" i="1" dirty="0"/>
              <a:t>i</a:t>
            </a:r>
            <a:r>
              <a:rPr lang="en-US" altLang="zh-CN" sz="2400" b="1" dirty="0">
                <a:sym typeface="Symbol" panose="05050102010706020507" pitchFamily="18" charset="2"/>
              </a:rPr>
              <a:t>1}, </a:t>
            </a:r>
            <a:r>
              <a:rPr lang="zh-CN" altLang="en-US" sz="2400" b="1" dirty="0">
                <a:sym typeface="Symbol" panose="05050102010706020507" pitchFamily="18" charset="2"/>
              </a:rPr>
              <a:t>谓词符号集</a:t>
            </a:r>
            <a:r>
              <a:rPr lang="zh-CN" altLang="en-US" sz="2400" b="1" dirty="0"/>
              <a:t>{</a:t>
            </a:r>
            <a:r>
              <a:rPr lang="en-US" altLang="zh-CN" sz="2400" b="1" i="1" dirty="0"/>
              <a:t>F</a:t>
            </a:r>
            <a:r>
              <a:rPr lang="en-US" altLang="zh-CN" sz="2400" b="1" i="1" baseline="-25000" dirty="0"/>
              <a:t>i</a:t>
            </a:r>
            <a:r>
              <a:rPr lang="en-US" altLang="zh-CN" sz="2400" b="1" dirty="0"/>
              <a:t>| </a:t>
            </a:r>
            <a:r>
              <a:rPr lang="en-US" altLang="zh-CN" sz="2400" b="1" i="1" dirty="0"/>
              <a:t>i</a:t>
            </a:r>
            <a:r>
              <a:rPr lang="en-US" altLang="zh-CN" sz="2400" b="1" dirty="0">
                <a:sym typeface="Symbol" panose="05050102010706020507" pitchFamily="18" charset="2"/>
              </a:rPr>
              <a:t>1}, </a:t>
            </a:r>
            <a:r>
              <a:rPr lang="en-US" altLang="zh-CN" sz="2400" b="1" i="1" dirty="0">
                <a:latin typeface="Palace Script MT" panose="030303020206070C0B05" pitchFamily="66" charset="0"/>
                <a:ea typeface="华文行楷" panose="02010800040101010101" pitchFamily="2" charset="-122"/>
              </a:rPr>
              <a:t>L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FF0000"/>
                </a:solidFill>
              </a:rPr>
              <a:t>解释</a:t>
            </a:r>
            <a:r>
              <a:rPr lang="en-US" altLang="zh-CN" sz="2400" b="1" i="1" dirty="0"/>
              <a:t>I</a:t>
            </a:r>
            <a:r>
              <a:rPr lang="zh-CN" altLang="en-US" sz="2400" b="1" dirty="0"/>
              <a:t>由下面4部分组成: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(1) 非空个体域</a:t>
            </a:r>
            <a:r>
              <a:rPr lang="en-US" altLang="zh-CN" sz="2400" b="1" i="1" dirty="0"/>
              <a:t>D</a:t>
            </a:r>
            <a:r>
              <a:rPr lang="en-US" altLang="zh-CN" sz="2400" b="1" i="1" baseline="-30000" dirty="0"/>
              <a:t>I</a:t>
            </a:r>
            <a:endParaRPr lang="zh-CN" altLang="en-US" sz="2400" b="1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(2) 对每一个个体常项</a:t>
            </a:r>
            <a:r>
              <a:rPr lang="en-US" altLang="zh-CN" sz="2400" b="1" i="1" dirty="0"/>
              <a:t>a</a:t>
            </a:r>
            <a:r>
              <a:rPr lang="en-US" altLang="zh-CN" sz="2400" b="1" i="1" baseline="-25000" dirty="0"/>
              <a:t>i</a:t>
            </a:r>
            <a:r>
              <a:rPr lang="zh-CN" altLang="en-US" sz="2400" b="1" dirty="0"/>
              <a:t>,    </a:t>
            </a:r>
            <a:r>
              <a:rPr lang="en-US" altLang="zh-CN" sz="2400" b="1" dirty="0">
                <a:sym typeface="Symbol" panose="05050102010706020507" pitchFamily="18" charset="2"/>
              </a:rPr>
              <a:t></a:t>
            </a:r>
            <a:r>
              <a:rPr lang="en-US" altLang="zh-CN" sz="2400" b="1" i="1" dirty="0"/>
              <a:t>D</a:t>
            </a:r>
            <a:r>
              <a:rPr lang="en-US" altLang="zh-CN" sz="2400" b="1" i="1" baseline="-30000" dirty="0"/>
              <a:t>I</a:t>
            </a:r>
            <a:r>
              <a:rPr lang="zh-CN" altLang="en-US" sz="2400" b="1" dirty="0">
                <a:sym typeface="Symbol" panose="05050102010706020507" pitchFamily="18" charset="2"/>
              </a:rPr>
              <a:t>, 称作</a:t>
            </a:r>
            <a:r>
              <a:rPr lang="en-US" altLang="zh-CN" sz="2400" b="1" i="1" dirty="0">
                <a:solidFill>
                  <a:srgbClr val="FF0000"/>
                </a:solidFill>
              </a:rPr>
              <a:t>a</a:t>
            </a:r>
            <a:r>
              <a:rPr lang="en-US" altLang="zh-CN" sz="2400" b="1" i="1" baseline="-25000" dirty="0">
                <a:solidFill>
                  <a:srgbClr val="FF0000"/>
                </a:solidFill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在</a:t>
            </a:r>
            <a:r>
              <a:rPr lang="en-US" altLang="zh-CN" sz="2400" b="1" i="1" dirty="0">
                <a:solidFill>
                  <a:srgbClr val="FF0000"/>
                </a:solidFill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中的解释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(3) 对每一个函数符号</a:t>
            </a:r>
            <a:r>
              <a:rPr lang="en-US" altLang="zh-CN" sz="2400" b="1" i="1" dirty="0"/>
              <a:t>f</a:t>
            </a:r>
            <a:r>
              <a:rPr lang="en-US" altLang="zh-CN" sz="2400" b="1" i="1" baseline="-25000" dirty="0"/>
              <a:t>i</a:t>
            </a:r>
            <a:r>
              <a:rPr lang="zh-CN" altLang="en-US" sz="2400" b="1" dirty="0"/>
              <a:t>, 设其为</a:t>
            </a:r>
            <a:r>
              <a:rPr lang="en-US" altLang="zh-CN" sz="2400" b="1" i="1" dirty="0"/>
              <a:t>m</a:t>
            </a:r>
            <a:r>
              <a:rPr lang="zh-CN" altLang="en-US" sz="2400" b="1" dirty="0"/>
              <a:t>元的,     是</a:t>
            </a:r>
            <a:r>
              <a:rPr lang="en-US" altLang="zh-CN" sz="2400" b="1" i="1" dirty="0"/>
              <a:t>D</a:t>
            </a:r>
            <a:r>
              <a:rPr lang="en-US" altLang="zh-CN" sz="2400" b="1" i="1" baseline="-30000" dirty="0"/>
              <a:t>I</a:t>
            </a:r>
            <a:r>
              <a:rPr lang="zh-CN" altLang="en-US" sz="2400" b="1" dirty="0"/>
              <a:t>上的</a:t>
            </a:r>
            <a:r>
              <a:rPr lang="en-US" altLang="zh-CN" sz="2400" b="1" i="1" dirty="0"/>
              <a:t>m</a:t>
            </a:r>
            <a:r>
              <a:rPr lang="zh-CN" altLang="en-US" sz="2400" b="1" dirty="0"/>
              <a:t>元函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数, </a:t>
            </a:r>
            <a:r>
              <a:rPr lang="zh-CN" altLang="en-US" sz="2400" b="1" dirty="0">
                <a:sym typeface="Symbol" panose="05050102010706020507" pitchFamily="18" charset="2"/>
              </a:rPr>
              <a:t>称作</a:t>
            </a:r>
            <a:r>
              <a:rPr lang="en-US" altLang="zh-CN" sz="2400" b="1" i="1" dirty="0">
                <a:solidFill>
                  <a:srgbClr val="FF0000"/>
                </a:solidFill>
              </a:rPr>
              <a:t>f</a:t>
            </a:r>
            <a:r>
              <a:rPr lang="en-US" altLang="zh-CN" sz="2400" b="1" i="1" baseline="-25000" dirty="0">
                <a:solidFill>
                  <a:srgbClr val="FF0000"/>
                </a:solidFill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在</a:t>
            </a:r>
            <a:r>
              <a:rPr lang="en-US" altLang="zh-CN" sz="2400" b="1" i="1" dirty="0">
                <a:solidFill>
                  <a:srgbClr val="FF0000"/>
                </a:solidFill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中的解释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(4) 对每一个谓词符号</a:t>
            </a:r>
            <a:r>
              <a:rPr lang="en-US" altLang="zh-CN" sz="2400" b="1" i="1" dirty="0"/>
              <a:t>F</a:t>
            </a:r>
            <a:r>
              <a:rPr lang="en-US" altLang="zh-CN" sz="2400" b="1" i="1" baseline="-25000" dirty="0"/>
              <a:t>i</a:t>
            </a:r>
            <a:r>
              <a:rPr lang="zh-CN" altLang="en-US" sz="2400" b="1" dirty="0"/>
              <a:t>, 设其为</a:t>
            </a:r>
            <a:r>
              <a:rPr lang="en-US" altLang="zh-CN" sz="2400" b="1" i="1" dirty="0"/>
              <a:t>n</a:t>
            </a:r>
            <a:r>
              <a:rPr lang="zh-CN" altLang="en-US" sz="2400" b="1" dirty="0"/>
              <a:t>元的,     是一个</a:t>
            </a:r>
            <a:r>
              <a:rPr lang="en-US" altLang="zh-CN" sz="2400" b="1" i="1" dirty="0"/>
              <a:t>n</a:t>
            </a:r>
            <a:r>
              <a:rPr lang="zh-CN" altLang="en-US" sz="2400" b="1" dirty="0"/>
              <a:t>元谓词</a:t>
            </a:r>
            <a:r>
              <a:rPr lang="en-US" altLang="zh-CN" sz="2400" b="1" dirty="0"/>
              <a:t>,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称作</a:t>
            </a:r>
            <a:r>
              <a:rPr lang="en-US" altLang="zh-CN" sz="2400" b="1" i="1" dirty="0">
                <a:solidFill>
                  <a:srgbClr val="FF0000"/>
                </a:solidFill>
              </a:rPr>
              <a:t>F</a:t>
            </a:r>
            <a:r>
              <a:rPr lang="en-US" altLang="zh-CN" sz="2400" b="1" i="1" baseline="-25000" dirty="0">
                <a:solidFill>
                  <a:srgbClr val="FF0000"/>
                </a:solidFill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在</a:t>
            </a:r>
            <a:r>
              <a:rPr lang="en-US" altLang="zh-CN" sz="2400" b="1" i="1" dirty="0">
                <a:solidFill>
                  <a:srgbClr val="FF0000"/>
                </a:solidFill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中的解释</a:t>
            </a:r>
            <a:endParaRPr lang="en-US" altLang="zh-CN" sz="2400" b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对公式中个体域及个体常项符号、函数符号、谓词符号的指定称作解释。</a:t>
            </a:r>
            <a:endParaRPr lang="en-US" altLang="zh-CN" sz="2400" b="1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30725" name="Object 6">
            <a:extLst>
              <a:ext uri="{FF2B5EF4-FFF2-40B4-BE49-F238E27FC236}">
                <a16:creationId xmlns:a16="http://schemas.microsoft.com/office/drawing/2014/main" id="{EA53BA04-6156-18D7-EAAC-B8657D71C2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4129556"/>
              </p:ext>
            </p:extLst>
          </p:nvPr>
        </p:nvGraphicFramePr>
        <p:xfrm>
          <a:off x="3929063" y="3065985"/>
          <a:ext cx="3159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152268" imgH="228402" progId="Equation.DSMT4">
                  <p:embed/>
                </p:oleObj>
              </mc:Choice>
              <mc:Fallback>
                <p:oleObj name="Equation" r:id="rId3" imgW="152268" imgH="228402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63" y="3065985"/>
                        <a:ext cx="3159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7">
            <a:extLst>
              <a:ext uri="{FF2B5EF4-FFF2-40B4-BE49-F238E27FC236}">
                <a16:creationId xmlns:a16="http://schemas.microsoft.com/office/drawing/2014/main" id="{C2AE6192-E055-BE42-0582-77B6B520F9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6952300"/>
              </p:ext>
            </p:extLst>
          </p:nvPr>
        </p:nvGraphicFramePr>
        <p:xfrm>
          <a:off x="5786438" y="3612085"/>
          <a:ext cx="4222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203024" imgH="241091" progId="Equation.DSMT4">
                  <p:embed/>
                </p:oleObj>
              </mc:Choice>
              <mc:Fallback>
                <p:oleObj name="Equation" r:id="rId5" imgW="203024" imgH="241091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38" y="3612085"/>
                        <a:ext cx="4222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8">
            <a:extLst>
              <a:ext uri="{FF2B5EF4-FFF2-40B4-BE49-F238E27FC236}">
                <a16:creationId xmlns:a16="http://schemas.microsoft.com/office/drawing/2014/main" id="{8C1E0EE5-9EAA-E4F6-239B-06720C30CB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1931948"/>
              </p:ext>
            </p:extLst>
          </p:nvPr>
        </p:nvGraphicFramePr>
        <p:xfrm>
          <a:off x="5883275" y="4678885"/>
          <a:ext cx="47466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228501" imgH="241195" progId="Equation.DSMT4">
                  <p:embed/>
                </p:oleObj>
              </mc:Choice>
              <mc:Fallback>
                <p:oleObj name="Equation" r:id="rId7" imgW="228501" imgH="241195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3275" y="4678885"/>
                        <a:ext cx="47466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58EC76DD-2DA1-533D-C41E-A7F559DCC9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70C1AC-502B-49EC-8CB6-798F555B04F1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zh-CN" altLang="en-US" sz="14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2F2006A6-1082-3E0E-995F-2708879365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04900"/>
          </a:xfrm>
        </p:spPr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解释与赋值</a:t>
            </a:r>
            <a:r>
              <a:rPr lang="en-US" altLang="zh-CN" sz="4000">
                <a:solidFill>
                  <a:srgbClr val="800000"/>
                </a:solidFill>
              </a:rPr>
              <a:t>(</a:t>
            </a:r>
            <a:r>
              <a:rPr lang="zh-CN" altLang="en-US" sz="4000">
                <a:solidFill>
                  <a:srgbClr val="800000"/>
                </a:solidFill>
              </a:rPr>
              <a:t>续</a:t>
            </a:r>
            <a:r>
              <a:rPr lang="en-US" altLang="zh-CN" sz="4000">
                <a:solidFill>
                  <a:srgbClr val="800000"/>
                </a:solidFill>
              </a:rPr>
              <a:t>)</a:t>
            </a:r>
            <a:endParaRPr lang="zh-CN" altLang="en-US" sz="4000">
              <a:solidFill>
                <a:srgbClr val="800000"/>
              </a:solidFill>
            </a:endParaRPr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C4005555-49E9-9950-9D79-7249EAB4D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66913"/>
            <a:ext cx="78486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(5) </a:t>
            </a:r>
            <a:r>
              <a:rPr lang="zh-CN" altLang="en-US" sz="2400" b="1">
                <a:sym typeface="Symbol" panose="05050102010706020507" pitchFamily="18" charset="2"/>
              </a:rPr>
              <a:t>对每一个自由出现的个体变项</a:t>
            </a:r>
            <a:r>
              <a:rPr lang="en-US" altLang="zh-CN" sz="2400" b="1" i="1">
                <a:sym typeface="Symbol" panose="05050102010706020507" pitchFamily="18" charset="2"/>
              </a:rPr>
              <a:t>x</a:t>
            </a:r>
            <a:r>
              <a:rPr lang="zh-CN" altLang="en-US" sz="2400" b="1">
                <a:sym typeface="Symbol" panose="05050102010706020507" pitchFamily="18" charset="2"/>
              </a:rPr>
              <a:t>指定个体域中的一个值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i="1">
                <a:sym typeface="Symbol" panose="05050102010706020507" pitchFamily="18" charset="2"/>
              </a:rPr>
              <a:t></a:t>
            </a:r>
            <a:r>
              <a:rPr lang="en-US" altLang="zh-CN" sz="2400" b="1"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sym typeface="Symbol" panose="05050102010706020507" pitchFamily="18" charset="2"/>
              </a:rPr>
              <a:t>x</a:t>
            </a:r>
            <a:r>
              <a:rPr lang="en-US" altLang="zh-CN" sz="2400" b="1">
                <a:sym typeface="Symbol" panose="05050102010706020507" pitchFamily="18" charset="2"/>
              </a:rPr>
              <a:t>), </a:t>
            </a:r>
            <a:r>
              <a:rPr lang="zh-CN" altLang="en-US" sz="2400" b="1">
                <a:sym typeface="Symbol" panose="05050102010706020507" pitchFamily="18" charset="2"/>
              </a:rPr>
              <a:t>称作</a:t>
            </a:r>
            <a:r>
              <a:rPr lang="zh-CN" altLang="en-US" sz="2400" b="1">
                <a:solidFill>
                  <a:srgbClr val="FF0000"/>
                </a:solidFill>
                <a:sym typeface="Symbol" panose="05050102010706020507" pitchFamily="18" charset="2"/>
              </a:rPr>
              <a:t>赋值</a:t>
            </a:r>
            <a:r>
              <a:rPr lang="zh-CN" altLang="en-US" sz="2400" b="1" i="1">
                <a:solidFill>
                  <a:srgbClr val="FF0000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2400" b="1"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任何公式在给定的解释和赋值下都是命题</a:t>
            </a:r>
            <a:r>
              <a:rPr lang="en-US" altLang="zh-CN" sz="2400" b="1">
                <a:sym typeface="Symbol" panose="05050102010706020507" pitchFamily="18" charset="2"/>
              </a:rPr>
              <a:t>.</a:t>
            </a:r>
            <a:r>
              <a:rPr lang="en-US" altLang="zh-CN" sz="2400" b="1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endParaRPr lang="zh-CN" altLang="en-US" sz="2400" b="1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08FC3715-D913-F9A4-B931-28A46CCBE5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5CAC9F-DB74-47B9-8FD4-C8ED0B3C209C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zh-CN" altLang="en-US" sz="14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3482BF62-1A2E-17F2-8016-701C2393BE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闭式的性质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F9268A08-6BC2-B61A-4123-A5FAB01F83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2057400"/>
            <a:ext cx="7772400" cy="222885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</a:rPr>
              <a:t>定理3.1</a:t>
            </a:r>
            <a:r>
              <a:rPr lang="zh-CN" altLang="en-US" sz="2400" b="1"/>
              <a:t> 闭式在任何解释下都变成命题.</a:t>
            </a:r>
          </a:p>
          <a:p>
            <a:pPr algn="just"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2400" b="1"/>
          </a:p>
          <a:p>
            <a:pPr algn="just"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闭式只需给定解释</a:t>
            </a:r>
            <a:r>
              <a:rPr lang="en-US" altLang="zh-CN" sz="2400" b="1">
                <a:solidFill>
                  <a:srgbClr val="000066"/>
                </a:solidFill>
              </a:rPr>
              <a:t>,</a:t>
            </a:r>
            <a:r>
              <a:rPr lang="zh-CN" altLang="en-US" sz="2400" b="1">
                <a:solidFill>
                  <a:srgbClr val="000066"/>
                </a:solidFill>
              </a:rPr>
              <a:t>如例8 (</a:t>
            </a:r>
            <a:r>
              <a:rPr lang="en-US" altLang="zh-CN" sz="2400" b="1">
                <a:solidFill>
                  <a:srgbClr val="000066"/>
                </a:solidFill>
              </a:rPr>
              <a:t>2</a:t>
            </a:r>
            <a:r>
              <a:rPr lang="zh-CN" altLang="en-US" sz="2400" b="1">
                <a:solidFill>
                  <a:srgbClr val="000066"/>
                </a:solidFill>
              </a:rPr>
              <a:t>)</a:t>
            </a:r>
            <a:r>
              <a:rPr lang="en-US" altLang="zh-CN" sz="2400" b="1">
                <a:solidFill>
                  <a:srgbClr val="000066"/>
                </a:solidFill>
              </a:rPr>
              <a:t>,</a:t>
            </a:r>
            <a:r>
              <a:rPr lang="zh-CN" altLang="en-US" sz="2400" b="1">
                <a:solidFill>
                  <a:srgbClr val="000066"/>
                </a:solidFill>
              </a:rPr>
              <a:t>(</a:t>
            </a:r>
            <a:r>
              <a:rPr lang="en-US" altLang="zh-CN" sz="2400" b="1">
                <a:solidFill>
                  <a:srgbClr val="000066"/>
                </a:solidFill>
              </a:rPr>
              <a:t>3</a:t>
            </a:r>
            <a:r>
              <a:rPr lang="zh-CN" altLang="en-US" sz="2400" b="1">
                <a:solidFill>
                  <a:srgbClr val="000066"/>
                </a:solidFill>
              </a:rPr>
              <a:t>). </a:t>
            </a:r>
            <a:endParaRPr lang="en-US" altLang="zh-CN" sz="2400" b="1">
              <a:solidFill>
                <a:srgbClr val="000066"/>
              </a:solidFill>
            </a:endParaRPr>
          </a:p>
          <a:p>
            <a:pPr algn="just"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只给定解释</a:t>
            </a:r>
            <a:r>
              <a:rPr lang="en-US" altLang="zh-CN" sz="2400" b="1">
                <a:solidFill>
                  <a:srgbClr val="000066"/>
                </a:solidFill>
              </a:rPr>
              <a:t>,</a:t>
            </a:r>
            <a:r>
              <a:rPr lang="zh-CN" altLang="en-US" sz="2400" b="1">
                <a:solidFill>
                  <a:srgbClr val="000066"/>
                </a:solidFill>
              </a:rPr>
              <a:t>非闭式可能成为命题</a:t>
            </a:r>
            <a:r>
              <a:rPr lang="en-US" altLang="zh-CN" sz="2400" b="1">
                <a:solidFill>
                  <a:srgbClr val="000066"/>
                </a:solidFill>
              </a:rPr>
              <a:t>, </a:t>
            </a:r>
            <a:r>
              <a:rPr lang="zh-CN" altLang="en-US" sz="2400" b="1">
                <a:solidFill>
                  <a:srgbClr val="000066"/>
                </a:solidFill>
              </a:rPr>
              <a:t>但通常不能成为命题</a:t>
            </a:r>
            <a:r>
              <a:rPr lang="en-US" altLang="zh-CN" sz="2400" b="1">
                <a:solidFill>
                  <a:srgbClr val="000066"/>
                </a:solidFill>
              </a:rPr>
              <a:t>.</a:t>
            </a:r>
          </a:p>
          <a:p>
            <a:pPr algn="just"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只有给定解释和赋值</a:t>
            </a:r>
            <a:r>
              <a:rPr lang="en-US" altLang="zh-CN" sz="2400" b="1">
                <a:solidFill>
                  <a:srgbClr val="000066"/>
                </a:solidFill>
              </a:rPr>
              <a:t>, </a:t>
            </a:r>
            <a:r>
              <a:rPr lang="zh-CN" altLang="en-US" sz="2400" b="1">
                <a:solidFill>
                  <a:srgbClr val="000066"/>
                </a:solidFill>
              </a:rPr>
              <a:t>非闭式才能一定成为命题</a:t>
            </a:r>
            <a:r>
              <a:rPr lang="en-US" altLang="zh-CN" sz="2400" b="1">
                <a:solidFill>
                  <a:srgbClr val="000066"/>
                </a:solidFill>
              </a:rPr>
              <a:t>.</a:t>
            </a:r>
            <a:endParaRPr lang="zh-CN" altLang="en-US" sz="2400" b="1"/>
          </a:p>
        </p:txBody>
      </p:sp>
      <p:sp>
        <p:nvSpPr>
          <p:cNvPr id="32773" name="文本框 2">
            <a:extLst>
              <a:ext uri="{FF2B5EF4-FFF2-40B4-BE49-F238E27FC236}">
                <a16:creationId xmlns:a16="http://schemas.microsoft.com/office/drawing/2014/main" id="{6EC77461-5244-0CBF-EE7B-291BCB63A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888038"/>
            <a:ext cx="5832475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1pPr>
            <a:lvl2pPr marL="742950" indent="-28575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marL="1143000" indent="-22860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marL="1600200" indent="-22860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marL="2057400" indent="-228600"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buClr>
                <a:schemeClr val="bg2"/>
              </a:buClr>
              <a:buSzPct val="75000"/>
            </a:pPr>
            <a:r>
              <a:rPr lang="zh-CN" altLang="en-US" sz="2400" b="1">
                <a:solidFill>
                  <a:srgbClr val="FF3300"/>
                </a:solidFill>
              </a:rPr>
              <a:t>闭式</a:t>
            </a:r>
            <a:r>
              <a:rPr lang="zh-CN" altLang="en-US" sz="2400" b="1"/>
              <a:t>: 不含自由出现的个体变项的公式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>
            <a:extLst>
              <a:ext uri="{FF2B5EF4-FFF2-40B4-BE49-F238E27FC236}">
                <a16:creationId xmlns:a16="http://schemas.microsoft.com/office/drawing/2014/main" id="{A60ED436-38EF-D504-BD2A-0D2C732FFB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2F6F88-7081-42A0-9742-4B6959470331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zh-CN" altLang="en-US" sz="14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DD4E3BA5-AF80-FC68-D79C-5D4B3C09E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实例</a:t>
            </a:r>
          </a:p>
        </p:txBody>
      </p:sp>
      <p:grpSp>
        <p:nvGrpSpPr>
          <p:cNvPr id="33796" name="组合 11">
            <a:extLst>
              <a:ext uri="{FF2B5EF4-FFF2-40B4-BE49-F238E27FC236}">
                <a16:creationId xmlns:a16="http://schemas.microsoft.com/office/drawing/2014/main" id="{73E26397-78DE-F851-6E4A-B80E9BFE82E8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717675"/>
            <a:ext cx="7416800" cy="3638550"/>
            <a:chOff x="611188" y="1717675"/>
            <a:chExt cx="7416800" cy="3637919"/>
          </a:xfrm>
        </p:grpSpPr>
        <p:sp>
          <p:nvSpPr>
            <p:cNvPr id="33798" name="Text Box 6">
              <a:extLst>
                <a:ext uri="{FF2B5EF4-FFF2-40B4-BE49-F238E27FC236}">
                  <a16:creationId xmlns:a16="http://schemas.microsoft.com/office/drawing/2014/main" id="{4688FD29-BEC6-431B-5119-6D507AE55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188" y="1717675"/>
              <a:ext cx="7416800" cy="3637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800000"/>
                  </a:solidFill>
                  <a:latin typeface="宋体" panose="02010600030101010101" pitchFamily="2" charset="-122"/>
                </a:rPr>
                <a:t>例</a:t>
              </a:r>
              <a:r>
                <a:rPr lang="zh-CN" altLang="en-US" sz="2400" b="1">
                  <a:solidFill>
                    <a:srgbClr val="800000"/>
                  </a:solidFill>
                </a:rPr>
                <a:t>8</a:t>
              </a:r>
              <a:r>
                <a:rPr lang="zh-CN" altLang="en-US" sz="2400" b="1">
                  <a:latin typeface="宋体" panose="02010600030101010101" pitchFamily="2" charset="-122"/>
                </a:rPr>
                <a:t> 给定解释</a:t>
              </a:r>
              <a:r>
                <a:rPr lang="en-US" altLang="zh-CN" sz="2400" b="1" i="1">
                  <a:latin typeface="宋体" panose="02010600030101010101" pitchFamily="2" charset="-122"/>
                </a:rPr>
                <a:t>I </a:t>
              </a:r>
              <a:r>
                <a:rPr lang="zh-CN" altLang="en-US" sz="2400" b="1">
                  <a:latin typeface="宋体" panose="02010600030101010101" pitchFamily="2" charset="-122"/>
                </a:rPr>
                <a:t>如下:  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宋体" panose="02010600030101010101" pitchFamily="2" charset="-122"/>
                </a:rPr>
                <a:t>  </a:t>
              </a:r>
              <a:r>
                <a:rPr lang="zh-CN" altLang="en-US" sz="2400" b="1"/>
                <a:t>(</a:t>
              </a:r>
              <a:r>
                <a:rPr lang="en-US" altLang="zh-CN" sz="2400" b="1" i="1"/>
                <a:t>a</a:t>
              </a:r>
              <a:r>
                <a:rPr lang="en-US" altLang="zh-CN" sz="2400" b="1"/>
                <a:t>) </a:t>
              </a:r>
              <a:r>
                <a:rPr lang="zh-CN" altLang="en-US" sz="2400" b="1"/>
                <a:t>个体域 </a:t>
              </a:r>
              <a:r>
                <a:rPr lang="en-US" altLang="zh-CN" sz="2400" b="1" i="1"/>
                <a:t>D</a:t>
              </a:r>
              <a:r>
                <a:rPr lang="en-US" altLang="zh-CN" sz="2400" b="1"/>
                <a:t>=N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/>
                <a:t>    (</a:t>
              </a:r>
              <a:r>
                <a:rPr lang="en-US" altLang="zh-CN" sz="2400" b="1" i="1"/>
                <a:t>b</a:t>
              </a:r>
              <a:r>
                <a:rPr lang="en-US" altLang="zh-CN" sz="2400" b="1"/>
                <a:t>)  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/>
                <a:t>    (</a:t>
              </a:r>
              <a:r>
                <a:rPr lang="en-US" altLang="zh-CN" sz="2400" b="1" i="1"/>
                <a:t>c</a:t>
              </a:r>
              <a:r>
                <a:rPr lang="en-US" altLang="zh-CN" sz="2400" b="1"/>
                <a:t>) 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/>
                <a:t>    (</a:t>
              </a:r>
              <a:r>
                <a:rPr lang="en-US" altLang="zh-CN" sz="2400" b="1" i="1"/>
                <a:t>d</a:t>
              </a:r>
              <a:r>
                <a:rPr lang="en-US" altLang="zh-CN" sz="2400" b="1"/>
                <a:t>) </a:t>
              </a:r>
              <a:r>
                <a:rPr lang="zh-CN" altLang="en-US" sz="2400" b="1"/>
                <a:t>谓词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及赋值</a:t>
              </a:r>
              <a:r>
                <a:rPr lang="zh-CN" altLang="en-US" sz="2400" b="1" i="1">
                  <a:sym typeface="Symbol" panose="05050102010706020507" pitchFamily="18" charset="2"/>
                </a:rPr>
                <a:t></a:t>
              </a:r>
              <a:r>
                <a:rPr lang="en-US" altLang="zh-CN" sz="2400" b="1">
                  <a:sym typeface="Symbol" panose="05050102010706020507" pitchFamily="18" charset="2"/>
                </a:rPr>
                <a:t>: </a:t>
              </a:r>
              <a:r>
                <a:rPr lang="zh-CN" altLang="en-US" sz="2400" b="1" i="1">
                  <a:sym typeface="Symbol" panose="05050102010706020507" pitchFamily="18" charset="2"/>
                </a:rPr>
                <a:t></a:t>
              </a:r>
              <a:r>
                <a:rPr lang="en-US" altLang="zh-CN" sz="2400" b="1">
                  <a:sym typeface="Symbol" panose="05050102010706020507" pitchFamily="18" charset="2"/>
                </a:rPr>
                <a:t>(</a:t>
              </a:r>
              <a:r>
                <a:rPr lang="en-US" altLang="zh-CN" sz="2400" b="1" i="1">
                  <a:sym typeface="Symbol" panose="05050102010706020507" pitchFamily="18" charset="2"/>
                </a:rPr>
                <a:t>x</a:t>
              </a:r>
              <a:r>
                <a:rPr lang="en-US" altLang="zh-CN" sz="2400" b="1">
                  <a:sym typeface="Symbol" panose="05050102010706020507" pitchFamily="18" charset="2"/>
                </a:rPr>
                <a:t>)=0,</a:t>
              </a:r>
              <a:r>
                <a:rPr lang="zh-CN" altLang="en-US" sz="2400" b="1" i="1">
                  <a:sym typeface="Symbol" panose="05050102010706020507" pitchFamily="18" charset="2"/>
                </a:rPr>
                <a:t> </a:t>
              </a:r>
              <a:r>
                <a:rPr lang="en-US" altLang="zh-CN" sz="2400" b="1">
                  <a:sym typeface="Symbol" panose="05050102010706020507" pitchFamily="18" charset="2"/>
                </a:rPr>
                <a:t>(</a:t>
              </a:r>
              <a:r>
                <a:rPr lang="en-US" altLang="zh-CN" sz="2400" b="1" i="1">
                  <a:sym typeface="Symbol" panose="05050102010706020507" pitchFamily="18" charset="2"/>
                </a:rPr>
                <a:t>y</a:t>
              </a:r>
              <a:r>
                <a:rPr lang="en-US" altLang="zh-CN" sz="2400" b="1">
                  <a:sym typeface="Symbol" panose="05050102010706020507" pitchFamily="18" charset="2"/>
                </a:rPr>
                <a:t>)=1, </a:t>
              </a:r>
              <a:r>
                <a:rPr lang="zh-CN" altLang="en-US" sz="2400" b="1" i="1">
                  <a:sym typeface="Symbol" panose="05050102010706020507" pitchFamily="18" charset="2"/>
                </a:rPr>
                <a:t></a:t>
              </a:r>
              <a:r>
                <a:rPr lang="en-US" altLang="zh-CN" sz="2400" b="1">
                  <a:sym typeface="Symbol" panose="05050102010706020507" pitchFamily="18" charset="2"/>
                </a:rPr>
                <a:t>(</a:t>
              </a:r>
              <a:r>
                <a:rPr lang="en-US" altLang="zh-CN" sz="2400" b="1" i="1">
                  <a:sym typeface="Symbol" panose="05050102010706020507" pitchFamily="18" charset="2"/>
                </a:rPr>
                <a:t>z</a:t>
              </a:r>
              <a:r>
                <a:rPr lang="en-US" altLang="zh-CN" sz="2400" b="1">
                  <a:sym typeface="Symbol" panose="05050102010706020507" pitchFamily="18" charset="2"/>
                </a:rPr>
                <a:t>)=2.</a:t>
              </a:r>
              <a:endParaRPr lang="en-US" altLang="zh-CN" sz="2400" b="1"/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说明下列公式在 </a:t>
              </a:r>
              <a:r>
                <a:rPr lang="en-US" altLang="zh-CN" sz="2400" b="1" i="1"/>
                <a:t>I </a:t>
              </a:r>
              <a:r>
                <a:rPr lang="zh-CN" altLang="en-US" sz="2400" b="1"/>
                <a:t>及</a:t>
              </a:r>
              <a:r>
                <a:rPr lang="zh-CN" altLang="en-US" sz="2400" b="1" i="1">
                  <a:sym typeface="Symbol" panose="05050102010706020507" pitchFamily="18" charset="2"/>
                </a:rPr>
                <a:t></a:t>
              </a:r>
              <a:r>
                <a:rPr lang="zh-CN" altLang="en-US" sz="2400" b="1"/>
                <a:t>下的含义, 并讨论其真值 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    (1) </a:t>
              </a:r>
              <a:r>
                <a:rPr lang="zh-CN" altLang="en-US" sz="2400" b="1">
                  <a:sym typeface="Symbol" panose="05050102010706020507" pitchFamily="18" charset="2"/>
                </a:rPr>
                <a:t></a:t>
              </a:r>
              <a:r>
                <a:rPr lang="en-US" altLang="zh-CN" sz="2400" b="1" i="1"/>
                <a:t>xF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g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x</a:t>
              </a:r>
              <a:r>
                <a:rPr lang="en-US" altLang="zh-CN" sz="2400" b="1"/>
                <a:t>,</a:t>
              </a:r>
              <a:r>
                <a:rPr lang="en-US" altLang="zh-CN" sz="2400" b="1" i="1"/>
                <a:t>a</a:t>
              </a:r>
              <a:r>
                <a:rPr lang="en-US" altLang="zh-CN" sz="2400" b="1"/>
                <a:t>),</a:t>
              </a:r>
              <a:r>
                <a:rPr lang="en-US" altLang="zh-CN" sz="2400" b="1" i="1"/>
                <a:t>y</a:t>
              </a:r>
              <a:r>
                <a:rPr lang="en-US" altLang="zh-CN" sz="2400" b="1"/>
                <a:t>)</a:t>
              </a:r>
              <a:endParaRPr lang="zh-CN" altLang="en-US" sz="2400"/>
            </a:p>
          </p:txBody>
        </p:sp>
        <p:graphicFrame>
          <p:nvGraphicFramePr>
            <p:cNvPr id="33799" name="Object 7">
              <a:extLst>
                <a:ext uri="{FF2B5EF4-FFF2-40B4-BE49-F238E27FC236}">
                  <a16:creationId xmlns:a16="http://schemas.microsoft.com/office/drawing/2014/main" id="{7C598E45-8396-8B4A-975E-5299636AD18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447801" y="2708275"/>
            <a:ext cx="868363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" name="Equation" r:id="rId3" imgW="367662" imgH="177492" progId="Equation.DSMT4">
                    <p:embed/>
                  </p:oleObj>
                </mc:Choice>
                <mc:Fallback>
                  <p:oleObj name="Equation" r:id="rId3" imgW="367662" imgH="177492" progId="Equation.DSMT4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7801" y="2708275"/>
                          <a:ext cx="868363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0" name="Object 8">
              <a:extLst>
                <a:ext uri="{FF2B5EF4-FFF2-40B4-BE49-F238E27FC236}">
                  <a16:creationId xmlns:a16="http://schemas.microsoft.com/office/drawing/2014/main" id="{4D632ADD-C4AB-FD6A-F103-15C437D87A3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409701" y="3113088"/>
            <a:ext cx="4000500" cy="496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" name="Equation" r:id="rId5" imgW="1828800" imgH="228600" progId="Equation.DSMT4">
                    <p:embed/>
                  </p:oleObj>
                </mc:Choice>
                <mc:Fallback>
                  <p:oleObj name="Equation" r:id="rId5" imgW="1828800" imgH="228600" progId="Equation.DSMT4">
                    <p:embed/>
                    <p:pic>
                      <p:nvPicPr>
                        <p:cNvPr id="0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9701" y="3113088"/>
                          <a:ext cx="4000500" cy="4968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1" name="Object 9">
              <a:extLst>
                <a:ext uri="{FF2B5EF4-FFF2-40B4-BE49-F238E27FC236}">
                  <a16:creationId xmlns:a16="http://schemas.microsoft.com/office/drawing/2014/main" id="{1280DBED-5648-6F9B-70A7-549394E8C98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057401" y="3548063"/>
            <a:ext cx="2082800" cy="490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Equation" r:id="rId7" imgW="965200" imgH="228600" progId="Equation.DSMT4">
                    <p:embed/>
                  </p:oleObj>
                </mc:Choice>
                <mc:Fallback>
                  <p:oleObj name="Equation" r:id="rId7" imgW="965200" imgH="228600" progId="Equation.DSMT4">
                    <p:embed/>
                    <p:pic>
                      <p:nvPicPr>
                        <p:cNvPr id="0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401" y="3548063"/>
                          <a:ext cx="2082800" cy="490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9738" name="Text Box 10">
            <a:extLst>
              <a:ext uri="{FF2B5EF4-FFF2-40B4-BE49-F238E27FC236}">
                <a16:creationId xmlns:a16="http://schemas.microsoft.com/office/drawing/2014/main" id="{477F043D-6B0A-1D8D-839D-F902E71D5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500688"/>
            <a:ext cx="426720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/>
              <a:t>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/>
              <a:t>(2</a:t>
            </a:r>
            <a:r>
              <a:rPr lang="en-US" altLang="zh-CN" sz="2400" b="1" i="1"/>
              <a:t>x=</a:t>
            </a:r>
            <a:r>
              <a:rPr lang="en-US" altLang="zh-CN" sz="2400" b="1"/>
              <a:t>1)          </a:t>
            </a:r>
            <a:r>
              <a:rPr lang="zh-CN" altLang="en-US" sz="2400" b="1"/>
              <a:t>假命题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9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9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A35B0F2C-2300-B90C-614E-2AAE850740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34709B-FBDC-4D32-91B7-66E27911A06C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zh-CN" altLang="en-US" sz="14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9D902A8-2F0B-6BA4-D7C6-D13E495B6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实例(续)</a:t>
            </a:r>
          </a:p>
        </p:txBody>
      </p:sp>
      <p:sp>
        <p:nvSpPr>
          <p:cNvPr id="330757" name="Rectangle 5">
            <a:extLst>
              <a:ext uri="{FF2B5EF4-FFF2-40B4-BE49-F238E27FC236}">
                <a16:creationId xmlns:a16="http://schemas.microsoft.com/office/drawing/2014/main" id="{D8FCC549-8E0A-1108-4264-C9A18C8002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2495550"/>
            <a:ext cx="7777162" cy="576263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zh-CN" altLang="en-US" sz="2400" b="1"/>
              <a:t>(3)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y</a:t>
            </a:r>
            <a:r>
              <a:rPr lang="en-US" altLang="zh-CN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zF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y</a:t>
            </a:r>
            <a:r>
              <a:rPr lang="en-US" altLang="zh-CN" sz="2400" b="1"/>
              <a:t>),</a:t>
            </a:r>
            <a:r>
              <a:rPr lang="en-US" altLang="zh-CN" sz="2400" b="1" i="1"/>
              <a:t>z</a:t>
            </a:r>
            <a:r>
              <a:rPr lang="en-US" altLang="zh-CN" sz="2400" b="1"/>
              <a:t>)</a:t>
            </a:r>
            <a:endParaRPr lang="zh-CN" altLang="en-US" sz="2400" b="1"/>
          </a:p>
        </p:txBody>
      </p:sp>
      <p:sp>
        <p:nvSpPr>
          <p:cNvPr id="330759" name="Text Box 7">
            <a:extLst>
              <a:ext uri="{FF2B5EF4-FFF2-40B4-BE49-F238E27FC236}">
                <a16:creationId xmlns:a16="http://schemas.microsoft.com/office/drawing/2014/main" id="{608C6F7B-1EFF-9D02-9A89-B44970484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8" y="4457700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(5) 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a</a:t>
            </a:r>
            <a:r>
              <a:rPr lang="en-US" altLang="zh-CN" sz="2400" b="1"/>
              <a:t>), 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y,a</a:t>
            </a:r>
            <a:r>
              <a:rPr lang="en-US" altLang="zh-CN" sz="2400" b="1"/>
              <a:t>))</a:t>
            </a:r>
          </a:p>
        </p:txBody>
      </p:sp>
      <p:sp>
        <p:nvSpPr>
          <p:cNvPr id="330761" name="Text Box 9">
            <a:extLst>
              <a:ext uri="{FF2B5EF4-FFF2-40B4-BE49-F238E27FC236}">
                <a16:creationId xmlns:a16="http://schemas.microsoft.com/office/drawing/2014/main" id="{30117160-5FD6-2BBB-A14A-C24B69EFF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3" y="3471863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(4) </a:t>
            </a:r>
            <a:r>
              <a:rPr lang="zh-CN" altLang="en-US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xF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y</a:t>
            </a:r>
            <a:r>
              <a:rPr lang="en-US" altLang="zh-CN" sz="2400" b="1"/>
              <a:t>),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z</a:t>
            </a:r>
            <a:r>
              <a:rPr lang="en-US" altLang="zh-CN" sz="2400" b="1"/>
              <a:t>))</a:t>
            </a:r>
          </a:p>
        </p:txBody>
      </p:sp>
      <p:sp>
        <p:nvSpPr>
          <p:cNvPr id="330762" name="Text Box 10">
            <a:extLst>
              <a:ext uri="{FF2B5EF4-FFF2-40B4-BE49-F238E27FC236}">
                <a16:creationId xmlns:a16="http://schemas.microsoft.com/office/drawing/2014/main" id="{CF611189-07AA-A2DF-D0A7-A4A80E15C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725" y="3900488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+1=2</a:t>
            </a:r>
            <a:r>
              <a:rPr lang="en-US" altLang="zh-CN" sz="2400" b="1" i="1"/>
              <a:t>x</a:t>
            </a:r>
            <a:r>
              <a:rPr lang="en-US" altLang="zh-CN" sz="2400" b="1"/>
              <a:t>)        </a:t>
            </a:r>
            <a:r>
              <a:rPr lang="zh-CN" altLang="en-US" sz="2400" b="1"/>
              <a:t>真命题</a:t>
            </a:r>
          </a:p>
        </p:txBody>
      </p:sp>
      <p:sp>
        <p:nvSpPr>
          <p:cNvPr id="330763" name="Text Box 11">
            <a:extLst>
              <a:ext uri="{FF2B5EF4-FFF2-40B4-BE49-F238E27FC236}">
                <a16:creationId xmlns:a16="http://schemas.microsoft.com/office/drawing/2014/main" id="{27430655-1854-F3B7-2D13-8E1EB8DF7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3" y="2900363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y</a:t>
            </a:r>
            <a:r>
              <a:rPr lang="en-US" altLang="zh-CN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z </a:t>
            </a:r>
            <a:r>
              <a:rPr lang="en-US" altLang="zh-CN" sz="2400" b="1"/>
              <a:t>(</a:t>
            </a:r>
            <a:r>
              <a:rPr lang="en-US" altLang="zh-CN" sz="2400" b="1" i="1"/>
              <a:t>x+y</a:t>
            </a:r>
            <a:r>
              <a:rPr lang="en-US" altLang="zh-CN" sz="2400" b="1"/>
              <a:t>=</a:t>
            </a:r>
            <a:r>
              <a:rPr lang="en-US" altLang="zh-CN" sz="2400" b="1" i="1"/>
              <a:t>z</a:t>
            </a:r>
            <a:r>
              <a:rPr lang="en-US" altLang="zh-CN" sz="2400" b="1"/>
              <a:t>)         </a:t>
            </a:r>
            <a:r>
              <a:rPr lang="zh-CN" altLang="en-US" sz="2400" b="1"/>
              <a:t>真命题</a:t>
            </a:r>
          </a:p>
        </p:txBody>
      </p:sp>
      <p:sp>
        <p:nvSpPr>
          <p:cNvPr id="330764" name="Text Box 12">
            <a:extLst>
              <a:ext uri="{FF2B5EF4-FFF2-40B4-BE49-F238E27FC236}">
                <a16:creationId xmlns:a16="http://schemas.microsoft.com/office/drawing/2014/main" id="{4848865B-E6E8-E3AE-C093-2DDA7BDC6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5424488"/>
            <a:ext cx="714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(6)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x,y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</a:t>
            </a:r>
            <a:r>
              <a:rPr lang="en-US" altLang="zh-CN" sz="2400" b="1" i="1">
                <a:sym typeface="Symbol" panose="05050102010706020507" pitchFamily="18" charset="2"/>
              </a:rPr>
              <a:t>y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a</a:t>
            </a:r>
            <a:r>
              <a:rPr lang="en-US" altLang="zh-CN" sz="2400" b="1"/>
              <a:t>), 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y,a</a:t>
            </a:r>
            <a:r>
              <a:rPr lang="en-US" altLang="zh-CN" sz="2400" b="1"/>
              <a:t>)))</a:t>
            </a:r>
          </a:p>
        </p:txBody>
      </p:sp>
      <p:sp>
        <p:nvSpPr>
          <p:cNvPr id="330765" name="Text Box 13">
            <a:extLst>
              <a:ext uri="{FF2B5EF4-FFF2-40B4-BE49-F238E27FC236}">
                <a16:creationId xmlns:a16="http://schemas.microsoft.com/office/drawing/2014/main" id="{A351F8C8-0C47-C346-1E18-A0EE3EC7A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829300"/>
            <a:ext cx="48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zh-CN" altLang="en-US" sz="2400" b="1"/>
              <a:t> (</a:t>
            </a:r>
            <a:r>
              <a:rPr lang="en-US" altLang="zh-CN" sz="2400" b="1" i="1"/>
              <a:t>x=</a:t>
            </a:r>
            <a:r>
              <a:rPr lang="en-US" altLang="zh-CN" sz="2400" b="1"/>
              <a:t>1</a:t>
            </a:r>
            <a:r>
              <a:rPr lang="en-US" altLang="zh-CN" sz="2400" b="1">
                <a:sym typeface="Symbol" panose="05050102010706020507" pitchFamily="18" charset="2"/>
              </a:rPr>
              <a:t></a:t>
            </a:r>
            <a:r>
              <a:rPr lang="en-US" altLang="zh-CN" sz="2400" b="1" i="1">
                <a:sym typeface="Symbol" panose="05050102010706020507" pitchFamily="18" charset="2"/>
              </a:rPr>
              <a:t>y</a:t>
            </a:r>
            <a:r>
              <a:rPr lang="en-US" altLang="zh-CN" sz="2400" b="1">
                <a:sym typeface="Symbol" panose="05050102010706020507" pitchFamily="18" charset="2"/>
              </a:rPr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+2=2</a:t>
            </a:r>
            <a:r>
              <a:rPr lang="en-US" altLang="zh-CN" sz="2400" b="1" i="1"/>
              <a:t>y</a:t>
            </a:r>
            <a:r>
              <a:rPr lang="en-US" altLang="zh-CN" sz="2400" b="1"/>
              <a:t>))      </a:t>
            </a:r>
            <a:r>
              <a:rPr lang="zh-CN" altLang="en-US" sz="2400" b="1"/>
              <a:t>假命题</a:t>
            </a:r>
          </a:p>
        </p:txBody>
      </p:sp>
      <p:sp>
        <p:nvSpPr>
          <p:cNvPr id="330766" name="Text Box 14">
            <a:extLst>
              <a:ext uri="{FF2B5EF4-FFF2-40B4-BE49-F238E27FC236}">
                <a16:creationId xmlns:a16="http://schemas.microsoft.com/office/drawing/2014/main" id="{300BE459-33E9-150E-0B9F-EE1548558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838700"/>
            <a:ext cx="48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0</a:t>
            </a:r>
            <a:r>
              <a:rPr lang="en-US" altLang="zh-CN" sz="2400" b="1" i="1"/>
              <a:t>+</a:t>
            </a:r>
            <a:r>
              <a:rPr lang="en-US" altLang="zh-CN" sz="2400" b="1"/>
              <a:t>2=1</a:t>
            </a:r>
            <a:r>
              <a:rPr lang="en-US" altLang="zh-CN" sz="2400" b="1">
                <a:sym typeface="Symbol" panose="05050102010706020507" pitchFamily="18" charset="2"/>
              </a:rPr>
              <a:t></a:t>
            </a:r>
            <a:r>
              <a:rPr lang="en-US" altLang="zh-CN" sz="2400" b="1"/>
              <a:t>2         </a:t>
            </a:r>
            <a:r>
              <a:rPr lang="zh-CN" altLang="en-US" sz="2400" b="1"/>
              <a:t>真命题</a:t>
            </a:r>
          </a:p>
        </p:txBody>
      </p:sp>
      <p:sp>
        <p:nvSpPr>
          <p:cNvPr id="34828" name="Text Box 11">
            <a:extLst>
              <a:ext uri="{FF2B5EF4-FFF2-40B4-BE49-F238E27FC236}">
                <a16:creationId xmlns:a16="http://schemas.microsoft.com/office/drawing/2014/main" id="{8B47F74C-F738-5479-EB12-88D2848D7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428750"/>
            <a:ext cx="716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(2)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y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,</a:t>
            </a:r>
            <a:r>
              <a:rPr lang="en-US" altLang="zh-CN" sz="2400" b="1" i="1"/>
              <a:t>a</a:t>
            </a:r>
            <a:r>
              <a:rPr lang="en-US" altLang="zh-CN" sz="2400" b="1"/>
              <a:t>),</a:t>
            </a:r>
            <a:r>
              <a:rPr lang="en-US" altLang="zh-CN" sz="2400" b="1" i="1"/>
              <a:t>y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,</a:t>
            </a:r>
            <a:r>
              <a:rPr lang="en-US" altLang="zh-CN" sz="2400" b="1" i="1"/>
              <a:t>a</a:t>
            </a:r>
            <a:r>
              <a:rPr lang="en-US" altLang="zh-CN" sz="2400" b="1"/>
              <a:t>),</a:t>
            </a:r>
            <a:r>
              <a:rPr lang="en-US" altLang="zh-CN" sz="2400" b="1" i="1"/>
              <a:t>x</a:t>
            </a:r>
            <a:r>
              <a:rPr lang="en-US" altLang="zh-CN" sz="2400" b="1"/>
              <a:t>))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F4B91F82-FF73-0DD0-1483-C3EA16DC2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962150"/>
            <a:ext cx="579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y</a:t>
            </a:r>
            <a:r>
              <a:rPr lang="en-US" altLang="zh-CN" sz="2400" b="1"/>
              <a:t>(</a:t>
            </a:r>
            <a:r>
              <a:rPr lang="en-US" altLang="zh-CN" sz="2400" b="1" i="1"/>
              <a:t>x+</a:t>
            </a:r>
            <a:r>
              <a:rPr lang="en-US" altLang="zh-CN" sz="2400" b="1"/>
              <a:t>2=</a:t>
            </a:r>
            <a:r>
              <a:rPr lang="en-US" altLang="zh-CN" sz="2400" b="1" i="1"/>
              <a:t>y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y</a:t>
            </a:r>
            <a:r>
              <a:rPr lang="en-US" altLang="zh-CN" sz="2400" b="1"/>
              <a:t>+2=</a:t>
            </a:r>
            <a:r>
              <a:rPr lang="en-US" altLang="zh-CN" sz="2400" b="1" i="1"/>
              <a:t>x</a:t>
            </a:r>
            <a:r>
              <a:rPr lang="en-US" altLang="zh-CN" sz="2400" b="1"/>
              <a:t>)        </a:t>
            </a:r>
            <a:r>
              <a:rPr lang="zh-CN" altLang="en-US" sz="2400" b="1"/>
              <a:t>假命题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0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0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0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0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0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0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0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0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0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0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0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0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0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0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7" grpId="0" build="p"/>
      <p:bldP spid="330759" grpId="0"/>
      <p:bldP spid="330761" grpId="0"/>
      <p:bldP spid="330762" grpId="0"/>
      <p:bldP spid="330763" grpId="0"/>
      <p:bldP spid="330764" grpId="0"/>
      <p:bldP spid="330765" grpId="0"/>
      <p:bldP spid="330766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>
            <a:extLst>
              <a:ext uri="{FF2B5EF4-FFF2-40B4-BE49-F238E27FC236}">
                <a16:creationId xmlns:a16="http://schemas.microsoft.com/office/drawing/2014/main" id="{EAA174AD-B130-F183-374C-CE509A4A6D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C6A502-583B-40FF-AEF1-B58C0FD288FC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zh-CN" altLang="en-US" sz="14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4BC6C54-CFB8-ECE7-6B45-01285AD52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一阶逻辑公式的分类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854BD8CE-29D3-CA11-A0C2-EA216951DC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2133600"/>
            <a:ext cx="7772400" cy="3671888"/>
          </a:xfrm>
        </p:spPr>
        <p:txBody>
          <a:bodyPr/>
          <a:lstStyle/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永真式(逻辑有效式)</a:t>
            </a:r>
            <a:r>
              <a:rPr lang="zh-CN" altLang="en-US" sz="2400" b="1">
                <a:latin typeface="宋体" panose="02010600030101010101" pitchFamily="2" charset="-122"/>
              </a:rPr>
              <a:t>: 无成假解释和赋值</a:t>
            </a:r>
          </a:p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矛盾式(永假式)</a:t>
            </a:r>
            <a:r>
              <a:rPr lang="zh-CN" altLang="en-US" sz="2400" b="1">
                <a:latin typeface="宋体" panose="02010600030101010101" pitchFamily="2" charset="-122"/>
              </a:rPr>
              <a:t>: 无成真解释和赋值</a:t>
            </a:r>
          </a:p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可满足式</a:t>
            </a:r>
            <a:r>
              <a:rPr lang="zh-CN" altLang="en-US" sz="2400" b="1">
                <a:latin typeface="宋体" panose="02010600030101010101" pitchFamily="2" charset="-122"/>
              </a:rPr>
              <a:t>: 至少有一个成真解释和赋值</a:t>
            </a:r>
          </a:p>
          <a:p>
            <a:pPr algn="just" eaLnBrk="1" hangingPunct="1">
              <a:spcBef>
                <a:spcPct val="40000"/>
              </a:spcBef>
              <a:buFontTx/>
              <a:buNone/>
            </a:pPr>
            <a:endParaRPr lang="zh-CN" altLang="en-US" sz="2400" b="1">
              <a:latin typeface="宋体" panose="02010600030101010101" pitchFamily="2" charset="-122"/>
            </a:endParaRPr>
          </a:p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在一阶逻辑中</a:t>
            </a:r>
            <a:r>
              <a:rPr lang="en-US" altLang="zh-CN" sz="2400" b="1">
                <a:latin typeface="宋体" panose="02010600030101010101" pitchFamily="2" charset="-122"/>
              </a:rPr>
              <a:t>, </a:t>
            </a:r>
            <a:r>
              <a:rPr lang="zh-CN" altLang="en-US" sz="2400" b="1">
                <a:latin typeface="宋体" panose="02010600030101010101" pitchFamily="2" charset="-122"/>
              </a:rPr>
              <a:t>公式的可满足性</a:t>
            </a:r>
            <a:r>
              <a:rPr lang="en-US" altLang="zh-CN" sz="2400" b="1">
                <a:latin typeface="宋体" panose="02010600030101010101" pitchFamily="2" charset="-122"/>
              </a:rPr>
              <a:t>(</a:t>
            </a:r>
            <a:r>
              <a:rPr lang="zh-CN" altLang="en-US" sz="2400" b="1">
                <a:latin typeface="宋体" panose="02010600030101010101" pitchFamily="2" charset="-122"/>
              </a:rPr>
              <a:t>永真性</a:t>
            </a:r>
            <a:r>
              <a:rPr lang="en-US" altLang="zh-CN" sz="2400" b="1">
                <a:latin typeface="宋体" panose="02010600030101010101" pitchFamily="2" charset="-122"/>
              </a:rPr>
              <a:t>,</a:t>
            </a:r>
            <a:r>
              <a:rPr lang="zh-CN" altLang="en-US" sz="2400" b="1">
                <a:latin typeface="宋体" panose="02010600030101010101" pitchFamily="2" charset="-122"/>
              </a:rPr>
              <a:t>永假性</a:t>
            </a:r>
            <a:r>
              <a:rPr lang="en-US" altLang="zh-CN" sz="2400" b="1">
                <a:latin typeface="宋体" panose="02010600030101010101" pitchFamily="2" charset="-122"/>
              </a:rPr>
              <a:t>)</a:t>
            </a:r>
            <a:r>
              <a:rPr lang="zh-CN" altLang="en-US" sz="2400" b="1">
                <a:latin typeface="宋体" panose="02010600030101010101" pitchFamily="2" charset="-122"/>
              </a:rPr>
              <a:t>是不可</a:t>
            </a:r>
          </a:p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判定的</a:t>
            </a:r>
            <a:r>
              <a:rPr lang="en-US" altLang="zh-CN" sz="2400" b="1">
                <a:latin typeface="宋体" panose="02010600030101010101" pitchFamily="2" charset="-122"/>
              </a:rPr>
              <a:t>,</a:t>
            </a:r>
            <a:r>
              <a:rPr lang="zh-CN" altLang="en-US" sz="2400" b="1">
                <a:latin typeface="宋体" panose="02010600030101010101" pitchFamily="2" charset="-122"/>
              </a:rPr>
              <a:t>即不存在算法能在有限步内判断任给的公式是否</a:t>
            </a:r>
          </a:p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是可满足式</a:t>
            </a:r>
            <a:r>
              <a:rPr lang="en-US" altLang="zh-CN" sz="2400" b="1">
                <a:latin typeface="宋体" panose="02010600030101010101" pitchFamily="2" charset="-122"/>
              </a:rPr>
              <a:t>(</a:t>
            </a:r>
            <a:r>
              <a:rPr lang="zh-CN" altLang="en-US" sz="2400" b="1">
                <a:latin typeface="宋体" panose="02010600030101010101" pitchFamily="2" charset="-122"/>
              </a:rPr>
              <a:t>永真式</a:t>
            </a:r>
            <a:r>
              <a:rPr lang="en-US" altLang="zh-CN" sz="2400" b="1">
                <a:latin typeface="宋体" panose="02010600030101010101" pitchFamily="2" charset="-122"/>
              </a:rPr>
              <a:t>,</a:t>
            </a:r>
            <a:r>
              <a:rPr lang="zh-CN" altLang="en-US" sz="2400" b="1">
                <a:latin typeface="宋体" panose="02010600030101010101" pitchFamily="2" charset="-122"/>
              </a:rPr>
              <a:t>矛盾式</a:t>
            </a:r>
            <a:r>
              <a:rPr lang="en-US" altLang="zh-CN" sz="2400" b="1">
                <a:latin typeface="宋体" panose="02010600030101010101" pitchFamily="2" charset="-122"/>
              </a:rP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C4C565B2-0747-6F53-6780-B61862508F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4C5079-1417-4E58-9A96-E38803153A8F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zh-CN" altLang="en-US" sz="14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FE1ED771-40AE-6772-7B96-AE42C5EA61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代换实例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379CBCDC-A457-1E08-5968-973171296A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153400" cy="3581400"/>
          </a:xfrm>
        </p:spPr>
        <p:txBody>
          <a:bodyPr/>
          <a:lstStyle/>
          <a:p>
            <a:pPr algn="just" eaLnBrk="1" hangingPunct="1">
              <a:spcBef>
                <a:spcPct val="35000"/>
              </a:spcBef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定义3.9 </a:t>
            </a:r>
            <a:r>
              <a:rPr lang="zh-CN" altLang="en-US" sz="2400" b="1"/>
              <a:t>设</a:t>
            </a:r>
            <a:r>
              <a:rPr lang="en-US" altLang="zh-CN" sz="2400" b="1" i="1"/>
              <a:t>A</a:t>
            </a:r>
            <a:r>
              <a:rPr lang="en-US" altLang="zh-CN" sz="2400" b="1" baseline="-30000"/>
              <a:t>0</a:t>
            </a:r>
            <a:r>
              <a:rPr lang="zh-CN" altLang="en-US" sz="2400" b="1"/>
              <a:t>是含命题变项</a:t>
            </a:r>
            <a:r>
              <a:rPr lang="en-US" altLang="zh-CN" sz="2400" b="1" i="1"/>
              <a:t>p</a:t>
            </a:r>
            <a:r>
              <a:rPr lang="en-US" altLang="zh-CN" sz="2400" b="1" baseline="-30000"/>
              <a:t>1</a:t>
            </a:r>
            <a:r>
              <a:rPr lang="en-US" altLang="zh-CN" sz="2400" b="1"/>
              <a:t>, </a:t>
            </a:r>
            <a:r>
              <a:rPr lang="en-US" altLang="zh-CN" sz="2400" b="1" i="1"/>
              <a:t>p</a:t>
            </a:r>
            <a:r>
              <a:rPr lang="en-US" altLang="zh-CN" sz="2400" b="1" baseline="-30000"/>
              <a:t>2</a:t>
            </a:r>
            <a:r>
              <a:rPr lang="en-US" altLang="zh-CN" sz="2400" b="1"/>
              <a:t>, …,</a:t>
            </a:r>
            <a:r>
              <a:rPr lang="en-US" altLang="zh-CN" sz="2400" b="1" i="1"/>
              <a:t>p</a:t>
            </a:r>
            <a:r>
              <a:rPr lang="en-US" altLang="zh-CN" sz="2400" b="1" i="1" baseline="-30000"/>
              <a:t>n</a:t>
            </a:r>
            <a:r>
              <a:rPr lang="zh-CN" altLang="en-US" sz="2400" b="1"/>
              <a:t>的命题公式, </a:t>
            </a:r>
            <a:r>
              <a:rPr lang="en-US" altLang="zh-CN" sz="2400" b="1" i="1"/>
              <a:t>A</a:t>
            </a:r>
            <a:r>
              <a:rPr lang="en-US" altLang="zh-CN" sz="2400" b="1" baseline="-30000"/>
              <a:t>1</a:t>
            </a:r>
            <a:r>
              <a:rPr lang="en-US" altLang="zh-CN" sz="2400" b="1"/>
              <a:t>,</a:t>
            </a:r>
            <a:r>
              <a:rPr lang="en-US" altLang="zh-CN" sz="2400" b="1" i="1"/>
              <a:t>A</a:t>
            </a:r>
            <a:r>
              <a:rPr lang="en-US" altLang="zh-CN" sz="2400" b="1" baseline="-30000"/>
              <a:t>2</a:t>
            </a:r>
            <a:r>
              <a:rPr lang="en-US" altLang="zh-CN" sz="2400" b="1"/>
              <a:t>,…, </a:t>
            </a:r>
          </a:p>
          <a:p>
            <a:pPr algn="just" eaLnBrk="1" hangingPunct="1">
              <a:spcBef>
                <a:spcPct val="35000"/>
              </a:spcBef>
              <a:buFontTx/>
              <a:buNone/>
            </a:pPr>
            <a:r>
              <a:rPr lang="en-US" altLang="zh-CN" sz="2400" b="1" i="1"/>
              <a:t>A</a:t>
            </a:r>
            <a:r>
              <a:rPr lang="en-US" altLang="zh-CN" sz="2400" b="1" i="1" baseline="-30000"/>
              <a:t>n</a:t>
            </a:r>
            <a:r>
              <a:rPr lang="zh-CN" altLang="en-US" sz="2400" b="1"/>
              <a:t>是</a:t>
            </a:r>
            <a:r>
              <a:rPr lang="en-US" altLang="zh-CN" sz="2400" b="1" i="1"/>
              <a:t>n</a:t>
            </a:r>
            <a:r>
              <a:rPr lang="zh-CN" altLang="en-US" sz="2400" b="1"/>
              <a:t>个谓词公式, 用</a:t>
            </a:r>
            <a:r>
              <a:rPr lang="en-US" altLang="zh-CN" sz="2400" b="1" i="1"/>
              <a:t>A</a:t>
            </a:r>
            <a:r>
              <a:rPr lang="en-US" altLang="zh-CN" sz="2400" b="1" i="1" baseline="-30000"/>
              <a:t>i</a:t>
            </a:r>
            <a:r>
              <a:rPr lang="zh-CN" altLang="en-US" sz="2400" b="1"/>
              <a:t>处处代替</a:t>
            </a:r>
            <a:r>
              <a:rPr lang="en-US" altLang="zh-CN" sz="2400" b="1" i="1"/>
              <a:t>A</a:t>
            </a:r>
            <a:r>
              <a:rPr lang="en-US" altLang="zh-CN" sz="2400" b="1" baseline="-30000"/>
              <a:t>0</a:t>
            </a:r>
            <a:r>
              <a:rPr lang="zh-CN" altLang="en-US" sz="2400" b="1"/>
              <a:t>中的</a:t>
            </a:r>
            <a:r>
              <a:rPr lang="en-US" altLang="zh-CN" sz="2400" b="1" i="1"/>
              <a:t>p</a:t>
            </a:r>
            <a:r>
              <a:rPr lang="en-US" altLang="zh-CN" sz="2400" b="1" i="1" baseline="-30000"/>
              <a:t>i</a:t>
            </a:r>
            <a:r>
              <a:rPr lang="en-US" altLang="zh-CN" sz="2400" b="1"/>
              <a:t>(1</a:t>
            </a:r>
            <a:r>
              <a:rPr lang="en-US" altLang="zh-CN" sz="2400" b="1">
                <a:sym typeface="Symbol" panose="05050102010706020507" pitchFamily="18" charset="2"/>
              </a:rPr>
              <a:t></a:t>
            </a:r>
            <a:r>
              <a:rPr lang="en-US" altLang="zh-CN" sz="2400" b="1" i="1"/>
              <a:t>i</a:t>
            </a:r>
            <a:r>
              <a:rPr lang="en-US" altLang="zh-CN" sz="2400" b="1">
                <a:sym typeface="Symbol" panose="05050102010706020507" pitchFamily="18" charset="2"/>
              </a:rPr>
              <a:t></a:t>
            </a:r>
            <a:r>
              <a:rPr lang="en-US" altLang="zh-CN" sz="2400" b="1" i="1"/>
              <a:t>n</a:t>
            </a:r>
            <a:r>
              <a:rPr lang="en-US" altLang="zh-CN" sz="2400" b="1"/>
              <a:t>), </a:t>
            </a:r>
            <a:r>
              <a:rPr lang="zh-CN" altLang="en-US" sz="2400" b="1"/>
              <a:t>所得公式</a:t>
            </a:r>
          </a:p>
          <a:p>
            <a:pPr algn="just" eaLnBrk="1" hangingPunct="1">
              <a:spcBef>
                <a:spcPct val="35000"/>
              </a:spcBef>
              <a:buFontTx/>
              <a:buNone/>
            </a:pPr>
            <a:r>
              <a:rPr lang="en-US" altLang="zh-CN" sz="2400" b="1" i="1"/>
              <a:t>A</a:t>
            </a:r>
            <a:r>
              <a:rPr lang="zh-CN" altLang="en-US" sz="2400" b="1"/>
              <a:t>称为</a:t>
            </a:r>
            <a:r>
              <a:rPr lang="en-US" altLang="zh-CN" sz="2400" b="1" i="1"/>
              <a:t>A</a:t>
            </a:r>
            <a:r>
              <a:rPr lang="en-US" altLang="zh-CN" sz="2400" b="1" baseline="-30000"/>
              <a:t>0</a:t>
            </a:r>
            <a:r>
              <a:rPr lang="zh-CN" altLang="en-US" sz="2400" b="1"/>
              <a:t>的</a:t>
            </a:r>
            <a:r>
              <a:rPr lang="zh-CN" altLang="en-US" sz="2400" b="1">
                <a:solidFill>
                  <a:srgbClr val="FF3300"/>
                </a:solidFill>
              </a:rPr>
              <a:t>代换实例</a:t>
            </a:r>
            <a:r>
              <a:rPr lang="zh-CN" altLang="en-US" sz="2400" b="1"/>
              <a:t>.</a:t>
            </a:r>
          </a:p>
          <a:p>
            <a:pPr algn="just" eaLnBrk="1" hangingPunct="1">
              <a:spcBef>
                <a:spcPct val="35000"/>
              </a:spcBef>
              <a:buFontTx/>
              <a:buNone/>
            </a:pPr>
            <a:r>
              <a:rPr lang="zh-CN" altLang="en-US" sz="2400" b="1">
                <a:solidFill>
                  <a:srgbClr val="1D0F73"/>
                </a:solidFill>
              </a:rPr>
              <a:t>例如 </a:t>
            </a:r>
            <a:r>
              <a:rPr lang="en-US" altLang="zh-CN" sz="2400" b="1" i="1">
                <a:solidFill>
                  <a:srgbClr val="1D0F73"/>
                </a:solidFill>
              </a:rPr>
              <a:t>F</a:t>
            </a:r>
            <a:r>
              <a:rPr lang="en-US" altLang="zh-CN" sz="2400" b="1">
                <a:solidFill>
                  <a:srgbClr val="1D0F73"/>
                </a:solidFill>
              </a:rPr>
              <a:t>(</a:t>
            </a:r>
            <a:r>
              <a:rPr lang="en-US" altLang="zh-CN" sz="2400" b="1" i="1">
                <a:solidFill>
                  <a:srgbClr val="1D0F73"/>
                </a:solidFill>
              </a:rPr>
              <a:t>x</a:t>
            </a:r>
            <a:r>
              <a:rPr lang="en-US" altLang="zh-CN" sz="2400" b="1">
                <a:solidFill>
                  <a:srgbClr val="1D0F73"/>
                </a:solidFill>
              </a:rPr>
              <a:t>)</a:t>
            </a:r>
            <a:r>
              <a:rPr lang="en-US" altLang="zh-CN" sz="2400" b="1">
                <a:solidFill>
                  <a:srgbClr val="1D0F73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solidFill>
                  <a:srgbClr val="1D0F73"/>
                </a:solidFill>
              </a:rPr>
              <a:t>G</a:t>
            </a:r>
            <a:r>
              <a:rPr lang="en-US" altLang="zh-CN" sz="2400" b="1">
                <a:solidFill>
                  <a:srgbClr val="1D0F73"/>
                </a:solidFill>
              </a:rPr>
              <a:t>(</a:t>
            </a:r>
            <a:r>
              <a:rPr lang="en-US" altLang="zh-CN" sz="2400" b="1" i="1">
                <a:solidFill>
                  <a:srgbClr val="1D0F73"/>
                </a:solidFill>
              </a:rPr>
              <a:t>x</a:t>
            </a:r>
            <a:r>
              <a:rPr lang="en-US" altLang="zh-CN" sz="2400" b="1">
                <a:solidFill>
                  <a:srgbClr val="1D0F73"/>
                </a:solidFill>
              </a:rPr>
              <a:t>), </a:t>
            </a:r>
            <a:r>
              <a:rPr lang="en-US" altLang="zh-CN" sz="2400" b="1">
                <a:solidFill>
                  <a:srgbClr val="1D0F73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solidFill>
                  <a:srgbClr val="1D0F73"/>
                </a:solidFill>
              </a:rPr>
              <a:t>xF</a:t>
            </a:r>
            <a:r>
              <a:rPr lang="en-US" altLang="zh-CN" sz="2400" b="1">
                <a:solidFill>
                  <a:srgbClr val="1D0F73"/>
                </a:solidFill>
              </a:rPr>
              <a:t>(</a:t>
            </a:r>
            <a:r>
              <a:rPr lang="en-US" altLang="zh-CN" sz="2400" b="1" i="1">
                <a:solidFill>
                  <a:srgbClr val="1D0F73"/>
                </a:solidFill>
              </a:rPr>
              <a:t>x</a:t>
            </a:r>
            <a:r>
              <a:rPr lang="en-US" altLang="zh-CN" sz="2400" b="1">
                <a:solidFill>
                  <a:srgbClr val="1D0F73"/>
                </a:solidFill>
              </a:rPr>
              <a:t>)</a:t>
            </a:r>
            <a:r>
              <a:rPr lang="en-US" altLang="zh-CN" sz="2400" b="1">
                <a:solidFill>
                  <a:srgbClr val="1D0F73"/>
                </a:solidFill>
                <a:sym typeface="Symbol" panose="05050102010706020507" pitchFamily="18" charset="2"/>
              </a:rPr>
              <a:t></a:t>
            </a:r>
            <a:r>
              <a:rPr lang="en-US" altLang="zh-CN" sz="2400" b="1" i="1">
                <a:solidFill>
                  <a:srgbClr val="1D0F73"/>
                </a:solidFill>
              </a:rPr>
              <a:t>yG</a:t>
            </a:r>
            <a:r>
              <a:rPr lang="en-US" altLang="zh-CN" sz="2400" b="1">
                <a:solidFill>
                  <a:srgbClr val="1D0F73"/>
                </a:solidFill>
              </a:rPr>
              <a:t>(</a:t>
            </a:r>
            <a:r>
              <a:rPr lang="en-US" altLang="zh-CN" sz="2400" b="1" i="1">
                <a:solidFill>
                  <a:srgbClr val="1D0F73"/>
                </a:solidFill>
              </a:rPr>
              <a:t>y</a:t>
            </a:r>
            <a:r>
              <a:rPr lang="en-US" altLang="zh-CN" sz="2400" b="1">
                <a:solidFill>
                  <a:srgbClr val="1D0F73"/>
                </a:solidFill>
              </a:rPr>
              <a:t>) </a:t>
            </a:r>
            <a:r>
              <a:rPr lang="zh-CN" altLang="en-US" sz="2400" b="1">
                <a:solidFill>
                  <a:srgbClr val="1D0F73"/>
                </a:solidFill>
              </a:rPr>
              <a:t>等都是</a:t>
            </a:r>
            <a:r>
              <a:rPr lang="en-US" altLang="zh-CN" sz="2400" b="1" i="1">
                <a:solidFill>
                  <a:srgbClr val="1D0F73"/>
                </a:solidFill>
              </a:rPr>
              <a:t>p</a:t>
            </a:r>
            <a:r>
              <a:rPr lang="en-US" altLang="zh-CN" sz="2400" b="1">
                <a:solidFill>
                  <a:srgbClr val="1D0F73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solidFill>
                  <a:srgbClr val="1D0F73"/>
                </a:solidFill>
              </a:rPr>
              <a:t>q</a:t>
            </a:r>
            <a:r>
              <a:rPr lang="zh-CN" altLang="en-US" sz="2400" b="1">
                <a:solidFill>
                  <a:srgbClr val="1D0F73"/>
                </a:solidFill>
              </a:rPr>
              <a:t>的代换实例</a:t>
            </a:r>
          </a:p>
          <a:p>
            <a:pPr eaLnBrk="1" hangingPunct="1">
              <a:spcBef>
                <a:spcPct val="35000"/>
              </a:spcBef>
              <a:buFontTx/>
              <a:buNone/>
            </a:pPr>
            <a:r>
              <a:rPr lang="zh-CN" altLang="en-US" sz="2400" b="1"/>
              <a:t> </a:t>
            </a:r>
          </a:p>
          <a:p>
            <a:pPr eaLnBrk="1" hangingPunct="1">
              <a:spcBef>
                <a:spcPct val="35000"/>
              </a:spcBef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定理3.2</a:t>
            </a:r>
            <a:r>
              <a:rPr lang="zh-CN" altLang="en-US" sz="2400" b="1">
                <a:solidFill>
                  <a:srgbClr val="FF0066"/>
                </a:solidFill>
              </a:rPr>
              <a:t>   </a:t>
            </a:r>
            <a:r>
              <a:rPr lang="zh-CN" altLang="en-US" sz="2400" b="1"/>
              <a:t>重言式的代换实例都是永真式，矛盾式的代换实</a:t>
            </a:r>
          </a:p>
          <a:p>
            <a:pPr eaLnBrk="1" hangingPunct="1">
              <a:spcBef>
                <a:spcPct val="35000"/>
              </a:spcBef>
              <a:buFontTx/>
              <a:buNone/>
            </a:pPr>
            <a:r>
              <a:rPr lang="zh-CN" altLang="en-US" sz="2400" b="1"/>
              <a:t>例都是矛盾式.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AAE621F7-DAEB-9F44-2651-38A13ECAFD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055AB7-56D2-4314-AD0B-30DAF85304C4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zh-CN" altLang="en-US" sz="14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A0DC7E0-9F14-6ED5-CDC7-A89C64B982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实例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132DAE00-1899-67CF-1F54-920EF40205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7772400" cy="99060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</a:rPr>
              <a:t>例9</a:t>
            </a:r>
            <a:r>
              <a:rPr lang="zh-CN" altLang="en-US" sz="2400" b="1"/>
              <a:t> 判断下列公式的类型:</a:t>
            </a:r>
          </a:p>
          <a:p>
            <a:pPr algn="just" eaLnBrk="1" hangingPunct="1">
              <a:buFontTx/>
              <a:buNone/>
            </a:pPr>
            <a:r>
              <a:rPr lang="zh-CN" altLang="en-US" sz="2400" b="1"/>
              <a:t>(1)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</a:t>
            </a:r>
            <a:endParaRPr lang="zh-CN" altLang="en-US" sz="2400" b="1"/>
          </a:p>
        </p:txBody>
      </p:sp>
      <p:sp>
        <p:nvSpPr>
          <p:cNvPr id="334855" name="Text Box 7">
            <a:extLst>
              <a:ext uri="{FF2B5EF4-FFF2-40B4-BE49-F238E27FC236}">
                <a16:creationId xmlns:a16="http://schemas.microsoft.com/office/drawing/2014/main" id="{730491D2-7EF5-0104-8440-BCB821F10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505200"/>
            <a:ext cx="41148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b="1"/>
              <a:t>非永真式的可满足式</a:t>
            </a:r>
          </a:p>
        </p:txBody>
      </p:sp>
      <p:sp>
        <p:nvSpPr>
          <p:cNvPr id="334856" name="Text Box 8">
            <a:extLst>
              <a:ext uri="{FF2B5EF4-FFF2-40B4-BE49-F238E27FC236}">
                <a16:creationId xmlns:a16="http://schemas.microsoft.com/office/drawing/2014/main" id="{AD5AFAFC-03E9-EC23-0EBE-DF44A3642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002088"/>
            <a:ext cx="41148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en-US" altLang="zh-CN" sz="2400" b="1"/>
              <a:t>(2) 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/>
              <a:t>(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xF</a:t>
            </a:r>
            <a:r>
              <a:rPr lang="en-US" altLang="zh-CN" sz="2400" b="1"/>
              <a:t>(</a:t>
            </a:r>
            <a:r>
              <a:rPr lang="en-US" altLang="zh-CN" sz="2400" b="1" i="1"/>
              <a:t>x,y</a:t>
            </a:r>
            <a:r>
              <a:rPr lang="en-US" altLang="zh-CN" sz="2400" b="1"/>
              <a:t>))</a:t>
            </a:r>
            <a:r>
              <a:rPr lang="en-US" altLang="zh-CN" sz="2400" b="1">
                <a:sym typeface="Symbol" panose="05050102010706020507" pitchFamily="18" charset="2"/>
              </a:rPr>
              <a:t>(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xF</a:t>
            </a:r>
            <a:r>
              <a:rPr lang="en-US" altLang="zh-CN" sz="2400" b="1"/>
              <a:t>(</a:t>
            </a:r>
            <a:r>
              <a:rPr lang="en-US" altLang="zh-CN" sz="2400" b="1" i="1"/>
              <a:t>x,y</a:t>
            </a:r>
            <a:r>
              <a:rPr lang="en-US" altLang="zh-CN" sz="2400" b="1"/>
              <a:t>))</a:t>
            </a:r>
            <a:r>
              <a:rPr lang="en-US" altLang="zh-CN" sz="2400" b="1">
                <a:sym typeface="Symbol" panose="05050102010706020507" pitchFamily="18" charset="2"/>
              </a:rPr>
              <a:t> </a:t>
            </a:r>
            <a:endParaRPr lang="zh-CN" altLang="en-US" sz="2400" b="1">
              <a:sym typeface="Symbol" panose="05050102010706020507" pitchFamily="18" charset="2"/>
            </a:endParaRPr>
          </a:p>
        </p:txBody>
      </p:sp>
      <p:sp>
        <p:nvSpPr>
          <p:cNvPr id="334857" name="Text Box 9">
            <a:extLst>
              <a:ext uri="{FF2B5EF4-FFF2-40B4-BE49-F238E27FC236}">
                <a16:creationId xmlns:a16="http://schemas.microsoft.com/office/drawing/2014/main" id="{9B36AF71-A0DC-C511-15D7-1A37914F5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95800"/>
            <a:ext cx="54102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b="1"/>
              <a:t>这是 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 i="1"/>
              <a:t>p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400" b="1" i="1"/>
              <a:t>p </a:t>
            </a:r>
            <a:r>
              <a:rPr lang="zh-CN" altLang="en-US" sz="2400" b="1"/>
              <a:t>的代换实例, 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 i="1"/>
              <a:t>p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400" b="1" i="1"/>
              <a:t>p</a:t>
            </a:r>
            <a:r>
              <a:rPr lang="zh-CN" altLang="en-US" sz="2400" b="1"/>
              <a:t>是重言式,    </a:t>
            </a:r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C58CD474-0DF7-75DF-0859-B4BB98818783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706688"/>
            <a:ext cx="8077200" cy="493712"/>
            <a:chOff x="432" y="1705"/>
            <a:chExt cx="5088" cy="311"/>
          </a:xfrm>
        </p:grpSpPr>
        <p:sp>
          <p:nvSpPr>
            <p:cNvPr id="37905" name="Text Box 5">
              <a:extLst>
                <a:ext uri="{FF2B5EF4-FFF2-40B4-BE49-F238E27FC236}">
                  <a16:creationId xmlns:a16="http://schemas.microsoft.com/office/drawing/2014/main" id="{76CDF7CB-32EB-E570-9958-16AF4DB97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705"/>
              <a:ext cx="5088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buFontTx/>
                <a:buNone/>
              </a:pPr>
              <a:r>
                <a:rPr lang="zh-CN" altLang="en-US" sz="2400" b="1"/>
                <a:t>取解释</a:t>
              </a:r>
              <a:r>
                <a:rPr lang="en-US" altLang="zh-CN" sz="2400" b="1" i="1"/>
                <a:t>I</a:t>
              </a:r>
              <a:r>
                <a:rPr lang="en-US" altLang="zh-CN" sz="2400" b="1" baseline="-25000"/>
                <a:t>1</a:t>
              </a:r>
              <a:r>
                <a:rPr lang="en-US" altLang="zh-CN" sz="2400" b="1"/>
                <a:t>, </a:t>
              </a:r>
              <a:r>
                <a:rPr lang="en-US" altLang="zh-CN" sz="2400" b="1" i="1"/>
                <a:t>D</a:t>
              </a:r>
              <a:r>
                <a:rPr lang="en-US" altLang="zh-CN" sz="2400" b="1" baseline="-25000"/>
                <a:t>1</a:t>
              </a:r>
              <a:r>
                <a:rPr lang="en-US" altLang="zh-CN" sz="2400" b="1"/>
                <a:t>=R,          :</a:t>
              </a:r>
              <a:r>
                <a:rPr lang="en-US" altLang="zh-CN" sz="2400" b="1" i="1"/>
                <a:t>x</a:t>
              </a:r>
              <a:r>
                <a:rPr lang="zh-CN" altLang="en-US" sz="2400" b="1"/>
                <a:t>是整数,          :</a:t>
              </a:r>
              <a:r>
                <a:rPr lang="en-US" altLang="zh-CN" sz="2400" b="1" i="1"/>
                <a:t>x</a:t>
              </a:r>
              <a:r>
                <a:rPr lang="zh-CN" altLang="en-US" sz="2400" b="1"/>
                <a:t>是有理数,   真命题</a:t>
              </a:r>
            </a:p>
          </p:txBody>
        </p:sp>
        <p:graphicFrame>
          <p:nvGraphicFramePr>
            <p:cNvPr id="37906" name="Object 10">
              <a:extLst>
                <a:ext uri="{FF2B5EF4-FFF2-40B4-BE49-F238E27FC236}">
                  <a16:creationId xmlns:a16="http://schemas.microsoft.com/office/drawing/2014/main" id="{2656EA2A-EE91-9391-41D7-C360D95B00C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72" y="1742"/>
            <a:ext cx="456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8" name="Equation" r:id="rId3" imgW="380835" imgH="228501" progId="Equation.DSMT4">
                    <p:embed/>
                  </p:oleObj>
                </mc:Choice>
                <mc:Fallback>
                  <p:oleObj name="Equation" r:id="rId3" imgW="380835" imgH="228501" progId="Equation.DSMT4">
                    <p:embed/>
                    <p:pic>
                      <p:nvPicPr>
                        <p:cNvPr id="0" name="Object 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742"/>
                          <a:ext cx="456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7" name="Object 11">
              <a:extLst>
                <a:ext uri="{FF2B5EF4-FFF2-40B4-BE49-F238E27FC236}">
                  <a16:creationId xmlns:a16="http://schemas.microsoft.com/office/drawing/2014/main" id="{E1C56E8E-3B71-E2E9-65C7-509C5953ED7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44" y="1728"/>
            <a:ext cx="456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" name="Equation" r:id="rId5" imgW="380835" imgH="228501" progId="Equation.DSMT4">
                    <p:embed/>
                  </p:oleObj>
                </mc:Choice>
                <mc:Fallback>
                  <p:oleObj name="Equation" r:id="rId5" imgW="380835" imgH="228501" progId="Equation.DSMT4">
                    <p:embed/>
                    <p:pic>
                      <p:nvPicPr>
                        <p:cNvPr id="0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4" y="1728"/>
                          <a:ext cx="456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4860" name="Text Box 12">
            <a:extLst>
              <a:ext uri="{FF2B5EF4-FFF2-40B4-BE49-F238E27FC236}">
                <a16:creationId xmlns:a16="http://schemas.microsoft.com/office/drawing/2014/main" id="{7EFED0DB-1D42-07BE-F5EC-ECD0D9BCB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495800"/>
            <a:ext cx="12192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b="1"/>
              <a:t>永真式</a:t>
            </a:r>
          </a:p>
        </p:txBody>
      </p:sp>
      <p:sp>
        <p:nvSpPr>
          <p:cNvPr id="334861" name="Text Box 13">
            <a:extLst>
              <a:ext uri="{FF2B5EF4-FFF2-40B4-BE49-F238E27FC236}">
                <a16:creationId xmlns:a16="http://schemas.microsoft.com/office/drawing/2014/main" id="{4532CBE8-0016-1EF9-C6C8-2B293F9FA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029200"/>
            <a:ext cx="69342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en-US" altLang="zh-CN" sz="2400" b="1"/>
              <a:t>(3) 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/>
              <a:t> (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</a:t>
            </a:r>
            <a:r>
              <a:rPr lang="en-US" altLang="zh-CN" sz="2400" b="1" i="1"/>
              <a:t>yG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)) </a:t>
            </a:r>
            <a:r>
              <a:rPr lang="en-US" altLang="zh-CN" sz="2400" b="1">
                <a:sym typeface="Symbol" panose="05050102010706020507" pitchFamily="18" charset="2"/>
              </a:rPr>
              <a:t> </a:t>
            </a:r>
            <a:r>
              <a:rPr lang="en-US" altLang="zh-CN" sz="2400" b="1" i="1"/>
              <a:t>yG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</a:t>
            </a:r>
            <a:endParaRPr lang="zh-CN" altLang="en-US" sz="2400" b="1"/>
          </a:p>
        </p:txBody>
      </p:sp>
      <p:sp>
        <p:nvSpPr>
          <p:cNvPr id="334862" name="Text Box 14">
            <a:extLst>
              <a:ext uri="{FF2B5EF4-FFF2-40B4-BE49-F238E27FC236}">
                <a16:creationId xmlns:a16="http://schemas.microsoft.com/office/drawing/2014/main" id="{A0DC7B7B-7C08-5A42-A486-AAB3E5A45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526088"/>
            <a:ext cx="65532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b="1"/>
              <a:t>这是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/>
              <a:t>(</a:t>
            </a:r>
            <a:r>
              <a:rPr lang="en-US" altLang="zh-CN" sz="2400" b="1" i="1"/>
              <a:t>p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q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q</a:t>
            </a:r>
            <a:r>
              <a:rPr lang="zh-CN" altLang="en-US" sz="2400" b="1"/>
              <a:t>的代换实例, 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/>
              <a:t>(</a:t>
            </a:r>
            <a:r>
              <a:rPr lang="en-US" altLang="zh-CN" sz="2400" b="1" i="1"/>
              <a:t>p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q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q</a:t>
            </a:r>
            <a:r>
              <a:rPr lang="zh-CN" altLang="en-US" sz="2400" b="1"/>
              <a:t>是矛盾式</a:t>
            </a:r>
          </a:p>
        </p:txBody>
      </p:sp>
      <p:sp>
        <p:nvSpPr>
          <p:cNvPr id="334863" name="Text Box 15">
            <a:extLst>
              <a:ext uri="{FF2B5EF4-FFF2-40B4-BE49-F238E27FC236}">
                <a16:creationId xmlns:a16="http://schemas.microsoft.com/office/drawing/2014/main" id="{526C4C2F-09E5-62D5-04F1-EB36623D4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526088"/>
            <a:ext cx="12954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b="1"/>
              <a:t>矛盾式</a:t>
            </a:r>
          </a:p>
        </p:txBody>
      </p:sp>
      <p:grpSp>
        <p:nvGrpSpPr>
          <p:cNvPr id="3" name="Group 20">
            <a:extLst>
              <a:ext uri="{FF2B5EF4-FFF2-40B4-BE49-F238E27FC236}">
                <a16:creationId xmlns:a16="http://schemas.microsoft.com/office/drawing/2014/main" id="{A55A6CF0-5FBE-D716-50CD-19D0DC2C8925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124200"/>
            <a:ext cx="7848600" cy="511175"/>
            <a:chOff x="432" y="1968"/>
            <a:chExt cx="4944" cy="322"/>
          </a:xfrm>
        </p:grpSpPr>
        <p:sp>
          <p:nvSpPr>
            <p:cNvPr id="37902" name="Text Box 6">
              <a:extLst>
                <a:ext uri="{FF2B5EF4-FFF2-40B4-BE49-F238E27FC236}">
                  <a16:creationId xmlns:a16="http://schemas.microsoft.com/office/drawing/2014/main" id="{D684723D-DFD8-5A33-9BF1-13BFC3D92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968"/>
              <a:ext cx="4944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buFontTx/>
                <a:buNone/>
              </a:pPr>
              <a:r>
                <a:rPr lang="zh-CN" altLang="en-US" sz="2400" b="1"/>
                <a:t>取解释</a:t>
              </a:r>
              <a:r>
                <a:rPr lang="en-US" altLang="zh-CN" sz="2400" b="1" i="1"/>
                <a:t>I</a:t>
              </a:r>
              <a:r>
                <a:rPr lang="en-US" altLang="zh-CN" sz="2400" b="1" baseline="-25000"/>
                <a:t>2</a:t>
              </a:r>
              <a:r>
                <a:rPr lang="en-US" altLang="zh-CN" sz="2400" b="1"/>
                <a:t>, </a:t>
              </a:r>
              <a:r>
                <a:rPr lang="en-US" altLang="zh-CN" sz="2400" b="1" i="1"/>
                <a:t>D</a:t>
              </a:r>
              <a:r>
                <a:rPr lang="en-US" altLang="zh-CN" sz="2400" b="1" baseline="-25000"/>
                <a:t>2</a:t>
              </a:r>
              <a:r>
                <a:rPr lang="en-US" altLang="zh-CN" sz="2400" b="1"/>
                <a:t>=R,          :</a:t>
              </a:r>
              <a:r>
                <a:rPr lang="en-US" altLang="zh-CN" sz="2400" b="1" i="1"/>
                <a:t>x</a:t>
              </a:r>
              <a:r>
                <a:rPr lang="zh-CN" altLang="en-US" sz="2400" b="1"/>
                <a:t>是整数,          :</a:t>
              </a:r>
              <a:r>
                <a:rPr lang="en-US" altLang="zh-CN" sz="2400" b="1" i="1"/>
                <a:t>x</a:t>
              </a:r>
              <a:r>
                <a:rPr lang="zh-CN" altLang="en-US" sz="2400" b="1"/>
                <a:t>是自然数</a:t>
              </a:r>
              <a:r>
                <a:rPr lang="en-US" altLang="zh-CN" sz="2400" b="1"/>
                <a:t>,   </a:t>
              </a:r>
              <a:r>
                <a:rPr lang="zh-CN" altLang="en-US" sz="2400" b="1"/>
                <a:t>假命题</a:t>
              </a:r>
            </a:p>
          </p:txBody>
        </p:sp>
        <p:graphicFrame>
          <p:nvGraphicFramePr>
            <p:cNvPr id="37903" name="Object 17">
              <a:extLst>
                <a:ext uri="{FF2B5EF4-FFF2-40B4-BE49-F238E27FC236}">
                  <a16:creationId xmlns:a16="http://schemas.microsoft.com/office/drawing/2014/main" id="{19E53F0D-33ED-F277-736D-FDFA69F4933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72" y="2016"/>
            <a:ext cx="456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" name="Equation" r:id="rId7" imgW="380835" imgH="228501" progId="Equation.DSMT4">
                    <p:embed/>
                  </p:oleObj>
                </mc:Choice>
                <mc:Fallback>
                  <p:oleObj name="Equation" r:id="rId7" imgW="380835" imgH="228501" progId="Equation.DSMT4">
                    <p:embed/>
                    <p:pic>
                      <p:nvPicPr>
                        <p:cNvPr id="0" name="Object 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2016"/>
                          <a:ext cx="456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4" name="Object 18">
              <a:extLst>
                <a:ext uri="{FF2B5EF4-FFF2-40B4-BE49-F238E27FC236}">
                  <a16:creationId xmlns:a16="http://schemas.microsoft.com/office/drawing/2014/main" id="{15E139D8-2401-4F5A-6782-4550542F2AB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44" y="2016"/>
            <a:ext cx="456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" name="Equation" r:id="rId8" imgW="380835" imgH="228501" progId="Equation.DSMT4">
                    <p:embed/>
                  </p:oleObj>
                </mc:Choice>
                <mc:Fallback>
                  <p:oleObj name="Equation" r:id="rId8" imgW="380835" imgH="228501" progId="Equation.DSMT4">
                    <p:embed/>
                    <p:pic>
                      <p:nvPicPr>
                        <p:cNvPr id="0" name="Object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4" y="2016"/>
                          <a:ext cx="456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4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4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4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4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4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4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4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4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4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4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5" grpId="0"/>
      <p:bldP spid="334856" grpId="0"/>
      <p:bldP spid="334857" grpId="0"/>
      <p:bldP spid="334860" grpId="0"/>
      <p:bldP spid="334861" grpId="0"/>
      <p:bldP spid="334862" grpId="0"/>
      <p:bldP spid="33486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>
            <a:extLst>
              <a:ext uri="{FF2B5EF4-FFF2-40B4-BE49-F238E27FC236}">
                <a16:creationId xmlns:a16="http://schemas.microsoft.com/office/drawing/2014/main" id="{72A99535-64A0-837F-BAF4-C0F2A70D3A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EC5790-FC7C-4DEA-9C45-84EB25F28F04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zh-CN" altLang="en-US" sz="14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24445C56-EDDE-6B2B-F7A2-DF4C7D832C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实例</a:t>
            </a:r>
            <a:r>
              <a:rPr lang="en-US" altLang="zh-CN" sz="4000">
                <a:solidFill>
                  <a:srgbClr val="800000"/>
                </a:solidFill>
              </a:rPr>
              <a:t>(</a:t>
            </a:r>
            <a:r>
              <a:rPr lang="zh-CN" altLang="en-US" sz="4000">
                <a:solidFill>
                  <a:srgbClr val="800000"/>
                </a:solidFill>
              </a:rPr>
              <a:t>续</a:t>
            </a:r>
            <a:r>
              <a:rPr lang="en-US" altLang="zh-CN" sz="4000">
                <a:solidFill>
                  <a:srgbClr val="800000"/>
                </a:solidFill>
              </a:rPr>
              <a:t>)</a:t>
            </a:r>
            <a:endParaRPr lang="zh-CN" altLang="en-US" sz="4000">
              <a:solidFill>
                <a:srgbClr val="800000"/>
              </a:solidFill>
            </a:endParaRP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96A921D5-B504-4151-D8A4-9B9788566E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00238"/>
            <a:ext cx="7772400" cy="528637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zh-CN" altLang="en-US" sz="2400" b="1"/>
              <a:t>(</a:t>
            </a:r>
            <a:r>
              <a:rPr lang="en-US" altLang="zh-CN" sz="2400" b="1"/>
              <a:t>4</a:t>
            </a:r>
            <a:r>
              <a:rPr lang="zh-CN" altLang="en-US" sz="2400" b="1"/>
              <a:t>)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xF</a:t>
            </a:r>
            <a:r>
              <a:rPr lang="en-US" altLang="zh-CN" sz="2400" b="1"/>
              <a:t>(</a:t>
            </a:r>
            <a:r>
              <a:rPr lang="en-US" altLang="zh-CN" sz="2400" b="1" i="1"/>
              <a:t>x,y</a:t>
            </a:r>
            <a:r>
              <a:rPr lang="en-US" altLang="zh-CN" sz="2400" b="1"/>
              <a:t>)</a:t>
            </a:r>
            <a:endParaRPr lang="zh-CN" altLang="en-US" sz="2400" b="1"/>
          </a:p>
        </p:txBody>
      </p:sp>
      <p:sp>
        <p:nvSpPr>
          <p:cNvPr id="334855" name="Text Box 7">
            <a:extLst>
              <a:ext uri="{FF2B5EF4-FFF2-40B4-BE49-F238E27FC236}">
                <a16:creationId xmlns:a16="http://schemas.microsoft.com/office/drawing/2014/main" id="{FA978036-5B57-6FA4-ABB0-2BE3E61B3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792538"/>
            <a:ext cx="41148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b="1"/>
              <a:t>非永真式的可满足式</a:t>
            </a:r>
          </a:p>
        </p:txBody>
      </p:sp>
      <p:grpSp>
        <p:nvGrpSpPr>
          <p:cNvPr id="2" name="组合 19">
            <a:extLst>
              <a:ext uri="{FF2B5EF4-FFF2-40B4-BE49-F238E27FC236}">
                <a16:creationId xmlns:a16="http://schemas.microsoft.com/office/drawing/2014/main" id="{F354D0B2-3900-3680-8FE8-500B9BD6E3AC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643188"/>
            <a:ext cx="7315200" cy="498475"/>
            <a:chOff x="685800" y="2643182"/>
            <a:chExt cx="7315224" cy="498598"/>
          </a:xfrm>
        </p:grpSpPr>
        <p:sp>
          <p:nvSpPr>
            <p:cNvPr id="38922" name="Text Box 5">
              <a:extLst>
                <a:ext uri="{FF2B5EF4-FFF2-40B4-BE49-F238E27FC236}">
                  <a16:creationId xmlns:a16="http://schemas.microsoft.com/office/drawing/2014/main" id="{F97F9038-08B6-3ACE-01B4-CC8BEB8297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2643182"/>
              <a:ext cx="7315224" cy="498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buFontTx/>
                <a:buNone/>
              </a:pPr>
              <a:r>
                <a:rPr lang="zh-CN" altLang="en-US" sz="2400" b="1"/>
                <a:t>解释</a:t>
              </a:r>
              <a:r>
                <a:rPr lang="en-US" altLang="zh-CN" sz="2400" b="1" i="1"/>
                <a:t>I</a:t>
              </a:r>
              <a:r>
                <a:rPr lang="en-US" altLang="zh-CN" sz="2400" b="1" baseline="-25000"/>
                <a:t>1</a:t>
              </a:r>
              <a:r>
                <a:rPr lang="en-US" altLang="zh-CN" sz="2400" b="1"/>
                <a:t>, </a:t>
              </a:r>
              <a:r>
                <a:rPr lang="en-US" altLang="zh-CN" sz="2400" b="1" i="1"/>
                <a:t>D</a:t>
              </a:r>
              <a:r>
                <a:rPr lang="en-US" altLang="zh-CN" sz="2400" b="1" baseline="-25000"/>
                <a:t>1</a:t>
              </a:r>
              <a:r>
                <a:rPr lang="en-US" altLang="zh-CN" sz="2400" b="1"/>
                <a:t>=N,              :</a:t>
              </a:r>
              <a:r>
                <a:rPr lang="en-US" altLang="zh-CN" sz="2400" b="1" i="1"/>
                <a:t>x</a:t>
              </a:r>
              <a:r>
                <a:rPr lang="en-US" altLang="zh-CN" sz="2400" b="1" i="1">
                  <a:sym typeface="Symbol" panose="05050102010706020507" pitchFamily="18" charset="2"/>
                </a:rPr>
                <a:t>y</a:t>
              </a:r>
              <a:r>
                <a:rPr lang="en-US" altLang="zh-CN" sz="2400" b="1">
                  <a:sym typeface="Symbol" panose="05050102010706020507" pitchFamily="18" charset="2"/>
                </a:rPr>
                <a:t>;   </a:t>
              </a:r>
              <a:r>
                <a:rPr lang="zh-CN" altLang="en-US" sz="2400" b="1">
                  <a:sym typeface="Symbol" panose="05050102010706020507" pitchFamily="18" charset="2"/>
                </a:rPr>
                <a:t>赋值</a:t>
              </a:r>
              <a:r>
                <a:rPr lang="zh-CN" altLang="en-US" sz="2400" b="1" i="1">
                  <a:sym typeface="Symbol" panose="05050102010706020507" pitchFamily="18" charset="2"/>
                </a:rPr>
                <a:t></a:t>
              </a:r>
              <a:r>
                <a:rPr lang="en-US" altLang="zh-CN" sz="2400" b="1">
                  <a:sym typeface="Symbol" panose="05050102010706020507" pitchFamily="18" charset="2"/>
                </a:rPr>
                <a:t>(</a:t>
              </a:r>
              <a:r>
                <a:rPr lang="en-US" altLang="zh-CN" sz="2400" b="1" i="1">
                  <a:sym typeface="Symbol" panose="05050102010706020507" pitchFamily="18" charset="2"/>
                </a:rPr>
                <a:t>y</a:t>
              </a:r>
              <a:r>
                <a:rPr lang="en-US" altLang="zh-CN" sz="2400" b="1"/>
                <a:t>)=0</a:t>
              </a:r>
              <a:r>
                <a:rPr lang="zh-CN" altLang="en-US" sz="2400" b="1"/>
                <a:t>,     真命题</a:t>
              </a:r>
            </a:p>
          </p:txBody>
        </p:sp>
        <p:graphicFrame>
          <p:nvGraphicFramePr>
            <p:cNvPr id="38923" name="Object 10">
              <a:extLst>
                <a:ext uri="{FF2B5EF4-FFF2-40B4-BE49-F238E27FC236}">
                  <a16:creationId xmlns:a16="http://schemas.microsoft.com/office/drawing/2014/main" id="{4EFBC8C0-2F6E-9F76-24A3-7DBDCF37C0B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630481" y="2643182"/>
            <a:ext cx="1012825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" name="Equation" r:id="rId3" imgW="533169" imgH="228501" progId="Equation.DSMT4">
                    <p:embed/>
                  </p:oleObj>
                </mc:Choice>
                <mc:Fallback>
                  <p:oleObj name="Equation" r:id="rId3" imgW="533169" imgH="228501" progId="Equation.DSMT4">
                    <p:embed/>
                    <p:pic>
                      <p:nvPicPr>
                        <p:cNvPr id="0" name="Object 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0481" y="2643182"/>
                          <a:ext cx="1012825" cy="434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0">
            <a:extLst>
              <a:ext uri="{FF2B5EF4-FFF2-40B4-BE49-F238E27FC236}">
                <a16:creationId xmlns:a16="http://schemas.microsoft.com/office/drawing/2014/main" id="{07DAFB75-8C2D-36BA-88CA-C2DE3F1B9E60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216275"/>
            <a:ext cx="7029450" cy="498475"/>
            <a:chOff x="685800" y="3216154"/>
            <a:chExt cx="7029472" cy="498598"/>
          </a:xfrm>
        </p:grpSpPr>
        <p:sp>
          <p:nvSpPr>
            <p:cNvPr id="38920" name="Text Box 6">
              <a:extLst>
                <a:ext uri="{FF2B5EF4-FFF2-40B4-BE49-F238E27FC236}">
                  <a16:creationId xmlns:a16="http://schemas.microsoft.com/office/drawing/2014/main" id="{3857CFBE-B5CC-9258-149B-E029A4C2F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3216154"/>
              <a:ext cx="7029472" cy="498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buFontTx/>
                <a:buNone/>
              </a:pPr>
              <a:r>
                <a:rPr lang="zh-CN" altLang="en-US" sz="2400" b="1"/>
                <a:t>解释</a:t>
              </a:r>
              <a:r>
                <a:rPr lang="en-US" altLang="zh-CN" sz="2400" b="1" i="1"/>
                <a:t>I</a:t>
              </a:r>
              <a:r>
                <a:rPr lang="en-US" altLang="zh-CN" sz="2400" b="1" baseline="-25000"/>
                <a:t>2</a:t>
              </a:r>
              <a:r>
                <a:rPr lang="en-US" altLang="zh-CN" sz="2400" b="1"/>
                <a:t>, </a:t>
              </a:r>
              <a:r>
                <a:rPr lang="en-US" altLang="zh-CN" sz="2400" b="1" i="1"/>
                <a:t>D</a:t>
              </a:r>
              <a:r>
                <a:rPr lang="en-US" altLang="zh-CN" sz="2400" b="1" baseline="-25000"/>
                <a:t>2</a:t>
              </a:r>
              <a:r>
                <a:rPr lang="en-US" altLang="zh-CN" sz="2400" b="1"/>
                <a:t>=N,              :</a:t>
              </a:r>
              <a:r>
                <a:rPr lang="en-US" altLang="zh-CN" sz="2400" b="1" i="1"/>
                <a:t>x</a:t>
              </a:r>
              <a:r>
                <a:rPr lang="en-US" altLang="zh-CN" sz="2400" b="1">
                  <a:sym typeface="Symbol" panose="05050102010706020507" pitchFamily="18" charset="2"/>
                </a:rPr>
                <a:t></a:t>
              </a:r>
              <a:r>
                <a:rPr lang="en-US" altLang="zh-CN" sz="2400" b="1" i="1">
                  <a:sym typeface="Symbol" panose="05050102010706020507" pitchFamily="18" charset="2"/>
                </a:rPr>
                <a:t>y</a:t>
              </a:r>
              <a:r>
                <a:rPr lang="en-US" altLang="zh-CN" sz="2400" b="1"/>
                <a:t>;</a:t>
              </a:r>
              <a:r>
                <a:rPr lang="zh-CN" altLang="en-US" sz="2400" b="1"/>
                <a:t>   赋值 </a:t>
              </a:r>
              <a:r>
                <a:rPr lang="zh-CN" altLang="en-US" sz="2400" b="1">
                  <a:sym typeface="Symbol" panose="05050102010706020507" pitchFamily="18" charset="2"/>
                </a:rPr>
                <a:t></a:t>
              </a:r>
              <a:r>
                <a:rPr lang="en-US" altLang="zh-CN" sz="2400" b="1">
                  <a:sym typeface="Symbol" panose="05050102010706020507" pitchFamily="18" charset="2"/>
                </a:rPr>
                <a:t>(y)=1, </a:t>
              </a:r>
              <a:r>
                <a:rPr lang="en-US" altLang="zh-CN" sz="2400" b="1"/>
                <a:t>   </a:t>
              </a:r>
              <a:r>
                <a:rPr lang="zh-CN" altLang="en-US" sz="2400" b="1"/>
                <a:t>假命题</a:t>
              </a:r>
            </a:p>
          </p:txBody>
        </p:sp>
        <p:graphicFrame>
          <p:nvGraphicFramePr>
            <p:cNvPr id="38921" name="Object 17">
              <a:extLst>
                <a:ext uri="{FF2B5EF4-FFF2-40B4-BE49-F238E27FC236}">
                  <a16:creationId xmlns:a16="http://schemas.microsoft.com/office/drawing/2014/main" id="{5DBEA023-43C8-7087-9CEC-93D28DC5CF9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630481" y="3279777"/>
            <a:ext cx="1012825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3" name="Equation" r:id="rId5" imgW="533169" imgH="228501" progId="Equation.DSMT4">
                    <p:embed/>
                  </p:oleObj>
                </mc:Choice>
                <mc:Fallback>
                  <p:oleObj name="Equation" r:id="rId5" imgW="533169" imgH="228501" progId="Equation.DSMT4">
                    <p:embed/>
                    <p:pic>
                      <p:nvPicPr>
                        <p:cNvPr id="0" name="Object 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0481" y="3279777"/>
                          <a:ext cx="1012825" cy="434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EA0B6BFF-3DD0-1FDB-FED4-21A242DD76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F1A904-7FDA-470F-8AE2-C90DB771DF6B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zh-CN" altLang="en-US" sz="14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1148BDA2-7A36-DFFF-B214-18CCCAA15C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800">
                <a:solidFill>
                  <a:srgbClr val="800000"/>
                </a:solidFill>
              </a:rPr>
              <a:t>3.2 </a:t>
            </a:r>
            <a:r>
              <a:rPr lang="zh-CN" altLang="en-US" sz="4800">
                <a:solidFill>
                  <a:srgbClr val="800000"/>
                </a:solidFill>
                <a:ea typeface="黑体" panose="02010609060101010101" pitchFamily="49" charset="-122"/>
              </a:rPr>
              <a:t>一阶逻辑等值演算</a:t>
            </a:r>
            <a:endParaRPr lang="en-US" altLang="zh-CN" sz="4800">
              <a:solidFill>
                <a:srgbClr val="800000"/>
              </a:solidFill>
              <a:ea typeface="黑体" panose="02010609060101010101" pitchFamily="49" charset="-122"/>
            </a:endParaRP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014860E5-ED0D-8082-ED7A-D0527CE4AF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3.2.1 一阶逻辑等值式与置换规则</a:t>
            </a:r>
          </a:p>
          <a:p>
            <a:pPr lvl="1" eaLnBrk="1" hangingPunct="1">
              <a:spcBef>
                <a:spcPct val="40000"/>
              </a:spcBef>
            </a:pPr>
            <a:r>
              <a:rPr lang="zh-CN" altLang="en-US" b="1"/>
              <a:t>基本等值式</a:t>
            </a:r>
          </a:p>
          <a:p>
            <a:pPr lvl="1" eaLnBrk="1" hangingPunct="1">
              <a:spcBef>
                <a:spcPct val="40000"/>
              </a:spcBef>
            </a:pPr>
            <a:r>
              <a:rPr lang="zh-CN" altLang="en-US" b="1"/>
              <a:t>置换规则、换名规则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b="1"/>
              <a:t>3.2.2 一阶逻辑前束范式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64F8308C-8CF8-6895-BB73-E77F5A0269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5E4910-65F8-4C72-B809-5D217856A913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zh-CN" altLang="en-US" sz="14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05605DF7-D266-122D-1CC7-71859F304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等值式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FF3B55E7-CA47-2F02-0B7A-82B841062E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990600"/>
          </a:xfrm>
        </p:spPr>
        <p:txBody>
          <a:bodyPr/>
          <a:lstStyle/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定义3.10</a:t>
            </a:r>
            <a:r>
              <a:rPr lang="zh-CN" altLang="en-US" sz="2400" b="1"/>
              <a:t>  若</a:t>
            </a:r>
            <a:r>
              <a:rPr lang="en-US" altLang="zh-CN" sz="2400" b="1" i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</a:t>
            </a:r>
            <a:r>
              <a:rPr lang="en-US" altLang="zh-CN" sz="2400" b="1" i="1"/>
              <a:t>B</a:t>
            </a:r>
            <a:r>
              <a:rPr lang="zh-CN" altLang="en-US" sz="2400" b="1"/>
              <a:t>是永真式, 则称</a:t>
            </a:r>
            <a:r>
              <a:rPr lang="en-US" altLang="zh-CN" sz="2400" b="1" i="1"/>
              <a:t>A</a:t>
            </a:r>
            <a:r>
              <a:rPr lang="zh-CN" altLang="en-US" sz="2400" b="1"/>
              <a:t>与</a:t>
            </a:r>
            <a:r>
              <a:rPr lang="en-US" altLang="zh-CN" sz="2400" b="1" i="1"/>
              <a:t>B</a:t>
            </a:r>
            <a:r>
              <a:rPr lang="zh-CN" altLang="en-US" sz="2400" b="1"/>
              <a:t>是</a:t>
            </a:r>
            <a:r>
              <a:rPr lang="zh-CN" altLang="en-US" sz="2400" b="1">
                <a:solidFill>
                  <a:srgbClr val="FF3300"/>
                </a:solidFill>
              </a:rPr>
              <a:t>等值</a:t>
            </a:r>
            <a:r>
              <a:rPr lang="zh-CN" altLang="en-US" sz="2400" b="1"/>
              <a:t>的, 记作 </a:t>
            </a: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i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 i="1"/>
              <a:t>B, </a:t>
            </a:r>
            <a:r>
              <a:rPr lang="zh-CN" altLang="en-US" sz="2400" b="1"/>
              <a:t>并称</a:t>
            </a:r>
            <a:r>
              <a:rPr lang="en-US" altLang="zh-CN" sz="2400" b="1" i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 i="1"/>
              <a:t>B</a:t>
            </a:r>
            <a:r>
              <a:rPr lang="zh-CN" altLang="en-US" sz="2400" b="1"/>
              <a:t>为</a:t>
            </a:r>
            <a:r>
              <a:rPr lang="zh-CN" altLang="en-US" sz="2400" b="1">
                <a:solidFill>
                  <a:srgbClr val="FF3300"/>
                </a:solidFill>
              </a:rPr>
              <a:t>等值式</a:t>
            </a:r>
            <a:endParaRPr lang="zh-CN" altLang="en-US" sz="2400" b="1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2400" b="1"/>
          </a:p>
        </p:txBody>
      </p:sp>
      <p:sp>
        <p:nvSpPr>
          <p:cNvPr id="40965" name="Rectangle 4">
            <a:extLst>
              <a:ext uri="{FF2B5EF4-FFF2-40B4-BE49-F238E27FC236}">
                <a16:creationId xmlns:a16="http://schemas.microsoft.com/office/drawing/2014/main" id="{84EC016D-DFAD-5320-02C7-4E121FDF3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971800"/>
            <a:ext cx="7704137" cy="3429000"/>
          </a:xfrm>
          <a:prstGeom prst="rect">
            <a:avLst/>
          </a:prstGeom>
          <a:solidFill>
            <a:srgbClr val="FFFFCC"/>
          </a:solidFill>
          <a:ln w="28575">
            <a:solidFill>
              <a:srgbClr val="FF6600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  <a:endParaRPr lang="zh-CN" altLang="en-US" sz="2400" b="1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命题逻辑中基本等值式的代换实例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如，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</a:t>
            </a:r>
            <a:r>
              <a:rPr lang="en-US" altLang="zh-CN" sz="2400" b="1" i="1"/>
              <a:t>yG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 </a:t>
            </a:r>
            <a:r>
              <a:rPr lang="en-US" altLang="zh-CN" sz="2400" b="1">
                <a:sym typeface="Symbol" panose="05050102010706020507" pitchFamily="18" charset="2"/>
              </a:rPr>
              <a:t> </a:t>
            </a:r>
            <a:r>
              <a:rPr lang="en-US" altLang="zh-CN" sz="2400" b="1" i="1"/>
              <a:t>xF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</a:t>
            </a:r>
            <a:r>
              <a:rPr lang="en-US" altLang="zh-CN" sz="2400" b="1" i="1"/>
              <a:t>yG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        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/>
              <a:t>(</a:t>
            </a:r>
            <a:r>
              <a:rPr lang="en-US" altLang="zh-CN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</a:t>
            </a:r>
            <a:r>
              <a:rPr lang="en-US" altLang="zh-CN" sz="2400" b="1" i="1"/>
              <a:t>yG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)) </a:t>
            </a:r>
            <a:r>
              <a:rPr lang="en-US" altLang="zh-CN" sz="2400" b="1">
                <a:sym typeface="Symbol" panose="05050102010706020507" pitchFamily="18" charset="2"/>
              </a:rPr>
              <a:t> </a:t>
            </a:r>
            <a:r>
              <a:rPr lang="en-US" altLang="zh-CN" sz="2400" b="1" i="1"/>
              <a:t>xF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</a:t>
            </a:r>
            <a:r>
              <a:rPr lang="en-US" altLang="zh-CN" sz="2400" b="1" i="1"/>
              <a:t>yG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   </a:t>
            </a:r>
            <a:r>
              <a:rPr lang="zh-CN" altLang="en-US" sz="2400" b="1"/>
              <a:t>等 </a:t>
            </a:r>
          </a:p>
          <a:p>
            <a:pPr eaLnBrk="1" hangingPunct="1">
              <a:spcBef>
                <a:spcPct val="6000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ea typeface="黑体" panose="02010609060101010101" pitchFamily="49" charset="-122"/>
              </a:rPr>
              <a:t>消去量词等值式</a:t>
            </a:r>
            <a:r>
              <a:rPr lang="zh-CN" altLang="en-US" sz="2400" b="1"/>
              <a:t>        设</a:t>
            </a:r>
            <a:r>
              <a:rPr lang="en-US" altLang="zh-CN" sz="2400" b="1" i="1"/>
              <a:t>D</a:t>
            </a:r>
            <a:r>
              <a:rPr lang="en-US" altLang="zh-CN" sz="2400" b="1"/>
              <a:t>={</a:t>
            </a:r>
            <a:r>
              <a:rPr lang="en-US" altLang="zh-CN" sz="2400" b="1" i="1"/>
              <a:t>a</a:t>
            </a:r>
            <a:r>
              <a:rPr lang="en-US" altLang="zh-CN" sz="2400" b="1" baseline="-30000"/>
              <a:t>1</a:t>
            </a:r>
            <a:r>
              <a:rPr lang="en-US" altLang="zh-CN" sz="2400" b="1"/>
              <a:t>,</a:t>
            </a:r>
            <a:r>
              <a:rPr lang="en-US" altLang="zh-CN" sz="2400" b="1" i="1"/>
              <a:t>a</a:t>
            </a:r>
            <a:r>
              <a:rPr lang="en-US" altLang="zh-CN" sz="2400" b="1" baseline="-30000"/>
              <a:t>2</a:t>
            </a:r>
            <a:r>
              <a:rPr lang="en-US" altLang="zh-CN" sz="2400" b="1"/>
              <a:t>,…,</a:t>
            </a:r>
            <a:r>
              <a:rPr lang="en-US" altLang="zh-CN" sz="2400" b="1" i="1"/>
              <a:t>a</a:t>
            </a:r>
            <a:r>
              <a:rPr lang="en-US" altLang="zh-CN" sz="2400" b="1" i="1" baseline="-30000"/>
              <a:t>n</a:t>
            </a:r>
            <a:r>
              <a:rPr lang="en-US" altLang="zh-CN" sz="2400" b="1"/>
              <a:t>} 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     </a:t>
            </a:r>
            <a:r>
              <a:rPr lang="en-US" altLang="zh-CN" sz="2400" b="1" i="1"/>
              <a:t>xA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 baseline="-30000"/>
              <a:t>1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 baseline="-30000"/>
              <a:t>2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/>
              <a:t>…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 i="1" baseline="-30000"/>
              <a:t>n</a:t>
            </a:r>
            <a:r>
              <a:rPr lang="en-US" altLang="zh-CN" sz="2400" b="1"/>
              <a:t>) 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     </a:t>
            </a:r>
            <a:r>
              <a:rPr lang="en-US" altLang="zh-CN" sz="2400" b="1" i="1"/>
              <a:t>xA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 baseline="-30000"/>
              <a:t>1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 baseline="-30000"/>
              <a:t>2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400" b="1"/>
              <a:t>…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 i="1" baseline="-30000"/>
              <a:t>n</a:t>
            </a:r>
            <a:r>
              <a:rPr lang="en-US" altLang="zh-CN" sz="2400" b="1"/>
              <a:t>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>
            <a:extLst>
              <a:ext uri="{FF2B5EF4-FFF2-40B4-BE49-F238E27FC236}">
                <a16:creationId xmlns:a16="http://schemas.microsoft.com/office/drawing/2014/main" id="{34D5BE20-9761-BD75-B697-B334619E06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22C9AF-13DE-4A3F-8EAC-372D5FCA5AB3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zh-CN" altLang="en-US" sz="14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308B0E31-035D-A6CD-A5E8-4272D8876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基本等值式(续)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CA1E753D-957A-D3C0-D68C-6BFCBB7AEB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989138"/>
            <a:ext cx="7991475" cy="3725862"/>
          </a:xfrm>
          <a:solidFill>
            <a:srgbClr val="FFFFCC"/>
          </a:solidFill>
          <a:ln w="28575">
            <a:solidFill>
              <a:srgbClr val="FF6600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ea typeface="黑体" panose="02010609060101010101" pitchFamily="49" charset="-122"/>
              </a:rPr>
              <a:t>量词辖域收缩与扩张等值式</a:t>
            </a:r>
            <a:r>
              <a:rPr lang="zh-CN" altLang="en-US" sz="2400" b="1">
                <a:solidFill>
                  <a:srgbClr val="FF0000"/>
                </a:solidFill>
              </a:rPr>
              <a:t> </a:t>
            </a:r>
          </a:p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zh-CN" altLang="en-US" sz="2400" b="1"/>
              <a:t>设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zh-CN" altLang="en-US" sz="2400" b="1"/>
              <a:t>是含x约束出现的公式，B中不含x的出现</a:t>
            </a:r>
          </a:p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zh-CN" altLang="en-US" sz="2400" b="1"/>
              <a:t>关于全称量词的：</a:t>
            </a:r>
          </a:p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    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400" b="1" i="1"/>
              <a:t>B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</a:t>
            </a:r>
            <a:r>
              <a:rPr lang="en-US" altLang="zh-CN" sz="2400" b="1" i="1"/>
              <a:t>xA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400" b="1" i="1"/>
              <a:t>B</a:t>
            </a:r>
            <a:endParaRPr lang="en-US" altLang="zh-CN" sz="2400" b="1"/>
          </a:p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    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B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</a:t>
            </a:r>
            <a:r>
              <a:rPr lang="en-US" altLang="zh-CN" sz="2400" b="1" i="1"/>
              <a:t>xA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B</a:t>
            </a:r>
            <a:endParaRPr lang="en-US" altLang="zh-CN" sz="2400" b="1"/>
          </a:p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    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B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</a:t>
            </a:r>
            <a:r>
              <a:rPr lang="en-US" altLang="zh-CN" sz="2400" b="1" i="1"/>
              <a:t>xA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B</a:t>
            </a:r>
            <a:endParaRPr lang="en-US" altLang="zh-CN" sz="2400" b="1"/>
          </a:p>
          <a:p>
            <a:pPr eaLnBrk="1" hangingPunct="1">
              <a:spcBef>
                <a:spcPct val="40000"/>
              </a:spcBef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    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B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 i="1"/>
              <a:t>B</a:t>
            </a:r>
            <a:r>
              <a:rPr lang="en-US" altLang="zh-CN" sz="2400" b="1">
                <a:sym typeface="Symbol" panose="05050102010706020507" pitchFamily="18" charset="2"/>
              </a:rPr>
              <a:t></a:t>
            </a:r>
            <a:r>
              <a:rPr lang="en-US" altLang="zh-CN" sz="2400" b="1" i="1"/>
              <a:t>xA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</a:t>
            </a:r>
          </a:p>
        </p:txBody>
      </p:sp>
      <p:sp>
        <p:nvSpPr>
          <p:cNvPr id="41989" name="Text Box 4">
            <a:extLst>
              <a:ext uri="{FF2B5EF4-FFF2-40B4-BE49-F238E27FC236}">
                <a16:creationId xmlns:a16="http://schemas.microsoft.com/office/drawing/2014/main" id="{CB3231E9-4AC9-349F-B85F-1787CF96B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3048000"/>
            <a:ext cx="3887787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4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/>
              <a:t>关于存在量词的:</a:t>
            </a:r>
          </a:p>
          <a:p>
            <a:pPr algn="just" eaLnBrk="1" hangingPunct="1">
              <a:spcBef>
                <a:spcPct val="4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ym typeface="Symbol" panose="05050102010706020507" pitchFamily="18" charset="2"/>
              </a:rPr>
              <a:t>    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400" b="1" i="1"/>
              <a:t>B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</a:t>
            </a:r>
            <a:r>
              <a:rPr lang="en-US" altLang="zh-CN" sz="2400" b="1" i="1"/>
              <a:t>xA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400" b="1" i="1"/>
              <a:t>B</a:t>
            </a:r>
            <a:endParaRPr lang="en-US" altLang="zh-CN" sz="2400" b="1"/>
          </a:p>
          <a:p>
            <a:pPr algn="just" eaLnBrk="1" hangingPunct="1">
              <a:spcBef>
                <a:spcPct val="4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    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B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</a:t>
            </a:r>
            <a:r>
              <a:rPr lang="en-US" altLang="zh-CN" sz="2400" b="1" i="1"/>
              <a:t>xA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B</a:t>
            </a:r>
            <a:endParaRPr lang="en-US" altLang="zh-CN" sz="2400" b="1"/>
          </a:p>
          <a:p>
            <a:pPr algn="just" eaLnBrk="1" hangingPunct="1">
              <a:spcBef>
                <a:spcPct val="4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    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B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</a:t>
            </a:r>
            <a:r>
              <a:rPr lang="en-US" altLang="zh-CN" sz="2400" b="1" i="1"/>
              <a:t>xA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B</a:t>
            </a:r>
            <a:endParaRPr lang="en-US" altLang="zh-CN" sz="2400" b="1"/>
          </a:p>
          <a:p>
            <a:pPr eaLnBrk="1" hangingPunct="1">
              <a:spcBef>
                <a:spcPct val="4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    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B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 i="1"/>
              <a:t>B</a:t>
            </a:r>
            <a:r>
              <a:rPr lang="en-US" altLang="zh-CN" sz="2400" b="1">
                <a:sym typeface="Symbol" panose="05050102010706020507" pitchFamily="18" charset="2"/>
              </a:rPr>
              <a:t></a:t>
            </a:r>
            <a:r>
              <a:rPr lang="en-US" altLang="zh-CN" sz="2400" b="1" i="1"/>
              <a:t>xA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15644F36-DD30-C5C3-626B-9069338D95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C4DD87-D56C-4952-8E2B-31FF97997043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zh-CN" altLang="en-US" sz="14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5DEB8EBF-2136-A0CF-6FD9-C52B4AE8E0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基本等值式(续)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12A7B988-DDDD-BE43-CAA1-633CE6D07F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828800"/>
            <a:ext cx="7777162" cy="4419600"/>
          </a:xfrm>
          <a:solidFill>
            <a:srgbClr val="FFFFCC"/>
          </a:solidFill>
          <a:ln w="28575">
            <a:solidFill>
              <a:srgbClr val="FF6600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ea typeface="黑体" panose="02010609060101010101" pitchFamily="49" charset="-122"/>
              </a:rPr>
              <a:t>量词否定等值式</a:t>
            </a:r>
          </a:p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zh-CN" altLang="en-US" sz="2400" b="1"/>
              <a:t>设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zh-CN" altLang="en-US" sz="2400" b="1"/>
              <a:t>是含</a:t>
            </a:r>
            <a:r>
              <a:rPr lang="en-US" altLang="zh-CN" sz="2400" b="1" i="1"/>
              <a:t>x</a:t>
            </a:r>
            <a:r>
              <a:rPr lang="zh-CN" altLang="en-US" sz="2400" b="1"/>
              <a:t>约束出现的公式</a:t>
            </a:r>
          </a:p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    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 </a:t>
            </a:r>
            <a:r>
              <a:rPr lang="en-US" altLang="zh-CN" sz="2400" b="1" i="1"/>
              <a:t>x 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</a:p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     </a:t>
            </a:r>
            <a:r>
              <a:rPr lang="en-US" altLang="zh-CN" sz="2400" b="1" i="1"/>
              <a:t>xA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 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endParaRPr lang="zh-CN" altLang="en-US" sz="2400" b="1">
              <a:solidFill>
                <a:srgbClr val="003399"/>
              </a:solidFill>
              <a:ea typeface="黑体" panose="02010609060101010101" pitchFamily="49" charset="-122"/>
            </a:endParaRPr>
          </a:p>
          <a:p>
            <a:pPr algn="just" eaLnBrk="1" hangingPunct="1">
              <a:spcBef>
                <a:spcPct val="10000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ea typeface="黑体" panose="02010609060101010101" pitchFamily="49" charset="-122"/>
              </a:rPr>
              <a:t>量词分配等值式</a:t>
            </a:r>
            <a:r>
              <a:rPr lang="zh-CN" altLang="en-US" sz="2400" b="1">
                <a:solidFill>
                  <a:srgbClr val="FF0000"/>
                </a:solidFill>
              </a:rPr>
              <a:t> </a:t>
            </a:r>
            <a:r>
              <a:rPr lang="zh-CN" altLang="en-US" sz="2400" b="1"/>
              <a:t> </a:t>
            </a:r>
          </a:p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    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B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</a:t>
            </a:r>
            <a:r>
              <a:rPr lang="en-US" altLang="zh-CN" sz="2400" b="1">
                <a:sym typeface="Symbol" panose="05050102010706020507" pitchFamily="18" charset="2"/>
              </a:rPr>
              <a:t></a:t>
            </a:r>
            <a:r>
              <a:rPr lang="en-US" altLang="zh-CN" sz="2400" b="1" i="1"/>
              <a:t>xA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</a:t>
            </a:r>
            <a:r>
              <a:rPr lang="en-US" altLang="zh-CN" sz="2400" b="1" i="1"/>
              <a:t>xB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</a:p>
          <a:p>
            <a:pPr algn="just" eaLnBrk="1" hangingPunct="1">
              <a:spcBef>
                <a:spcPct val="40000"/>
              </a:spcBef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    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400" b="1" i="1"/>
              <a:t>B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</a:t>
            </a:r>
            <a:r>
              <a:rPr lang="en-US" altLang="zh-CN" sz="2400" b="1">
                <a:sym typeface="Symbol" panose="05050102010706020507" pitchFamily="18" charset="2"/>
              </a:rPr>
              <a:t></a:t>
            </a:r>
            <a:r>
              <a:rPr lang="en-US" altLang="zh-CN" sz="2400" b="1" i="1"/>
              <a:t>xA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</a:t>
            </a:r>
            <a:r>
              <a:rPr lang="en-US" altLang="zh-CN" sz="2400" b="1" i="1"/>
              <a:t>xB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</a:p>
          <a:p>
            <a:pPr eaLnBrk="1" hangingPunct="1">
              <a:spcBef>
                <a:spcPct val="40000"/>
              </a:spcBef>
              <a:buFontTx/>
              <a:buNone/>
            </a:pPr>
            <a:r>
              <a:rPr lang="zh-CN" altLang="en-US" sz="2400" b="1"/>
              <a:t>注意：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zh-CN" altLang="en-US" sz="2400" b="1"/>
              <a:t>对</a:t>
            </a:r>
            <a:r>
              <a:rPr lang="zh-CN" altLang="en-US" sz="2400" b="1">
                <a:sym typeface="Symbol" panose="05050102010706020507" pitchFamily="18" charset="2"/>
              </a:rPr>
              <a:t></a:t>
            </a:r>
            <a:r>
              <a:rPr lang="zh-CN" altLang="en-US" sz="2400" b="1"/>
              <a:t>，</a:t>
            </a:r>
            <a:r>
              <a:rPr lang="zh-CN" altLang="en-US" sz="2400" b="1">
                <a:sym typeface="Symbol" panose="05050102010706020507" pitchFamily="18" charset="2"/>
              </a:rPr>
              <a:t></a:t>
            </a:r>
            <a:r>
              <a:rPr lang="zh-CN" altLang="en-US" sz="2400" b="1"/>
              <a:t>对</a:t>
            </a:r>
            <a:r>
              <a:rPr lang="zh-CN" altLang="en-US" sz="2400" b="1">
                <a:sym typeface="Symbol" panose="05050102010706020507" pitchFamily="18" charset="2"/>
              </a:rPr>
              <a:t></a:t>
            </a:r>
            <a:r>
              <a:rPr lang="zh-CN" altLang="en-US" sz="2400" b="1"/>
              <a:t>无分配律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>
            <a:extLst>
              <a:ext uri="{FF2B5EF4-FFF2-40B4-BE49-F238E27FC236}">
                <a16:creationId xmlns:a16="http://schemas.microsoft.com/office/drawing/2014/main" id="{CF1C70F3-8B69-FABD-F542-E3111DA481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0847BB-DCE6-424A-B431-13C0043E71B4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zh-CN" altLang="en-US" sz="14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A0660AD5-1B8E-A767-94A4-230DAAAE7E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90600"/>
          </a:xfrm>
        </p:spPr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置换规则、换名规则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73E3FB52-51C0-49CF-DD30-B29C142CE9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747838"/>
            <a:ext cx="7772400" cy="28241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</a:rPr>
              <a:t>置换规则</a:t>
            </a:r>
            <a:r>
              <a:rPr lang="zh-CN" altLang="en-US" sz="2400" b="1"/>
              <a:t>   设</a:t>
            </a:r>
            <a:r>
              <a:rPr lang="en-US" altLang="zh-CN" sz="2400" b="1" i="1">
                <a:sym typeface="Symbol" panose="05050102010706020507" pitchFamily="18" charset="2"/>
              </a:rPr>
              <a:t></a:t>
            </a:r>
            <a:r>
              <a:rPr lang="zh-CN" altLang="en-US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/>
              <a:t>)</a:t>
            </a:r>
            <a:r>
              <a:rPr lang="zh-CN" altLang="en-US" sz="2400" b="1"/>
              <a:t>是含公式</a:t>
            </a:r>
            <a:r>
              <a:rPr lang="en-US" altLang="zh-CN" sz="2400" b="1" i="1"/>
              <a:t>A</a:t>
            </a:r>
            <a:r>
              <a:rPr lang="zh-CN" altLang="en-US" sz="2400" b="1"/>
              <a:t>的公式, </a:t>
            </a:r>
            <a:r>
              <a:rPr lang="en-US" altLang="zh-CN" sz="2400" b="1" i="1">
                <a:sym typeface="Symbol" panose="05050102010706020507" pitchFamily="18" charset="2"/>
              </a:rPr>
              <a:t></a:t>
            </a:r>
            <a:r>
              <a:rPr lang="zh-CN" altLang="en-US" sz="2400" b="1"/>
              <a:t>(</a:t>
            </a:r>
            <a:r>
              <a:rPr lang="en-US" altLang="zh-CN" sz="2400" b="1" i="1"/>
              <a:t>B</a:t>
            </a:r>
            <a:r>
              <a:rPr lang="en-US" altLang="zh-CN" sz="2400" b="1"/>
              <a:t>)</a:t>
            </a:r>
            <a:r>
              <a:rPr lang="zh-CN" altLang="en-US" sz="2400" b="1"/>
              <a:t>是用公式</a:t>
            </a:r>
            <a:r>
              <a:rPr lang="en-US" altLang="zh-CN" sz="2400" b="1" i="1"/>
              <a:t>B</a:t>
            </a:r>
            <a:r>
              <a:rPr lang="zh-CN" altLang="en-US" sz="2400" b="1"/>
              <a:t>取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/>
              <a:t>代</a:t>
            </a:r>
            <a:r>
              <a:rPr lang="en-US" altLang="zh-CN" sz="2400" b="1" i="1">
                <a:sym typeface="Symbol" panose="05050102010706020507" pitchFamily="18" charset="2"/>
              </a:rPr>
              <a:t></a:t>
            </a:r>
            <a:r>
              <a:rPr lang="zh-CN" altLang="en-US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/>
              <a:t>)</a:t>
            </a:r>
            <a:r>
              <a:rPr lang="zh-CN" altLang="en-US" sz="2400" b="1"/>
              <a:t>中的所有</a:t>
            </a:r>
            <a:r>
              <a:rPr lang="en-US" altLang="zh-CN" sz="2400" b="1" i="1"/>
              <a:t>A</a:t>
            </a:r>
            <a:r>
              <a:rPr lang="zh-CN" altLang="en-US" sz="2400" b="1"/>
              <a:t>得到的公式, 则</a:t>
            </a:r>
            <a:r>
              <a:rPr lang="en-US" altLang="zh-CN" sz="2400" b="1" i="1">
                <a:sym typeface="Symbol" panose="05050102010706020507" pitchFamily="18" charset="2"/>
              </a:rPr>
              <a:t></a:t>
            </a:r>
            <a:r>
              <a:rPr lang="zh-CN" altLang="en-US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 i="1">
                <a:sym typeface="Symbol" panose="05050102010706020507" pitchFamily="18" charset="2"/>
              </a:rPr>
              <a:t></a:t>
            </a:r>
            <a:r>
              <a:rPr lang="zh-CN" altLang="en-US" sz="2400" b="1"/>
              <a:t>(</a:t>
            </a:r>
            <a:r>
              <a:rPr lang="en-US" altLang="zh-CN" sz="2400" b="1" i="1"/>
              <a:t>B</a:t>
            </a:r>
            <a:r>
              <a:rPr lang="en-US" altLang="zh-CN" sz="2400" b="1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4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</a:rPr>
              <a:t>换名规则</a:t>
            </a:r>
            <a:r>
              <a:rPr lang="zh-CN" altLang="en-US" sz="2400" b="1"/>
              <a:t>   将公式</a:t>
            </a:r>
            <a:r>
              <a:rPr lang="en-US" altLang="zh-CN" sz="2400" b="1" i="1"/>
              <a:t>A</a:t>
            </a:r>
            <a:r>
              <a:rPr lang="zh-CN" altLang="en-US" sz="2400" b="1"/>
              <a:t>中某量词的指导变元及其在辖域内的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/>
              <a:t>所有约束出现改成该量词辖域内未曾出现的某个个体变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/>
              <a:t>项, 其余部分不变, 记所得公式为</a:t>
            </a:r>
            <a:r>
              <a:rPr lang="en-US" altLang="zh-CN" sz="2400" b="1" i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</a:t>
            </a:r>
            <a:r>
              <a:rPr lang="en-US" altLang="zh-CN" sz="2400" b="1"/>
              <a:t>, </a:t>
            </a:r>
            <a:r>
              <a:rPr lang="zh-CN" altLang="en-US" sz="2400" b="1"/>
              <a:t>则</a:t>
            </a:r>
            <a:r>
              <a:rPr lang="en-US" altLang="zh-CN" sz="2400" b="1" i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</a:t>
            </a:r>
            <a:r>
              <a:rPr lang="en-US" altLang="zh-CN" sz="2400" b="1" i="1"/>
              <a:t>A</a:t>
            </a:r>
            <a:r>
              <a:rPr lang="zh-CN" altLang="en-US" sz="2400" b="1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400"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FB994F57-085E-3FCF-5016-C4E7FF08BC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5F4DE4-04C8-4DEE-ACAF-2DCB5E426D47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zh-CN" altLang="en-US" sz="14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C51FE173-B01D-44D7-800F-FF844A79D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14400"/>
          </a:xfrm>
        </p:spPr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实例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F7A56235-928D-8B08-50C4-F9C725B40D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990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</a:rPr>
              <a:t>例1</a:t>
            </a:r>
            <a:r>
              <a:rPr lang="zh-CN" altLang="en-US" sz="2400" b="1"/>
              <a:t> 消去公式中既约束出现、又自由出现的个体变项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(1)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xF</a:t>
            </a:r>
            <a:r>
              <a:rPr lang="en-US" altLang="zh-CN" sz="2400" b="1"/>
              <a:t>(</a:t>
            </a:r>
            <a:r>
              <a:rPr lang="en-US" altLang="zh-CN" sz="2400" b="1" i="1"/>
              <a:t>x,y,z</a:t>
            </a:r>
            <a:r>
              <a:rPr lang="en-US" altLang="zh-CN" sz="2400" b="1"/>
              <a:t>) 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yG</a:t>
            </a:r>
            <a:r>
              <a:rPr lang="en-US" altLang="zh-CN" sz="2400" b="1"/>
              <a:t>(</a:t>
            </a:r>
            <a:r>
              <a:rPr lang="en-US" altLang="zh-CN" sz="2400" b="1" i="1"/>
              <a:t>x,y,z</a:t>
            </a:r>
            <a:r>
              <a:rPr lang="en-US" altLang="zh-CN" sz="2400" b="1"/>
              <a:t>)</a:t>
            </a:r>
            <a:endParaRPr lang="zh-CN" altLang="en-US" sz="2400" b="1"/>
          </a:p>
        </p:txBody>
      </p:sp>
      <p:sp>
        <p:nvSpPr>
          <p:cNvPr id="349188" name="Text Box 4">
            <a:extLst>
              <a:ext uri="{FF2B5EF4-FFF2-40B4-BE49-F238E27FC236}">
                <a16:creationId xmlns:a16="http://schemas.microsoft.com/office/drawing/2014/main" id="{BF8C33E0-DD97-8B2D-4C00-2D8A2FC98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438400"/>
            <a:ext cx="6477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zh-CN" altLang="en-US" sz="2400" b="1">
                <a:sym typeface="Symbol" panose="05050102010706020507" pitchFamily="18" charset="2"/>
              </a:rPr>
              <a:t> </a:t>
            </a:r>
            <a:r>
              <a:rPr lang="en-US" altLang="zh-CN" sz="2400" b="1" i="1"/>
              <a:t>uF</a:t>
            </a:r>
            <a:r>
              <a:rPr lang="en-US" altLang="zh-CN" sz="2400" b="1"/>
              <a:t>(</a:t>
            </a:r>
            <a:r>
              <a:rPr lang="en-US" altLang="zh-CN" sz="2400" b="1" i="1"/>
              <a:t>u,y,z</a:t>
            </a:r>
            <a:r>
              <a:rPr lang="en-US" altLang="zh-CN" sz="2400" b="1"/>
              <a:t>) 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yG</a:t>
            </a:r>
            <a:r>
              <a:rPr lang="en-US" altLang="zh-CN" sz="2400" b="1"/>
              <a:t>(</a:t>
            </a:r>
            <a:r>
              <a:rPr lang="en-US" altLang="zh-CN" sz="2400" b="1" i="1"/>
              <a:t>x,y,z</a:t>
            </a:r>
            <a:r>
              <a:rPr lang="en-US" altLang="zh-CN" sz="2400" b="1"/>
              <a:t>)               </a:t>
            </a:r>
            <a:r>
              <a:rPr lang="zh-CN" altLang="en-US" sz="2400" b="1"/>
              <a:t>换名规则</a:t>
            </a:r>
          </a:p>
        </p:txBody>
      </p:sp>
      <p:sp>
        <p:nvSpPr>
          <p:cNvPr id="349190" name="Rectangle 6">
            <a:extLst>
              <a:ext uri="{FF2B5EF4-FFF2-40B4-BE49-F238E27FC236}">
                <a16:creationId xmlns:a16="http://schemas.microsoft.com/office/drawing/2014/main" id="{4DE214AB-43E9-418D-FF04-01BF3D83E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0005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 b="1"/>
              <a:t>(2)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x,y</a:t>
            </a:r>
            <a:r>
              <a:rPr lang="en-US" altLang="zh-CN" sz="2400" b="1"/>
              <a:t>) 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yG</a:t>
            </a:r>
            <a:r>
              <a:rPr lang="en-US" altLang="zh-CN" sz="2400" b="1"/>
              <a:t>(</a:t>
            </a:r>
            <a:r>
              <a:rPr lang="en-US" altLang="zh-CN" sz="2400" b="1" i="1"/>
              <a:t>x,y,z</a:t>
            </a:r>
            <a:r>
              <a:rPr lang="en-US" altLang="zh-CN" sz="2400" b="1"/>
              <a:t>))</a:t>
            </a:r>
            <a:endParaRPr lang="zh-CN" altLang="en-US" sz="2400" b="1"/>
          </a:p>
        </p:txBody>
      </p:sp>
      <p:sp>
        <p:nvSpPr>
          <p:cNvPr id="349191" name="Text Box 7">
            <a:extLst>
              <a:ext uri="{FF2B5EF4-FFF2-40B4-BE49-F238E27FC236}">
                <a16:creationId xmlns:a16="http://schemas.microsoft.com/office/drawing/2014/main" id="{6DD86335-F131-81E4-2EC7-4EE2613FB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500563"/>
            <a:ext cx="723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zh-CN" altLang="en-US" sz="2400" b="1">
                <a:sym typeface="Symbol" panose="05050102010706020507" pitchFamily="18" charset="2"/>
              </a:rPr>
              <a:t> 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x,y</a:t>
            </a:r>
            <a:r>
              <a:rPr lang="en-US" altLang="zh-CN" sz="2400" b="1"/>
              <a:t>) 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tG</a:t>
            </a:r>
            <a:r>
              <a:rPr lang="en-US" altLang="zh-CN" sz="2400" b="1"/>
              <a:t>(</a:t>
            </a:r>
            <a:r>
              <a:rPr lang="en-US" altLang="zh-CN" sz="2400" b="1" i="1"/>
              <a:t>x,t,z</a:t>
            </a:r>
            <a:r>
              <a:rPr lang="en-US" altLang="zh-CN" sz="2400" b="1"/>
              <a:t>))                  </a:t>
            </a:r>
            <a:r>
              <a:rPr lang="zh-CN" altLang="en-US" sz="2400" b="1"/>
              <a:t>换名规则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0E1B45CF-8B5E-1D21-7438-41B1511A1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928938"/>
            <a:ext cx="6477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zh-CN" altLang="en-US" sz="2400" b="1">
                <a:sym typeface="Symbol" panose="05050102010706020507" pitchFamily="18" charset="2"/>
              </a:rPr>
              <a:t> </a:t>
            </a:r>
            <a:r>
              <a:rPr lang="en-US" altLang="zh-CN" sz="2400" b="1" i="1"/>
              <a:t>uF</a:t>
            </a:r>
            <a:r>
              <a:rPr lang="en-US" altLang="zh-CN" sz="2400" b="1"/>
              <a:t>(</a:t>
            </a:r>
            <a:r>
              <a:rPr lang="en-US" altLang="zh-CN" sz="2400" b="1" i="1"/>
              <a:t>u,y,z</a:t>
            </a:r>
            <a:r>
              <a:rPr lang="en-US" altLang="zh-CN" sz="2400" b="1"/>
              <a:t>) 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vG</a:t>
            </a:r>
            <a:r>
              <a:rPr lang="en-US" altLang="zh-CN" sz="2400" b="1"/>
              <a:t>(</a:t>
            </a:r>
            <a:r>
              <a:rPr lang="en-US" altLang="zh-CN" sz="2400" b="1" i="1"/>
              <a:t>x,v,z</a:t>
            </a:r>
            <a:r>
              <a:rPr lang="en-US" altLang="zh-CN" sz="2400" b="1"/>
              <a:t>)               </a:t>
            </a:r>
            <a:r>
              <a:rPr lang="zh-CN" altLang="en-US" sz="2400" b="1"/>
              <a:t>换名规则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9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9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9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9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8" grpId="0"/>
      <p:bldP spid="349190" grpId="0"/>
      <p:bldP spid="349191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>
            <a:extLst>
              <a:ext uri="{FF2B5EF4-FFF2-40B4-BE49-F238E27FC236}">
                <a16:creationId xmlns:a16="http://schemas.microsoft.com/office/drawing/2014/main" id="{5B50FA96-7BEE-D04A-EC09-89D8F95D0D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B60B1A-A488-4B1A-8377-1D87C2C7C124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zh-CN" altLang="en-US" sz="14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3583815-8EC1-D09E-2BE1-8A0F4382E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838200"/>
          </a:xfrm>
        </p:spPr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实例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AFDEE2E8-8F9E-3B59-565C-BC573D439E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914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</a:rPr>
              <a:t>例2</a:t>
            </a:r>
            <a:r>
              <a:rPr lang="zh-CN" altLang="en-US" sz="2400" b="1"/>
              <a:t> 设个体域</a:t>
            </a:r>
            <a:r>
              <a:rPr lang="en-US" altLang="zh-CN" sz="2400" b="1" i="1"/>
              <a:t>D</a:t>
            </a:r>
            <a:r>
              <a:rPr lang="en-US" altLang="zh-CN" sz="2400" b="1"/>
              <a:t>={</a:t>
            </a:r>
            <a:r>
              <a:rPr lang="en-US" altLang="zh-CN" sz="2400" b="1" i="1"/>
              <a:t>a,b,c</a:t>
            </a:r>
            <a:r>
              <a:rPr lang="en-US" altLang="zh-CN" sz="2400" b="1"/>
              <a:t>}, </a:t>
            </a:r>
            <a:r>
              <a:rPr lang="zh-CN" altLang="en-US" sz="2400" b="1"/>
              <a:t>消去下面公式中的量词: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(1)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</a:t>
            </a:r>
            <a:endParaRPr lang="zh-CN" altLang="en-US" sz="2400" b="1"/>
          </a:p>
        </p:txBody>
      </p:sp>
      <p:sp>
        <p:nvSpPr>
          <p:cNvPr id="350212" name="Text Box 4">
            <a:extLst>
              <a:ext uri="{FF2B5EF4-FFF2-40B4-BE49-F238E27FC236}">
                <a16:creationId xmlns:a16="http://schemas.microsoft.com/office/drawing/2014/main" id="{D75F5A27-260C-4CDB-4462-FF4E6F8BD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438400"/>
            <a:ext cx="723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zh-CN" altLang="en-US" sz="2400" b="1">
                <a:sym typeface="Symbol" panose="05050102010706020507" pitchFamily="18" charset="2"/>
              </a:rPr>
              <a:t> 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/>
              <a:t>))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b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b</a:t>
            </a:r>
            <a:r>
              <a:rPr lang="en-US" altLang="zh-CN" sz="2400" b="1"/>
              <a:t>))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c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c</a:t>
            </a:r>
            <a:r>
              <a:rPr lang="en-US" altLang="zh-CN" sz="2400" b="1"/>
              <a:t>))</a:t>
            </a:r>
            <a:endParaRPr lang="zh-CN" altLang="en-US" sz="2400" b="1">
              <a:sym typeface="Symbol" panose="05050102010706020507" pitchFamily="18" charset="2"/>
            </a:endParaRPr>
          </a:p>
        </p:txBody>
      </p:sp>
      <p:sp>
        <p:nvSpPr>
          <p:cNvPr id="350213" name="Text Box 5">
            <a:extLst>
              <a:ext uri="{FF2B5EF4-FFF2-40B4-BE49-F238E27FC236}">
                <a16:creationId xmlns:a16="http://schemas.microsoft.com/office/drawing/2014/main" id="{0D3B8BEE-65A3-1C55-E03F-9DAA9327F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0480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 b="1"/>
              <a:t>(2)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</a:t>
            </a:r>
            <a:r>
              <a:rPr lang="en-US" altLang="zh-CN" sz="2400" b="1" i="1">
                <a:sym typeface="Symbol" panose="05050102010706020507" pitchFamily="18" charset="2"/>
              </a:rPr>
              <a:t>y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))</a:t>
            </a:r>
            <a:endParaRPr lang="zh-CN" altLang="en-US" sz="2400" b="1"/>
          </a:p>
        </p:txBody>
      </p:sp>
      <p:sp>
        <p:nvSpPr>
          <p:cNvPr id="350214" name="Text Box 6">
            <a:extLst>
              <a:ext uri="{FF2B5EF4-FFF2-40B4-BE49-F238E27FC236}">
                <a16:creationId xmlns:a16="http://schemas.microsoft.com/office/drawing/2014/main" id="{4DD52491-B26D-FF5F-F33A-221E4E552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524250"/>
            <a:ext cx="72390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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</a:t>
            </a:r>
            <a:r>
              <a:rPr lang="en-US" altLang="zh-CN" sz="2400" b="1" i="1">
                <a:sym typeface="Symbol" panose="05050102010706020507" pitchFamily="18" charset="2"/>
              </a:rPr>
              <a:t>y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                                   </a:t>
            </a:r>
            <a:r>
              <a:rPr lang="zh-CN" altLang="en-US" sz="2400" b="1"/>
              <a:t>量词辖域收缩</a:t>
            </a:r>
            <a:endParaRPr lang="zh-CN" altLang="en-US" sz="2400" b="1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(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b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c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)(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a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b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c</a:t>
            </a:r>
            <a:r>
              <a:rPr lang="en-US" altLang="zh-CN" sz="2400" b="1"/>
              <a:t>))</a:t>
            </a:r>
            <a:endParaRPr lang="zh-CN" altLang="en-US" sz="2400" b="1"/>
          </a:p>
        </p:txBody>
      </p:sp>
      <p:sp>
        <p:nvSpPr>
          <p:cNvPr id="350215" name="Text Box 7">
            <a:extLst>
              <a:ext uri="{FF2B5EF4-FFF2-40B4-BE49-F238E27FC236}">
                <a16:creationId xmlns:a16="http://schemas.microsoft.com/office/drawing/2014/main" id="{3A54CEC3-1799-1180-FCC4-CB6FAD1F2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029200"/>
            <a:ext cx="723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 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x,a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x,b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x,c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)</a:t>
            </a:r>
            <a:endParaRPr lang="zh-CN" altLang="en-US" sz="2400" b="1">
              <a:sym typeface="Symbol" panose="05050102010706020507" pitchFamily="18" charset="2"/>
            </a:endParaRPr>
          </a:p>
        </p:txBody>
      </p:sp>
      <p:sp>
        <p:nvSpPr>
          <p:cNvPr id="350216" name="Text Box 8">
            <a:extLst>
              <a:ext uri="{FF2B5EF4-FFF2-40B4-BE49-F238E27FC236}">
                <a16:creationId xmlns:a16="http://schemas.microsoft.com/office/drawing/2014/main" id="{BE0CFA8A-F930-A25F-8342-B86607FCD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5720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 b="1"/>
              <a:t>(3) </a:t>
            </a:r>
            <a:r>
              <a:rPr lang="en-US" altLang="zh-CN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>
                <a:sym typeface="Symbol" panose="05050102010706020507" pitchFamily="18" charset="2"/>
              </a:rPr>
              <a:t>x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yF</a:t>
            </a:r>
            <a:r>
              <a:rPr lang="en-US" altLang="zh-CN" sz="2400" b="1"/>
              <a:t>(</a:t>
            </a:r>
            <a:r>
              <a:rPr lang="en-US" altLang="zh-CN" sz="2400" b="1" i="1"/>
              <a:t>x,y</a:t>
            </a:r>
            <a:r>
              <a:rPr lang="en-US" altLang="zh-CN" sz="2400" b="1"/>
              <a:t>)</a:t>
            </a:r>
            <a:endParaRPr lang="zh-CN" altLang="en-US" sz="2400" b="1"/>
          </a:p>
        </p:txBody>
      </p:sp>
      <p:sp>
        <p:nvSpPr>
          <p:cNvPr id="350217" name="Text Box 9">
            <a:extLst>
              <a:ext uri="{FF2B5EF4-FFF2-40B4-BE49-F238E27FC236}">
                <a16:creationId xmlns:a16="http://schemas.microsoft.com/office/drawing/2014/main" id="{EB4E985C-8968-0BC8-1BAF-22FEE87E3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505450"/>
            <a:ext cx="72390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 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a,a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a,b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a,c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)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b,a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b,b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b,c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)</a:t>
            </a:r>
          </a:p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     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c,a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c,b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c,c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)</a:t>
            </a:r>
            <a:endParaRPr lang="zh-CN" altLang="en-US" sz="2400" b="1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0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0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0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0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0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0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2" grpId="0"/>
      <p:bldP spid="350213" grpId="0"/>
      <p:bldP spid="350214" grpId="0"/>
      <p:bldP spid="350215" grpId="0"/>
      <p:bldP spid="350216" grpId="0"/>
      <p:bldP spid="35021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>
            <a:extLst>
              <a:ext uri="{FF2B5EF4-FFF2-40B4-BE49-F238E27FC236}">
                <a16:creationId xmlns:a16="http://schemas.microsoft.com/office/drawing/2014/main" id="{709F019C-462B-1C0E-A65B-F532DFF9F7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492872-5276-4184-832B-49447EF2197A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zh-CN" altLang="en-US" sz="14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4BE45396-B2AE-9BC2-1B6D-68F5290014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实例</a:t>
            </a:r>
          </a:p>
        </p:txBody>
      </p:sp>
      <p:sp>
        <p:nvSpPr>
          <p:cNvPr id="351235" name="Text Box 3">
            <a:extLst>
              <a:ext uri="{FF2B5EF4-FFF2-40B4-BE49-F238E27FC236}">
                <a16:creationId xmlns:a16="http://schemas.microsoft.com/office/drawing/2014/main" id="{524ACBA9-BB1B-6C31-BF56-37B4BB705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29000"/>
            <a:ext cx="716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解  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(2))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G</a:t>
            </a:r>
            <a:r>
              <a:rPr lang="en-US" altLang="zh-CN" sz="2400" b="1"/>
              <a:t>(2</a:t>
            </a:r>
            <a:r>
              <a:rPr lang="en-US" altLang="zh-CN" sz="2400" b="1" i="1"/>
              <a:t>, f</a:t>
            </a:r>
            <a:r>
              <a:rPr lang="en-US" altLang="zh-CN" sz="2400" b="1"/>
              <a:t>(2)))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(3))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G</a:t>
            </a:r>
            <a:r>
              <a:rPr lang="en-US" altLang="zh-CN" sz="2400" b="1"/>
              <a:t>(3</a:t>
            </a:r>
            <a:r>
              <a:rPr lang="en-US" altLang="zh-CN" sz="2400" b="1" i="1"/>
              <a:t>, f</a:t>
            </a:r>
            <a:r>
              <a:rPr lang="en-US" altLang="zh-CN" sz="2400" b="1"/>
              <a:t>(3)))</a:t>
            </a:r>
            <a:endParaRPr lang="zh-CN" altLang="en-US" sz="2400" b="1"/>
          </a:p>
        </p:txBody>
      </p:sp>
      <p:grpSp>
        <p:nvGrpSpPr>
          <p:cNvPr id="47109" name="Group 4">
            <a:extLst>
              <a:ext uri="{FF2B5EF4-FFF2-40B4-BE49-F238E27FC236}">
                <a16:creationId xmlns:a16="http://schemas.microsoft.com/office/drawing/2014/main" id="{DE244307-A00E-F2DD-27F7-DC998130F1F5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676400"/>
            <a:ext cx="7924800" cy="1771650"/>
            <a:chOff x="384" y="1056"/>
            <a:chExt cx="4992" cy="1116"/>
          </a:xfrm>
        </p:grpSpPr>
        <p:sp>
          <p:nvSpPr>
            <p:cNvPr id="47115" name="Text Box 5">
              <a:extLst>
                <a:ext uri="{FF2B5EF4-FFF2-40B4-BE49-F238E27FC236}">
                  <a16:creationId xmlns:a16="http://schemas.microsoft.com/office/drawing/2014/main" id="{B381FF5D-A8BE-F16D-E397-51C153D22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056"/>
              <a:ext cx="4992" cy="1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400" b="1">
                  <a:solidFill>
                    <a:srgbClr val="800000"/>
                  </a:solidFill>
                </a:rPr>
                <a:t>例3</a:t>
              </a:r>
              <a:r>
                <a:rPr lang="zh-CN" altLang="en-US" sz="2400" b="1"/>
                <a:t> 给定解释</a:t>
              </a:r>
              <a:r>
                <a:rPr lang="en-US" altLang="zh-CN" sz="2400" b="1" i="1"/>
                <a:t>I</a:t>
              </a:r>
              <a:r>
                <a:rPr lang="en-US" altLang="zh-CN" sz="2400" b="1"/>
                <a:t>: (a) </a:t>
              </a:r>
              <a:r>
                <a:rPr lang="en-US" altLang="zh-CN" sz="2400" b="1" i="1"/>
                <a:t>D</a:t>
              </a:r>
              <a:r>
                <a:rPr lang="en-US" altLang="zh-CN" sz="2400" b="1"/>
                <a:t>={2,3}, (b)   </a:t>
              </a:r>
            </a:p>
            <a:p>
              <a:pPr eaLnBrk="1" hangingPunct="1">
                <a:buFontTx/>
                <a:buNone/>
              </a:pPr>
              <a:r>
                <a:rPr lang="en-US" altLang="zh-CN" sz="2400" b="1"/>
                <a:t>(c)          :</a:t>
              </a:r>
              <a:r>
                <a:rPr lang="en-US" altLang="zh-CN" sz="2400" b="1" i="1"/>
                <a:t>x</a:t>
              </a:r>
              <a:r>
                <a:rPr lang="zh-CN" altLang="en-US" sz="2400" b="1"/>
                <a:t>是奇数,               : </a:t>
              </a:r>
              <a:r>
                <a:rPr lang="en-US" altLang="zh-CN" sz="2400" b="1" i="1"/>
                <a:t>x</a:t>
              </a:r>
              <a:r>
                <a:rPr lang="en-US" altLang="zh-CN" sz="2400" b="1"/>
                <a:t>=2 </a:t>
              </a:r>
              <a:r>
                <a:rPr lang="en-US" altLang="zh-CN" sz="2400" b="1">
                  <a:sym typeface="Symbol" panose="05050102010706020507" pitchFamily="18" charset="2"/>
                </a:rPr>
                <a:t> </a:t>
              </a:r>
              <a:r>
                <a:rPr lang="en-US" altLang="zh-CN" sz="2400" b="1" i="1"/>
                <a:t>y</a:t>
              </a:r>
              <a:r>
                <a:rPr lang="en-US" altLang="zh-CN" sz="2400" b="1"/>
                <a:t>=2,               : </a:t>
              </a:r>
              <a:r>
                <a:rPr lang="en-US" altLang="zh-CN" sz="2400" b="1" i="1"/>
                <a:t>x=y.</a:t>
              </a:r>
            </a:p>
            <a:p>
              <a:pPr eaLnBrk="1" hangingPunct="1">
                <a:buFontTx/>
                <a:buNone/>
              </a:pPr>
              <a:r>
                <a:rPr lang="zh-CN" altLang="en-US" sz="2400" b="1"/>
                <a:t>在</a:t>
              </a:r>
              <a:r>
                <a:rPr lang="en-US" altLang="zh-CN" sz="2400" b="1" i="1"/>
                <a:t>I</a:t>
              </a:r>
              <a:r>
                <a:rPr lang="zh-CN" altLang="en-US" sz="2400" b="1"/>
                <a:t>下求下列各式的真值:</a:t>
              </a:r>
            </a:p>
            <a:p>
              <a:pPr eaLnBrk="1" hangingPunct="1">
                <a:buFontTx/>
                <a:buNone/>
              </a:pPr>
              <a:r>
                <a:rPr lang="zh-CN" altLang="en-US" sz="2400" b="1"/>
                <a:t>(1) </a:t>
              </a:r>
              <a:r>
                <a:rPr lang="en-US" altLang="zh-CN" sz="2400" b="1">
                  <a:sym typeface="Symbol" panose="05050102010706020507" pitchFamily="18" charset="2"/>
                </a:rPr>
                <a:t></a:t>
              </a:r>
              <a:r>
                <a:rPr lang="en-US" altLang="zh-CN" sz="2400" b="1" i="1"/>
                <a:t>x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F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f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x</a:t>
              </a:r>
              <a:r>
                <a:rPr lang="en-US" altLang="zh-CN" sz="2400" b="1"/>
                <a:t>))</a:t>
              </a:r>
              <a:r>
                <a:rPr lang="en-US" altLang="zh-CN" sz="2400" b="1">
                  <a:sym typeface="Symbol" panose="05050102010706020507" pitchFamily="18" charset="2"/>
                </a:rPr>
                <a:t></a:t>
              </a:r>
              <a:r>
                <a:rPr lang="en-US" altLang="zh-CN" sz="2400" b="1" i="1"/>
                <a:t>G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x, f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x</a:t>
              </a:r>
              <a:r>
                <a:rPr lang="en-US" altLang="zh-CN" sz="2400" b="1"/>
                <a:t>)))</a:t>
              </a:r>
              <a:r>
                <a:rPr lang="zh-CN" altLang="en-US" sz="2400" b="1"/>
                <a:t>  </a:t>
              </a:r>
            </a:p>
          </p:txBody>
        </p:sp>
        <p:graphicFrame>
          <p:nvGraphicFramePr>
            <p:cNvPr id="47116" name="Object 6">
              <a:extLst>
                <a:ext uri="{FF2B5EF4-FFF2-40B4-BE49-F238E27FC236}">
                  <a16:creationId xmlns:a16="http://schemas.microsoft.com/office/drawing/2014/main" id="{F7A1E612-AA41-CBF7-4382-62561AA76F0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024" y="1056"/>
            <a:ext cx="1776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6" name="Equation" r:id="rId3" imgW="1422400" imgH="228600" progId="Equation.DSMT4">
                    <p:embed/>
                  </p:oleObj>
                </mc:Choice>
                <mc:Fallback>
                  <p:oleObj name="Equation" r:id="rId3" imgW="1422400" imgH="228600" progId="Equation.DSMT4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1056"/>
                          <a:ext cx="1776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7" name="Object 7">
              <a:extLst>
                <a:ext uri="{FF2B5EF4-FFF2-40B4-BE49-F238E27FC236}">
                  <a16:creationId xmlns:a16="http://schemas.microsoft.com/office/drawing/2014/main" id="{4A0C473B-F559-3BF7-9836-6B659C2C576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974" y="1344"/>
            <a:ext cx="666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7" name="Equation" r:id="rId5" imgW="533169" imgH="228501" progId="Equation.DSMT4">
                    <p:embed/>
                  </p:oleObj>
                </mc:Choice>
                <mc:Fallback>
                  <p:oleObj name="Equation" r:id="rId5" imgW="533169" imgH="228501" progId="Equation.DSMT4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4" y="1344"/>
                          <a:ext cx="666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8" name="Object 8">
              <a:extLst>
                <a:ext uri="{FF2B5EF4-FFF2-40B4-BE49-F238E27FC236}">
                  <a16:creationId xmlns:a16="http://schemas.microsoft.com/office/drawing/2014/main" id="{17BEBE13-36AC-B4DF-04D6-A4396BD6185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70" y="1344"/>
            <a:ext cx="65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8" name="Equation" r:id="rId7" imgW="520474" imgH="228501" progId="Equation.DSMT4">
                    <p:embed/>
                  </p:oleObj>
                </mc:Choice>
                <mc:Fallback>
                  <p:oleObj name="Equation" r:id="rId7" imgW="520474" imgH="228501" progId="Equation.DSMT4">
                    <p:embed/>
                    <p:pic>
                      <p:nvPicPr>
                        <p:cNvPr id="0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0" y="1344"/>
                          <a:ext cx="650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9" name="Object 9">
              <a:extLst>
                <a:ext uri="{FF2B5EF4-FFF2-40B4-BE49-F238E27FC236}">
                  <a16:creationId xmlns:a16="http://schemas.microsoft.com/office/drawing/2014/main" id="{491D92A2-05C2-C4CD-17C9-BA8896B6CC8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672" y="1344"/>
            <a:ext cx="475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9" name="Equation" r:id="rId9" imgW="380835" imgH="228501" progId="Equation.DSMT4">
                    <p:embed/>
                  </p:oleObj>
                </mc:Choice>
                <mc:Fallback>
                  <p:oleObj name="Equation" r:id="rId9" imgW="380835" imgH="228501" progId="Equation.DSMT4">
                    <p:embed/>
                    <p:pic>
                      <p:nvPicPr>
                        <p:cNvPr id="0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1344"/>
                          <a:ext cx="475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1242" name="Text Box 10">
            <a:extLst>
              <a:ext uri="{FF2B5EF4-FFF2-40B4-BE49-F238E27FC236}">
                <a16:creationId xmlns:a16="http://schemas.microsoft.com/office/drawing/2014/main" id="{A7550D26-FD68-FAEA-6D7E-44CB3E969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5720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(2) </a:t>
            </a:r>
            <a:r>
              <a:rPr lang="en-US" altLang="zh-CN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x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yL</a:t>
            </a:r>
            <a:r>
              <a:rPr lang="en-US" altLang="zh-CN" sz="2400" b="1"/>
              <a:t>(</a:t>
            </a:r>
            <a:r>
              <a:rPr lang="en-US" altLang="zh-CN" sz="2400" b="1" i="1"/>
              <a:t>x,y</a:t>
            </a:r>
            <a:r>
              <a:rPr lang="en-US" altLang="zh-CN" sz="2400" b="1"/>
              <a:t>)</a:t>
            </a:r>
            <a:endParaRPr lang="zh-CN" altLang="en-US" sz="2400" b="1"/>
          </a:p>
        </p:txBody>
      </p:sp>
      <p:sp>
        <p:nvSpPr>
          <p:cNvPr id="351243" name="Text Box 11">
            <a:extLst>
              <a:ext uri="{FF2B5EF4-FFF2-40B4-BE49-F238E27FC236}">
                <a16:creationId xmlns:a16="http://schemas.microsoft.com/office/drawing/2014/main" id="{338DD2F2-EBC0-DD2D-B426-B4ADD71E8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862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 </a:t>
            </a:r>
            <a:r>
              <a:rPr lang="en-US" altLang="zh-CN" sz="2400" b="1"/>
              <a:t>(1</a:t>
            </a:r>
            <a:r>
              <a:rPr lang="en-US" altLang="zh-CN" sz="2400" b="1">
                <a:sym typeface="Symbol" panose="05050102010706020507" pitchFamily="18" charset="2"/>
              </a:rPr>
              <a:t>1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400" b="1"/>
              <a:t>(0</a:t>
            </a:r>
            <a:r>
              <a:rPr lang="en-US" altLang="zh-CN" sz="2400" b="1">
                <a:sym typeface="Symbol" panose="05050102010706020507" pitchFamily="18" charset="2"/>
              </a:rPr>
              <a:t>1</a:t>
            </a:r>
            <a:r>
              <a:rPr lang="en-US" altLang="zh-CN" sz="2400" b="1"/>
              <a:t>) 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 1</a:t>
            </a:r>
            <a:endParaRPr lang="zh-CN" altLang="en-US" sz="2400" b="1"/>
          </a:p>
        </p:txBody>
      </p:sp>
      <p:sp>
        <p:nvSpPr>
          <p:cNvPr id="351244" name="Text Box 12">
            <a:extLst>
              <a:ext uri="{FF2B5EF4-FFF2-40B4-BE49-F238E27FC236}">
                <a16:creationId xmlns:a16="http://schemas.microsoft.com/office/drawing/2014/main" id="{EA503F27-1275-CD14-AA29-8F60D8CEE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953000"/>
            <a:ext cx="358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解  </a:t>
            </a:r>
            <a:r>
              <a:rPr lang="en-US" altLang="zh-CN" sz="2400" b="1" i="1"/>
              <a:t>yL</a:t>
            </a:r>
            <a:r>
              <a:rPr lang="en-US" altLang="zh-CN" sz="2400" b="1"/>
              <a:t>(2</a:t>
            </a:r>
            <a:r>
              <a:rPr lang="en-US" altLang="zh-CN" sz="2400" b="1" i="1"/>
              <a:t>,y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yL</a:t>
            </a:r>
            <a:r>
              <a:rPr lang="en-US" altLang="zh-CN" sz="2400" b="1"/>
              <a:t>(3</a:t>
            </a:r>
            <a:r>
              <a:rPr lang="en-US" altLang="zh-CN" sz="2400" b="1" i="1"/>
              <a:t>,y</a:t>
            </a:r>
            <a:r>
              <a:rPr lang="en-US" altLang="zh-CN" sz="2400" b="1"/>
              <a:t>)</a:t>
            </a:r>
            <a:endParaRPr lang="zh-CN" altLang="en-US" sz="2400" b="1"/>
          </a:p>
        </p:txBody>
      </p:sp>
      <p:sp>
        <p:nvSpPr>
          <p:cNvPr id="351245" name="Text Box 13">
            <a:extLst>
              <a:ext uri="{FF2B5EF4-FFF2-40B4-BE49-F238E27FC236}">
                <a16:creationId xmlns:a16="http://schemas.microsoft.com/office/drawing/2014/main" id="{0C0A7793-F8E2-4F6B-A832-CF9C85BC6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4102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 (</a:t>
            </a:r>
            <a:r>
              <a:rPr lang="en-US" altLang="zh-CN" sz="2400" b="1" i="1"/>
              <a:t>L</a:t>
            </a:r>
            <a:r>
              <a:rPr lang="en-US" altLang="zh-CN" sz="2400" b="1"/>
              <a:t>(2,2)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L</a:t>
            </a:r>
            <a:r>
              <a:rPr lang="en-US" altLang="zh-CN" sz="2400" b="1"/>
              <a:t>(2,3))</a:t>
            </a:r>
            <a:r>
              <a:rPr lang="en-US" altLang="zh-CN" sz="2400" b="1">
                <a:sym typeface="Symbol" panose="05050102010706020507" pitchFamily="18" charset="2"/>
              </a:rPr>
              <a:t>(</a:t>
            </a:r>
            <a:r>
              <a:rPr lang="en-US" altLang="zh-CN" sz="2400" b="1" i="1"/>
              <a:t>L</a:t>
            </a:r>
            <a:r>
              <a:rPr lang="en-US" altLang="zh-CN" sz="2400" b="1"/>
              <a:t>(3,2)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L</a:t>
            </a:r>
            <a:r>
              <a:rPr lang="en-US" altLang="zh-CN" sz="2400" b="1"/>
              <a:t>(3,3)) </a:t>
            </a:r>
            <a:endParaRPr lang="zh-CN" altLang="en-US" sz="2400" b="1"/>
          </a:p>
        </p:txBody>
      </p:sp>
      <p:sp>
        <p:nvSpPr>
          <p:cNvPr id="351246" name="Text Box 14">
            <a:extLst>
              <a:ext uri="{FF2B5EF4-FFF2-40B4-BE49-F238E27FC236}">
                <a16:creationId xmlns:a16="http://schemas.microsoft.com/office/drawing/2014/main" id="{86D499B2-B144-1061-AB7D-4D5336E8A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8674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 (10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(01</a:t>
            </a:r>
            <a:r>
              <a:rPr lang="en-US" altLang="zh-CN" sz="2400" b="1"/>
              <a:t>) </a:t>
            </a:r>
            <a:r>
              <a:rPr lang="en-US" altLang="zh-CN" sz="2400" b="1">
                <a:sym typeface="Symbol" panose="05050102010706020507" pitchFamily="18" charset="2"/>
              </a:rPr>
              <a:t> 0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1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1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1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1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1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1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1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1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1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1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5" grpId="0"/>
      <p:bldP spid="351242" grpId="0"/>
      <p:bldP spid="351243" grpId="0"/>
      <p:bldP spid="351244" grpId="0"/>
      <p:bldP spid="351245" grpId="0"/>
      <p:bldP spid="35124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>
            <a:extLst>
              <a:ext uri="{FF2B5EF4-FFF2-40B4-BE49-F238E27FC236}">
                <a16:creationId xmlns:a16="http://schemas.microsoft.com/office/drawing/2014/main" id="{E67CCA29-BC8F-1D5D-9BFD-61235C1BBF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DBC745-1F8F-4476-9F3B-0CD22A61F45D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zh-CN" altLang="en-US" sz="14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2B0188BE-AF96-992F-0C9A-E64C12CB49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实例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C0AB15C7-4EEE-5CD3-6B23-0920BCF277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919288"/>
            <a:ext cx="7772400" cy="990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</a:rPr>
              <a:t>例4</a:t>
            </a:r>
            <a:r>
              <a:rPr lang="zh-CN" altLang="en-US" sz="2400" b="1"/>
              <a:t> 证明下列等值式:</a:t>
            </a:r>
          </a:p>
          <a:p>
            <a:pPr eaLnBrk="1" hangingPunct="1"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      </a:t>
            </a:r>
            <a:r>
              <a:rPr lang="zh-CN" altLang="en-US" sz="2400" b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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M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 </a:t>
            </a:r>
            <a:r>
              <a:rPr lang="en-US" altLang="zh-CN" sz="2400" b="1">
                <a:sym typeface="Symbol" panose="05050102010706020507" pitchFamily="18" charset="2"/>
              </a:rPr>
              <a:t>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M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 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</a:t>
            </a:r>
            <a:endParaRPr lang="zh-CN" altLang="en-US" sz="2400" b="1"/>
          </a:p>
        </p:txBody>
      </p:sp>
      <p:sp>
        <p:nvSpPr>
          <p:cNvPr id="48133" name="Text Box 4">
            <a:extLst>
              <a:ext uri="{FF2B5EF4-FFF2-40B4-BE49-F238E27FC236}">
                <a16:creationId xmlns:a16="http://schemas.microsoft.com/office/drawing/2014/main" id="{C76E39A6-5B89-22FA-E0EE-0602FF947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909888"/>
            <a:ext cx="800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证  左边</a:t>
            </a:r>
            <a:r>
              <a:rPr lang="en-US" altLang="zh-CN" sz="2400" b="1"/>
              <a:t> </a:t>
            </a:r>
            <a:r>
              <a:rPr lang="en-US" altLang="zh-CN" sz="2400" b="1">
                <a:sym typeface="Symbol" panose="05050102010706020507" pitchFamily="18" charset="2"/>
              </a:rPr>
              <a:t>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 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400" b="1"/>
              <a:t>(</a:t>
            </a:r>
            <a:r>
              <a:rPr lang="en-US" altLang="zh-CN" sz="2400" b="1" i="1"/>
              <a:t>M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      </a:t>
            </a:r>
            <a:r>
              <a:rPr lang="zh-CN" altLang="en-US" sz="2400" b="1"/>
              <a:t>量词否定等值式</a:t>
            </a:r>
          </a:p>
        </p:txBody>
      </p:sp>
      <p:sp>
        <p:nvSpPr>
          <p:cNvPr id="48134" name="Text Box 5">
            <a:extLst>
              <a:ext uri="{FF2B5EF4-FFF2-40B4-BE49-F238E27FC236}">
                <a16:creationId xmlns:a16="http://schemas.microsoft.com/office/drawing/2014/main" id="{C5176236-0581-79DF-1F60-0F56D04B1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367088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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400" b="1" i="1"/>
              <a:t>M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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</a:t>
            </a:r>
            <a:endParaRPr lang="zh-CN" altLang="en-US" sz="2400" b="1"/>
          </a:p>
        </p:txBody>
      </p:sp>
      <p:sp>
        <p:nvSpPr>
          <p:cNvPr id="48135" name="Text Box 6">
            <a:extLst>
              <a:ext uri="{FF2B5EF4-FFF2-40B4-BE49-F238E27FC236}">
                <a16:creationId xmlns:a16="http://schemas.microsoft.com/office/drawing/2014/main" id="{423841A9-AE43-5C18-037D-3C674AC99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824288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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M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 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>
            <a:extLst>
              <a:ext uri="{FF2B5EF4-FFF2-40B4-BE49-F238E27FC236}">
                <a16:creationId xmlns:a16="http://schemas.microsoft.com/office/drawing/2014/main" id="{67DC8619-A3BA-00AD-A627-C8C9D3FF3C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C015F4-E462-49F5-8F9A-FC1048D82B8A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zh-CN" altLang="en-US" sz="14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6235DF57-6D05-F04F-C8E8-33356EC6C3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前束范式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08B67E7D-2343-4CFB-4942-245F9AF64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724400"/>
          </a:xfrm>
        </p:spPr>
        <p:txBody>
          <a:bodyPr/>
          <a:lstStyle/>
          <a:p>
            <a:pPr algn="just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定义3.11</a:t>
            </a:r>
            <a:r>
              <a:rPr lang="zh-CN" altLang="en-US" sz="2400" b="1"/>
              <a:t> 设</a:t>
            </a:r>
            <a:r>
              <a:rPr lang="en-US" altLang="zh-CN" sz="2400" b="1" i="1"/>
              <a:t>A</a:t>
            </a:r>
            <a:r>
              <a:rPr lang="zh-CN" altLang="en-US" sz="2400" b="1"/>
              <a:t>为一个一阶逻辑公式, 若</a:t>
            </a:r>
            <a:r>
              <a:rPr lang="en-US" altLang="zh-CN" sz="2400" b="1" i="1"/>
              <a:t>A</a:t>
            </a:r>
            <a:r>
              <a:rPr lang="zh-CN" altLang="en-US" sz="2400" b="1"/>
              <a:t>具有如下形式</a:t>
            </a:r>
          </a:p>
          <a:p>
            <a:pPr algn="ctr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i="1"/>
              <a:t> Q</a:t>
            </a:r>
            <a:r>
              <a:rPr lang="en-US" altLang="zh-CN" sz="2400" b="1" baseline="-30000"/>
              <a:t>1</a:t>
            </a:r>
            <a:r>
              <a:rPr lang="en-US" altLang="zh-CN" sz="2400" b="1" i="1"/>
              <a:t>x</a:t>
            </a:r>
            <a:r>
              <a:rPr lang="en-US" altLang="zh-CN" sz="2400" b="1" baseline="-30000"/>
              <a:t>1</a:t>
            </a:r>
            <a:r>
              <a:rPr lang="en-US" altLang="zh-CN" sz="2400" b="1" i="1"/>
              <a:t>Q</a:t>
            </a:r>
            <a:r>
              <a:rPr lang="en-US" altLang="zh-CN" sz="2400" b="1" baseline="-30000"/>
              <a:t>2</a:t>
            </a:r>
            <a:r>
              <a:rPr lang="en-US" altLang="zh-CN" sz="2400" b="1" i="1"/>
              <a:t>x</a:t>
            </a:r>
            <a:r>
              <a:rPr lang="en-US" altLang="zh-CN" sz="2400" b="1" baseline="-30000"/>
              <a:t>2</a:t>
            </a:r>
            <a:r>
              <a:rPr lang="en-US" altLang="zh-CN" sz="2400" b="1"/>
              <a:t>…</a:t>
            </a:r>
            <a:r>
              <a:rPr lang="en-US" altLang="zh-CN" sz="2400" b="1" i="1"/>
              <a:t>Q</a:t>
            </a:r>
            <a:r>
              <a:rPr lang="en-US" altLang="zh-CN" sz="2400" b="1" i="1" baseline="-30000"/>
              <a:t>k</a:t>
            </a:r>
            <a:r>
              <a:rPr lang="en-US" altLang="zh-CN" sz="2400" b="1" i="1"/>
              <a:t>x</a:t>
            </a:r>
            <a:r>
              <a:rPr lang="en-US" altLang="zh-CN" sz="2400" b="1" i="1" baseline="-30000"/>
              <a:t>k </a:t>
            </a:r>
            <a:r>
              <a:rPr lang="en-US" altLang="zh-CN" sz="2400" b="1" i="1"/>
              <a:t>B</a:t>
            </a:r>
          </a:p>
          <a:p>
            <a:pPr algn="just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/>
              <a:t>则称</a:t>
            </a:r>
            <a:r>
              <a:rPr lang="en-US" altLang="zh-CN" sz="2400" b="1" i="1"/>
              <a:t>A</a:t>
            </a:r>
            <a:r>
              <a:rPr lang="zh-CN" altLang="en-US" sz="2400" b="1"/>
              <a:t>为</a:t>
            </a:r>
            <a:r>
              <a:rPr lang="zh-CN" altLang="en-US" sz="2400" b="1">
                <a:solidFill>
                  <a:srgbClr val="FF3300"/>
                </a:solidFill>
              </a:rPr>
              <a:t>前束范式</a:t>
            </a:r>
            <a:r>
              <a:rPr lang="zh-CN" altLang="en-US" sz="2400" b="1"/>
              <a:t>, 其中</a:t>
            </a:r>
            <a:r>
              <a:rPr lang="en-US" altLang="zh-CN" sz="2400" b="1" i="1"/>
              <a:t>Q</a:t>
            </a:r>
            <a:r>
              <a:rPr lang="en-US" altLang="zh-CN" sz="2400" b="1" i="1" baseline="-30000"/>
              <a:t>i</a:t>
            </a:r>
            <a:r>
              <a:rPr lang="en-US" altLang="zh-CN" sz="2400" b="1" baseline="-30000"/>
              <a:t> </a:t>
            </a:r>
            <a:r>
              <a:rPr lang="zh-CN" altLang="en-US" sz="2400" b="1"/>
              <a:t>为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zh-CN" altLang="en-US" sz="2400" b="1"/>
              <a:t>或</a:t>
            </a:r>
            <a:r>
              <a:rPr lang="zh-CN" altLang="en-US" sz="2400" b="1">
                <a:sym typeface="Symbol" panose="05050102010706020507" pitchFamily="18" charset="2"/>
              </a:rPr>
              <a:t>, </a:t>
            </a:r>
            <a:r>
              <a:rPr lang="en-US" altLang="zh-CN" sz="2400" b="1"/>
              <a:t>1</a:t>
            </a:r>
            <a:r>
              <a:rPr lang="en-US" altLang="zh-CN" sz="2400" b="1">
                <a:sym typeface="Symbol" panose="05050102010706020507" pitchFamily="18" charset="2"/>
              </a:rPr>
              <a:t></a:t>
            </a:r>
            <a:r>
              <a:rPr lang="en-US" altLang="zh-CN" sz="2400" b="1" i="1"/>
              <a:t>i</a:t>
            </a:r>
            <a:r>
              <a:rPr lang="en-US" altLang="zh-CN" sz="2400" b="1">
                <a:sym typeface="Symbol" panose="05050102010706020507" pitchFamily="18" charset="2"/>
              </a:rPr>
              <a:t></a:t>
            </a:r>
            <a:r>
              <a:rPr lang="en-US" altLang="zh-CN" sz="2400" b="1" i="1"/>
              <a:t>k</a:t>
            </a:r>
            <a:r>
              <a:rPr lang="zh-CN" altLang="en-US" sz="2400" b="1">
                <a:sym typeface="Symbol" panose="05050102010706020507" pitchFamily="18" charset="2"/>
              </a:rPr>
              <a:t>, </a:t>
            </a:r>
            <a:r>
              <a:rPr lang="en-US" altLang="zh-CN" sz="2400" b="1" i="1"/>
              <a:t>B</a:t>
            </a:r>
            <a:r>
              <a:rPr lang="zh-CN" altLang="en-US" sz="2400" b="1"/>
              <a:t>为不含量词的</a:t>
            </a:r>
          </a:p>
          <a:p>
            <a:pPr algn="just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/>
              <a:t>公式.</a:t>
            </a:r>
          </a:p>
          <a:p>
            <a:pPr algn="just" eaLnBrk="1" hangingPunct="1">
              <a:spcBef>
                <a:spcPct val="80000"/>
              </a:spcBef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例如    </a:t>
            </a:r>
            <a:r>
              <a:rPr lang="zh-CN" altLang="en-US" sz="2400" b="1">
                <a:solidFill>
                  <a:srgbClr val="000066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F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G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2400" b="1" i="1">
                <a:solidFill>
                  <a:srgbClr val="000066"/>
                </a:solidFill>
              </a:rPr>
              <a:t>H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,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))) </a:t>
            </a:r>
          </a:p>
          <a:p>
            <a:pPr algn="just" eaLnBrk="1" hangingPunct="1">
              <a:buFontTx/>
              <a:buNone/>
            </a:pP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            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F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2400" b="1" i="1">
                <a:solidFill>
                  <a:srgbClr val="000066"/>
                </a:solidFill>
              </a:rPr>
              <a:t>G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))</a:t>
            </a:r>
          </a:p>
          <a:p>
            <a:pPr algn="just" eaLnBrk="1" hangingPunct="1"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是前束范式 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  <a:sym typeface="Symbol" panose="05050102010706020507" pitchFamily="18" charset="2"/>
              </a:rPr>
              <a:t>            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F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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G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2400" b="1" i="1">
                <a:solidFill>
                  <a:srgbClr val="000066"/>
                </a:solidFill>
              </a:rPr>
              <a:t>H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,</a:t>
            </a:r>
            <a:r>
              <a:rPr lang="en-US" altLang="zh-CN" sz="2400" b="1" i="1">
                <a:solidFill>
                  <a:srgbClr val="000066"/>
                </a:solidFill>
              </a:rPr>
              <a:t>y</a:t>
            </a:r>
            <a:r>
              <a:rPr lang="en-US" altLang="zh-CN" sz="2400" b="1">
                <a:solidFill>
                  <a:srgbClr val="000066"/>
                </a:solidFill>
              </a:rPr>
              <a:t>)))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            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F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</a:t>
            </a:r>
            <a:r>
              <a:rPr lang="en-US" altLang="zh-CN" sz="2400" b="1">
                <a:solidFill>
                  <a:srgbClr val="000066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2400" b="1" i="1">
                <a:solidFill>
                  <a:srgbClr val="000066"/>
                </a:solidFill>
              </a:rPr>
              <a:t>G</a:t>
            </a:r>
            <a:r>
              <a:rPr lang="en-US" altLang="zh-CN" sz="2400" b="1">
                <a:solidFill>
                  <a:srgbClr val="000066"/>
                </a:solidFill>
              </a:rPr>
              <a:t>(</a:t>
            </a:r>
            <a:r>
              <a:rPr lang="en-US" altLang="zh-CN" sz="2400" b="1" i="1">
                <a:solidFill>
                  <a:srgbClr val="000066"/>
                </a:solidFill>
              </a:rPr>
              <a:t>x</a:t>
            </a:r>
            <a:r>
              <a:rPr lang="en-US" altLang="zh-CN" sz="2400" b="1">
                <a:solidFill>
                  <a:srgbClr val="000066"/>
                </a:solidFill>
              </a:rPr>
              <a:t>))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</a:rPr>
              <a:t>不是前束范式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>
            <a:extLst>
              <a:ext uri="{FF2B5EF4-FFF2-40B4-BE49-F238E27FC236}">
                <a16:creationId xmlns:a16="http://schemas.microsoft.com/office/drawing/2014/main" id="{4351970B-CC68-F996-EE0B-8BC05CBBDE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391E31-9B67-43BF-AACA-FDC25F3ED082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zh-CN" altLang="en-US" sz="14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353C4C47-3687-788E-FB60-CE3D9CB59E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>
                <a:solidFill>
                  <a:srgbClr val="800000"/>
                </a:solidFill>
              </a:rPr>
              <a:t>公式的前束范式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97C9ADEC-03C1-1ACB-1D60-0CEE9480BB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828800"/>
            <a:ext cx="7772400" cy="8382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定理</a:t>
            </a:r>
            <a:r>
              <a:rPr lang="zh-CN" altLang="en-US" sz="2400" b="1">
                <a:solidFill>
                  <a:srgbClr val="FF3300"/>
                </a:solidFill>
              </a:rPr>
              <a:t>3.3(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前束范式存在定理) </a:t>
            </a:r>
            <a:r>
              <a:rPr lang="zh-CN" altLang="en-US" sz="2400" b="1">
                <a:latin typeface="宋体" panose="02010600030101010101" pitchFamily="2" charset="-122"/>
              </a:rPr>
              <a:t>一阶逻辑中的任何公式都存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在与之等值的前束范式</a:t>
            </a:r>
          </a:p>
        </p:txBody>
      </p:sp>
      <p:sp>
        <p:nvSpPr>
          <p:cNvPr id="354308" name="Text Box 4">
            <a:extLst>
              <a:ext uri="{FF2B5EF4-FFF2-40B4-BE49-F238E27FC236}">
                <a16:creationId xmlns:a16="http://schemas.microsoft.com/office/drawing/2014/main" id="{47F80A0C-5B32-A358-5F1A-B85F7B7C8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819400"/>
            <a:ext cx="76200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</a:rPr>
              <a:t>例5</a:t>
            </a:r>
            <a:r>
              <a:rPr lang="zh-CN" altLang="en-US" sz="2400" b="1"/>
              <a:t> 求公式的前束范式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(1)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</a:t>
            </a:r>
            <a:r>
              <a:rPr lang="en-US" altLang="zh-CN" sz="2400" b="1" i="1"/>
              <a:t>xG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endParaRPr lang="zh-CN" altLang="en-US" sz="2400" b="1"/>
          </a:p>
        </p:txBody>
      </p:sp>
      <p:sp>
        <p:nvSpPr>
          <p:cNvPr id="354309" name="Text Box 5">
            <a:extLst>
              <a:ext uri="{FF2B5EF4-FFF2-40B4-BE49-F238E27FC236}">
                <a16:creationId xmlns:a16="http://schemas.microsoft.com/office/drawing/2014/main" id="{4EF25842-8C17-CFAF-571D-9A443DD05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733800"/>
            <a:ext cx="739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解</a:t>
            </a:r>
            <a:r>
              <a:rPr lang="en-US" altLang="zh-CN" sz="2400" b="1"/>
              <a:t>1</a:t>
            </a:r>
            <a:r>
              <a:rPr lang="zh-CN" altLang="en-US" sz="2400" b="1"/>
              <a:t>  </a:t>
            </a:r>
            <a:r>
              <a:rPr lang="en-US" altLang="zh-CN" sz="2400" b="1">
                <a:sym typeface="Symbol" panose="05050102010706020507" pitchFamily="18" charset="2"/>
              </a:rPr>
              <a:t>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                </a:t>
            </a:r>
            <a:r>
              <a:rPr lang="zh-CN" altLang="en-US" sz="2400" b="1"/>
              <a:t>量词否定等值式</a:t>
            </a:r>
          </a:p>
        </p:txBody>
      </p:sp>
      <p:sp>
        <p:nvSpPr>
          <p:cNvPr id="354310" name="Text Box 6">
            <a:extLst>
              <a:ext uri="{FF2B5EF4-FFF2-40B4-BE49-F238E27FC236}">
                <a16:creationId xmlns:a16="http://schemas.microsoft.com/office/drawing/2014/main" id="{7C1AFC37-CF54-9285-BAA0-144B464B3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8725" y="4191000"/>
            <a:ext cx="662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 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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))                    </a:t>
            </a:r>
            <a:r>
              <a:rPr lang="zh-CN" altLang="en-US" sz="2400" b="1"/>
              <a:t>量词分配等值式</a:t>
            </a:r>
          </a:p>
        </p:txBody>
      </p:sp>
      <p:sp>
        <p:nvSpPr>
          <p:cNvPr id="354311" name="Text Box 7">
            <a:extLst>
              <a:ext uri="{FF2B5EF4-FFF2-40B4-BE49-F238E27FC236}">
                <a16:creationId xmlns:a16="http://schemas.microsoft.com/office/drawing/2014/main" id="{53436E7D-53DC-B633-E91C-A6B38E1D4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648200"/>
            <a:ext cx="739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解2  </a:t>
            </a:r>
            <a:r>
              <a:rPr lang="en-US" altLang="zh-CN" sz="2400" b="1">
                <a:sym typeface="Symbol" panose="05050102010706020507" pitchFamily="18" charset="2"/>
              </a:rPr>
              <a:t> 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xF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</a:t>
            </a:r>
            <a:r>
              <a:rPr lang="en-US" altLang="zh-CN" sz="2400" b="1" i="1"/>
              <a:t>yG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                 </a:t>
            </a:r>
            <a:r>
              <a:rPr lang="zh-CN" altLang="en-US" sz="2400" b="1"/>
              <a:t>换名规则</a:t>
            </a:r>
          </a:p>
        </p:txBody>
      </p:sp>
      <p:sp>
        <p:nvSpPr>
          <p:cNvPr id="354312" name="Text Box 8">
            <a:extLst>
              <a:ext uri="{FF2B5EF4-FFF2-40B4-BE49-F238E27FC236}">
                <a16:creationId xmlns:a16="http://schemas.microsoft.com/office/drawing/2014/main" id="{FB07BF7C-F261-A685-CADA-4D4B0F6E9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105400"/>
            <a:ext cx="662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 </a:t>
            </a:r>
            <a:r>
              <a:rPr lang="en-US" altLang="zh-CN" sz="2400" b="1" i="1"/>
              <a:t>xF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y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                </a:t>
            </a:r>
            <a:r>
              <a:rPr lang="zh-CN" altLang="en-US" sz="2400" b="1"/>
              <a:t>量词否定等值式</a:t>
            </a:r>
          </a:p>
        </p:txBody>
      </p:sp>
      <p:sp>
        <p:nvSpPr>
          <p:cNvPr id="354313" name="Text Box 9">
            <a:extLst>
              <a:ext uri="{FF2B5EF4-FFF2-40B4-BE49-F238E27FC236}">
                <a16:creationId xmlns:a16="http://schemas.microsoft.com/office/drawing/2014/main" id="{FC37A078-A90B-C2E8-A907-83B486E5C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562600"/>
            <a:ext cx="662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 </a:t>
            </a:r>
            <a:r>
              <a:rPr lang="en-US" altLang="zh-CN" sz="2400" b="1" i="1"/>
              <a:t>x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y</a:t>
            </a:r>
            <a:r>
              <a:rPr lang="en-US" altLang="zh-CN" sz="2400" b="1">
                <a:sym typeface="Symbol" panose="05050102010706020507" pitchFamily="18" charset="2"/>
              </a:rPr>
              <a:t>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))              </a:t>
            </a:r>
            <a:r>
              <a:rPr lang="zh-CN" altLang="en-US" sz="2400" b="1"/>
              <a:t>量词辖域扩张</a:t>
            </a:r>
          </a:p>
        </p:txBody>
      </p:sp>
      <p:sp>
        <p:nvSpPr>
          <p:cNvPr id="354314" name="Text Box 10">
            <a:extLst>
              <a:ext uri="{FF2B5EF4-FFF2-40B4-BE49-F238E27FC236}">
                <a16:creationId xmlns:a16="http://schemas.microsoft.com/office/drawing/2014/main" id="{FFB778C1-9E34-FCC2-D78C-3753DFBD4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6019800"/>
            <a:ext cx="662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ym typeface="Symbol" panose="05050102010706020507" pitchFamily="18" charset="2"/>
              </a:rPr>
              <a:t> </a:t>
            </a:r>
            <a:r>
              <a:rPr lang="en-US" altLang="zh-CN" sz="2400" b="1" i="1"/>
              <a:t>x</a:t>
            </a:r>
            <a:r>
              <a:rPr lang="zh-CN" altLang="en-US" sz="2400" b="1">
                <a:sym typeface="Symbol" panose="05050102010706020507" pitchFamily="18" charset="2"/>
              </a:rPr>
              <a:t></a:t>
            </a:r>
            <a:r>
              <a:rPr lang="en-US" altLang="zh-CN" sz="2400" b="1" i="1"/>
              <a:t>y</a:t>
            </a:r>
            <a:r>
              <a:rPr lang="en-US" altLang="zh-CN" sz="2400" b="1"/>
              <a:t>(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  <a:r>
              <a:rPr lang="en-US" altLang="zh-CN" sz="2400" b="1">
                <a:sym typeface="Symbol" panose="05050102010706020507" pitchFamily="18" charset="2"/>
              </a:rPr>
              <a:t></a:t>
            </a:r>
            <a:r>
              <a:rPr lang="en-US" altLang="zh-CN" sz="2400" b="1" i="1"/>
              <a:t>G</a:t>
            </a:r>
            <a:r>
              <a:rPr lang="en-US" altLang="zh-CN" sz="2400" b="1"/>
              <a:t>(</a:t>
            </a:r>
            <a:r>
              <a:rPr lang="en-US" altLang="zh-CN" sz="2400" b="1" i="1"/>
              <a:t>y</a:t>
            </a:r>
            <a:r>
              <a:rPr lang="en-US" altLang="zh-CN" sz="2400" b="1"/>
              <a:t>))              </a:t>
            </a:r>
            <a:r>
              <a:rPr lang="zh-CN" altLang="en-US" sz="2400" b="1"/>
              <a:t>量词辖域扩张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4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4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4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4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4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4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4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4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8" grpId="0"/>
      <p:bldP spid="354309" grpId="0"/>
      <p:bldP spid="354310" grpId="0"/>
      <p:bldP spid="354311" grpId="0"/>
      <p:bldP spid="354312" grpId="0"/>
      <p:bldP spid="354313" grpId="0"/>
      <p:bldP spid="3543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E1NTJiMDg3MWU4ZDUwMzM1NzRkMzJjNDI0MDUyMDMifQ=="/>
</p:tagLst>
</file>

<file path=ppt/theme/theme1.xml><?xml version="1.0" encoding="utf-8"?>
<a:theme xmlns:a="http://schemas.openxmlformats.org/drawingml/2006/main" name="清华版教材展示">
  <a:themeElements>
    <a:clrScheme name="清华版教材展示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清华版教材展示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rgbClr val="00FFFF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panose="020B0604020202020204" pitchFamily="34" charset="0"/>
            <a:ea typeface="华文行楷" panose="020108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rgbClr val="00FFFF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panose="020B0604020202020204" pitchFamily="34" charset="0"/>
            <a:ea typeface="华文行楷" panose="02010800040101010101" pitchFamily="2" charset="-122"/>
          </a:defRPr>
        </a:defPPr>
      </a:lstStyle>
    </a:lnDef>
  </a:objectDefaults>
  <a:extraClrSchemeLst>
    <a:extraClrScheme>
      <a:clrScheme name="清华版教材展示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清华版教材展示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版教材展示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版教材展示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版教材展示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版教材展示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版教材展示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清华版教材展示">
  <a:themeElements>
    <a:clrScheme name="清华版教材展示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清华版教材展示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rgbClr val="00FFFF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panose="020B0604020202020204" pitchFamily="34" charset="0"/>
            <a:ea typeface="华文行楷" panose="020108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rgbClr val="00FFFF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panose="020B0604020202020204" pitchFamily="34" charset="0"/>
            <a:ea typeface="华文行楷" panose="02010800040101010101" pitchFamily="2" charset="-122"/>
          </a:defRPr>
        </a:defPPr>
      </a:lstStyle>
    </a:lnDef>
  </a:objectDefaults>
  <a:extraClrSchemeLst>
    <a:extraClrScheme>
      <a:clrScheme name="清华版教材展示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清华版教材展示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版教材展示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版教材展示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版教材展示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版教材展示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版教材展示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C:\WINDOWS\Application Data\Microsoft\Templates\清华版教材展示.pot</Template>
  <TotalTime>5752</TotalTime>
  <Words>4849</Words>
  <Application>Microsoft Office PowerPoint</Application>
  <PresentationFormat>全屏显示(4:3)</PresentationFormat>
  <Paragraphs>406</Paragraphs>
  <Slides>42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3" baseType="lpstr">
      <vt:lpstr>English111 Vivace BT</vt:lpstr>
      <vt:lpstr>黑体</vt:lpstr>
      <vt:lpstr>宋体</vt:lpstr>
      <vt:lpstr>Arial</vt:lpstr>
      <vt:lpstr>Palace Script MT</vt:lpstr>
      <vt:lpstr>Symbol</vt:lpstr>
      <vt:lpstr>Times New Roman</vt:lpstr>
      <vt:lpstr>Wingdings</vt:lpstr>
      <vt:lpstr>清华版教材展示</vt:lpstr>
      <vt:lpstr>1_清华版教材展示</vt:lpstr>
      <vt:lpstr>Equation</vt:lpstr>
      <vt:lpstr>第3章 一阶逻辑</vt:lpstr>
      <vt:lpstr>第3章 一阶逻辑</vt:lpstr>
      <vt:lpstr>3.1 一阶逻辑基本概念</vt:lpstr>
      <vt:lpstr>3.1 一阶逻辑基本概念(续)</vt:lpstr>
      <vt:lpstr>命题逻辑的局限性</vt:lpstr>
      <vt:lpstr>命题逻辑的局限性</vt:lpstr>
      <vt:lpstr>个体词与个体域</vt:lpstr>
      <vt:lpstr>谓词</vt:lpstr>
      <vt:lpstr>实例</vt:lpstr>
      <vt:lpstr>谓词</vt:lpstr>
      <vt:lpstr>实例</vt:lpstr>
      <vt:lpstr>量词</vt:lpstr>
      <vt:lpstr>一阶逻辑命题符号化</vt:lpstr>
      <vt:lpstr>实例</vt:lpstr>
      <vt:lpstr>实例</vt:lpstr>
      <vt:lpstr>注意</vt:lpstr>
      <vt:lpstr>一阶语言L  </vt:lpstr>
      <vt:lpstr>一阶语言L  (续)</vt:lpstr>
      <vt:lpstr>一阶语言L (续)</vt:lpstr>
      <vt:lpstr>量词的辖域</vt:lpstr>
      <vt:lpstr>实例</vt:lpstr>
      <vt:lpstr>解释和赋值的直观涵义</vt:lpstr>
      <vt:lpstr>解释与赋值</vt:lpstr>
      <vt:lpstr>解释与赋值(续)</vt:lpstr>
      <vt:lpstr>闭式的性质</vt:lpstr>
      <vt:lpstr>实例</vt:lpstr>
      <vt:lpstr>实例(续)</vt:lpstr>
      <vt:lpstr>一阶逻辑公式的分类</vt:lpstr>
      <vt:lpstr>代换实例</vt:lpstr>
      <vt:lpstr>实例</vt:lpstr>
      <vt:lpstr>实例(续)</vt:lpstr>
      <vt:lpstr>3.2 一阶逻辑等值演算</vt:lpstr>
      <vt:lpstr>等值式</vt:lpstr>
      <vt:lpstr>基本等值式(续)</vt:lpstr>
      <vt:lpstr>基本等值式(续)</vt:lpstr>
      <vt:lpstr>置换规则、换名规则</vt:lpstr>
      <vt:lpstr>实例</vt:lpstr>
      <vt:lpstr>实例</vt:lpstr>
      <vt:lpstr>实例</vt:lpstr>
      <vt:lpstr>实例</vt:lpstr>
      <vt:lpstr>前束范式</vt:lpstr>
      <vt:lpstr>公式的前束范式</vt:lpstr>
    </vt:vector>
  </TitlesOfParts>
  <Company>tup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NEC</dc:creator>
  <cp:lastModifiedBy>同济大学</cp:lastModifiedBy>
  <cp:revision>61</cp:revision>
  <dcterms:created xsi:type="dcterms:W3CDTF">2003-05-27T06:14:28Z</dcterms:created>
  <dcterms:modified xsi:type="dcterms:W3CDTF">2023-10-13T07:22:26Z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874C95940EFB40FFB2CD0789F9CD70BA</vt:lpwstr>
  </property>
  <property fmtid="{D5CDD505-2E9C-101B-9397-08002B2CF9AE}" pid="3" name="KSOProductBuildVer">
    <vt:lpwstr>2052-12.1.0.15374</vt:lpwstr>
  </property>
</Properties>
</file>