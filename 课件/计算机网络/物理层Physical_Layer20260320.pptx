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960" r:id="rId2"/>
    <p:sldId id="1054" r:id="rId3"/>
    <p:sldId id="1055" r:id="rId4"/>
    <p:sldId id="1056" r:id="rId5"/>
    <p:sldId id="1057" r:id="rId6"/>
    <p:sldId id="1070" r:id="rId7"/>
    <p:sldId id="1058" r:id="rId8"/>
    <p:sldId id="1059" r:id="rId9"/>
    <p:sldId id="1060" r:id="rId10"/>
    <p:sldId id="1061" r:id="rId11"/>
    <p:sldId id="1062" r:id="rId12"/>
    <p:sldId id="1063" r:id="rId13"/>
    <p:sldId id="1064" r:id="rId14"/>
    <p:sldId id="1065" r:id="rId15"/>
    <p:sldId id="1066" r:id="rId16"/>
    <p:sldId id="1067" r:id="rId17"/>
    <p:sldId id="1068" r:id="rId18"/>
    <p:sldId id="1069" r:id="rId19"/>
    <p:sldId id="1071" r:id="rId20"/>
    <p:sldId id="1072" r:id="rId21"/>
    <p:sldId id="1073" r:id="rId22"/>
    <p:sldId id="1074" r:id="rId23"/>
    <p:sldId id="1075" r:id="rId24"/>
    <p:sldId id="1076" r:id="rId25"/>
    <p:sldId id="1077" r:id="rId26"/>
    <p:sldId id="1078" r:id="rId27"/>
    <p:sldId id="1079" r:id="rId28"/>
    <p:sldId id="1080" r:id="rId29"/>
    <p:sldId id="1081" r:id="rId30"/>
    <p:sldId id="1082" r:id="rId31"/>
    <p:sldId id="1083" r:id="rId32"/>
    <p:sldId id="1084" r:id="rId33"/>
    <p:sldId id="1085" r:id="rId34"/>
    <p:sldId id="1086" r:id="rId35"/>
    <p:sldId id="1088" r:id="rId36"/>
    <p:sldId id="1089" r:id="rId37"/>
    <p:sldId id="1090" r:id="rId38"/>
    <p:sldId id="1091" r:id="rId39"/>
    <p:sldId id="1092" r:id="rId40"/>
    <p:sldId id="1093" r:id="rId41"/>
    <p:sldId id="1094" r:id="rId42"/>
    <p:sldId id="1095" r:id="rId43"/>
    <p:sldId id="1096" r:id="rId44"/>
    <p:sldId id="1097" r:id="rId45"/>
    <p:sldId id="1098" r:id="rId46"/>
    <p:sldId id="1099" r:id="rId47"/>
    <p:sldId id="1100" r:id="rId48"/>
    <p:sldId id="1101" r:id="rId49"/>
    <p:sldId id="1102" r:id="rId50"/>
    <p:sldId id="1104" r:id="rId51"/>
    <p:sldId id="1105"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88"/>
    <p:restoredTop sz="94754"/>
  </p:normalViewPr>
  <p:slideViewPr>
    <p:cSldViewPr snapToGrid="0">
      <p:cViewPr varScale="1">
        <p:scale>
          <a:sx n="99" d="100"/>
          <a:sy n="99" d="100"/>
        </p:scale>
        <p:origin x="4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4E992-099B-5540-BB2A-8225CC7BCE90}" type="datetimeFigureOut">
              <a:rPr kumimoji="1" lang="zh-CN" altLang="en-US" smtClean="0"/>
              <a:t>2025/3/13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A6AF6-9609-684E-92B1-ACB4ECE186B4}" type="slidenum">
              <a:rPr kumimoji="1" lang="zh-CN" altLang="en-US" smtClean="0"/>
              <a:t>‹#›</a:t>
            </a:fld>
            <a:endParaRPr kumimoji="1" lang="zh-CN" altLang="en-US"/>
          </a:p>
        </p:txBody>
      </p:sp>
    </p:spTree>
    <p:extLst>
      <p:ext uri="{BB962C8B-B14F-4D97-AF65-F5344CB8AC3E}">
        <p14:creationId xmlns:p14="http://schemas.microsoft.com/office/powerpoint/2010/main" val="847333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(May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lighter header font</a:t>
            </a:r>
          </a:p>
          <a:p>
            <a:pPr marL="171450" indent="-171450">
              <a:buFont typeface="Arial" panose="020B0604020202020204" pitchFamily="34" charset="0"/>
              <a:buChar char="•"/>
            </a:pPr>
            <a:r>
              <a:rPr lang="en-US" dirty="0"/>
              <a:t>4G/5G material completely updated; older 2/2.5/3G removed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8.2</a:t>
            </a:r>
            <a:r>
              <a:rPr lang="en-US" dirty="0">
                <a:sym typeface="Wingdings" pitchFamily="2" charset="2"/>
              </a:rPr>
              <a:t> (July 2023).  </a:t>
            </a:r>
            <a:r>
              <a:rPr lang="en-US">
                <a:sym typeface="Wingdings" pitchFamily="2" charset="2"/>
              </a:rPr>
              <a:t>Changes from 8.0:</a:t>
            </a:r>
            <a:endParaRPr lang="en-US" dirty="0">
              <a:sym typeface="Wingdings" pitchFamily="2" charset="2"/>
            </a:endParaRPr>
          </a:p>
          <a:p>
            <a:pPr marL="171450" indent="-171450">
              <a:buFont typeface="Arial" panose="020B0604020202020204" pitchFamily="34" charset="0"/>
              <a:buChar char="•"/>
            </a:pPr>
            <a:r>
              <a:rPr lang="en-US" dirty="0">
                <a:sym typeface="Wingdings" pitchFamily="2" charset="2"/>
              </a:rPr>
              <a:t>minor updates and additional, including removing master/slave Bluetooth language</a:t>
            </a:r>
          </a:p>
          <a:p>
            <a:pPr marL="171450" indent="-171450">
              <a:buFont typeface="Arial" panose="020B0604020202020204" pitchFamily="34" charset="0"/>
              <a:buChar char="•"/>
            </a:pPr>
            <a:r>
              <a:rPr lang="en-US" dirty="0">
                <a:sym typeface="Wingdings" pitchFamily="2" charset="2"/>
              </a:rPr>
              <a:t>expansion, better graphics on wireless link characteristics</a:t>
            </a:r>
          </a:p>
          <a:p>
            <a:pPr marL="171450" indent="-171450">
              <a:buFont typeface="Arial" panose="020B0604020202020204" pitchFamily="34" charset="0"/>
              <a:buChar char="•"/>
            </a:pPr>
            <a:r>
              <a:rPr lang="en-US" dirty="0">
                <a:sym typeface="Wingdings" pitchFamily="2" charset="2"/>
              </a:rPr>
              <a:t>expanded, significant revisions of 4G/5G material (but not mobility)</a:t>
            </a:r>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dirty="0"/>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dirty="0"/>
          </a:p>
        </p:txBody>
      </p:sp>
    </p:spTree>
    <p:extLst>
      <p:ext uri="{BB962C8B-B14F-4D97-AF65-F5344CB8AC3E}">
        <p14:creationId xmlns:p14="http://schemas.microsoft.com/office/powerpoint/2010/main" val="2821306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1107864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a:t>
            </a:fld>
            <a:endParaRPr lang="en-US" dirty="0"/>
          </a:p>
        </p:txBody>
      </p:sp>
    </p:spTree>
    <p:extLst>
      <p:ext uri="{BB962C8B-B14F-4D97-AF65-F5344CB8AC3E}">
        <p14:creationId xmlns:p14="http://schemas.microsoft.com/office/powerpoint/2010/main" val="2537000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5</a:t>
            </a:fld>
            <a:endParaRPr lang="en-US" dirty="0"/>
          </a:p>
        </p:txBody>
      </p:sp>
    </p:spTree>
    <p:extLst>
      <p:ext uri="{BB962C8B-B14F-4D97-AF65-F5344CB8AC3E}">
        <p14:creationId xmlns:p14="http://schemas.microsoft.com/office/powerpoint/2010/main" val="3512002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6</a:t>
            </a:fld>
            <a:endParaRPr lang="en-US" dirty="0"/>
          </a:p>
        </p:txBody>
      </p:sp>
    </p:spTree>
    <p:extLst>
      <p:ext uri="{BB962C8B-B14F-4D97-AF65-F5344CB8AC3E}">
        <p14:creationId xmlns:p14="http://schemas.microsoft.com/office/powerpoint/2010/main" val="3484138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7</a:t>
            </a:fld>
            <a:endParaRPr lang="en-US" dirty="0"/>
          </a:p>
        </p:txBody>
      </p:sp>
    </p:spTree>
    <p:extLst>
      <p:ext uri="{BB962C8B-B14F-4D97-AF65-F5344CB8AC3E}">
        <p14:creationId xmlns:p14="http://schemas.microsoft.com/office/powerpoint/2010/main" val="1310052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8</a:t>
            </a:fld>
            <a:endParaRPr lang="en-US" dirty="0"/>
          </a:p>
        </p:txBody>
      </p:sp>
    </p:spTree>
    <p:extLst>
      <p:ext uri="{BB962C8B-B14F-4D97-AF65-F5344CB8AC3E}">
        <p14:creationId xmlns:p14="http://schemas.microsoft.com/office/powerpoint/2010/main" val="84322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9</a:t>
            </a:fld>
            <a:endParaRPr lang="en-US" dirty="0"/>
          </a:p>
        </p:txBody>
      </p:sp>
    </p:spTree>
    <p:extLst>
      <p:ext uri="{BB962C8B-B14F-4D97-AF65-F5344CB8AC3E}">
        <p14:creationId xmlns:p14="http://schemas.microsoft.com/office/powerpoint/2010/main" val="1198645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10</a:t>
            </a:fld>
            <a:endParaRPr lang="en-US" dirty="0"/>
          </a:p>
        </p:txBody>
      </p:sp>
    </p:spTree>
    <p:extLst>
      <p:ext uri="{BB962C8B-B14F-4D97-AF65-F5344CB8AC3E}">
        <p14:creationId xmlns:p14="http://schemas.microsoft.com/office/powerpoint/2010/main" val="1348501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11</a:t>
            </a:fld>
            <a:endParaRPr lang="en-US" dirty="0"/>
          </a:p>
        </p:txBody>
      </p:sp>
    </p:spTree>
    <p:extLst>
      <p:ext uri="{BB962C8B-B14F-4D97-AF65-F5344CB8AC3E}">
        <p14:creationId xmlns:p14="http://schemas.microsoft.com/office/powerpoint/2010/main" val="1650914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12</a:t>
            </a:fld>
            <a:endParaRPr lang="en-US" dirty="0"/>
          </a:p>
        </p:txBody>
      </p:sp>
    </p:spTree>
    <p:extLst>
      <p:ext uri="{BB962C8B-B14F-4D97-AF65-F5344CB8AC3E}">
        <p14:creationId xmlns:p14="http://schemas.microsoft.com/office/powerpoint/2010/main" val="1733370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13</a:t>
            </a:fld>
            <a:endParaRPr lang="en-US" dirty="0"/>
          </a:p>
        </p:txBody>
      </p:sp>
    </p:spTree>
    <p:extLst>
      <p:ext uri="{BB962C8B-B14F-4D97-AF65-F5344CB8AC3E}">
        <p14:creationId xmlns:p14="http://schemas.microsoft.com/office/powerpoint/2010/main" val="34538097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14</a:t>
            </a:fld>
            <a:endParaRPr lang="en-US" dirty="0"/>
          </a:p>
        </p:txBody>
      </p:sp>
    </p:spTree>
    <p:extLst>
      <p:ext uri="{BB962C8B-B14F-4D97-AF65-F5344CB8AC3E}">
        <p14:creationId xmlns:p14="http://schemas.microsoft.com/office/powerpoint/2010/main" val="2977775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15</a:t>
            </a:fld>
            <a:endParaRPr lang="en-US" dirty="0"/>
          </a:p>
        </p:txBody>
      </p:sp>
    </p:spTree>
    <p:extLst>
      <p:ext uri="{BB962C8B-B14F-4D97-AF65-F5344CB8AC3E}">
        <p14:creationId xmlns:p14="http://schemas.microsoft.com/office/powerpoint/2010/main" val="19490326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16</a:t>
            </a:fld>
            <a:endParaRPr lang="en-US" dirty="0"/>
          </a:p>
        </p:txBody>
      </p:sp>
    </p:spTree>
    <p:extLst>
      <p:ext uri="{BB962C8B-B14F-4D97-AF65-F5344CB8AC3E}">
        <p14:creationId xmlns:p14="http://schemas.microsoft.com/office/powerpoint/2010/main" val="4264858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17</a:t>
            </a:fld>
            <a:endParaRPr lang="en-US" dirty="0"/>
          </a:p>
        </p:txBody>
      </p:sp>
    </p:spTree>
    <p:extLst>
      <p:ext uri="{BB962C8B-B14F-4D97-AF65-F5344CB8AC3E}">
        <p14:creationId xmlns:p14="http://schemas.microsoft.com/office/powerpoint/2010/main" val="103093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18</a:t>
            </a:fld>
            <a:endParaRPr lang="en-US" dirty="0"/>
          </a:p>
        </p:txBody>
      </p:sp>
    </p:spTree>
    <p:extLst>
      <p:ext uri="{BB962C8B-B14F-4D97-AF65-F5344CB8AC3E}">
        <p14:creationId xmlns:p14="http://schemas.microsoft.com/office/powerpoint/2010/main" val="2593743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19</a:t>
            </a:fld>
            <a:endParaRPr lang="en-US" dirty="0"/>
          </a:p>
        </p:txBody>
      </p:sp>
    </p:spTree>
    <p:extLst>
      <p:ext uri="{BB962C8B-B14F-4D97-AF65-F5344CB8AC3E}">
        <p14:creationId xmlns:p14="http://schemas.microsoft.com/office/powerpoint/2010/main" val="25093413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20</a:t>
            </a:fld>
            <a:endParaRPr lang="en-US" dirty="0"/>
          </a:p>
        </p:txBody>
      </p:sp>
    </p:spTree>
    <p:extLst>
      <p:ext uri="{BB962C8B-B14F-4D97-AF65-F5344CB8AC3E}">
        <p14:creationId xmlns:p14="http://schemas.microsoft.com/office/powerpoint/2010/main" val="39866569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21</a:t>
            </a:fld>
            <a:endParaRPr lang="en-US" dirty="0"/>
          </a:p>
        </p:txBody>
      </p:sp>
    </p:spTree>
    <p:extLst>
      <p:ext uri="{BB962C8B-B14F-4D97-AF65-F5344CB8AC3E}">
        <p14:creationId xmlns:p14="http://schemas.microsoft.com/office/powerpoint/2010/main" val="41007709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22</a:t>
            </a:fld>
            <a:endParaRPr lang="en-US" dirty="0"/>
          </a:p>
        </p:txBody>
      </p:sp>
    </p:spTree>
    <p:extLst>
      <p:ext uri="{BB962C8B-B14F-4D97-AF65-F5344CB8AC3E}">
        <p14:creationId xmlns:p14="http://schemas.microsoft.com/office/powerpoint/2010/main" val="36273801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23</a:t>
            </a:fld>
            <a:endParaRPr lang="en-US" dirty="0"/>
          </a:p>
        </p:txBody>
      </p:sp>
    </p:spTree>
    <p:extLst>
      <p:ext uri="{BB962C8B-B14F-4D97-AF65-F5344CB8AC3E}">
        <p14:creationId xmlns:p14="http://schemas.microsoft.com/office/powerpoint/2010/main" val="2537764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24</a:t>
            </a:fld>
            <a:endParaRPr lang="en-US" dirty="0"/>
          </a:p>
        </p:txBody>
      </p:sp>
    </p:spTree>
    <p:extLst>
      <p:ext uri="{BB962C8B-B14F-4D97-AF65-F5344CB8AC3E}">
        <p14:creationId xmlns:p14="http://schemas.microsoft.com/office/powerpoint/2010/main" val="34776018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25</a:t>
            </a:fld>
            <a:endParaRPr lang="en-US" dirty="0"/>
          </a:p>
        </p:txBody>
      </p:sp>
    </p:spTree>
    <p:extLst>
      <p:ext uri="{BB962C8B-B14F-4D97-AF65-F5344CB8AC3E}">
        <p14:creationId xmlns:p14="http://schemas.microsoft.com/office/powerpoint/2010/main" val="1987205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26</a:t>
            </a:fld>
            <a:endParaRPr lang="en-US" dirty="0"/>
          </a:p>
        </p:txBody>
      </p:sp>
    </p:spTree>
    <p:extLst>
      <p:ext uri="{BB962C8B-B14F-4D97-AF65-F5344CB8AC3E}">
        <p14:creationId xmlns:p14="http://schemas.microsoft.com/office/powerpoint/2010/main" val="36254644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27</a:t>
            </a:fld>
            <a:endParaRPr lang="en-US" dirty="0"/>
          </a:p>
        </p:txBody>
      </p:sp>
    </p:spTree>
    <p:extLst>
      <p:ext uri="{BB962C8B-B14F-4D97-AF65-F5344CB8AC3E}">
        <p14:creationId xmlns:p14="http://schemas.microsoft.com/office/powerpoint/2010/main" val="1385634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28</a:t>
            </a:fld>
            <a:endParaRPr lang="en-US" dirty="0"/>
          </a:p>
        </p:txBody>
      </p:sp>
    </p:spTree>
    <p:extLst>
      <p:ext uri="{BB962C8B-B14F-4D97-AF65-F5344CB8AC3E}">
        <p14:creationId xmlns:p14="http://schemas.microsoft.com/office/powerpoint/2010/main" val="203786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29</a:t>
            </a:fld>
            <a:endParaRPr lang="en-US" dirty="0"/>
          </a:p>
        </p:txBody>
      </p:sp>
    </p:spTree>
    <p:extLst>
      <p:ext uri="{BB962C8B-B14F-4D97-AF65-F5344CB8AC3E}">
        <p14:creationId xmlns:p14="http://schemas.microsoft.com/office/powerpoint/2010/main" val="35850188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30</a:t>
            </a:fld>
            <a:endParaRPr lang="en-US" dirty="0"/>
          </a:p>
        </p:txBody>
      </p:sp>
    </p:spTree>
    <p:extLst>
      <p:ext uri="{BB962C8B-B14F-4D97-AF65-F5344CB8AC3E}">
        <p14:creationId xmlns:p14="http://schemas.microsoft.com/office/powerpoint/2010/main" val="691507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31</a:t>
            </a:fld>
            <a:endParaRPr lang="en-US" dirty="0"/>
          </a:p>
        </p:txBody>
      </p:sp>
    </p:spTree>
    <p:extLst>
      <p:ext uri="{BB962C8B-B14F-4D97-AF65-F5344CB8AC3E}">
        <p14:creationId xmlns:p14="http://schemas.microsoft.com/office/powerpoint/2010/main" val="2396231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32</a:t>
            </a:fld>
            <a:endParaRPr lang="en-US" dirty="0"/>
          </a:p>
        </p:txBody>
      </p:sp>
    </p:spTree>
    <p:extLst>
      <p:ext uri="{BB962C8B-B14F-4D97-AF65-F5344CB8AC3E}">
        <p14:creationId xmlns:p14="http://schemas.microsoft.com/office/powerpoint/2010/main" val="2858627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33</a:t>
            </a:fld>
            <a:endParaRPr lang="en-US" dirty="0"/>
          </a:p>
        </p:txBody>
      </p:sp>
    </p:spTree>
    <p:extLst>
      <p:ext uri="{BB962C8B-B14F-4D97-AF65-F5344CB8AC3E}">
        <p14:creationId xmlns:p14="http://schemas.microsoft.com/office/powerpoint/2010/main" val="41938191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34</a:t>
            </a:fld>
            <a:endParaRPr lang="en-US" dirty="0"/>
          </a:p>
        </p:txBody>
      </p:sp>
    </p:spTree>
    <p:extLst>
      <p:ext uri="{BB962C8B-B14F-4D97-AF65-F5344CB8AC3E}">
        <p14:creationId xmlns:p14="http://schemas.microsoft.com/office/powerpoint/2010/main" val="35584219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35</a:t>
            </a:fld>
            <a:endParaRPr lang="en-US" dirty="0"/>
          </a:p>
        </p:txBody>
      </p:sp>
    </p:spTree>
    <p:extLst>
      <p:ext uri="{BB962C8B-B14F-4D97-AF65-F5344CB8AC3E}">
        <p14:creationId xmlns:p14="http://schemas.microsoft.com/office/powerpoint/2010/main" val="4004846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36</a:t>
            </a:fld>
            <a:endParaRPr lang="en-US" dirty="0"/>
          </a:p>
        </p:txBody>
      </p:sp>
    </p:spTree>
    <p:extLst>
      <p:ext uri="{BB962C8B-B14F-4D97-AF65-F5344CB8AC3E}">
        <p14:creationId xmlns:p14="http://schemas.microsoft.com/office/powerpoint/2010/main" val="15780315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37</a:t>
            </a:fld>
            <a:endParaRPr lang="en-US" dirty="0"/>
          </a:p>
        </p:txBody>
      </p:sp>
    </p:spTree>
    <p:extLst>
      <p:ext uri="{BB962C8B-B14F-4D97-AF65-F5344CB8AC3E}">
        <p14:creationId xmlns:p14="http://schemas.microsoft.com/office/powerpoint/2010/main" val="39903551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38</a:t>
            </a:fld>
            <a:endParaRPr lang="en-US" dirty="0"/>
          </a:p>
        </p:txBody>
      </p:sp>
    </p:spTree>
    <p:extLst>
      <p:ext uri="{BB962C8B-B14F-4D97-AF65-F5344CB8AC3E}">
        <p14:creationId xmlns:p14="http://schemas.microsoft.com/office/powerpoint/2010/main" val="2949153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39</a:t>
            </a:fld>
            <a:endParaRPr lang="en-US" dirty="0"/>
          </a:p>
        </p:txBody>
      </p:sp>
    </p:spTree>
    <p:extLst>
      <p:ext uri="{BB962C8B-B14F-4D97-AF65-F5344CB8AC3E}">
        <p14:creationId xmlns:p14="http://schemas.microsoft.com/office/powerpoint/2010/main" val="41120548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40</a:t>
            </a:fld>
            <a:endParaRPr lang="en-US" dirty="0"/>
          </a:p>
        </p:txBody>
      </p:sp>
    </p:spTree>
    <p:extLst>
      <p:ext uri="{BB962C8B-B14F-4D97-AF65-F5344CB8AC3E}">
        <p14:creationId xmlns:p14="http://schemas.microsoft.com/office/powerpoint/2010/main" val="7356626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41</a:t>
            </a:fld>
            <a:endParaRPr lang="en-US" dirty="0"/>
          </a:p>
        </p:txBody>
      </p:sp>
    </p:spTree>
    <p:extLst>
      <p:ext uri="{BB962C8B-B14F-4D97-AF65-F5344CB8AC3E}">
        <p14:creationId xmlns:p14="http://schemas.microsoft.com/office/powerpoint/2010/main" val="4598597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42</a:t>
            </a:fld>
            <a:endParaRPr lang="en-US" dirty="0"/>
          </a:p>
        </p:txBody>
      </p:sp>
    </p:spTree>
    <p:extLst>
      <p:ext uri="{BB962C8B-B14F-4D97-AF65-F5344CB8AC3E}">
        <p14:creationId xmlns:p14="http://schemas.microsoft.com/office/powerpoint/2010/main" val="12514851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43</a:t>
            </a:fld>
            <a:endParaRPr lang="en-US" dirty="0"/>
          </a:p>
        </p:txBody>
      </p:sp>
    </p:spTree>
    <p:extLst>
      <p:ext uri="{BB962C8B-B14F-4D97-AF65-F5344CB8AC3E}">
        <p14:creationId xmlns:p14="http://schemas.microsoft.com/office/powerpoint/2010/main" val="13358621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44</a:t>
            </a:fld>
            <a:endParaRPr lang="en-US" dirty="0"/>
          </a:p>
        </p:txBody>
      </p:sp>
    </p:spTree>
    <p:extLst>
      <p:ext uri="{BB962C8B-B14F-4D97-AF65-F5344CB8AC3E}">
        <p14:creationId xmlns:p14="http://schemas.microsoft.com/office/powerpoint/2010/main" val="39496688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45</a:t>
            </a:fld>
            <a:endParaRPr lang="en-US" dirty="0"/>
          </a:p>
        </p:txBody>
      </p:sp>
    </p:spTree>
    <p:extLst>
      <p:ext uri="{BB962C8B-B14F-4D97-AF65-F5344CB8AC3E}">
        <p14:creationId xmlns:p14="http://schemas.microsoft.com/office/powerpoint/2010/main" val="35270724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46</a:t>
            </a:fld>
            <a:endParaRPr lang="en-US" dirty="0"/>
          </a:p>
        </p:txBody>
      </p:sp>
    </p:spTree>
    <p:extLst>
      <p:ext uri="{BB962C8B-B14F-4D97-AF65-F5344CB8AC3E}">
        <p14:creationId xmlns:p14="http://schemas.microsoft.com/office/powerpoint/2010/main" val="19929526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47</a:t>
            </a:fld>
            <a:endParaRPr lang="en-US" dirty="0"/>
          </a:p>
        </p:txBody>
      </p:sp>
    </p:spTree>
    <p:extLst>
      <p:ext uri="{BB962C8B-B14F-4D97-AF65-F5344CB8AC3E}">
        <p14:creationId xmlns:p14="http://schemas.microsoft.com/office/powerpoint/2010/main" val="35626130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48</a:t>
            </a:fld>
            <a:endParaRPr lang="en-US" dirty="0"/>
          </a:p>
        </p:txBody>
      </p:sp>
    </p:spTree>
    <p:extLst>
      <p:ext uri="{BB962C8B-B14F-4D97-AF65-F5344CB8AC3E}">
        <p14:creationId xmlns:p14="http://schemas.microsoft.com/office/powerpoint/2010/main" val="4695102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49</a:t>
            </a:fld>
            <a:endParaRPr lang="en-US" dirty="0"/>
          </a:p>
        </p:txBody>
      </p:sp>
    </p:spTree>
    <p:extLst>
      <p:ext uri="{BB962C8B-B14F-4D97-AF65-F5344CB8AC3E}">
        <p14:creationId xmlns:p14="http://schemas.microsoft.com/office/powerpoint/2010/main" val="17693832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50</a:t>
            </a:fld>
            <a:endParaRPr lang="en-US" dirty="0"/>
          </a:p>
        </p:txBody>
      </p:sp>
    </p:spTree>
    <p:extLst>
      <p:ext uri="{BB962C8B-B14F-4D97-AF65-F5344CB8AC3E}">
        <p14:creationId xmlns:p14="http://schemas.microsoft.com/office/powerpoint/2010/main" val="20934022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51</a:t>
            </a:fld>
            <a:endParaRPr lang="en-US" dirty="0"/>
          </a:p>
        </p:txBody>
      </p:sp>
    </p:spTree>
    <p:extLst>
      <p:ext uri="{BB962C8B-B14F-4D97-AF65-F5344CB8AC3E}">
        <p14:creationId xmlns:p14="http://schemas.microsoft.com/office/powerpoint/2010/main" val="1029982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B4C0EA-3E3A-F07E-B6BB-9A622488653C}"/>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5294E73D-3014-0F10-BD86-99170AA0A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C90D3CED-19D1-A3D2-645A-3C3C4364ABD2}"/>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5" name="页脚占位符 4">
            <a:extLst>
              <a:ext uri="{FF2B5EF4-FFF2-40B4-BE49-F238E27FC236}">
                <a16:creationId xmlns:a16="http://schemas.microsoft.com/office/drawing/2014/main" id="{E53542FC-FD6B-1F7F-1B36-5B0C994160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6BC7D80-C783-DB43-6C52-AA50A9283129}"/>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342008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BB677F-8E12-1EDD-5661-B94F2CAC7C4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F4E3E5C-03C5-6FF8-28D5-619A393C451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EA11A73-698D-720A-282F-D8CBA69B2F84}"/>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5" name="页脚占位符 4">
            <a:extLst>
              <a:ext uri="{FF2B5EF4-FFF2-40B4-BE49-F238E27FC236}">
                <a16:creationId xmlns:a16="http://schemas.microsoft.com/office/drawing/2014/main" id="{32C6BC8B-1599-C418-C871-FE880E67605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6EBD80-32F7-5AD9-1052-5D7FCC082B6B}"/>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4182235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5ADEC-DCCD-7713-4072-557C62A037C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30CFC48-3C94-C4EB-978B-BC29EC5615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69A01434-4A1F-D4F1-F054-B1C9B0095C67}"/>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5" name="页脚占位符 4">
            <a:extLst>
              <a:ext uri="{FF2B5EF4-FFF2-40B4-BE49-F238E27FC236}">
                <a16:creationId xmlns:a16="http://schemas.microsoft.com/office/drawing/2014/main" id="{E7BABE39-2380-6737-FFB0-D4F69D2981F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4E921B-12B7-F4D6-26DF-6A3529CAC8FD}"/>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112557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A729A1-D47B-552A-ACC1-32F8AA3B660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7E446D8-1D69-4DFB-EEE9-B705C9C8943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CA8C17C-7D27-8A05-209F-817F5BA5DD4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DEA32E0-ACB6-A99D-546B-B3BF455E5F4B}"/>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6" name="页脚占位符 5">
            <a:extLst>
              <a:ext uri="{FF2B5EF4-FFF2-40B4-BE49-F238E27FC236}">
                <a16:creationId xmlns:a16="http://schemas.microsoft.com/office/drawing/2014/main" id="{B3773437-1928-6E3B-804F-1D9B73F1E66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811D452-F803-FC1E-5975-9593DB9D49F4}"/>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1002319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4C232-97CD-FB43-7D1C-F19B32735CE0}"/>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619A703-92E4-2A55-72BD-D7CEF82724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4976351-ED22-11B6-9A92-1A6A9F90471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F1EF8AC-7303-5EFC-710C-77663884DB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35EAAAF-5B3E-1C44-C78A-7458E3FA9F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252ECF82-0DD8-4AB4-7F9B-86869805EDE7}"/>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8" name="页脚占位符 7">
            <a:extLst>
              <a:ext uri="{FF2B5EF4-FFF2-40B4-BE49-F238E27FC236}">
                <a16:creationId xmlns:a16="http://schemas.microsoft.com/office/drawing/2014/main" id="{02922E55-A0F0-892A-D119-16F6836863C8}"/>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AC1DDC5-57CE-93EF-A87B-C99EFD0A9315}"/>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531297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4707C8-00EF-6F1A-ABC8-99BD62A5EEF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3DAF898B-4B80-2BEE-CCCF-05274B7F70BC}"/>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4" name="页脚占位符 3">
            <a:extLst>
              <a:ext uri="{FF2B5EF4-FFF2-40B4-BE49-F238E27FC236}">
                <a16:creationId xmlns:a16="http://schemas.microsoft.com/office/drawing/2014/main" id="{2B908EC7-47E1-5C50-9FF4-EFF93AD0574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6E79BA5-6E38-F1C1-8A6A-FDC07A5DC44E}"/>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1858771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036892D-6DD3-F9AD-6181-599EB974F9FA}"/>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3" name="页脚占位符 2">
            <a:extLst>
              <a:ext uri="{FF2B5EF4-FFF2-40B4-BE49-F238E27FC236}">
                <a16:creationId xmlns:a16="http://schemas.microsoft.com/office/drawing/2014/main" id="{4BD05640-D0B4-C7C7-3418-007C99ED6739}"/>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4D6E3E97-BD31-728E-EE24-DB68F4B6D98C}"/>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2344933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700F1-3985-F599-3F6D-23C70857D2C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895ADC9-732C-5FB6-C9D0-236284A666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F96A97D-8DC7-F225-6492-1F8AA61601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854B165-3371-0EE0-65DC-8078A4419559}"/>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6" name="页脚占位符 5">
            <a:extLst>
              <a:ext uri="{FF2B5EF4-FFF2-40B4-BE49-F238E27FC236}">
                <a16:creationId xmlns:a16="http://schemas.microsoft.com/office/drawing/2014/main" id="{9D4D4B6F-AA56-FBCA-6704-77A78E536BDD}"/>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3660E08-904E-49ED-A044-3E8A21B7A549}"/>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2185423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39752B-3507-DD65-A063-88ED2D6168F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C483BB7-F0EA-9027-E196-574FE24172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F559951-C9BE-A88D-000B-B0237AF3F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C252053-F825-218E-35AE-728A087BA439}"/>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6" name="页脚占位符 5">
            <a:extLst>
              <a:ext uri="{FF2B5EF4-FFF2-40B4-BE49-F238E27FC236}">
                <a16:creationId xmlns:a16="http://schemas.microsoft.com/office/drawing/2014/main" id="{0F68B875-587E-8CAF-0B7F-3420CEC29F1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752E63A-6656-F6F7-AB43-82693286441D}"/>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191563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5CE077-2737-9532-94A0-5825DC4FC8CA}"/>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D2728E7-31C5-5BFF-8A22-8BA375D381E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1D6A4FA-9902-B68D-1203-405A936C40BA}"/>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5" name="页脚占位符 4">
            <a:extLst>
              <a:ext uri="{FF2B5EF4-FFF2-40B4-BE49-F238E27FC236}">
                <a16:creationId xmlns:a16="http://schemas.microsoft.com/office/drawing/2014/main" id="{E1553E0A-6104-06F6-7F0D-9FF6AD193E6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387594A-ADC4-B4DC-8340-F7853A0A0EEC}"/>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202155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4DE3A58-5563-D9FA-C97C-57E1F464CB5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97ACA02-064B-B2F8-C0B7-47E2B62DE69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FAED00A-05D9-F1EA-61E8-B23791F63FBF}"/>
              </a:ext>
            </a:extLst>
          </p:cNvPr>
          <p:cNvSpPr>
            <a:spLocks noGrp="1"/>
          </p:cNvSpPr>
          <p:nvPr>
            <p:ph type="dt" sz="half" idx="10"/>
          </p:nvPr>
        </p:nvSpPr>
        <p:spPr/>
        <p:txBody>
          <a:bodyPr/>
          <a:lstStyle/>
          <a:p>
            <a:fld id="{5F3DE623-80C9-CF4A-B08D-F525A34EA860}" type="datetimeFigureOut">
              <a:rPr kumimoji="1" lang="zh-CN" altLang="en-US" smtClean="0"/>
              <a:t>2025/3/13</a:t>
            </a:fld>
            <a:endParaRPr kumimoji="1" lang="zh-CN" altLang="en-US"/>
          </a:p>
        </p:txBody>
      </p:sp>
      <p:sp>
        <p:nvSpPr>
          <p:cNvPr id="5" name="页脚占位符 4">
            <a:extLst>
              <a:ext uri="{FF2B5EF4-FFF2-40B4-BE49-F238E27FC236}">
                <a16:creationId xmlns:a16="http://schemas.microsoft.com/office/drawing/2014/main" id="{D6B398A6-4FD5-0790-DF8E-EBEE9E033A5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9D2CF8D-4848-9AB3-7721-9B19406C0EC7}"/>
              </a:ext>
            </a:extLst>
          </p:cNvPr>
          <p:cNvSpPr>
            <a:spLocks noGrp="1"/>
          </p:cNvSpPr>
          <p:nvPr>
            <p:ph type="sldNum" sz="quarter" idx="12"/>
          </p:nvPr>
        </p:nvSpPr>
        <p:spPr/>
        <p:txBody>
          <a:body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233329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E4F7E0E-19A7-DFFD-D5C8-6632F06349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CEEAB53-9D46-B866-1DB2-860259A61B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5EFA35B-B778-0037-9C1C-96FA278D77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3DE623-80C9-CF4A-B08D-F525A34EA860}" type="datetimeFigureOut">
              <a:rPr kumimoji="1" lang="zh-CN" altLang="en-US" smtClean="0"/>
              <a:t>2025/3/13</a:t>
            </a:fld>
            <a:endParaRPr kumimoji="1" lang="zh-CN" altLang="en-US"/>
          </a:p>
        </p:txBody>
      </p:sp>
      <p:sp>
        <p:nvSpPr>
          <p:cNvPr id="5" name="页脚占位符 4">
            <a:extLst>
              <a:ext uri="{FF2B5EF4-FFF2-40B4-BE49-F238E27FC236}">
                <a16:creationId xmlns:a16="http://schemas.microsoft.com/office/drawing/2014/main" id="{C390D952-EDA9-3A82-4E38-AAA489F685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019C6F9-9C05-12FF-F32F-F37284024F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C01AB4-972A-0A4B-9E79-88C5CA306F8B}" type="slidenum">
              <a:rPr kumimoji="1" lang="zh-CN" altLang="en-US" smtClean="0"/>
              <a:t>‹#›</a:t>
            </a:fld>
            <a:endParaRPr kumimoji="1" lang="zh-CN" altLang="en-US"/>
          </a:p>
        </p:txBody>
      </p:sp>
    </p:spTree>
    <p:extLst>
      <p:ext uri="{BB962C8B-B14F-4D97-AF65-F5344CB8AC3E}">
        <p14:creationId xmlns:p14="http://schemas.microsoft.com/office/powerpoint/2010/main" val="1901987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4" y="561975"/>
            <a:ext cx="5127523" cy="1939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5400" b="1" dirty="0">
                <a:solidFill>
                  <a:srgbClr val="000099"/>
                </a:solidFill>
                <a:latin typeface="+mj-lt"/>
              </a:rPr>
              <a:t>Chapter 7</a:t>
            </a:r>
            <a:br>
              <a:rPr lang="en-US" altLang="en-US" sz="6000" b="1" dirty="0">
                <a:solidFill>
                  <a:srgbClr val="000099"/>
                </a:solidFill>
                <a:latin typeface="+mj-lt"/>
              </a:rPr>
            </a:br>
            <a:r>
              <a:rPr lang="en-US" altLang="en-US" sz="6000" b="1" dirty="0">
                <a:solidFill>
                  <a:srgbClr val="000099"/>
                </a:solidFill>
                <a:latin typeface="+mj-lt"/>
              </a:rPr>
              <a:t>Physical Layer</a:t>
            </a:r>
            <a:endParaRPr lang="en-US" altLang="en-US" sz="5400" b="1" dirty="0">
              <a:solidFill>
                <a:srgbClr val="000099"/>
              </a:solidFill>
              <a:latin typeface="+mj-lt"/>
            </a:endParaRPr>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a:effectLst>
            <a:outerShdw blurRad="50800" dist="38100" dir="18900000" algn="bl" rotWithShape="0">
              <a:prstClr val="black">
                <a:alpha val="40000"/>
              </a:prstClr>
            </a:outerShdw>
          </a:effectLst>
        </p:spPr>
      </p:pic>
      <p:sp>
        <p:nvSpPr>
          <p:cNvPr id="2" name="Text Box 6">
            <a:extLst>
              <a:ext uri="{FF2B5EF4-FFF2-40B4-BE49-F238E27FC236}">
                <a16:creationId xmlns:a16="http://schemas.microsoft.com/office/drawing/2014/main" id="{6C8D7003-A5DB-A739-A9DB-A44FC40F385C}"/>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3" name="Text Box 7">
            <a:extLst>
              <a:ext uri="{FF2B5EF4-FFF2-40B4-BE49-F238E27FC236}">
                <a16:creationId xmlns:a16="http://schemas.microsoft.com/office/drawing/2014/main" id="{BE4023D0-C110-5C57-7056-32CDFE1420CF}"/>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1996-2020</a:t>
            </a:r>
          </a:p>
          <a:p>
            <a:pPr>
              <a:lnSpc>
                <a:spcPct val="85000"/>
              </a:lnSpc>
            </a:pPr>
            <a:r>
              <a:rPr lang="en-US" altLang="en-US" sz="1400" dirty="0">
                <a:latin typeface="+mn-lt"/>
              </a:rPr>
              <a:t>     J.F Kurose and K.W. Ross, All Rights Reserved</a:t>
            </a:r>
            <a:endParaRPr lang="en-US" altLang="en-US" sz="1200" dirty="0">
              <a:latin typeface="+mn-lt"/>
            </a:endParaRPr>
          </a:p>
        </p:txBody>
      </p:sp>
    </p:spTree>
    <p:extLst>
      <p:ext uri="{BB962C8B-B14F-4D97-AF65-F5344CB8AC3E}">
        <p14:creationId xmlns:p14="http://schemas.microsoft.com/office/powerpoint/2010/main" val="231482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Physical Layer roadmap</a:t>
            </a:r>
            <a:endParaRPr lang="en-US" b="1" dirty="0">
              <a:solidFill>
                <a:srgbClr val="000099"/>
              </a:solidFill>
            </a:endParaRPr>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ea typeface="ＭＳ Ｐゴシック" panose="020B0600070205080204" pitchFamily="34" charset="-128"/>
                <a:cs typeface="Arial" panose="020B0604020202020204" pitchFamily="34" charset="0"/>
              </a:rPr>
              <a:t>Basic concepts of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knowledge of data communication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The transmission medium below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Channel multiplexing techniques</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Broadband Access Technology</a:t>
            </a:r>
          </a:p>
          <a:p>
            <a:pPr marL="407988" indent="-277813">
              <a:spcBef>
                <a:spcPts val="600"/>
              </a:spcBef>
              <a:buClr>
                <a:schemeClr val="bg1">
                  <a:lumMod val="75000"/>
                </a:schemeClr>
              </a:buClr>
            </a:pPr>
            <a:endParaRPr lang="en-US" altLang="en-US" sz="3200" dirty="0">
              <a:solidFill>
                <a:schemeClr val="bg1">
                  <a:lumMod val="75000"/>
                </a:schemeClr>
              </a:solidFill>
              <a:ea typeface="ＭＳ Ｐゴシック" panose="020B0600070205080204" pitchFamily="34" charset="-128"/>
              <a:cs typeface="Arial" panose="020B0604020202020204" pitchFamily="34" charset="0"/>
            </a:endParaRP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Tree>
    <p:extLst>
      <p:ext uri="{BB962C8B-B14F-4D97-AF65-F5344CB8AC3E}">
        <p14:creationId xmlns:p14="http://schemas.microsoft.com/office/powerpoint/2010/main" val="801550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Basic concepts of the physical layer</a:t>
            </a:r>
          </a:p>
        </p:txBody>
      </p:sp>
      <p:sp>
        <p:nvSpPr>
          <p:cNvPr id="10" name="文本框 9">
            <a:extLst>
              <a:ext uri="{FF2B5EF4-FFF2-40B4-BE49-F238E27FC236}">
                <a16:creationId xmlns:a16="http://schemas.microsoft.com/office/drawing/2014/main" id="{9F27D1A4-0E70-3748-B21A-790679DB0199}"/>
              </a:ext>
            </a:extLst>
          </p:cNvPr>
          <p:cNvSpPr txBox="1"/>
          <p:nvPr/>
        </p:nvSpPr>
        <p:spPr>
          <a:xfrm>
            <a:off x="931817" y="1245326"/>
            <a:ext cx="10382474" cy="5064976"/>
          </a:xfrm>
          <a:prstGeom prst="rect">
            <a:avLst/>
          </a:prstGeom>
          <a:noFill/>
        </p:spPr>
        <p:txBody>
          <a:bodyPr wrap="square">
            <a:spAutoFit/>
          </a:body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The physical layer considers how </a:t>
            </a:r>
            <a:r>
              <a:rPr lang="en-US" altLang="en-US" sz="3000" dirty="0">
                <a:solidFill>
                  <a:srgbClr val="000099"/>
                </a:solidFill>
                <a:latin typeface="Calibri" panose="020F0502020204030204" pitchFamily="34" charset="0"/>
                <a:ea typeface="+mj-ea"/>
                <a:cs typeface="Calibri" panose="020F0502020204030204" pitchFamily="34" charset="0"/>
              </a:rPr>
              <a:t>a stream of data bits </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can be transmitted over a transmission medium connecting various computers, </a:t>
            </a:r>
            <a:r>
              <a:rPr lang="en-US" altLang="en-US" sz="3000" dirty="0">
                <a:solidFill>
                  <a:srgbClr val="000099"/>
                </a:solidFill>
                <a:latin typeface="Calibri" panose="020F0502020204030204" pitchFamily="34" charset="0"/>
                <a:ea typeface="+mj-ea"/>
                <a:cs typeface="Calibri" panose="020F0502020204030204" pitchFamily="34" charset="0"/>
              </a:rPr>
              <a:t>rather than referring to a specific transmission medium.</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The role of the physical layer is to </a:t>
            </a:r>
            <a:r>
              <a:rPr lang="en-US" altLang="en-US" sz="3000" dirty="0">
                <a:solidFill>
                  <a:srgbClr val="000099"/>
                </a:solidFill>
                <a:latin typeface="Calibri" panose="020F0502020204030204" pitchFamily="34" charset="0"/>
                <a:ea typeface="+mj-ea"/>
                <a:cs typeface="Calibri" panose="020F0502020204030204" pitchFamily="34" charset="0"/>
              </a:rPr>
              <a:t>shield</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the differences between the different transmission media and means of communication as much as possible.</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404813" indent="-274638">
              <a:lnSpc>
                <a:spcPct val="90000"/>
              </a:lnSpc>
              <a:spcBef>
                <a:spcPts val="1000"/>
              </a:spcBef>
              <a:buClr>
                <a:srgbClr val="0000A3"/>
              </a:buClr>
              <a:buFont typeface="Wingdings" pitchFamily="2" charset="2"/>
              <a:buChar char="§"/>
              <a:defRPr/>
            </a:pPr>
            <a:r>
              <a:rPr lang="en-US" altLang="en-US" sz="2800" dirty="0">
                <a:solidFill>
                  <a:prstClr val="black"/>
                </a:solidFill>
                <a:latin typeface="Calibri" panose="020F0502020204030204"/>
                <a:ea typeface="ＭＳ Ｐゴシック" panose="020B0600070205080204" pitchFamily="34" charset="-128"/>
              </a:rPr>
              <a:t>Protocols for the physical layer are also often referred to as physical layer </a:t>
            </a:r>
            <a:r>
              <a:rPr lang="en-US" altLang="en-US" sz="3000" dirty="0">
                <a:solidFill>
                  <a:srgbClr val="000099"/>
                </a:solidFill>
                <a:latin typeface="Calibri" panose="020F0502020204030204" pitchFamily="34" charset="0"/>
                <a:ea typeface="+mj-ea"/>
                <a:cs typeface="Calibri" panose="020F0502020204030204" pitchFamily="34" charset="0"/>
              </a:rPr>
              <a:t>procedures</a:t>
            </a:r>
            <a:r>
              <a:rPr lang="en-US" altLang="en-US" sz="2800" dirty="0">
                <a:solidFill>
                  <a:prstClr val="black"/>
                </a:solidFill>
                <a:latin typeface="Calibri" panose="020F0502020204030204"/>
                <a:ea typeface="ＭＳ Ｐゴシック" panose="020B0600070205080204" pitchFamily="34" charset="-128"/>
              </a:rPr>
              <a:t>.</a:t>
            </a:r>
          </a:p>
        </p:txBody>
      </p:sp>
    </p:spTree>
    <p:extLst>
      <p:ext uri="{BB962C8B-B14F-4D97-AF65-F5344CB8AC3E}">
        <p14:creationId xmlns:p14="http://schemas.microsoft.com/office/powerpoint/2010/main" val="2711801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Main tasks of the physical layer</a:t>
            </a:r>
          </a:p>
        </p:txBody>
      </p:sp>
      <p:sp>
        <p:nvSpPr>
          <p:cNvPr id="10" name="文本框 9">
            <a:extLst>
              <a:ext uri="{FF2B5EF4-FFF2-40B4-BE49-F238E27FC236}">
                <a16:creationId xmlns:a16="http://schemas.microsoft.com/office/drawing/2014/main" id="{9F27D1A4-0E70-3748-B21A-790679DB0199}"/>
              </a:ext>
            </a:extLst>
          </p:cNvPr>
          <p:cNvSpPr txBox="1"/>
          <p:nvPr/>
        </p:nvSpPr>
        <p:spPr>
          <a:xfrm>
            <a:off x="931817" y="1245326"/>
            <a:ext cx="10382474" cy="5733877"/>
          </a:xfrm>
          <a:prstGeom prst="rect">
            <a:avLst/>
          </a:prstGeom>
          <a:noFill/>
        </p:spPr>
        <p:txBody>
          <a:bodyPr wrap="square">
            <a:spAutoFit/>
          </a:body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en-US" altLang="en-US" sz="3000" dirty="0">
                <a:solidFill>
                  <a:srgbClr val="000099"/>
                </a:solidFill>
                <a:latin typeface="Calibri" panose="020F0502020204030204" pitchFamily="34" charset="0"/>
                <a:ea typeface="+mj-ea"/>
                <a:cs typeface="Calibri" panose="020F0502020204030204" pitchFamily="34" charset="0"/>
              </a:rPr>
              <a:t>Main task</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To determine some features of the interface with the transmission medium.</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Mechanical properties: Specify the shape and size of the connectors used for the interface, the number and arrangement of leads, fixing and locking devices, etc. </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Electrical characteristics: Indicates the range of voltages present on each line of the interface cable. </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Functional characteristics: Indicates the significance of the voltage present at a certain level on a certain line. </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Process characteristics: Indicate the order of occurrence of various possible events for different functions.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zh-CN" altLang="en-US" sz="2000" dirty="0">
                <a:solidFill>
                  <a:prstClr val="black"/>
                </a:solidFill>
                <a:latin typeface="Calibri" panose="020F0502020204030204"/>
                <a:ea typeface="ＭＳ Ｐゴシック" panose="020B0600070205080204" pitchFamily="34" charset="-128"/>
              </a:rPr>
              <a:t>机械特性：指定用于接口的连接器的形状和尺寸、引线的数量和排列、固定和锁定装置等。</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zh-CN" altLang="en-US" sz="2000" dirty="0">
                <a:solidFill>
                  <a:prstClr val="black"/>
                </a:solidFill>
                <a:latin typeface="Calibri" panose="020F0502020204030204"/>
                <a:ea typeface="ＭＳ Ｐゴシック" panose="020B0600070205080204" pitchFamily="34" charset="-128"/>
              </a:rPr>
              <a:t>电气特性：表示接口电缆每条线上存在的电压范围。</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zh-CN" altLang="en-US" sz="2000" dirty="0">
                <a:solidFill>
                  <a:prstClr val="black"/>
                </a:solidFill>
                <a:latin typeface="Calibri" panose="020F0502020204030204"/>
                <a:ea typeface="ＭＳ Ｐゴシック" panose="020B0600070205080204" pitchFamily="34" charset="-128"/>
              </a:rPr>
              <a:t>功能特性：表示某条线路上某一水平电压的显著性。</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lang="zh-CN" altLang="en-US" sz="2000" dirty="0">
                <a:solidFill>
                  <a:prstClr val="black"/>
                </a:solidFill>
                <a:latin typeface="Calibri" panose="020F0502020204030204"/>
                <a:ea typeface="ＭＳ Ｐゴシック" panose="020B0600070205080204" pitchFamily="34" charset="-128"/>
              </a:rPr>
              <a:t>过程特性：指出不同功能的各种可能事件的发生顺序。</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lang="en-US" altLang="en-US" sz="24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677277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model of the data communication system</a:t>
            </a:r>
          </a:p>
        </p:txBody>
      </p:sp>
      <p:sp>
        <p:nvSpPr>
          <p:cNvPr id="3" name="矩形 2">
            <a:extLst>
              <a:ext uri="{FF2B5EF4-FFF2-40B4-BE49-F238E27FC236}">
                <a16:creationId xmlns:a16="http://schemas.microsoft.com/office/drawing/2014/main" id="{861C50CF-23EA-060F-2DB9-639876BA4345}"/>
              </a:ext>
            </a:extLst>
          </p:cNvPr>
          <p:cNvSpPr/>
          <p:nvPr/>
        </p:nvSpPr>
        <p:spPr>
          <a:xfrm>
            <a:off x="798691" y="1298557"/>
            <a:ext cx="9869309" cy="1290803"/>
          </a:xfrm>
          <a:prstGeom prst="rect">
            <a:avLst/>
          </a:prstGeom>
          <a:noFill/>
        </p:spPr>
        <p:txBody>
          <a:bodyPr wrap="square" anchor="ctr">
            <a:spAutoFit/>
          </a:bodyPr>
          <a:lstStyle/>
          <a:p>
            <a:pPr>
              <a:lnSpc>
                <a:spcPct val="110000"/>
              </a:lnSpc>
            </a:pPr>
            <a:r>
              <a:rPr lang="en" altLang="zh-CN" sz="2400" dirty="0">
                <a:solidFill>
                  <a:srgbClr val="000099"/>
                </a:solidFill>
                <a:latin typeface="Calibri" panose="020F0502020204030204" pitchFamily="34" charset="0"/>
                <a:ea typeface="+mj-ea"/>
                <a:cs typeface="Calibri" panose="020F0502020204030204" pitchFamily="34" charset="0"/>
              </a:rPr>
              <a:t>A data communication </a:t>
            </a:r>
            <a:r>
              <a:rPr lang="en" altLang="zh-CN" sz="2400" dirty="0">
                <a:solidFill>
                  <a:prstClr val="black"/>
                </a:solidFill>
                <a:latin typeface="Calibri" panose="020F0502020204030204"/>
                <a:ea typeface="ＭＳ Ｐゴシック" panose="020B0600070205080204" pitchFamily="34" charset="-128"/>
              </a:rPr>
              <a:t>system consists of three parts: the source system (or </a:t>
            </a:r>
            <a:r>
              <a:rPr lang="en" altLang="zh-CN" sz="2400" dirty="0">
                <a:solidFill>
                  <a:srgbClr val="000099"/>
                </a:solidFill>
                <a:latin typeface="Calibri" panose="020F0502020204030204" pitchFamily="34" charset="0"/>
                <a:ea typeface="+mj-ea"/>
                <a:cs typeface="Calibri" panose="020F0502020204030204" pitchFamily="34" charset="0"/>
              </a:rPr>
              <a:t>sender</a:t>
            </a:r>
            <a:r>
              <a:rPr lang="en" altLang="zh-CN" sz="2400" dirty="0">
                <a:solidFill>
                  <a:prstClr val="black"/>
                </a:solidFill>
                <a:latin typeface="Calibri" panose="020F0502020204030204"/>
                <a:ea typeface="ＭＳ Ｐゴシック" panose="020B0600070205080204" pitchFamily="34" charset="-128"/>
              </a:rPr>
              <a:t>), the transmission system (or </a:t>
            </a:r>
            <a:r>
              <a:rPr lang="en" altLang="zh-CN" sz="2400" dirty="0">
                <a:solidFill>
                  <a:srgbClr val="000099"/>
                </a:solidFill>
                <a:latin typeface="Calibri" panose="020F0502020204030204" pitchFamily="34" charset="0"/>
                <a:ea typeface="+mj-ea"/>
                <a:cs typeface="Calibri" panose="020F0502020204030204" pitchFamily="34" charset="0"/>
              </a:rPr>
              <a:t>transmission network</a:t>
            </a:r>
            <a:r>
              <a:rPr lang="en" altLang="zh-CN" sz="2400" dirty="0">
                <a:solidFill>
                  <a:prstClr val="black"/>
                </a:solidFill>
                <a:latin typeface="Calibri" panose="020F0502020204030204"/>
                <a:ea typeface="ＭＳ Ｐゴシック" panose="020B0600070205080204" pitchFamily="34" charset="-128"/>
              </a:rPr>
              <a:t>) and the destination system (or </a:t>
            </a:r>
            <a:r>
              <a:rPr lang="en" altLang="zh-CN" sz="2400" dirty="0">
                <a:solidFill>
                  <a:srgbClr val="000099"/>
                </a:solidFill>
                <a:latin typeface="Calibri" panose="020F0502020204030204" pitchFamily="34" charset="0"/>
                <a:ea typeface="+mj-ea"/>
                <a:cs typeface="Calibri" panose="020F0502020204030204" pitchFamily="34" charset="0"/>
              </a:rPr>
              <a:t>receiver</a:t>
            </a:r>
            <a:r>
              <a:rPr lang="en" altLang="zh-CN" sz="2400" dirty="0">
                <a:solidFill>
                  <a:prstClr val="black"/>
                </a:solidFill>
                <a:latin typeface="Calibri" panose="020F0502020204030204"/>
                <a:ea typeface="ＭＳ Ｐゴシック" panose="020B0600070205080204" pitchFamily="34" charset="-128"/>
              </a:rPr>
              <a:t>).</a:t>
            </a:r>
            <a:endParaRPr lang="zh-CN" altLang="en-US" sz="2400" dirty="0">
              <a:solidFill>
                <a:prstClr val="black"/>
              </a:solidFill>
              <a:latin typeface="Calibri" panose="020F0502020204030204"/>
              <a:ea typeface="ＭＳ Ｐゴシック" panose="020B0600070205080204" pitchFamily="34" charset="-128"/>
            </a:endParaRPr>
          </a:p>
        </p:txBody>
      </p:sp>
      <p:grpSp>
        <p:nvGrpSpPr>
          <p:cNvPr id="4" name="Group 104">
            <a:extLst>
              <a:ext uri="{FF2B5EF4-FFF2-40B4-BE49-F238E27FC236}">
                <a16:creationId xmlns:a16="http://schemas.microsoft.com/office/drawing/2014/main" id="{3CB1B2D6-E84F-7691-8DC3-C118AFDF90E5}"/>
              </a:ext>
            </a:extLst>
          </p:cNvPr>
          <p:cNvGrpSpPr>
            <a:grpSpLocks/>
          </p:cNvGrpSpPr>
          <p:nvPr/>
        </p:nvGrpSpPr>
        <p:grpSpPr bwMode="auto">
          <a:xfrm>
            <a:off x="3311995" y="4769153"/>
            <a:ext cx="691334" cy="706563"/>
            <a:chOff x="730" y="3160"/>
            <a:chExt cx="653" cy="723"/>
          </a:xfrm>
        </p:grpSpPr>
        <p:sp>
          <p:nvSpPr>
            <p:cNvPr id="5" name="Rectangle 7">
              <a:extLst>
                <a:ext uri="{FF2B5EF4-FFF2-40B4-BE49-F238E27FC236}">
                  <a16:creationId xmlns:a16="http://schemas.microsoft.com/office/drawing/2014/main" id="{2F68435C-F0B8-7DD6-CB79-1838F256427E}"/>
                </a:ext>
              </a:extLst>
            </p:cNvPr>
            <p:cNvSpPr>
              <a:spLocks noChangeArrowheads="1"/>
            </p:cNvSpPr>
            <p:nvPr/>
          </p:nvSpPr>
          <p:spPr bwMode="auto">
            <a:xfrm>
              <a:off x="864" y="3161"/>
              <a:ext cx="357" cy="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输入数据</a:t>
              </a:r>
            </a:p>
          </p:txBody>
        </p:sp>
        <p:sp>
          <p:nvSpPr>
            <p:cNvPr id="6" name="Line 18">
              <a:extLst>
                <a:ext uri="{FF2B5EF4-FFF2-40B4-BE49-F238E27FC236}">
                  <a16:creationId xmlns:a16="http://schemas.microsoft.com/office/drawing/2014/main" id="{CF287A48-F737-C673-92D2-3B29058FD1A2}"/>
                </a:ext>
              </a:extLst>
            </p:cNvPr>
            <p:cNvSpPr>
              <a:spLocks noChangeShapeType="1"/>
            </p:cNvSpPr>
            <p:nvPr/>
          </p:nvSpPr>
          <p:spPr bwMode="auto">
            <a:xfrm>
              <a:off x="730" y="3160"/>
              <a:ext cx="653"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grpSp>
        <p:nvGrpSpPr>
          <p:cNvPr id="7" name="Group 106">
            <a:extLst>
              <a:ext uri="{FF2B5EF4-FFF2-40B4-BE49-F238E27FC236}">
                <a16:creationId xmlns:a16="http://schemas.microsoft.com/office/drawing/2014/main" id="{EC3FA6AD-4E10-1B2B-4AB4-424BD549ECEB}"/>
              </a:ext>
            </a:extLst>
          </p:cNvPr>
          <p:cNvGrpSpPr>
            <a:grpSpLocks/>
          </p:cNvGrpSpPr>
          <p:nvPr/>
        </p:nvGrpSpPr>
        <p:grpSpPr bwMode="auto">
          <a:xfrm>
            <a:off x="4472022" y="4769150"/>
            <a:ext cx="996979" cy="593200"/>
            <a:chOff x="1599" y="3160"/>
            <a:chExt cx="911" cy="607"/>
          </a:xfrm>
        </p:grpSpPr>
        <p:sp>
          <p:nvSpPr>
            <p:cNvPr id="9" name="Rectangle 9">
              <a:extLst>
                <a:ext uri="{FF2B5EF4-FFF2-40B4-BE49-F238E27FC236}">
                  <a16:creationId xmlns:a16="http://schemas.microsoft.com/office/drawing/2014/main" id="{05BF7378-AB96-FB64-A029-6E25F5C32A56}"/>
                </a:ext>
              </a:extLst>
            </p:cNvPr>
            <p:cNvSpPr>
              <a:spLocks noChangeArrowheads="1"/>
            </p:cNvSpPr>
            <p:nvPr/>
          </p:nvSpPr>
          <p:spPr bwMode="auto">
            <a:xfrm>
              <a:off x="1599" y="3203"/>
              <a:ext cx="911"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发送</a:t>
              </a:r>
              <a:endParaRPr kumimoji="1" lang="en-US" altLang="zh-CN" sz="1000" b="1" dirty="0">
                <a:latin typeface="微软雅黑" pitchFamily="34" charset="-122"/>
                <a:ea typeface="微软雅黑" pitchFamily="34" charset="-122"/>
              </a:endParaRPr>
            </a:p>
            <a:p>
              <a:pPr algn="ctr" defTabSz="762000" eaLnBrk="0" hangingPunct="0"/>
              <a:r>
                <a:rPr kumimoji="1" lang="zh-CN" altLang="en-US" sz="1000" b="1" dirty="0">
                  <a:latin typeface="微软雅黑" pitchFamily="34" charset="-122"/>
                  <a:ea typeface="微软雅黑" pitchFamily="34" charset="-122"/>
                </a:rPr>
                <a:t>的信号</a:t>
              </a:r>
              <a:r>
                <a:rPr kumimoji="1" lang="en-US" altLang="zh-CN" sz="1000" b="1" dirty="0">
                  <a:latin typeface="微软雅黑" pitchFamily="34" charset="-122"/>
                  <a:ea typeface="微软雅黑" pitchFamily="34" charset="-122"/>
                </a:rPr>
                <a:t>(</a:t>
              </a:r>
              <a:r>
                <a:rPr kumimoji="1" lang="zh-CN" altLang="en-US" sz="1000" b="1" dirty="0">
                  <a:latin typeface="微软雅黑" pitchFamily="34" charset="-122"/>
                  <a:ea typeface="微软雅黑" pitchFamily="34" charset="-122"/>
                </a:rPr>
                <a:t>数字的或模拟的</a:t>
              </a:r>
              <a:r>
                <a:rPr kumimoji="1" lang="en-US" altLang="zh-CN" sz="1000" b="1" dirty="0">
                  <a:latin typeface="微软雅黑" pitchFamily="34" charset="-122"/>
                  <a:ea typeface="微软雅黑" pitchFamily="34" charset="-122"/>
                </a:rPr>
                <a:t>)</a:t>
              </a:r>
              <a:endParaRPr kumimoji="1" lang="zh-CN" altLang="en-US" sz="1000" b="1" dirty="0">
                <a:latin typeface="微软雅黑" pitchFamily="34" charset="-122"/>
                <a:ea typeface="微软雅黑" pitchFamily="34" charset="-122"/>
              </a:endParaRPr>
            </a:p>
          </p:txBody>
        </p:sp>
        <p:sp>
          <p:nvSpPr>
            <p:cNvPr id="11" name="Line 19">
              <a:extLst>
                <a:ext uri="{FF2B5EF4-FFF2-40B4-BE49-F238E27FC236}">
                  <a16:creationId xmlns:a16="http://schemas.microsoft.com/office/drawing/2014/main" id="{421E2D7C-005D-8291-DDAC-51F60224F7EE}"/>
                </a:ext>
              </a:extLst>
            </p:cNvPr>
            <p:cNvSpPr>
              <a:spLocks noChangeShapeType="1"/>
            </p:cNvSpPr>
            <p:nvPr/>
          </p:nvSpPr>
          <p:spPr bwMode="auto">
            <a:xfrm>
              <a:off x="1686" y="3160"/>
              <a:ext cx="777"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grpSp>
        <p:nvGrpSpPr>
          <p:cNvPr id="12" name="Group 108">
            <a:extLst>
              <a:ext uri="{FF2B5EF4-FFF2-40B4-BE49-F238E27FC236}">
                <a16:creationId xmlns:a16="http://schemas.microsoft.com/office/drawing/2014/main" id="{C9765D14-0397-1F86-B8BB-C45B4FF88E31}"/>
              </a:ext>
            </a:extLst>
          </p:cNvPr>
          <p:cNvGrpSpPr>
            <a:grpSpLocks/>
          </p:cNvGrpSpPr>
          <p:nvPr/>
        </p:nvGrpSpPr>
        <p:grpSpPr bwMode="auto">
          <a:xfrm>
            <a:off x="5923689" y="4769156"/>
            <a:ext cx="1106999" cy="575777"/>
            <a:chOff x="2991" y="3160"/>
            <a:chExt cx="824" cy="522"/>
          </a:xfrm>
        </p:grpSpPr>
        <p:sp>
          <p:nvSpPr>
            <p:cNvPr id="13" name="Rectangle 10">
              <a:extLst>
                <a:ext uri="{FF2B5EF4-FFF2-40B4-BE49-F238E27FC236}">
                  <a16:creationId xmlns:a16="http://schemas.microsoft.com/office/drawing/2014/main" id="{8B4E133F-24A8-DC26-BA08-E7BB4BEEB4CB}"/>
                </a:ext>
              </a:extLst>
            </p:cNvPr>
            <p:cNvSpPr>
              <a:spLocks noChangeArrowheads="1"/>
            </p:cNvSpPr>
            <p:nvPr/>
          </p:nvSpPr>
          <p:spPr bwMode="auto">
            <a:xfrm>
              <a:off x="2991" y="3182"/>
              <a:ext cx="824" cy="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接收</a:t>
              </a:r>
            </a:p>
            <a:p>
              <a:pPr algn="ctr" defTabSz="762000" eaLnBrk="0" hangingPunct="0"/>
              <a:r>
                <a:rPr kumimoji="1" lang="zh-CN" altLang="en-US" sz="1000" b="1" dirty="0">
                  <a:latin typeface="微软雅黑" pitchFamily="34" charset="-122"/>
                  <a:ea typeface="微软雅黑" pitchFamily="34" charset="-122"/>
                </a:rPr>
                <a:t>的信号</a:t>
              </a:r>
              <a:r>
                <a:rPr kumimoji="1" lang="en-US" altLang="zh-CN" sz="1000" b="1" dirty="0">
                  <a:latin typeface="微软雅黑" pitchFamily="34" charset="-122"/>
                  <a:ea typeface="微软雅黑" pitchFamily="34" charset="-122"/>
                </a:rPr>
                <a:t>(</a:t>
              </a:r>
              <a:r>
                <a:rPr kumimoji="1" lang="zh-CN" altLang="en-US" sz="1000" b="1" dirty="0">
                  <a:latin typeface="微软雅黑" pitchFamily="34" charset="-122"/>
                  <a:ea typeface="微软雅黑" pitchFamily="34" charset="-122"/>
                </a:rPr>
                <a:t>数字的或模拟的</a:t>
              </a:r>
              <a:r>
                <a:rPr kumimoji="1" lang="en-US" altLang="zh-CN" sz="1000" b="1" dirty="0">
                  <a:latin typeface="微软雅黑" pitchFamily="34" charset="-122"/>
                  <a:ea typeface="微软雅黑" pitchFamily="34" charset="-122"/>
                </a:rPr>
                <a:t>)</a:t>
              </a:r>
              <a:endParaRPr kumimoji="1" lang="zh-CN" altLang="en-US" sz="1000" b="1" dirty="0">
                <a:latin typeface="微软雅黑" pitchFamily="34" charset="-122"/>
                <a:ea typeface="微软雅黑" pitchFamily="34" charset="-122"/>
              </a:endParaRPr>
            </a:p>
          </p:txBody>
        </p:sp>
        <p:sp>
          <p:nvSpPr>
            <p:cNvPr id="14" name="Line 20">
              <a:extLst>
                <a:ext uri="{FF2B5EF4-FFF2-40B4-BE49-F238E27FC236}">
                  <a16:creationId xmlns:a16="http://schemas.microsoft.com/office/drawing/2014/main" id="{B7D2AFB6-97A3-2075-79A5-517361D45D19}"/>
                </a:ext>
              </a:extLst>
            </p:cNvPr>
            <p:cNvSpPr>
              <a:spLocks noChangeShapeType="1"/>
            </p:cNvSpPr>
            <p:nvPr/>
          </p:nvSpPr>
          <p:spPr bwMode="auto">
            <a:xfrm>
              <a:off x="3091" y="3160"/>
              <a:ext cx="650"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grpSp>
        <p:nvGrpSpPr>
          <p:cNvPr id="15" name="Group 110">
            <a:extLst>
              <a:ext uri="{FF2B5EF4-FFF2-40B4-BE49-F238E27FC236}">
                <a16:creationId xmlns:a16="http://schemas.microsoft.com/office/drawing/2014/main" id="{EE6B49A9-8637-43E9-5202-F04A06738C40}"/>
              </a:ext>
            </a:extLst>
          </p:cNvPr>
          <p:cNvGrpSpPr>
            <a:grpSpLocks/>
          </p:cNvGrpSpPr>
          <p:nvPr/>
        </p:nvGrpSpPr>
        <p:grpSpPr bwMode="auto">
          <a:xfrm>
            <a:off x="7474587" y="4769154"/>
            <a:ext cx="629930" cy="751518"/>
            <a:chOff x="4318" y="3160"/>
            <a:chExt cx="595" cy="769"/>
          </a:xfrm>
        </p:grpSpPr>
        <p:sp>
          <p:nvSpPr>
            <p:cNvPr id="16" name="Rectangle 8">
              <a:extLst>
                <a:ext uri="{FF2B5EF4-FFF2-40B4-BE49-F238E27FC236}">
                  <a16:creationId xmlns:a16="http://schemas.microsoft.com/office/drawing/2014/main" id="{FDC1E457-5AA9-3359-1034-5B5E4596A90F}"/>
                </a:ext>
              </a:extLst>
            </p:cNvPr>
            <p:cNvSpPr>
              <a:spLocks noChangeArrowheads="1"/>
            </p:cNvSpPr>
            <p:nvPr/>
          </p:nvSpPr>
          <p:spPr bwMode="auto">
            <a:xfrm>
              <a:off x="4442" y="3207"/>
              <a:ext cx="357" cy="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输出数据</a:t>
              </a:r>
            </a:p>
          </p:txBody>
        </p:sp>
        <p:sp>
          <p:nvSpPr>
            <p:cNvPr id="17" name="Line 21">
              <a:extLst>
                <a:ext uri="{FF2B5EF4-FFF2-40B4-BE49-F238E27FC236}">
                  <a16:creationId xmlns:a16="http://schemas.microsoft.com/office/drawing/2014/main" id="{3B86660F-AE81-2548-BB00-D74ED04244B4}"/>
                </a:ext>
              </a:extLst>
            </p:cNvPr>
            <p:cNvSpPr>
              <a:spLocks noChangeShapeType="1"/>
            </p:cNvSpPr>
            <p:nvPr/>
          </p:nvSpPr>
          <p:spPr bwMode="auto">
            <a:xfrm>
              <a:off x="4318" y="3160"/>
              <a:ext cx="595"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grpSp>
        <p:nvGrpSpPr>
          <p:cNvPr id="18" name="Group 103">
            <a:extLst>
              <a:ext uri="{FF2B5EF4-FFF2-40B4-BE49-F238E27FC236}">
                <a16:creationId xmlns:a16="http://schemas.microsoft.com/office/drawing/2014/main" id="{2D7707C3-4718-CD4B-AC56-EF72710EF2E0}"/>
              </a:ext>
            </a:extLst>
          </p:cNvPr>
          <p:cNvGrpSpPr>
            <a:grpSpLocks/>
          </p:cNvGrpSpPr>
          <p:nvPr/>
        </p:nvGrpSpPr>
        <p:grpSpPr bwMode="auto">
          <a:xfrm>
            <a:off x="2750361" y="4545357"/>
            <a:ext cx="567465" cy="447587"/>
            <a:chOff x="407" y="2931"/>
            <a:chExt cx="536" cy="458"/>
          </a:xfrm>
          <a:solidFill>
            <a:srgbClr val="0070C0"/>
          </a:solidFill>
        </p:grpSpPr>
        <p:sp>
          <p:nvSpPr>
            <p:cNvPr id="19" name="AutoShape 11">
              <a:extLst>
                <a:ext uri="{FF2B5EF4-FFF2-40B4-BE49-F238E27FC236}">
                  <a16:creationId xmlns:a16="http://schemas.microsoft.com/office/drawing/2014/main" id="{97BA4EEC-5921-B4A0-782F-5B0D9A040EF9}"/>
                </a:ext>
              </a:extLst>
            </p:cNvPr>
            <p:cNvSpPr>
              <a:spLocks noChangeArrowheads="1"/>
            </p:cNvSpPr>
            <p:nvPr/>
          </p:nvSpPr>
          <p:spPr bwMode="auto">
            <a:xfrm>
              <a:off x="407" y="2931"/>
              <a:ext cx="536" cy="458"/>
            </a:xfrm>
            <a:prstGeom prst="cube">
              <a:avLst>
                <a:gd name="adj" fmla="val 13069"/>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20" name="Rectangle 22">
              <a:extLst>
                <a:ext uri="{FF2B5EF4-FFF2-40B4-BE49-F238E27FC236}">
                  <a16:creationId xmlns:a16="http://schemas.microsoft.com/office/drawing/2014/main" id="{ECAB9BDE-0FEF-041E-3044-68891AFAD76A}"/>
                </a:ext>
              </a:extLst>
            </p:cNvPr>
            <p:cNvSpPr>
              <a:spLocks noChangeArrowheads="1"/>
            </p:cNvSpPr>
            <p:nvPr/>
          </p:nvSpPr>
          <p:spPr bwMode="auto">
            <a:xfrm>
              <a:off x="431" y="3059"/>
              <a:ext cx="447"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源点</a:t>
              </a:r>
            </a:p>
          </p:txBody>
        </p:sp>
      </p:grpSp>
      <p:grpSp>
        <p:nvGrpSpPr>
          <p:cNvPr id="21" name="Group 111">
            <a:extLst>
              <a:ext uri="{FF2B5EF4-FFF2-40B4-BE49-F238E27FC236}">
                <a16:creationId xmlns:a16="http://schemas.microsoft.com/office/drawing/2014/main" id="{549C0621-CDD6-ED8C-42B9-B7ED05DB7F98}"/>
              </a:ext>
            </a:extLst>
          </p:cNvPr>
          <p:cNvGrpSpPr>
            <a:grpSpLocks/>
          </p:cNvGrpSpPr>
          <p:nvPr/>
        </p:nvGrpSpPr>
        <p:grpSpPr bwMode="auto">
          <a:xfrm>
            <a:off x="8057284" y="4545357"/>
            <a:ext cx="567465" cy="447587"/>
            <a:chOff x="4654" y="2931"/>
            <a:chExt cx="536" cy="458"/>
          </a:xfrm>
          <a:solidFill>
            <a:srgbClr val="008000"/>
          </a:solidFill>
        </p:grpSpPr>
        <p:sp>
          <p:nvSpPr>
            <p:cNvPr id="22" name="AutoShape 15">
              <a:extLst>
                <a:ext uri="{FF2B5EF4-FFF2-40B4-BE49-F238E27FC236}">
                  <a16:creationId xmlns:a16="http://schemas.microsoft.com/office/drawing/2014/main" id="{9D4C514B-8CF5-FB08-9852-9FB53C83396A}"/>
                </a:ext>
              </a:extLst>
            </p:cNvPr>
            <p:cNvSpPr>
              <a:spLocks noChangeArrowheads="1"/>
            </p:cNvSpPr>
            <p:nvPr/>
          </p:nvSpPr>
          <p:spPr bwMode="auto">
            <a:xfrm>
              <a:off x="4654" y="2931"/>
              <a:ext cx="536" cy="458"/>
            </a:xfrm>
            <a:prstGeom prst="cube">
              <a:avLst>
                <a:gd name="adj" fmla="val 13069"/>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23" name="Rectangle 23">
              <a:extLst>
                <a:ext uri="{FF2B5EF4-FFF2-40B4-BE49-F238E27FC236}">
                  <a16:creationId xmlns:a16="http://schemas.microsoft.com/office/drawing/2014/main" id="{75818DDA-9F1B-F14C-BE5B-4B5F47967558}"/>
                </a:ext>
              </a:extLst>
            </p:cNvPr>
            <p:cNvSpPr>
              <a:spLocks noChangeArrowheads="1"/>
            </p:cNvSpPr>
            <p:nvPr/>
          </p:nvSpPr>
          <p:spPr bwMode="auto">
            <a:xfrm>
              <a:off x="4681" y="3061"/>
              <a:ext cx="446"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终点</a:t>
              </a:r>
            </a:p>
          </p:txBody>
        </p:sp>
      </p:grpSp>
      <p:grpSp>
        <p:nvGrpSpPr>
          <p:cNvPr id="24" name="Group 105">
            <a:extLst>
              <a:ext uri="{FF2B5EF4-FFF2-40B4-BE49-F238E27FC236}">
                <a16:creationId xmlns:a16="http://schemas.microsoft.com/office/drawing/2014/main" id="{29658C3D-C0E3-1C2F-A6DB-480023DE494D}"/>
              </a:ext>
            </a:extLst>
          </p:cNvPr>
          <p:cNvGrpSpPr>
            <a:grpSpLocks/>
          </p:cNvGrpSpPr>
          <p:nvPr/>
        </p:nvGrpSpPr>
        <p:grpSpPr bwMode="auto">
          <a:xfrm>
            <a:off x="3969326" y="4545357"/>
            <a:ext cx="617224" cy="447587"/>
            <a:chOff x="1210" y="2931"/>
            <a:chExt cx="583" cy="458"/>
          </a:xfrm>
          <a:solidFill>
            <a:srgbClr val="0070C0"/>
          </a:solidFill>
        </p:grpSpPr>
        <p:sp>
          <p:nvSpPr>
            <p:cNvPr id="25" name="AutoShape 12">
              <a:extLst>
                <a:ext uri="{FF2B5EF4-FFF2-40B4-BE49-F238E27FC236}">
                  <a16:creationId xmlns:a16="http://schemas.microsoft.com/office/drawing/2014/main" id="{CD99BA51-8CF1-EC2F-CD84-5F21EF18FBDF}"/>
                </a:ext>
              </a:extLst>
            </p:cNvPr>
            <p:cNvSpPr>
              <a:spLocks noChangeArrowheads="1"/>
            </p:cNvSpPr>
            <p:nvPr/>
          </p:nvSpPr>
          <p:spPr bwMode="auto">
            <a:xfrm>
              <a:off x="1256" y="2931"/>
              <a:ext cx="537" cy="458"/>
            </a:xfrm>
            <a:prstGeom prst="cube">
              <a:avLst>
                <a:gd name="adj" fmla="val 13069"/>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26" name="Rectangle 24">
              <a:extLst>
                <a:ext uri="{FF2B5EF4-FFF2-40B4-BE49-F238E27FC236}">
                  <a16:creationId xmlns:a16="http://schemas.microsoft.com/office/drawing/2014/main" id="{DFAB539F-B209-8234-1CA0-062BF36E701A}"/>
                </a:ext>
              </a:extLst>
            </p:cNvPr>
            <p:cNvSpPr>
              <a:spLocks noChangeArrowheads="1"/>
            </p:cNvSpPr>
            <p:nvPr/>
          </p:nvSpPr>
          <p:spPr bwMode="auto">
            <a:xfrm>
              <a:off x="1210" y="3068"/>
              <a:ext cx="581"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发送器</a:t>
              </a:r>
            </a:p>
          </p:txBody>
        </p:sp>
      </p:grpSp>
      <p:grpSp>
        <p:nvGrpSpPr>
          <p:cNvPr id="27" name="Group 109">
            <a:extLst>
              <a:ext uri="{FF2B5EF4-FFF2-40B4-BE49-F238E27FC236}">
                <a16:creationId xmlns:a16="http://schemas.microsoft.com/office/drawing/2014/main" id="{1F0DE24D-46CD-E5F7-6D06-5915CAFB672B}"/>
              </a:ext>
            </a:extLst>
          </p:cNvPr>
          <p:cNvGrpSpPr>
            <a:grpSpLocks/>
          </p:cNvGrpSpPr>
          <p:nvPr/>
        </p:nvGrpSpPr>
        <p:grpSpPr bwMode="auto">
          <a:xfrm>
            <a:off x="6883828" y="4545357"/>
            <a:ext cx="615107" cy="447587"/>
            <a:chOff x="3760" y="2931"/>
            <a:chExt cx="581" cy="458"/>
          </a:xfrm>
          <a:solidFill>
            <a:srgbClr val="008000"/>
          </a:solidFill>
        </p:grpSpPr>
        <p:sp>
          <p:nvSpPr>
            <p:cNvPr id="28" name="AutoShape 14">
              <a:extLst>
                <a:ext uri="{FF2B5EF4-FFF2-40B4-BE49-F238E27FC236}">
                  <a16:creationId xmlns:a16="http://schemas.microsoft.com/office/drawing/2014/main" id="{B6261DF2-7C25-CE1F-7CC5-0E75507EC378}"/>
                </a:ext>
              </a:extLst>
            </p:cNvPr>
            <p:cNvSpPr>
              <a:spLocks noChangeArrowheads="1"/>
            </p:cNvSpPr>
            <p:nvPr/>
          </p:nvSpPr>
          <p:spPr bwMode="auto">
            <a:xfrm>
              <a:off x="3805" y="2931"/>
              <a:ext cx="535" cy="458"/>
            </a:xfrm>
            <a:prstGeom prst="cube">
              <a:avLst>
                <a:gd name="adj" fmla="val 13069"/>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29" name="Rectangle 25">
              <a:extLst>
                <a:ext uri="{FF2B5EF4-FFF2-40B4-BE49-F238E27FC236}">
                  <a16:creationId xmlns:a16="http://schemas.microsoft.com/office/drawing/2014/main" id="{3DAFEAFE-EFE1-D92A-9C74-3790CB3D2278}"/>
                </a:ext>
              </a:extLst>
            </p:cNvPr>
            <p:cNvSpPr>
              <a:spLocks noChangeArrowheads="1"/>
            </p:cNvSpPr>
            <p:nvPr/>
          </p:nvSpPr>
          <p:spPr bwMode="auto">
            <a:xfrm>
              <a:off x="3760" y="3059"/>
              <a:ext cx="581" cy="265"/>
            </a:xfrm>
            <a:prstGeom prst="rect">
              <a:avLst/>
            </a:prstGeom>
            <a:no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接收器</a:t>
              </a:r>
            </a:p>
          </p:txBody>
        </p:sp>
      </p:grpSp>
      <p:sp>
        <p:nvSpPr>
          <p:cNvPr id="30" name="Line 26">
            <a:extLst>
              <a:ext uri="{FF2B5EF4-FFF2-40B4-BE49-F238E27FC236}">
                <a16:creationId xmlns:a16="http://schemas.microsoft.com/office/drawing/2014/main" id="{95A5D1DC-C02D-16B7-3BF1-86C377611570}"/>
              </a:ext>
            </a:extLst>
          </p:cNvPr>
          <p:cNvSpPr>
            <a:spLocks noChangeShapeType="1"/>
          </p:cNvSpPr>
          <p:nvPr/>
        </p:nvSpPr>
        <p:spPr bwMode="auto">
          <a:xfrm>
            <a:off x="4493259" y="3675591"/>
            <a:ext cx="2556767" cy="0"/>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31" name="Line 27">
            <a:extLst>
              <a:ext uri="{FF2B5EF4-FFF2-40B4-BE49-F238E27FC236}">
                <a16:creationId xmlns:a16="http://schemas.microsoft.com/office/drawing/2014/main" id="{61F7CC6D-C87D-ED7E-3785-6636F7ACA9F5}"/>
              </a:ext>
            </a:extLst>
          </p:cNvPr>
          <p:cNvSpPr>
            <a:spLocks noChangeShapeType="1"/>
          </p:cNvSpPr>
          <p:nvPr/>
        </p:nvSpPr>
        <p:spPr bwMode="auto">
          <a:xfrm>
            <a:off x="3216463" y="3677546"/>
            <a:ext cx="1038588" cy="0"/>
          </a:xfrm>
          <a:prstGeom prst="line">
            <a:avLst/>
          </a:prstGeom>
          <a:noFill/>
          <a:ln w="76200" cmpd="tri">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32" name="Rectangle 28">
            <a:extLst>
              <a:ext uri="{FF2B5EF4-FFF2-40B4-BE49-F238E27FC236}">
                <a16:creationId xmlns:a16="http://schemas.microsoft.com/office/drawing/2014/main" id="{38C3DD04-915E-2799-882B-6ADCB255FA0C}"/>
              </a:ext>
            </a:extLst>
          </p:cNvPr>
          <p:cNvSpPr>
            <a:spLocks noChangeArrowheads="1"/>
          </p:cNvSpPr>
          <p:nvPr/>
        </p:nvSpPr>
        <p:spPr bwMode="auto">
          <a:xfrm>
            <a:off x="3797418" y="3809476"/>
            <a:ext cx="903074"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solidFill>
                  <a:srgbClr val="0000CC"/>
                </a:solidFill>
                <a:latin typeface="微软雅黑" pitchFamily="34" charset="-122"/>
                <a:ea typeface="微软雅黑" pitchFamily="34" charset="-122"/>
              </a:rPr>
              <a:t>调制解调器</a:t>
            </a:r>
          </a:p>
        </p:txBody>
      </p:sp>
      <p:sp>
        <p:nvSpPr>
          <p:cNvPr id="33" name="Line 29">
            <a:extLst>
              <a:ext uri="{FF2B5EF4-FFF2-40B4-BE49-F238E27FC236}">
                <a16:creationId xmlns:a16="http://schemas.microsoft.com/office/drawing/2014/main" id="{A37AEF2C-9239-2168-70DD-3D88AC202143}"/>
              </a:ext>
            </a:extLst>
          </p:cNvPr>
          <p:cNvSpPr>
            <a:spLocks noChangeShapeType="1"/>
          </p:cNvSpPr>
          <p:nvPr/>
        </p:nvSpPr>
        <p:spPr bwMode="auto">
          <a:xfrm>
            <a:off x="7400457" y="3675591"/>
            <a:ext cx="1228655" cy="0"/>
          </a:xfrm>
          <a:prstGeom prst="line">
            <a:avLst/>
          </a:prstGeom>
          <a:noFill/>
          <a:ln w="76200" cmpd="tri">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34" name="Rectangle 42">
            <a:extLst>
              <a:ext uri="{FF2B5EF4-FFF2-40B4-BE49-F238E27FC236}">
                <a16:creationId xmlns:a16="http://schemas.microsoft.com/office/drawing/2014/main" id="{78D5F420-A5E2-7B55-E434-E2B612DA0B8C}"/>
              </a:ext>
            </a:extLst>
          </p:cNvPr>
          <p:cNvSpPr>
            <a:spLocks noChangeArrowheads="1"/>
          </p:cNvSpPr>
          <p:nvPr/>
        </p:nvSpPr>
        <p:spPr bwMode="auto">
          <a:xfrm>
            <a:off x="2625151" y="3854430"/>
            <a:ext cx="854136"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solidFill>
                  <a:srgbClr val="0000CC"/>
                </a:solidFill>
                <a:latin typeface="微软雅黑" pitchFamily="34" charset="-122"/>
                <a:ea typeface="微软雅黑" pitchFamily="34" charset="-122"/>
              </a:rPr>
              <a:t>计算机</a:t>
            </a:r>
            <a:r>
              <a:rPr kumimoji="1" lang="en-US" altLang="zh-CN" sz="1000" b="1" dirty="0">
                <a:solidFill>
                  <a:srgbClr val="0000CC"/>
                </a:solidFill>
                <a:latin typeface="微软雅黑" pitchFamily="34" charset="-122"/>
                <a:ea typeface="微软雅黑" pitchFamily="34" charset="-122"/>
              </a:rPr>
              <a:t> </a:t>
            </a:r>
          </a:p>
        </p:txBody>
      </p:sp>
      <p:pic>
        <p:nvPicPr>
          <p:cNvPr id="35" name="Picture 44">
            <a:extLst>
              <a:ext uri="{FF2B5EF4-FFF2-40B4-BE49-F238E27FC236}">
                <a16:creationId xmlns:a16="http://schemas.microsoft.com/office/drawing/2014/main" id="{75C0B8BB-ABE5-3809-9C06-3B406C9589AA}"/>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8571" y="3529002"/>
            <a:ext cx="568524" cy="325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 name="Rectangle 46">
            <a:extLst>
              <a:ext uri="{FF2B5EF4-FFF2-40B4-BE49-F238E27FC236}">
                <a16:creationId xmlns:a16="http://schemas.microsoft.com/office/drawing/2014/main" id="{46285777-E7C7-9B95-DB87-E6D77794E833}"/>
              </a:ext>
            </a:extLst>
          </p:cNvPr>
          <p:cNvSpPr>
            <a:spLocks noChangeArrowheads="1"/>
          </p:cNvSpPr>
          <p:nvPr/>
        </p:nvSpPr>
        <p:spPr bwMode="auto">
          <a:xfrm>
            <a:off x="6777822" y="3827067"/>
            <a:ext cx="898839"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solidFill>
                  <a:srgbClr val="0000CC"/>
                </a:solidFill>
                <a:latin typeface="微软雅黑" pitchFamily="34" charset="-122"/>
                <a:ea typeface="微软雅黑" pitchFamily="34" charset="-122"/>
              </a:rPr>
              <a:t>调制解调器</a:t>
            </a:r>
          </a:p>
        </p:txBody>
      </p:sp>
      <p:grpSp>
        <p:nvGrpSpPr>
          <p:cNvPr id="37" name="Group 47">
            <a:extLst>
              <a:ext uri="{FF2B5EF4-FFF2-40B4-BE49-F238E27FC236}">
                <a16:creationId xmlns:a16="http://schemas.microsoft.com/office/drawing/2014/main" id="{6924DCD4-117D-63AE-92DE-BC8D2C7829DF}"/>
              </a:ext>
            </a:extLst>
          </p:cNvPr>
          <p:cNvGrpSpPr>
            <a:grpSpLocks/>
          </p:cNvGrpSpPr>
          <p:nvPr/>
        </p:nvGrpSpPr>
        <p:grpSpPr bwMode="auto">
          <a:xfrm>
            <a:off x="4636183" y="3408798"/>
            <a:ext cx="435127" cy="209135"/>
            <a:chOff x="2315" y="3965"/>
            <a:chExt cx="496" cy="254"/>
          </a:xfrm>
        </p:grpSpPr>
        <p:sp>
          <p:nvSpPr>
            <p:cNvPr id="38" name="Freeform 48">
              <a:extLst>
                <a:ext uri="{FF2B5EF4-FFF2-40B4-BE49-F238E27FC236}">
                  <a16:creationId xmlns:a16="http://schemas.microsoft.com/office/drawing/2014/main" id="{28FB9EE1-D6B6-445D-A9AA-F3A7C2EDDE70}"/>
                </a:ext>
              </a:extLst>
            </p:cNvPr>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39" name="Freeform 49">
              <a:extLst>
                <a:ext uri="{FF2B5EF4-FFF2-40B4-BE49-F238E27FC236}">
                  <a16:creationId xmlns:a16="http://schemas.microsoft.com/office/drawing/2014/main" id="{51DD0B06-EB4F-8815-FB55-250CDC9FC145}"/>
                </a:ext>
              </a:extLst>
            </p:cNvPr>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40" name="Freeform 50">
              <a:extLst>
                <a:ext uri="{FF2B5EF4-FFF2-40B4-BE49-F238E27FC236}">
                  <a16:creationId xmlns:a16="http://schemas.microsoft.com/office/drawing/2014/main" id="{C29CC43E-C7A1-3AE3-CB84-8645CF0B070E}"/>
                </a:ext>
              </a:extLst>
            </p:cNvPr>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41" name="Freeform 51">
              <a:extLst>
                <a:ext uri="{FF2B5EF4-FFF2-40B4-BE49-F238E27FC236}">
                  <a16:creationId xmlns:a16="http://schemas.microsoft.com/office/drawing/2014/main" id="{5FDA6838-9703-723E-536E-A252370302A4}"/>
                </a:ext>
              </a:extLst>
            </p:cNvPr>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grpSp>
      <p:sp>
        <p:nvSpPr>
          <p:cNvPr id="42" name="Freeform 52">
            <a:extLst>
              <a:ext uri="{FF2B5EF4-FFF2-40B4-BE49-F238E27FC236}">
                <a16:creationId xmlns:a16="http://schemas.microsoft.com/office/drawing/2014/main" id="{9889F5C3-5EE4-C1A8-5C2E-231660F718A6}"/>
              </a:ext>
            </a:extLst>
          </p:cNvPr>
          <p:cNvSpPr>
            <a:spLocks/>
          </p:cNvSpPr>
          <p:nvPr/>
        </p:nvSpPr>
        <p:spPr bwMode="auto">
          <a:xfrm>
            <a:off x="3457958" y="3471342"/>
            <a:ext cx="494414" cy="101636"/>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127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43" name="Rectangle 53">
            <a:extLst>
              <a:ext uri="{FF2B5EF4-FFF2-40B4-BE49-F238E27FC236}">
                <a16:creationId xmlns:a16="http://schemas.microsoft.com/office/drawing/2014/main" id="{3EEB214E-13A4-E465-97DB-D548D0E8DBD7}"/>
              </a:ext>
            </a:extLst>
          </p:cNvPr>
          <p:cNvSpPr>
            <a:spLocks noChangeArrowheads="1"/>
          </p:cNvSpPr>
          <p:nvPr/>
        </p:nvSpPr>
        <p:spPr bwMode="auto">
          <a:xfrm>
            <a:off x="3259716" y="3171323"/>
            <a:ext cx="967655"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数字比特流</a:t>
            </a:r>
          </a:p>
        </p:txBody>
      </p:sp>
      <p:sp>
        <p:nvSpPr>
          <p:cNvPr id="44" name="Rectangle 54">
            <a:extLst>
              <a:ext uri="{FF2B5EF4-FFF2-40B4-BE49-F238E27FC236}">
                <a16:creationId xmlns:a16="http://schemas.microsoft.com/office/drawing/2014/main" id="{2194D538-64E6-E466-61DA-C30116339D80}"/>
              </a:ext>
            </a:extLst>
          </p:cNvPr>
          <p:cNvSpPr>
            <a:spLocks noChangeArrowheads="1"/>
          </p:cNvSpPr>
          <p:nvPr/>
        </p:nvSpPr>
        <p:spPr bwMode="auto">
          <a:xfrm>
            <a:off x="7563533" y="3171323"/>
            <a:ext cx="947539"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数字比特流</a:t>
            </a:r>
          </a:p>
        </p:txBody>
      </p:sp>
      <p:sp>
        <p:nvSpPr>
          <p:cNvPr id="45" name="Rectangle 55">
            <a:extLst>
              <a:ext uri="{FF2B5EF4-FFF2-40B4-BE49-F238E27FC236}">
                <a16:creationId xmlns:a16="http://schemas.microsoft.com/office/drawing/2014/main" id="{20F87DD6-8902-0823-30B1-1C4E1E0267F5}"/>
              </a:ext>
            </a:extLst>
          </p:cNvPr>
          <p:cNvSpPr>
            <a:spLocks noChangeArrowheads="1"/>
          </p:cNvSpPr>
          <p:nvPr/>
        </p:nvSpPr>
        <p:spPr bwMode="auto">
          <a:xfrm>
            <a:off x="4453419" y="3171323"/>
            <a:ext cx="803555"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模拟信号</a:t>
            </a:r>
          </a:p>
        </p:txBody>
      </p:sp>
      <p:sp>
        <p:nvSpPr>
          <p:cNvPr id="46" name="Rectangle 56">
            <a:extLst>
              <a:ext uri="{FF2B5EF4-FFF2-40B4-BE49-F238E27FC236}">
                <a16:creationId xmlns:a16="http://schemas.microsoft.com/office/drawing/2014/main" id="{BA9A23EC-63E8-72B6-A33F-A0DEB0C68CC2}"/>
              </a:ext>
            </a:extLst>
          </p:cNvPr>
          <p:cNvSpPr>
            <a:spLocks noChangeArrowheads="1"/>
          </p:cNvSpPr>
          <p:nvPr/>
        </p:nvSpPr>
        <p:spPr bwMode="auto">
          <a:xfrm>
            <a:off x="6263277" y="3171323"/>
            <a:ext cx="813084"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模拟信号 </a:t>
            </a:r>
          </a:p>
        </p:txBody>
      </p:sp>
      <p:sp>
        <p:nvSpPr>
          <p:cNvPr id="47" name="Rectangle 57">
            <a:extLst>
              <a:ext uri="{FF2B5EF4-FFF2-40B4-BE49-F238E27FC236}">
                <a16:creationId xmlns:a16="http://schemas.microsoft.com/office/drawing/2014/main" id="{59DAB30A-0B18-EE62-02A2-77470A40C148}"/>
              </a:ext>
            </a:extLst>
          </p:cNvPr>
          <p:cNvSpPr>
            <a:spLocks noChangeArrowheads="1"/>
          </p:cNvSpPr>
          <p:nvPr/>
        </p:nvSpPr>
        <p:spPr bwMode="auto">
          <a:xfrm>
            <a:off x="2150250" y="3463147"/>
            <a:ext cx="767134"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输入汉字</a:t>
            </a:r>
          </a:p>
        </p:txBody>
      </p:sp>
      <p:sp>
        <p:nvSpPr>
          <p:cNvPr id="48" name="Rectangle 58">
            <a:extLst>
              <a:ext uri="{FF2B5EF4-FFF2-40B4-BE49-F238E27FC236}">
                <a16:creationId xmlns:a16="http://schemas.microsoft.com/office/drawing/2014/main" id="{E61E3064-410C-DCF5-7A39-28EFB87FBE39}"/>
              </a:ext>
            </a:extLst>
          </p:cNvPr>
          <p:cNvSpPr>
            <a:spLocks noChangeArrowheads="1"/>
          </p:cNvSpPr>
          <p:nvPr/>
        </p:nvSpPr>
        <p:spPr bwMode="auto">
          <a:xfrm>
            <a:off x="8867590" y="3463147"/>
            <a:ext cx="795963"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显示汉字</a:t>
            </a:r>
          </a:p>
        </p:txBody>
      </p:sp>
      <p:sp>
        <p:nvSpPr>
          <p:cNvPr id="49" name="Freeform 59">
            <a:extLst>
              <a:ext uri="{FF2B5EF4-FFF2-40B4-BE49-F238E27FC236}">
                <a16:creationId xmlns:a16="http://schemas.microsoft.com/office/drawing/2014/main" id="{207BD71B-1B48-35B0-74E1-6781EF82C575}"/>
              </a:ext>
            </a:extLst>
          </p:cNvPr>
          <p:cNvSpPr>
            <a:spLocks/>
          </p:cNvSpPr>
          <p:nvPr/>
        </p:nvSpPr>
        <p:spPr bwMode="auto">
          <a:xfrm>
            <a:off x="7789552" y="3484047"/>
            <a:ext cx="495473" cy="101636"/>
          </a:xfrm>
          <a:custGeom>
            <a:avLst/>
            <a:gdLst>
              <a:gd name="T0" fmla="*/ 0 w 672"/>
              <a:gd name="T1" fmla="*/ 288 h 288"/>
              <a:gd name="T2" fmla="*/ 96 w 672"/>
              <a:gd name="T3" fmla="*/ 288 h 288"/>
              <a:gd name="T4" fmla="*/ 96 w 672"/>
              <a:gd name="T5" fmla="*/ 0 h 288"/>
              <a:gd name="T6" fmla="*/ 192 w 672"/>
              <a:gd name="T7" fmla="*/ 0 h 288"/>
              <a:gd name="T8" fmla="*/ 192 w 672"/>
              <a:gd name="T9" fmla="*/ 288 h 288"/>
              <a:gd name="T10" fmla="*/ 288 w 672"/>
              <a:gd name="T11" fmla="*/ 288 h 288"/>
              <a:gd name="T12" fmla="*/ 288 w 672"/>
              <a:gd name="T13" fmla="*/ 0 h 288"/>
              <a:gd name="T14" fmla="*/ 384 w 672"/>
              <a:gd name="T15" fmla="*/ 0 h 288"/>
              <a:gd name="T16" fmla="*/ 384 w 672"/>
              <a:gd name="T17" fmla="*/ 288 h 288"/>
              <a:gd name="T18" fmla="*/ 480 w 672"/>
              <a:gd name="T19" fmla="*/ 288 h 288"/>
              <a:gd name="T20" fmla="*/ 480 w 672"/>
              <a:gd name="T21" fmla="*/ 0 h 288"/>
              <a:gd name="T22" fmla="*/ 576 w 672"/>
              <a:gd name="T23" fmla="*/ 0 h 288"/>
              <a:gd name="T24" fmla="*/ 576 w 672"/>
              <a:gd name="T25" fmla="*/ 288 h 288"/>
              <a:gd name="T26" fmla="*/ 672 w 672"/>
              <a:gd name="T27"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2" h="288">
                <a:moveTo>
                  <a:pt x="0" y="288"/>
                </a:moveTo>
                <a:lnTo>
                  <a:pt x="96" y="288"/>
                </a:lnTo>
                <a:lnTo>
                  <a:pt x="96" y="0"/>
                </a:lnTo>
                <a:lnTo>
                  <a:pt x="192" y="0"/>
                </a:lnTo>
                <a:lnTo>
                  <a:pt x="192" y="288"/>
                </a:lnTo>
                <a:lnTo>
                  <a:pt x="288" y="288"/>
                </a:lnTo>
                <a:lnTo>
                  <a:pt x="288" y="0"/>
                </a:lnTo>
                <a:lnTo>
                  <a:pt x="384" y="0"/>
                </a:lnTo>
                <a:lnTo>
                  <a:pt x="384" y="288"/>
                </a:lnTo>
                <a:lnTo>
                  <a:pt x="480" y="288"/>
                </a:lnTo>
                <a:lnTo>
                  <a:pt x="480" y="0"/>
                </a:lnTo>
                <a:lnTo>
                  <a:pt x="576" y="0"/>
                </a:lnTo>
                <a:lnTo>
                  <a:pt x="576" y="288"/>
                </a:lnTo>
                <a:lnTo>
                  <a:pt x="672" y="288"/>
                </a:lnTo>
              </a:path>
            </a:pathLst>
          </a:custGeom>
          <a:noFill/>
          <a:ln w="127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grpSp>
        <p:nvGrpSpPr>
          <p:cNvPr id="50" name="Group 60">
            <a:extLst>
              <a:ext uri="{FF2B5EF4-FFF2-40B4-BE49-F238E27FC236}">
                <a16:creationId xmlns:a16="http://schemas.microsoft.com/office/drawing/2014/main" id="{A8290FDF-10F9-AEC6-0792-45AE50CE4DD5}"/>
              </a:ext>
            </a:extLst>
          </p:cNvPr>
          <p:cNvGrpSpPr>
            <a:grpSpLocks/>
          </p:cNvGrpSpPr>
          <p:nvPr/>
        </p:nvGrpSpPr>
        <p:grpSpPr bwMode="auto">
          <a:xfrm>
            <a:off x="6468540" y="3408798"/>
            <a:ext cx="436186" cy="209135"/>
            <a:chOff x="2315" y="3965"/>
            <a:chExt cx="496" cy="254"/>
          </a:xfrm>
        </p:grpSpPr>
        <p:sp>
          <p:nvSpPr>
            <p:cNvPr id="51" name="Freeform 61">
              <a:extLst>
                <a:ext uri="{FF2B5EF4-FFF2-40B4-BE49-F238E27FC236}">
                  <a16:creationId xmlns:a16="http://schemas.microsoft.com/office/drawing/2014/main" id="{2CD679AA-AAAC-7807-2FE9-F23866AD82B0}"/>
                </a:ext>
              </a:extLst>
            </p:cNvPr>
            <p:cNvSpPr>
              <a:spLocks/>
            </p:cNvSpPr>
            <p:nvPr/>
          </p:nvSpPr>
          <p:spPr bwMode="auto">
            <a:xfrm>
              <a:off x="2315" y="4051"/>
              <a:ext cx="92" cy="8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52" name="Freeform 62">
              <a:extLst>
                <a:ext uri="{FF2B5EF4-FFF2-40B4-BE49-F238E27FC236}">
                  <a16:creationId xmlns:a16="http://schemas.microsoft.com/office/drawing/2014/main" id="{FBB70716-87CE-EB79-FAB3-EF3245064487}"/>
                </a:ext>
              </a:extLst>
            </p:cNvPr>
            <p:cNvSpPr>
              <a:spLocks/>
            </p:cNvSpPr>
            <p:nvPr/>
          </p:nvSpPr>
          <p:spPr bwMode="auto">
            <a:xfrm>
              <a:off x="2407" y="3965"/>
              <a:ext cx="157" cy="254"/>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53" name="Freeform 63">
              <a:extLst>
                <a:ext uri="{FF2B5EF4-FFF2-40B4-BE49-F238E27FC236}">
                  <a16:creationId xmlns:a16="http://schemas.microsoft.com/office/drawing/2014/main" id="{12639F84-CCA0-1BA6-3122-3516C4FA68ED}"/>
                </a:ext>
              </a:extLst>
            </p:cNvPr>
            <p:cNvSpPr>
              <a:spLocks/>
            </p:cNvSpPr>
            <p:nvPr/>
          </p:nvSpPr>
          <p:spPr bwMode="auto">
            <a:xfrm>
              <a:off x="2719" y="4051"/>
              <a:ext cx="92" cy="8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54" name="Freeform 64">
              <a:extLst>
                <a:ext uri="{FF2B5EF4-FFF2-40B4-BE49-F238E27FC236}">
                  <a16:creationId xmlns:a16="http://schemas.microsoft.com/office/drawing/2014/main" id="{F170A831-2107-DEDC-921F-E232E9FE2654}"/>
                </a:ext>
              </a:extLst>
            </p:cNvPr>
            <p:cNvSpPr>
              <a:spLocks/>
            </p:cNvSpPr>
            <p:nvPr/>
          </p:nvSpPr>
          <p:spPr bwMode="auto">
            <a:xfrm>
              <a:off x="2562" y="3965"/>
              <a:ext cx="157" cy="254"/>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27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100" b="1">
                <a:solidFill>
                  <a:srgbClr val="0000CC"/>
                </a:solidFill>
                <a:latin typeface="微软雅黑" pitchFamily="34" charset="-122"/>
                <a:ea typeface="微软雅黑" pitchFamily="34" charset="-122"/>
              </a:endParaRPr>
            </a:p>
          </p:txBody>
        </p:sp>
      </p:grpSp>
      <p:grpSp>
        <p:nvGrpSpPr>
          <p:cNvPr id="55" name="Group 101">
            <a:extLst>
              <a:ext uri="{FF2B5EF4-FFF2-40B4-BE49-F238E27FC236}">
                <a16:creationId xmlns:a16="http://schemas.microsoft.com/office/drawing/2014/main" id="{17CA75F6-595C-29EF-D4B1-30D7A0790709}"/>
              </a:ext>
            </a:extLst>
          </p:cNvPr>
          <p:cNvGrpSpPr>
            <a:grpSpLocks/>
          </p:cNvGrpSpPr>
          <p:nvPr/>
        </p:nvGrpSpPr>
        <p:grpSpPr bwMode="auto">
          <a:xfrm>
            <a:off x="6481503" y="4156403"/>
            <a:ext cx="2784388" cy="258974"/>
            <a:chOff x="3491" y="2533"/>
            <a:chExt cx="2630" cy="265"/>
          </a:xfrm>
        </p:grpSpPr>
        <p:sp>
          <p:nvSpPr>
            <p:cNvPr id="56" name="Line 70">
              <a:extLst>
                <a:ext uri="{FF2B5EF4-FFF2-40B4-BE49-F238E27FC236}">
                  <a16:creationId xmlns:a16="http://schemas.microsoft.com/office/drawing/2014/main" id="{92509AD2-3D5A-8D2B-80BE-651B894C8F71}"/>
                </a:ext>
              </a:extLst>
            </p:cNvPr>
            <p:cNvSpPr>
              <a:spLocks noChangeShapeType="1"/>
            </p:cNvSpPr>
            <p:nvPr/>
          </p:nvSpPr>
          <p:spPr bwMode="auto">
            <a:xfrm>
              <a:off x="3491" y="2660"/>
              <a:ext cx="2630" cy="0"/>
            </a:xfrm>
            <a:prstGeom prst="line">
              <a:avLst/>
            </a:prstGeom>
            <a:noFill/>
            <a:ln w="28575">
              <a:solidFill>
                <a:srgbClr val="009900"/>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57" name="Rectangle 73">
              <a:extLst>
                <a:ext uri="{FF2B5EF4-FFF2-40B4-BE49-F238E27FC236}">
                  <a16:creationId xmlns:a16="http://schemas.microsoft.com/office/drawing/2014/main" id="{F20006E6-20FB-F75E-5476-CFE81EDF8B07}"/>
                </a:ext>
              </a:extLst>
            </p:cNvPr>
            <p:cNvSpPr>
              <a:spLocks noChangeArrowheads="1"/>
            </p:cNvSpPr>
            <p:nvPr/>
          </p:nvSpPr>
          <p:spPr bwMode="auto">
            <a:xfrm>
              <a:off x="4448" y="2533"/>
              <a:ext cx="712" cy="265"/>
            </a:xfrm>
            <a:prstGeom prst="rect">
              <a:avLst/>
            </a:prstGeom>
            <a:solidFill>
              <a:srgbClr val="008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目的系统</a:t>
              </a:r>
            </a:p>
          </p:txBody>
        </p:sp>
      </p:grpSp>
      <p:grpSp>
        <p:nvGrpSpPr>
          <p:cNvPr id="58" name="Group 100">
            <a:extLst>
              <a:ext uri="{FF2B5EF4-FFF2-40B4-BE49-F238E27FC236}">
                <a16:creationId xmlns:a16="http://schemas.microsoft.com/office/drawing/2014/main" id="{6B5F1886-F737-123E-1B0F-28C6B0212C7B}"/>
              </a:ext>
            </a:extLst>
          </p:cNvPr>
          <p:cNvGrpSpPr>
            <a:grpSpLocks/>
          </p:cNvGrpSpPr>
          <p:nvPr/>
        </p:nvGrpSpPr>
        <p:grpSpPr bwMode="auto">
          <a:xfrm>
            <a:off x="4967558" y="3706863"/>
            <a:ext cx="1513945" cy="1062286"/>
            <a:chOff x="2061" y="2073"/>
            <a:chExt cx="1430" cy="1087"/>
          </a:xfrm>
        </p:grpSpPr>
        <p:sp>
          <p:nvSpPr>
            <p:cNvPr id="59" name="Line 69">
              <a:extLst>
                <a:ext uri="{FF2B5EF4-FFF2-40B4-BE49-F238E27FC236}">
                  <a16:creationId xmlns:a16="http://schemas.microsoft.com/office/drawing/2014/main" id="{9F08B644-A359-2408-D448-6192BEBE392F}"/>
                </a:ext>
              </a:extLst>
            </p:cNvPr>
            <p:cNvSpPr>
              <a:spLocks noChangeShapeType="1"/>
            </p:cNvSpPr>
            <p:nvPr/>
          </p:nvSpPr>
          <p:spPr bwMode="auto">
            <a:xfrm>
              <a:off x="2061" y="2660"/>
              <a:ext cx="1430" cy="0"/>
            </a:xfrm>
            <a:prstGeom prst="line">
              <a:avLst/>
            </a:prstGeom>
            <a:noFill/>
            <a:ln w="28575">
              <a:solidFill>
                <a:srgbClr val="6666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60" name="Rectangle 72">
              <a:extLst>
                <a:ext uri="{FF2B5EF4-FFF2-40B4-BE49-F238E27FC236}">
                  <a16:creationId xmlns:a16="http://schemas.microsoft.com/office/drawing/2014/main" id="{87DD03D8-A96A-2265-D8A5-CAB2D6DE65B6}"/>
                </a:ext>
              </a:extLst>
            </p:cNvPr>
            <p:cNvSpPr>
              <a:spLocks noChangeArrowheads="1"/>
            </p:cNvSpPr>
            <p:nvPr/>
          </p:nvSpPr>
          <p:spPr bwMode="auto">
            <a:xfrm>
              <a:off x="2418" y="2533"/>
              <a:ext cx="734" cy="265"/>
            </a:xfrm>
            <a:prstGeom prst="rect">
              <a:avLst/>
            </a:prstGeom>
            <a:solidFill>
              <a:srgbClr val="66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传输系统</a:t>
              </a:r>
            </a:p>
          </p:txBody>
        </p:sp>
        <p:sp>
          <p:nvSpPr>
            <p:cNvPr id="61" name="Line 74">
              <a:extLst>
                <a:ext uri="{FF2B5EF4-FFF2-40B4-BE49-F238E27FC236}">
                  <a16:creationId xmlns:a16="http://schemas.microsoft.com/office/drawing/2014/main" id="{CF9D21A0-11AF-FF04-9E3F-27ACEECE4AF2}"/>
                </a:ext>
              </a:extLst>
            </p:cNvPr>
            <p:cNvSpPr>
              <a:spLocks noChangeShapeType="1"/>
            </p:cNvSpPr>
            <p:nvPr/>
          </p:nvSpPr>
          <p:spPr bwMode="auto">
            <a:xfrm flipH="1">
              <a:off x="3486" y="2073"/>
              <a:ext cx="5" cy="1087"/>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grpSp>
      <p:pic>
        <p:nvPicPr>
          <p:cNvPr id="62" name="Picture 75">
            <a:extLst>
              <a:ext uri="{FF2B5EF4-FFF2-40B4-BE49-F238E27FC236}">
                <a16:creationId xmlns:a16="http://schemas.microsoft.com/office/drawing/2014/main" id="{524B9A37-E958-6A62-72FE-45031239CCAC}"/>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5108" y="3560274"/>
            <a:ext cx="568523" cy="326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3" name="Group 112">
            <a:extLst>
              <a:ext uri="{FF2B5EF4-FFF2-40B4-BE49-F238E27FC236}">
                <a16:creationId xmlns:a16="http://schemas.microsoft.com/office/drawing/2014/main" id="{770AF759-7384-AC2C-7EEC-7B6BB7CEF8A7}"/>
              </a:ext>
            </a:extLst>
          </p:cNvPr>
          <p:cNvGrpSpPr>
            <a:grpSpLocks/>
          </p:cNvGrpSpPr>
          <p:nvPr/>
        </p:nvGrpSpPr>
        <p:grpSpPr bwMode="auto">
          <a:xfrm>
            <a:off x="8624506" y="4769154"/>
            <a:ext cx="641576" cy="751518"/>
            <a:chOff x="5154" y="3160"/>
            <a:chExt cx="606" cy="769"/>
          </a:xfrm>
        </p:grpSpPr>
        <p:sp>
          <p:nvSpPr>
            <p:cNvPr id="64" name="Rectangle 6">
              <a:extLst>
                <a:ext uri="{FF2B5EF4-FFF2-40B4-BE49-F238E27FC236}">
                  <a16:creationId xmlns:a16="http://schemas.microsoft.com/office/drawing/2014/main" id="{C5F5B3F7-52DB-B559-0B78-D591E13249F4}"/>
                </a:ext>
              </a:extLst>
            </p:cNvPr>
            <p:cNvSpPr>
              <a:spLocks noChangeArrowheads="1"/>
            </p:cNvSpPr>
            <p:nvPr/>
          </p:nvSpPr>
          <p:spPr bwMode="auto">
            <a:xfrm>
              <a:off x="5175" y="3207"/>
              <a:ext cx="357" cy="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输出信息</a:t>
              </a:r>
            </a:p>
          </p:txBody>
        </p:sp>
        <p:sp>
          <p:nvSpPr>
            <p:cNvPr id="65" name="Line 77">
              <a:extLst>
                <a:ext uri="{FF2B5EF4-FFF2-40B4-BE49-F238E27FC236}">
                  <a16:creationId xmlns:a16="http://schemas.microsoft.com/office/drawing/2014/main" id="{196D00A6-47E1-9A2A-ACBB-2463B5DEF329}"/>
                </a:ext>
              </a:extLst>
            </p:cNvPr>
            <p:cNvSpPr>
              <a:spLocks noChangeShapeType="1"/>
            </p:cNvSpPr>
            <p:nvPr/>
          </p:nvSpPr>
          <p:spPr bwMode="auto">
            <a:xfrm>
              <a:off x="5154" y="3160"/>
              <a:ext cx="606" cy="0"/>
            </a:xfrm>
            <a:prstGeom prst="line">
              <a:avLst/>
            </a:prstGeom>
            <a:noFill/>
            <a:ln w="38100">
              <a:solidFill>
                <a:srgbClr val="0070C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grpSp>
      <p:sp>
        <p:nvSpPr>
          <p:cNvPr id="66" name="Rectangle 79">
            <a:extLst>
              <a:ext uri="{FF2B5EF4-FFF2-40B4-BE49-F238E27FC236}">
                <a16:creationId xmlns:a16="http://schemas.microsoft.com/office/drawing/2014/main" id="{C4DF816B-A5E8-D0A6-88F3-86EE1CE34216}"/>
              </a:ext>
            </a:extLst>
          </p:cNvPr>
          <p:cNvSpPr>
            <a:spLocks noChangeArrowheads="1"/>
          </p:cNvSpPr>
          <p:nvPr/>
        </p:nvSpPr>
        <p:spPr bwMode="auto">
          <a:xfrm>
            <a:off x="8426767" y="3852475"/>
            <a:ext cx="683016" cy="25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solidFill>
                  <a:srgbClr val="0000CC"/>
                </a:solidFill>
                <a:latin typeface="微软雅黑" pitchFamily="34" charset="-122"/>
                <a:ea typeface="微软雅黑" pitchFamily="34" charset="-122"/>
              </a:rPr>
              <a:t>计算机</a:t>
            </a:r>
            <a:endParaRPr kumimoji="1" lang="en-US" altLang="zh-CN" sz="1000" b="1" dirty="0">
              <a:solidFill>
                <a:srgbClr val="0000CC"/>
              </a:solidFill>
              <a:latin typeface="微软雅黑" pitchFamily="34" charset="-122"/>
              <a:ea typeface="微软雅黑" pitchFamily="34" charset="-122"/>
            </a:endParaRPr>
          </a:p>
        </p:txBody>
      </p:sp>
      <p:pic>
        <p:nvPicPr>
          <p:cNvPr id="67" name="Picture 200" descr="jisuanji">
            <a:extLst>
              <a:ext uri="{FF2B5EF4-FFF2-40B4-BE49-F238E27FC236}">
                <a16:creationId xmlns:a16="http://schemas.microsoft.com/office/drawing/2014/main" id="{458E0122-AEAF-47A8-DD78-3D974CC34DC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19181" y="3393677"/>
            <a:ext cx="503237" cy="503238"/>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00" descr="jisuanji">
            <a:extLst>
              <a:ext uri="{FF2B5EF4-FFF2-40B4-BE49-F238E27FC236}">
                <a16:creationId xmlns:a16="http://schemas.microsoft.com/office/drawing/2014/main" id="{6BD8B16F-0EC1-53E4-ADA2-EA17854DBE1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06971" y="3393677"/>
            <a:ext cx="503237" cy="503238"/>
          </a:xfrm>
          <a:prstGeom prst="rect">
            <a:avLst/>
          </a:prstGeom>
          <a:noFill/>
          <a:extLst>
            <a:ext uri="{909E8E84-426E-40DD-AFC4-6F175D3DCCD1}">
              <a14:hiddenFill xmlns:a14="http://schemas.microsoft.com/office/drawing/2010/main">
                <a:solidFill>
                  <a:srgbClr val="FFFFFF"/>
                </a:solidFill>
              </a14:hiddenFill>
            </a:ext>
          </a:extLst>
        </p:spPr>
      </p:pic>
      <p:grpSp>
        <p:nvGrpSpPr>
          <p:cNvPr id="69" name="Group 1356">
            <a:extLst>
              <a:ext uri="{FF2B5EF4-FFF2-40B4-BE49-F238E27FC236}">
                <a16:creationId xmlns:a16="http://schemas.microsoft.com/office/drawing/2014/main" id="{03439C6C-E173-36B4-34F2-15157F515E6F}"/>
              </a:ext>
            </a:extLst>
          </p:cNvPr>
          <p:cNvGrpSpPr>
            <a:grpSpLocks/>
          </p:cNvGrpSpPr>
          <p:nvPr/>
        </p:nvGrpSpPr>
        <p:grpSpPr bwMode="auto">
          <a:xfrm>
            <a:off x="5250677" y="3292173"/>
            <a:ext cx="998523" cy="687000"/>
            <a:chOff x="2949" y="196"/>
            <a:chExt cx="941" cy="598"/>
          </a:xfrm>
          <a:solidFill>
            <a:schemeClr val="accent5"/>
          </a:solidFill>
        </p:grpSpPr>
        <p:sp>
          <p:nvSpPr>
            <p:cNvPr id="70" name="Oval 1357">
              <a:extLst>
                <a:ext uri="{FF2B5EF4-FFF2-40B4-BE49-F238E27FC236}">
                  <a16:creationId xmlns:a16="http://schemas.microsoft.com/office/drawing/2014/main" id="{607B48C8-D2D1-F55F-F726-B364514CE560}"/>
                </a:ext>
              </a:extLst>
            </p:cNvPr>
            <p:cNvSpPr>
              <a:spLocks noChangeArrowheads="1"/>
            </p:cNvSpPr>
            <p:nvPr/>
          </p:nvSpPr>
          <p:spPr bwMode="auto">
            <a:xfrm>
              <a:off x="3168" y="196"/>
              <a:ext cx="407" cy="162"/>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1" name="Oval 1358">
              <a:extLst>
                <a:ext uri="{FF2B5EF4-FFF2-40B4-BE49-F238E27FC236}">
                  <a16:creationId xmlns:a16="http://schemas.microsoft.com/office/drawing/2014/main" id="{ADEEAB6D-50D0-B063-A66D-A687176B1F44}"/>
                </a:ext>
              </a:extLst>
            </p:cNvPr>
            <p:cNvSpPr>
              <a:spLocks noChangeArrowheads="1"/>
            </p:cNvSpPr>
            <p:nvPr/>
          </p:nvSpPr>
          <p:spPr bwMode="auto">
            <a:xfrm rot="900000">
              <a:off x="3512" y="252"/>
              <a:ext cx="275" cy="131"/>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2" name="Oval 1359">
              <a:extLst>
                <a:ext uri="{FF2B5EF4-FFF2-40B4-BE49-F238E27FC236}">
                  <a16:creationId xmlns:a16="http://schemas.microsoft.com/office/drawing/2014/main" id="{9CBF30A5-6FAA-4268-10AD-016951394A5D}"/>
                </a:ext>
              </a:extLst>
            </p:cNvPr>
            <p:cNvSpPr>
              <a:spLocks noChangeArrowheads="1"/>
            </p:cNvSpPr>
            <p:nvPr/>
          </p:nvSpPr>
          <p:spPr bwMode="auto">
            <a:xfrm rot="1500000">
              <a:off x="3650" y="385"/>
              <a:ext cx="240" cy="153"/>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3" name="Oval 1360">
              <a:extLst>
                <a:ext uri="{FF2B5EF4-FFF2-40B4-BE49-F238E27FC236}">
                  <a16:creationId xmlns:a16="http://schemas.microsoft.com/office/drawing/2014/main" id="{BA18C219-E163-8931-D9C2-90FFC5CDAF85}"/>
                </a:ext>
              </a:extLst>
            </p:cNvPr>
            <p:cNvSpPr>
              <a:spLocks noChangeArrowheads="1"/>
            </p:cNvSpPr>
            <p:nvPr/>
          </p:nvSpPr>
          <p:spPr bwMode="auto">
            <a:xfrm rot="-1560000">
              <a:off x="3573" y="537"/>
              <a:ext cx="291" cy="189"/>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4" name="Oval 1361">
              <a:extLst>
                <a:ext uri="{FF2B5EF4-FFF2-40B4-BE49-F238E27FC236}">
                  <a16:creationId xmlns:a16="http://schemas.microsoft.com/office/drawing/2014/main" id="{2CC8F2E7-1144-0F41-7B0B-5AF1E1597E20}"/>
                </a:ext>
              </a:extLst>
            </p:cNvPr>
            <p:cNvSpPr>
              <a:spLocks noChangeArrowheads="1"/>
            </p:cNvSpPr>
            <p:nvPr/>
          </p:nvSpPr>
          <p:spPr bwMode="auto">
            <a:xfrm>
              <a:off x="3216" y="555"/>
              <a:ext cx="471" cy="239"/>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5" name="Oval 1362">
              <a:extLst>
                <a:ext uri="{FF2B5EF4-FFF2-40B4-BE49-F238E27FC236}">
                  <a16:creationId xmlns:a16="http://schemas.microsoft.com/office/drawing/2014/main" id="{9B70B5B6-2CF8-51EB-8490-1A3A1ECA0F19}"/>
                </a:ext>
              </a:extLst>
            </p:cNvPr>
            <p:cNvSpPr>
              <a:spLocks noChangeArrowheads="1"/>
            </p:cNvSpPr>
            <p:nvPr/>
          </p:nvSpPr>
          <p:spPr bwMode="auto">
            <a:xfrm rot="1080000">
              <a:off x="3023" y="555"/>
              <a:ext cx="265" cy="156"/>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6" name="Oval 1363">
              <a:extLst>
                <a:ext uri="{FF2B5EF4-FFF2-40B4-BE49-F238E27FC236}">
                  <a16:creationId xmlns:a16="http://schemas.microsoft.com/office/drawing/2014/main" id="{77BDE1DD-2182-7BC7-1285-04C80BDB2D01}"/>
                </a:ext>
              </a:extLst>
            </p:cNvPr>
            <p:cNvSpPr>
              <a:spLocks noChangeArrowheads="1"/>
            </p:cNvSpPr>
            <p:nvPr/>
          </p:nvSpPr>
          <p:spPr bwMode="auto">
            <a:xfrm>
              <a:off x="2949" y="432"/>
              <a:ext cx="217" cy="156"/>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sz="2000" b="1">
                <a:solidFill>
                  <a:srgbClr val="000000"/>
                </a:solidFill>
              </a:endParaRPr>
            </a:p>
          </p:txBody>
        </p:sp>
        <p:sp>
          <p:nvSpPr>
            <p:cNvPr id="77" name="Oval 1364">
              <a:extLst>
                <a:ext uri="{FF2B5EF4-FFF2-40B4-BE49-F238E27FC236}">
                  <a16:creationId xmlns:a16="http://schemas.microsoft.com/office/drawing/2014/main" id="{D83CAA1C-E119-044E-3A09-E40631FC3B84}"/>
                </a:ext>
              </a:extLst>
            </p:cNvPr>
            <p:cNvSpPr>
              <a:spLocks noChangeArrowheads="1"/>
            </p:cNvSpPr>
            <p:nvPr/>
          </p:nvSpPr>
          <p:spPr bwMode="auto">
            <a:xfrm rot="-1860000">
              <a:off x="2984" y="310"/>
              <a:ext cx="295" cy="156"/>
            </a:xfrm>
            <a:prstGeom prst="ellipse">
              <a:avLst/>
            </a:prstGeom>
            <a:grpFill/>
            <a:ln>
              <a:noFill/>
            </a:ln>
            <a:extLst>
              <a:ext uri="{91240B29-F687-4F45-9708-019B960494DF}">
                <a14:hiddenLine xmlns:a14="http://schemas.microsoft.com/office/drawing/2010/main" w="12700">
                  <a:solidFill>
                    <a:srgbClr val="000000"/>
                  </a:solidFill>
                  <a:round/>
                  <a:headEnd/>
                  <a:tailEnd/>
                </a14:hiddenLine>
              </a:ext>
            </a:extLst>
          </p:spPr>
          <p:txBody>
            <a:bodyPr vert="eaVert" wrap="none" anchor="ctr"/>
            <a:lstStyle/>
            <a:p>
              <a:endParaRPr lang="zh-CN" altLang="en-US" sz="2000" b="1">
                <a:solidFill>
                  <a:srgbClr val="000000"/>
                </a:solidFill>
              </a:endParaRPr>
            </a:p>
          </p:txBody>
        </p:sp>
        <p:sp>
          <p:nvSpPr>
            <p:cNvPr id="78" name="Freeform 1365">
              <a:extLst>
                <a:ext uri="{FF2B5EF4-FFF2-40B4-BE49-F238E27FC236}">
                  <a16:creationId xmlns:a16="http://schemas.microsoft.com/office/drawing/2014/main" id="{D7726978-961C-260E-7C10-E844BC8E37E8}"/>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366">
              <a:extLst>
                <a:ext uri="{FF2B5EF4-FFF2-40B4-BE49-F238E27FC236}">
                  <a16:creationId xmlns:a16="http://schemas.microsoft.com/office/drawing/2014/main" id="{8BF23070-8937-52EC-321A-0BDD8402712E}"/>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367">
              <a:extLst>
                <a:ext uri="{FF2B5EF4-FFF2-40B4-BE49-F238E27FC236}">
                  <a16:creationId xmlns:a16="http://schemas.microsoft.com/office/drawing/2014/main" id="{1A71D7D8-BCE5-366C-3164-B5625A4A150D}"/>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1" name="Rectangle 43">
            <a:extLst>
              <a:ext uri="{FF2B5EF4-FFF2-40B4-BE49-F238E27FC236}">
                <a16:creationId xmlns:a16="http://schemas.microsoft.com/office/drawing/2014/main" id="{92B3F585-9376-2DD5-B456-5B349DB4CFA3}"/>
              </a:ext>
            </a:extLst>
          </p:cNvPr>
          <p:cNvSpPr>
            <a:spLocks noChangeArrowheads="1"/>
          </p:cNvSpPr>
          <p:nvPr/>
        </p:nvSpPr>
        <p:spPr bwMode="auto">
          <a:xfrm>
            <a:off x="5291085" y="3528743"/>
            <a:ext cx="88806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zh-CN" altLang="en-US" sz="1100" b="1" dirty="0">
                <a:latin typeface="微软雅黑" pitchFamily="34" charset="-122"/>
                <a:ea typeface="微软雅黑" pitchFamily="34" charset="-122"/>
              </a:rPr>
              <a:t>公用电话网</a:t>
            </a:r>
          </a:p>
        </p:txBody>
      </p:sp>
      <p:grpSp>
        <p:nvGrpSpPr>
          <p:cNvPr id="82" name="Group 113">
            <a:extLst>
              <a:ext uri="{FF2B5EF4-FFF2-40B4-BE49-F238E27FC236}">
                <a16:creationId xmlns:a16="http://schemas.microsoft.com/office/drawing/2014/main" id="{156835D9-A410-7612-9B8B-FCBE3C97FD5A}"/>
              </a:ext>
            </a:extLst>
          </p:cNvPr>
          <p:cNvGrpSpPr>
            <a:grpSpLocks/>
          </p:cNvGrpSpPr>
          <p:nvPr/>
        </p:nvGrpSpPr>
        <p:grpSpPr bwMode="auto">
          <a:xfrm>
            <a:off x="2258410" y="2943080"/>
            <a:ext cx="7209379" cy="273724"/>
            <a:chOff x="409" y="1268"/>
            <a:chExt cx="3939" cy="149"/>
          </a:xfrm>
        </p:grpSpPr>
        <p:sp>
          <p:nvSpPr>
            <p:cNvPr id="83" name="Line 65">
              <a:extLst>
                <a:ext uri="{FF2B5EF4-FFF2-40B4-BE49-F238E27FC236}">
                  <a16:creationId xmlns:a16="http://schemas.microsoft.com/office/drawing/2014/main" id="{43B3F9FA-DFD4-91CF-2A8E-3D8638D53C91}"/>
                </a:ext>
              </a:extLst>
            </p:cNvPr>
            <p:cNvSpPr>
              <a:spLocks noChangeShapeType="1"/>
            </p:cNvSpPr>
            <p:nvPr/>
          </p:nvSpPr>
          <p:spPr bwMode="auto">
            <a:xfrm>
              <a:off x="409" y="1351"/>
              <a:ext cx="3939" cy="0"/>
            </a:xfrm>
            <a:prstGeom prst="line">
              <a:avLst/>
            </a:prstGeom>
            <a:noFill/>
            <a:ln w="28575">
              <a:solidFill>
                <a:srgbClr val="CC00CC"/>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84" name="Rectangle 66">
              <a:extLst>
                <a:ext uri="{FF2B5EF4-FFF2-40B4-BE49-F238E27FC236}">
                  <a16:creationId xmlns:a16="http://schemas.microsoft.com/office/drawing/2014/main" id="{9777127A-42E3-3277-ADCE-45C08200F8E9}"/>
                </a:ext>
              </a:extLst>
            </p:cNvPr>
            <p:cNvSpPr>
              <a:spLocks noChangeArrowheads="1"/>
            </p:cNvSpPr>
            <p:nvPr/>
          </p:nvSpPr>
          <p:spPr bwMode="auto">
            <a:xfrm>
              <a:off x="2053" y="1268"/>
              <a:ext cx="615" cy="14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solidFill>
                    <a:srgbClr val="CC00CC"/>
                  </a:solidFill>
                  <a:latin typeface="微软雅黑" pitchFamily="34" charset="-122"/>
                  <a:ea typeface="微软雅黑" pitchFamily="34" charset="-122"/>
                </a:rPr>
                <a:t>数据通信系统</a:t>
              </a:r>
            </a:p>
          </p:txBody>
        </p:sp>
      </p:grpSp>
      <p:grpSp>
        <p:nvGrpSpPr>
          <p:cNvPr id="85" name="Group 107">
            <a:extLst>
              <a:ext uri="{FF2B5EF4-FFF2-40B4-BE49-F238E27FC236}">
                <a16:creationId xmlns:a16="http://schemas.microsoft.com/office/drawing/2014/main" id="{098DD81F-3D6B-4E99-B380-CDD06C1163C7}"/>
              </a:ext>
            </a:extLst>
          </p:cNvPr>
          <p:cNvGrpSpPr>
            <a:grpSpLocks/>
          </p:cNvGrpSpPr>
          <p:nvPr/>
        </p:nvGrpSpPr>
        <p:grpSpPr bwMode="auto">
          <a:xfrm>
            <a:off x="5393157" y="4545356"/>
            <a:ext cx="683922" cy="467132"/>
            <a:chOff x="2463" y="2931"/>
            <a:chExt cx="646" cy="478"/>
          </a:xfrm>
        </p:grpSpPr>
        <p:sp>
          <p:nvSpPr>
            <p:cNvPr id="86" name="AutoShape 13">
              <a:extLst>
                <a:ext uri="{FF2B5EF4-FFF2-40B4-BE49-F238E27FC236}">
                  <a16:creationId xmlns:a16="http://schemas.microsoft.com/office/drawing/2014/main" id="{251C9724-1828-9F7F-05C5-0B182642D2AA}"/>
                </a:ext>
              </a:extLst>
            </p:cNvPr>
            <p:cNvSpPr>
              <a:spLocks noChangeArrowheads="1"/>
            </p:cNvSpPr>
            <p:nvPr/>
          </p:nvSpPr>
          <p:spPr bwMode="auto">
            <a:xfrm>
              <a:off x="2463" y="2931"/>
              <a:ext cx="646" cy="458"/>
            </a:xfrm>
            <a:prstGeom prst="cube">
              <a:avLst>
                <a:gd name="adj" fmla="val 13069"/>
              </a:avLst>
            </a:prstGeom>
            <a:solidFill>
              <a:srgbClr val="66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CC"/>
                </a:solidFill>
                <a:latin typeface="微软雅黑" pitchFamily="34" charset="-122"/>
                <a:ea typeface="微软雅黑" pitchFamily="34" charset="-122"/>
              </a:endParaRPr>
            </a:p>
          </p:txBody>
        </p:sp>
        <p:sp>
          <p:nvSpPr>
            <p:cNvPr id="87" name="Rectangle 16">
              <a:extLst>
                <a:ext uri="{FF2B5EF4-FFF2-40B4-BE49-F238E27FC236}">
                  <a16:creationId xmlns:a16="http://schemas.microsoft.com/office/drawing/2014/main" id="{D44B53B1-C208-7CD9-4213-90342FC101AA}"/>
                </a:ext>
              </a:extLst>
            </p:cNvPr>
            <p:cNvSpPr>
              <a:spLocks noChangeArrowheads="1"/>
            </p:cNvSpPr>
            <p:nvPr/>
          </p:nvSpPr>
          <p:spPr bwMode="auto">
            <a:xfrm>
              <a:off x="2546" y="2971"/>
              <a:ext cx="508" cy="438"/>
            </a:xfrm>
            <a:prstGeom prst="rect">
              <a:avLst/>
            </a:prstGeom>
            <a:noFill/>
            <a:ln w="12700">
              <a:noFill/>
              <a:miter lim="800000"/>
              <a:headEnd/>
              <a:tailEn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l" defTabSz="762000" eaLnBrk="0" hangingPunct="0"/>
              <a:r>
                <a:rPr kumimoji="1" lang="zh-CN" altLang="en-US" sz="1100" b="1" dirty="0">
                  <a:solidFill>
                    <a:schemeClr val="bg1"/>
                  </a:solidFill>
                  <a:latin typeface="微软雅黑" pitchFamily="34" charset="-122"/>
                  <a:ea typeface="微软雅黑" pitchFamily="34" charset="-122"/>
                </a:rPr>
                <a:t>传输</a:t>
              </a:r>
            </a:p>
            <a:p>
              <a:pPr algn="l" defTabSz="762000" eaLnBrk="0" hangingPunct="0"/>
              <a:r>
                <a:rPr kumimoji="1" lang="zh-CN" altLang="en-US" sz="1100" b="1" dirty="0">
                  <a:solidFill>
                    <a:schemeClr val="bg1"/>
                  </a:solidFill>
                  <a:latin typeface="微软雅黑" pitchFamily="34" charset="-122"/>
                  <a:ea typeface="微软雅黑" pitchFamily="34" charset="-122"/>
                </a:rPr>
                <a:t>系统</a:t>
              </a:r>
            </a:p>
          </p:txBody>
        </p:sp>
      </p:grpSp>
      <p:grpSp>
        <p:nvGrpSpPr>
          <p:cNvPr id="88" name="Group 99">
            <a:extLst>
              <a:ext uri="{FF2B5EF4-FFF2-40B4-BE49-F238E27FC236}">
                <a16:creationId xmlns:a16="http://schemas.microsoft.com/office/drawing/2014/main" id="{D7F0F417-52AF-E69A-87D2-3A85203A627B}"/>
              </a:ext>
            </a:extLst>
          </p:cNvPr>
          <p:cNvGrpSpPr>
            <a:grpSpLocks/>
          </p:cNvGrpSpPr>
          <p:nvPr/>
        </p:nvGrpSpPr>
        <p:grpSpPr bwMode="auto">
          <a:xfrm>
            <a:off x="2533599" y="3724455"/>
            <a:ext cx="2433958" cy="1022219"/>
            <a:chOff x="-238" y="2091"/>
            <a:chExt cx="2299" cy="1046"/>
          </a:xfrm>
        </p:grpSpPr>
        <p:sp>
          <p:nvSpPr>
            <p:cNvPr id="89" name="Line 68">
              <a:extLst>
                <a:ext uri="{FF2B5EF4-FFF2-40B4-BE49-F238E27FC236}">
                  <a16:creationId xmlns:a16="http://schemas.microsoft.com/office/drawing/2014/main" id="{013C954B-8359-31FA-54EB-2B3FA950998F}"/>
                </a:ext>
              </a:extLst>
            </p:cNvPr>
            <p:cNvSpPr>
              <a:spLocks noChangeShapeType="1"/>
            </p:cNvSpPr>
            <p:nvPr/>
          </p:nvSpPr>
          <p:spPr bwMode="auto">
            <a:xfrm>
              <a:off x="2061" y="2091"/>
              <a:ext cx="0" cy="1046"/>
            </a:xfrm>
            <a:prstGeom prst="line">
              <a:avLst/>
            </a:prstGeom>
            <a:noFill/>
            <a:ln w="28575">
              <a:solidFill>
                <a:srgbClr val="FF0000"/>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grpSp>
          <p:nvGrpSpPr>
            <p:cNvPr id="90" name="Group 98">
              <a:extLst>
                <a:ext uri="{FF2B5EF4-FFF2-40B4-BE49-F238E27FC236}">
                  <a16:creationId xmlns:a16="http://schemas.microsoft.com/office/drawing/2014/main" id="{3D8EB611-1095-0971-B97D-93C36508784E}"/>
                </a:ext>
              </a:extLst>
            </p:cNvPr>
            <p:cNvGrpSpPr>
              <a:grpSpLocks/>
            </p:cNvGrpSpPr>
            <p:nvPr/>
          </p:nvGrpSpPr>
          <p:grpSpPr bwMode="auto">
            <a:xfrm>
              <a:off x="-238" y="2523"/>
              <a:ext cx="2299" cy="265"/>
              <a:chOff x="-238" y="2523"/>
              <a:chExt cx="2299" cy="265"/>
            </a:xfrm>
          </p:grpSpPr>
          <p:sp>
            <p:nvSpPr>
              <p:cNvPr id="91" name="Line 67">
                <a:extLst>
                  <a:ext uri="{FF2B5EF4-FFF2-40B4-BE49-F238E27FC236}">
                    <a16:creationId xmlns:a16="http://schemas.microsoft.com/office/drawing/2014/main" id="{D8007877-6058-D475-997A-F4F979962560}"/>
                  </a:ext>
                </a:extLst>
              </p:cNvPr>
              <p:cNvSpPr>
                <a:spLocks noChangeShapeType="1"/>
              </p:cNvSpPr>
              <p:nvPr/>
            </p:nvSpPr>
            <p:spPr bwMode="auto">
              <a:xfrm>
                <a:off x="-238" y="2660"/>
                <a:ext cx="2299"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CC"/>
                  </a:solidFill>
                  <a:latin typeface="微软雅黑" pitchFamily="34" charset="-122"/>
                  <a:ea typeface="微软雅黑" pitchFamily="34" charset="-122"/>
                </a:endParaRPr>
              </a:p>
            </p:txBody>
          </p:sp>
          <p:sp>
            <p:nvSpPr>
              <p:cNvPr id="92" name="Rectangle 71">
                <a:extLst>
                  <a:ext uri="{FF2B5EF4-FFF2-40B4-BE49-F238E27FC236}">
                    <a16:creationId xmlns:a16="http://schemas.microsoft.com/office/drawing/2014/main" id="{96BE4BD3-B390-3333-7AEE-FFCAC5304F0D}"/>
                  </a:ext>
                </a:extLst>
              </p:cNvPr>
              <p:cNvSpPr>
                <a:spLocks noChangeArrowheads="1"/>
              </p:cNvSpPr>
              <p:nvPr/>
            </p:nvSpPr>
            <p:spPr bwMode="auto">
              <a:xfrm>
                <a:off x="530" y="2523"/>
                <a:ext cx="620" cy="265"/>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100" b="1" dirty="0">
                    <a:solidFill>
                      <a:schemeClr val="bg1"/>
                    </a:solidFill>
                    <a:latin typeface="微软雅黑" pitchFamily="34" charset="-122"/>
                    <a:ea typeface="微软雅黑" pitchFamily="34" charset="-122"/>
                  </a:rPr>
                  <a:t>源系统</a:t>
                </a:r>
              </a:p>
            </p:txBody>
          </p:sp>
        </p:grpSp>
      </p:grpSp>
    </p:spTree>
    <p:extLst>
      <p:ext uri="{BB962C8B-B14F-4D97-AF65-F5344CB8AC3E}">
        <p14:creationId xmlns:p14="http://schemas.microsoft.com/office/powerpoint/2010/main" val="377209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82"/>
                                        </p:tgtEl>
                                        <p:attrNameLst>
                                          <p:attrName>style.visibility</p:attrName>
                                        </p:attrNameLst>
                                      </p:cBhvr>
                                      <p:to>
                                        <p:strVal val="visible"/>
                                      </p:to>
                                    </p:set>
                                  </p:childTnLst>
                                </p:cTn>
                              </p:par>
                            </p:childTnLst>
                          </p:cTn>
                        </p:par>
                        <p:par>
                          <p:cTn id="7" fill="hold">
                            <p:stCondLst>
                              <p:cond delay="500"/>
                            </p:stCondLst>
                            <p:childTnLst>
                              <p:par>
                                <p:cTn id="8" presetID="35" presetClass="emph" presetSubtype="0" repeatCount="4000" fill="hold" nodeType="afterEffect">
                                  <p:stCondLst>
                                    <p:cond delay="0"/>
                                  </p:stCondLst>
                                  <p:childTnLst>
                                    <p:anim calcmode="discrete" valueType="str">
                                      <p:cBhvr>
                                        <p:cTn id="9" dur="500" fill="hold"/>
                                        <p:tgtEl>
                                          <p:spTgt spid="82"/>
                                        </p:tgtEl>
                                        <p:attrNameLst>
                                          <p:attrName>style.visibility</p:attrName>
                                        </p:attrNameLst>
                                      </p:cBhvr>
                                      <p:tavLst>
                                        <p:tav tm="0">
                                          <p:val>
                                            <p:strVal val="hidden"/>
                                          </p:val>
                                        </p:tav>
                                        <p:tav tm="50000">
                                          <p:val>
                                            <p:strVal val="visible"/>
                                          </p:val>
                                        </p:tav>
                                      </p:tavLst>
                                    </p:anim>
                                  </p:childTnLst>
                                </p:cTn>
                              </p:par>
                            </p:childTnLst>
                          </p:cTn>
                        </p:par>
                        <p:par>
                          <p:cTn id="10" fill="hold">
                            <p:stCondLst>
                              <p:cond delay="2500"/>
                            </p:stCondLst>
                            <p:childTnLst>
                              <p:par>
                                <p:cTn id="11" presetID="1" presetClass="entr" presetSubtype="0" fill="hold" nodeType="afterEffect">
                                  <p:stCondLst>
                                    <p:cond delay="1000"/>
                                  </p:stCondLst>
                                  <p:childTnLst>
                                    <p:set>
                                      <p:cBhvr>
                                        <p:cTn id="12" dur="1" fill="hold">
                                          <p:stCondLst>
                                            <p:cond delay="0"/>
                                          </p:stCondLst>
                                        </p:cTn>
                                        <p:tgtEl>
                                          <p:spTgt spid="88"/>
                                        </p:tgtEl>
                                        <p:attrNameLst>
                                          <p:attrName>style.visibility</p:attrName>
                                        </p:attrNameLst>
                                      </p:cBhvr>
                                      <p:to>
                                        <p:strVal val="visible"/>
                                      </p:to>
                                    </p:set>
                                  </p:childTnLst>
                                </p:cTn>
                              </p:par>
                            </p:childTnLst>
                          </p:cTn>
                        </p:par>
                        <p:par>
                          <p:cTn id="13" fill="hold">
                            <p:stCondLst>
                              <p:cond delay="3500"/>
                            </p:stCondLst>
                            <p:childTnLst>
                              <p:par>
                                <p:cTn id="14" presetID="35" presetClass="emph" presetSubtype="0" repeatCount="4000" fill="hold" nodeType="afterEffect">
                                  <p:stCondLst>
                                    <p:cond delay="0"/>
                                  </p:stCondLst>
                                  <p:childTnLst>
                                    <p:anim calcmode="discrete" valueType="str">
                                      <p:cBhvr>
                                        <p:cTn id="15" dur="500" fill="hold"/>
                                        <p:tgtEl>
                                          <p:spTgt spid="88"/>
                                        </p:tgtEl>
                                        <p:attrNameLst>
                                          <p:attrName>style.visibility</p:attrName>
                                        </p:attrNameLst>
                                      </p:cBhvr>
                                      <p:tavLst>
                                        <p:tav tm="0">
                                          <p:val>
                                            <p:strVal val="hidden"/>
                                          </p:val>
                                        </p:tav>
                                        <p:tav tm="50000">
                                          <p:val>
                                            <p:strVal val="visible"/>
                                          </p:val>
                                        </p:tav>
                                      </p:tavLst>
                                    </p:anim>
                                  </p:childTnLst>
                                </p:cTn>
                              </p:par>
                            </p:childTnLst>
                          </p:cTn>
                        </p:par>
                        <p:par>
                          <p:cTn id="16" fill="hold">
                            <p:stCondLst>
                              <p:cond delay="5500"/>
                            </p:stCondLst>
                            <p:childTnLst>
                              <p:par>
                                <p:cTn id="17" presetID="1" presetClass="entr" presetSubtype="0" fill="hold" nodeType="afterEffect">
                                  <p:stCondLst>
                                    <p:cond delay="1000"/>
                                  </p:stCondLst>
                                  <p:childTnLst>
                                    <p:set>
                                      <p:cBhvr>
                                        <p:cTn id="18" dur="1" fill="hold">
                                          <p:stCondLst>
                                            <p:cond delay="0"/>
                                          </p:stCondLst>
                                        </p:cTn>
                                        <p:tgtEl>
                                          <p:spTgt spid="58"/>
                                        </p:tgtEl>
                                        <p:attrNameLst>
                                          <p:attrName>style.visibility</p:attrName>
                                        </p:attrNameLst>
                                      </p:cBhvr>
                                      <p:to>
                                        <p:strVal val="visible"/>
                                      </p:to>
                                    </p:set>
                                  </p:childTnLst>
                                </p:cTn>
                              </p:par>
                            </p:childTnLst>
                          </p:cTn>
                        </p:par>
                        <p:par>
                          <p:cTn id="19" fill="hold">
                            <p:stCondLst>
                              <p:cond delay="6500"/>
                            </p:stCondLst>
                            <p:childTnLst>
                              <p:par>
                                <p:cTn id="20" presetID="35" presetClass="emph" presetSubtype="0" repeatCount="4000" fill="hold" nodeType="afterEffect">
                                  <p:stCondLst>
                                    <p:cond delay="0"/>
                                  </p:stCondLst>
                                  <p:childTnLst>
                                    <p:anim calcmode="discrete" valueType="str">
                                      <p:cBhvr>
                                        <p:cTn id="21" dur="500" fill="hold"/>
                                        <p:tgtEl>
                                          <p:spTgt spid="58"/>
                                        </p:tgtEl>
                                        <p:attrNameLst>
                                          <p:attrName>style.visibility</p:attrName>
                                        </p:attrNameLst>
                                      </p:cBhvr>
                                      <p:tavLst>
                                        <p:tav tm="0">
                                          <p:val>
                                            <p:strVal val="hidden"/>
                                          </p:val>
                                        </p:tav>
                                        <p:tav tm="50000">
                                          <p:val>
                                            <p:strVal val="visible"/>
                                          </p:val>
                                        </p:tav>
                                      </p:tavLst>
                                    </p:anim>
                                  </p:childTnLst>
                                </p:cTn>
                              </p:par>
                            </p:childTnLst>
                          </p:cTn>
                        </p:par>
                        <p:par>
                          <p:cTn id="22" fill="hold">
                            <p:stCondLst>
                              <p:cond delay="8500"/>
                            </p:stCondLst>
                            <p:childTnLst>
                              <p:par>
                                <p:cTn id="23" presetID="1" presetClass="entr" presetSubtype="0" fill="hold" nodeType="afterEffect">
                                  <p:stCondLst>
                                    <p:cond delay="1000"/>
                                  </p:stCondLst>
                                  <p:childTnLst>
                                    <p:set>
                                      <p:cBhvr>
                                        <p:cTn id="24" dur="1" fill="hold">
                                          <p:stCondLst>
                                            <p:cond delay="0"/>
                                          </p:stCondLst>
                                        </p:cTn>
                                        <p:tgtEl>
                                          <p:spTgt spid="55"/>
                                        </p:tgtEl>
                                        <p:attrNameLst>
                                          <p:attrName>style.visibility</p:attrName>
                                        </p:attrNameLst>
                                      </p:cBhvr>
                                      <p:to>
                                        <p:strVal val="visible"/>
                                      </p:to>
                                    </p:set>
                                  </p:childTnLst>
                                </p:cTn>
                              </p:par>
                            </p:childTnLst>
                          </p:cTn>
                        </p:par>
                        <p:par>
                          <p:cTn id="25" fill="hold">
                            <p:stCondLst>
                              <p:cond delay="9500"/>
                            </p:stCondLst>
                            <p:childTnLst>
                              <p:par>
                                <p:cTn id="26" presetID="35" presetClass="emph" presetSubtype="0" repeatCount="4000" fill="hold" nodeType="afterEffect">
                                  <p:stCondLst>
                                    <p:cond delay="0"/>
                                  </p:stCondLst>
                                  <p:childTnLst>
                                    <p:anim calcmode="discrete" valueType="str">
                                      <p:cBhvr>
                                        <p:cTn id="27" dur="500" fill="hold"/>
                                        <p:tgtEl>
                                          <p:spTgt spid="55"/>
                                        </p:tgtEl>
                                        <p:attrNameLst>
                                          <p:attrName>style.visibility</p:attrName>
                                        </p:attrNameLst>
                                      </p:cBhvr>
                                      <p:tavLst>
                                        <p:tav tm="0">
                                          <p:val>
                                            <p:strVal val="hidden"/>
                                          </p:val>
                                        </p:tav>
                                        <p:tav tm="50000">
                                          <p:val>
                                            <p:strVal val="visible"/>
                                          </p:val>
                                        </p:tav>
                                      </p:tavLst>
                                    </p:anim>
                                  </p:childTnLst>
                                </p:cTn>
                              </p:par>
                            </p:childTnLst>
                          </p:cTn>
                        </p:par>
                        <p:par>
                          <p:cTn id="28" fill="hold">
                            <p:stCondLst>
                              <p:cond delay="11500"/>
                            </p:stCondLst>
                            <p:childTnLst>
                              <p:par>
                                <p:cTn id="29" presetID="22" presetClass="entr" presetSubtype="8" fill="hold" nodeType="afterEffect">
                                  <p:stCondLst>
                                    <p:cond delay="100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750"/>
                                        <p:tgtEl>
                                          <p:spTgt spid="18"/>
                                        </p:tgtEl>
                                      </p:cBhvr>
                                    </p:animEffect>
                                  </p:childTnLst>
                                </p:cTn>
                              </p:par>
                            </p:childTnLst>
                          </p:cTn>
                        </p:par>
                        <p:par>
                          <p:cTn id="32" fill="hold">
                            <p:stCondLst>
                              <p:cond delay="13250"/>
                            </p:stCondLst>
                            <p:childTnLst>
                              <p:par>
                                <p:cTn id="33" presetID="22" presetClass="entr" presetSubtype="8" fill="hold" nodeType="afterEffect">
                                  <p:stCondLst>
                                    <p:cond delay="250"/>
                                  </p:stCondLst>
                                  <p:childTnLst>
                                    <p:set>
                                      <p:cBhvr>
                                        <p:cTn id="34" dur="1" fill="hold">
                                          <p:stCondLst>
                                            <p:cond delay="0"/>
                                          </p:stCondLst>
                                        </p:cTn>
                                        <p:tgtEl>
                                          <p:spTgt spid="4"/>
                                        </p:tgtEl>
                                        <p:attrNameLst>
                                          <p:attrName>style.visibility</p:attrName>
                                        </p:attrNameLst>
                                      </p:cBhvr>
                                      <p:to>
                                        <p:strVal val="visible"/>
                                      </p:to>
                                    </p:set>
                                    <p:animEffect transition="in" filter="wipe(left)">
                                      <p:cBhvr>
                                        <p:cTn id="35" dur="750"/>
                                        <p:tgtEl>
                                          <p:spTgt spid="4"/>
                                        </p:tgtEl>
                                      </p:cBhvr>
                                    </p:animEffect>
                                  </p:childTnLst>
                                </p:cTn>
                              </p:par>
                            </p:childTnLst>
                          </p:cTn>
                        </p:par>
                        <p:par>
                          <p:cTn id="36" fill="hold">
                            <p:stCondLst>
                              <p:cond delay="14250"/>
                            </p:stCondLst>
                            <p:childTnLst>
                              <p:par>
                                <p:cTn id="37" presetID="22" presetClass="entr" presetSubtype="8" fill="hold" nodeType="afterEffect">
                                  <p:stCondLst>
                                    <p:cond delay="25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750"/>
                                        <p:tgtEl>
                                          <p:spTgt spid="24"/>
                                        </p:tgtEl>
                                      </p:cBhvr>
                                    </p:animEffect>
                                  </p:childTnLst>
                                </p:cTn>
                              </p:par>
                            </p:childTnLst>
                          </p:cTn>
                        </p:par>
                        <p:par>
                          <p:cTn id="40" fill="hold">
                            <p:stCondLst>
                              <p:cond delay="15250"/>
                            </p:stCondLst>
                            <p:childTnLst>
                              <p:par>
                                <p:cTn id="41" presetID="22" presetClass="entr" presetSubtype="8" fill="hold" nodeType="afterEffect">
                                  <p:stCondLst>
                                    <p:cond delay="25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750"/>
                                        <p:tgtEl>
                                          <p:spTgt spid="7"/>
                                        </p:tgtEl>
                                      </p:cBhvr>
                                    </p:animEffect>
                                  </p:childTnLst>
                                </p:cTn>
                              </p:par>
                            </p:childTnLst>
                          </p:cTn>
                        </p:par>
                        <p:par>
                          <p:cTn id="44" fill="hold">
                            <p:stCondLst>
                              <p:cond delay="16250"/>
                            </p:stCondLst>
                            <p:childTnLst>
                              <p:par>
                                <p:cTn id="45" presetID="22" presetClass="entr" presetSubtype="8" fill="hold" nodeType="after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wipe(left)">
                                      <p:cBhvr>
                                        <p:cTn id="47" dur="500"/>
                                        <p:tgtEl>
                                          <p:spTgt spid="85"/>
                                        </p:tgtEl>
                                      </p:cBhvr>
                                    </p:animEffect>
                                  </p:childTnLst>
                                </p:cTn>
                              </p:par>
                            </p:childTnLst>
                          </p:cTn>
                        </p:par>
                        <p:par>
                          <p:cTn id="48" fill="hold">
                            <p:stCondLst>
                              <p:cond delay="16750"/>
                            </p:stCondLst>
                            <p:childTnLst>
                              <p:par>
                                <p:cTn id="49" presetID="22" presetClass="entr" presetSubtype="8" fill="hold" nodeType="afterEffect">
                                  <p:stCondLst>
                                    <p:cond delay="250"/>
                                  </p:stCondLst>
                                  <p:childTnLst>
                                    <p:set>
                                      <p:cBhvr>
                                        <p:cTn id="50" dur="1" fill="hold">
                                          <p:stCondLst>
                                            <p:cond delay="0"/>
                                          </p:stCondLst>
                                        </p:cTn>
                                        <p:tgtEl>
                                          <p:spTgt spid="12"/>
                                        </p:tgtEl>
                                        <p:attrNameLst>
                                          <p:attrName>style.visibility</p:attrName>
                                        </p:attrNameLst>
                                      </p:cBhvr>
                                      <p:to>
                                        <p:strVal val="visible"/>
                                      </p:to>
                                    </p:set>
                                    <p:animEffect transition="in" filter="wipe(left)">
                                      <p:cBhvr>
                                        <p:cTn id="51" dur="750"/>
                                        <p:tgtEl>
                                          <p:spTgt spid="12"/>
                                        </p:tgtEl>
                                      </p:cBhvr>
                                    </p:animEffect>
                                  </p:childTnLst>
                                </p:cTn>
                              </p:par>
                            </p:childTnLst>
                          </p:cTn>
                        </p:par>
                        <p:par>
                          <p:cTn id="52" fill="hold">
                            <p:stCondLst>
                              <p:cond delay="17750"/>
                            </p:stCondLst>
                            <p:childTnLst>
                              <p:par>
                                <p:cTn id="53" presetID="22" presetClass="entr" presetSubtype="8" fill="hold" nodeType="afterEffect">
                                  <p:stCondLst>
                                    <p:cond delay="250"/>
                                  </p:stCondLst>
                                  <p:childTnLst>
                                    <p:set>
                                      <p:cBhvr>
                                        <p:cTn id="54" dur="1" fill="hold">
                                          <p:stCondLst>
                                            <p:cond delay="0"/>
                                          </p:stCondLst>
                                        </p:cTn>
                                        <p:tgtEl>
                                          <p:spTgt spid="27"/>
                                        </p:tgtEl>
                                        <p:attrNameLst>
                                          <p:attrName>style.visibility</p:attrName>
                                        </p:attrNameLst>
                                      </p:cBhvr>
                                      <p:to>
                                        <p:strVal val="visible"/>
                                      </p:to>
                                    </p:set>
                                    <p:animEffect transition="in" filter="wipe(left)">
                                      <p:cBhvr>
                                        <p:cTn id="55" dur="750"/>
                                        <p:tgtEl>
                                          <p:spTgt spid="27"/>
                                        </p:tgtEl>
                                      </p:cBhvr>
                                    </p:animEffect>
                                  </p:childTnLst>
                                </p:cTn>
                              </p:par>
                            </p:childTnLst>
                          </p:cTn>
                        </p:par>
                        <p:par>
                          <p:cTn id="56" fill="hold">
                            <p:stCondLst>
                              <p:cond delay="18750"/>
                            </p:stCondLst>
                            <p:childTnLst>
                              <p:par>
                                <p:cTn id="57" presetID="22" presetClass="entr" presetSubtype="8" fill="hold" nodeType="afterEffect">
                                  <p:stCondLst>
                                    <p:cond delay="250"/>
                                  </p:stCondLst>
                                  <p:childTnLst>
                                    <p:set>
                                      <p:cBhvr>
                                        <p:cTn id="58" dur="1" fill="hold">
                                          <p:stCondLst>
                                            <p:cond delay="0"/>
                                          </p:stCondLst>
                                        </p:cTn>
                                        <p:tgtEl>
                                          <p:spTgt spid="15"/>
                                        </p:tgtEl>
                                        <p:attrNameLst>
                                          <p:attrName>style.visibility</p:attrName>
                                        </p:attrNameLst>
                                      </p:cBhvr>
                                      <p:to>
                                        <p:strVal val="visible"/>
                                      </p:to>
                                    </p:set>
                                    <p:animEffect transition="in" filter="wipe(left)">
                                      <p:cBhvr>
                                        <p:cTn id="59" dur="750"/>
                                        <p:tgtEl>
                                          <p:spTgt spid="15"/>
                                        </p:tgtEl>
                                      </p:cBhvr>
                                    </p:animEffect>
                                  </p:childTnLst>
                                </p:cTn>
                              </p:par>
                            </p:childTnLst>
                          </p:cTn>
                        </p:par>
                        <p:par>
                          <p:cTn id="60" fill="hold">
                            <p:stCondLst>
                              <p:cond delay="19750"/>
                            </p:stCondLst>
                            <p:childTnLst>
                              <p:par>
                                <p:cTn id="61" presetID="22" presetClass="entr" presetSubtype="8" fill="hold" nodeType="afterEffect">
                                  <p:stCondLst>
                                    <p:cond delay="25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750"/>
                                        <p:tgtEl>
                                          <p:spTgt spid="21"/>
                                        </p:tgtEl>
                                      </p:cBhvr>
                                    </p:animEffect>
                                  </p:childTnLst>
                                </p:cTn>
                              </p:par>
                            </p:childTnLst>
                          </p:cTn>
                        </p:par>
                        <p:par>
                          <p:cTn id="64" fill="hold">
                            <p:stCondLst>
                              <p:cond delay="20750"/>
                            </p:stCondLst>
                            <p:childTnLst>
                              <p:par>
                                <p:cTn id="65" presetID="22" presetClass="entr" presetSubtype="8" fill="hold" nodeType="afterEffect">
                                  <p:stCondLst>
                                    <p:cond delay="250"/>
                                  </p:stCondLst>
                                  <p:childTnLst>
                                    <p:set>
                                      <p:cBhvr>
                                        <p:cTn id="66" dur="1" fill="hold">
                                          <p:stCondLst>
                                            <p:cond delay="0"/>
                                          </p:stCondLst>
                                        </p:cTn>
                                        <p:tgtEl>
                                          <p:spTgt spid="63"/>
                                        </p:tgtEl>
                                        <p:attrNameLst>
                                          <p:attrName>style.visibility</p:attrName>
                                        </p:attrNameLst>
                                      </p:cBhvr>
                                      <p:to>
                                        <p:strVal val="visible"/>
                                      </p:to>
                                    </p:set>
                                    <p:animEffect transition="in" filter="wipe(left)">
                                      <p:cBhvr>
                                        <p:cTn id="67" dur="75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Physical Layer roadmap</a:t>
            </a:r>
            <a:endParaRPr lang="en-US" b="1" dirty="0">
              <a:solidFill>
                <a:srgbClr val="000099"/>
              </a:solidFill>
            </a:endParaRPr>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concepts of the physical layer </a:t>
            </a:r>
          </a:p>
          <a:p>
            <a:pPr marL="407988" indent="-277813">
              <a:spcBef>
                <a:spcPts val="600"/>
              </a:spcBef>
              <a:buClr>
                <a:schemeClr val="bg1">
                  <a:lumMod val="75000"/>
                </a:schemeClr>
              </a:buClr>
            </a:pPr>
            <a:r>
              <a:rPr lang="en-US" altLang="en-US" sz="3200" dirty="0">
                <a:ea typeface="ＭＳ Ｐゴシック" panose="020B0600070205080204" pitchFamily="34" charset="-128"/>
                <a:cs typeface="Arial" panose="020B0604020202020204" pitchFamily="34" charset="0"/>
              </a:rPr>
              <a:t>Basic knowledge of data communication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The transmission medium below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Channel multiplexing techniques</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Broadband Access Technology</a:t>
            </a:r>
          </a:p>
          <a:p>
            <a:pPr marL="407988" indent="-277813">
              <a:spcBef>
                <a:spcPts val="600"/>
              </a:spcBef>
              <a:buClr>
                <a:schemeClr val="bg1">
                  <a:lumMod val="75000"/>
                </a:schemeClr>
              </a:buClr>
            </a:pPr>
            <a:endParaRPr lang="en-US" altLang="en-US" sz="3200" dirty="0">
              <a:solidFill>
                <a:schemeClr val="bg1">
                  <a:lumMod val="75000"/>
                </a:schemeClr>
              </a:solidFill>
              <a:ea typeface="ＭＳ Ｐゴシック" panose="020B0600070205080204" pitchFamily="34" charset="-128"/>
              <a:cs typeface="Arial" panose="020B0604020202020204" pitchFamily="34" charset="0"/>
            </a:endParaRP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Tree>
    <p:extLst>
      <p:ext uri="{BB962C8B-B14F-4D97-AF65-F5344CB8AC3E}">
        <p14:creationId xmlns:p14="http://schemas.microsoft.com/office/powerpoint/2010/main" val="884536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Common terms of Physical Layer</a:t>
            </a:r>
          </a:p>
        </p:txBody>
      </p:sp>
      <p:sp>
        <p:nvSpPr>
          <p:cNvPr id="93" name="文本框 92">
            <a:extLst>
              <a:ext uri="{FF2B5EF4-FFF2-40B4-BE49-F238E27FC236}">
                <a16:creationId xmlns:a16="http://schemas.microsoft.com/office/drawing/2014/main" id="{9ADCFF2B-5F24-6A06-CCE7-679609B04FB7}"/>
              </a:ext>
            </a:extLst>
          </p:cNvPr>
          <p:cNvSpPr txBox="1"/>
          <p:nvPr/>
        </p:nvSpPr>
        <p:spPr>
          <a:xfrm>
            <a:off x="583476" y="1214549"/>
            <a:ext cx="10189028" cy="6028317"/>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zh-CN" altLang="en-US" sz="2800" dirty="0">
                <a:solidFill>
                  <a:srgbClr val="0013A3"/>
                </a:solidFill>
              </a:rPr>
              <a:t>data - </a:t>
            </a:r>
            <a:r>
              <a:rPr lang="zh-CN" altLang="en-US" sz="2400" dirty="0">
                <a:solidFill>
                  <a:prstClr val="black"/>
                </a:solidFill>
                <a:latin typeface="Calibri" panose="020F0502020204030204"/>
                <a:ea typeface="ＭＳ Ｐゴシック" panose="020B0600070205080204" pitchFamily="34" charset="-128"/>
              </a:rPr>
              <a:t>The entity that delivers the message. </a:t>
            </a:r>
          </a:p>
          <a:p>
            <a:pPr marL="352425" indent="-222250">
              <a:lnSpc>
                <a:spcPct val="90000"/>
              </a:lnSpc>
              <a:spcBef>
                <a:spcPts val="1000"/>
              </a:spcBef>
              <a:buClr>
                <a:srgbClr val="0000A3"/>
              </a:buClr>
              <a:buFont typeface="Wingdings" charset="2"/>
              <a:buChar char="§"/>
              <a:defRPr/>
            </a:pPr>
            <a:r>
              <a:rPr lang="zh-CN" altLang="en-US" sz="2800" dirty="0">
                <a:solidFill>
                  <a:srgbClr val="0013A3"/>
                </a:solidFill>
              </a:rPr>
              <a:t>signal - </a:t>
            </a:r>
            <a:r>
              <a:rPr lang="en-US" altLang="zh-CN" sz="2400" dirty="0">
                <a:solidFill>
                  <a:prstClr val="black"/>
                </a:solidFill>
                <a:latin typeface="Calibri" panose="020F0502020204030204"/>
                <a:ea typeface="ＭＳ Ｐゴシック" panose="020B0600070205080204" pitchFamily="34" charset="-128"/>
              </a:rPr>
              <a:t>T</a:t>
            </a:r>
            <a:r>
              <a:rPr lang="zh-CN" altLang="en-US" sz="2400" dirty="0">
                <a:solidFill>
                  <a:prstClr val="black"/>
                </a:solidFill>
                <a:latin typeface="Calibri" panose="020F0502020204030204"/>
                <a:ea typeface="ＭＳ Ｐゴシック" panose="020B0600070205080204" pitchFamily="34" charset="-128"/>
              </a:rPr>
              <a:t>he electrical or electromagnetic representation of data. </a:t>
            </a:r>
          </a:p>
          <a:p>
            <a:pPr marL="352425" indent="-222250">
              <a:lnSpc>
                <a:spcPct val="90000"/>
              </a:lnSpc>
              <a:spcBef>
                <a:spcPts val="1000"/>
              </a:spcBef>
              <a:buClr>
                <a:srgbClr val="0000A3"/>
              </a:buClr>
              <a:buFont typeface="Wingdings" charset="2"/>
              <a:buChar char="§"/>
              <a:defRPr/>
            </a:pPr>
            <a:r>
              <a:rPr lang="zh-CN" altLang="en-US" sz="2800" dirty="0">
                <a:solidFill>
                  <a:srgbClr val="0013A3"/>
                </a:solidFill>
              </a:rPr>
              <a:t>analogous signal - </a:t>
            </a:r>
            <a:r>
              <a:rPr lang="zh-CN" altLang="en-US" sz="2400" dirty="0">
                <a:solidFill>
                  <a:prstClr val="black"/>
                </a:solidFill>
                <a:latin typeface="Calibri" panose="020F0502020204030204"/>
                <a:ea typeface="ＭＳ Ｐゴシック" panose="020B0600070205080204" pitchFamily="34" charset="-128"/>
              </a:rPr>
              <a:t>A parameter representing a message whose values are continuous. </a:t>
            </a:r>
          </a:p>
          <a:p>
            <a:pPr marL="352425" indent="-222250">
              <a:lnSpc>
                <a:spcPct val="90000"/>
              </a:lnSpc>
              <a:spcBef>
                <a:spcPts val="1000"/>
              </a:spcBef>
              <a:buClr>
                <a:srgbClr val="0000A3"/>
              </a:buClr>
              <a:buFont typeface="Wingdings" charset="2"/>
              <a:buChar char="§"/>
              <a:defRPr/>
            </a:pPr>
            <a:r>
              <a:rPr lang="zh-CN" altLang="en-US" sz="2800" dirty="0">
                <a:solidFill>
                  <a:srgbClr val="0013A3"/>
                </a:solidFill>
              </a:rPr>
              <a:t>digital signal - </a:t>
            </a:r>
            <a:r>
              <a:rPr lang="zh-CN" altLang="en-US" sz="2400" dirty="0">
                <a:solidFill>
                  <a:prstClr val="black"/>
                </a:solidFill>
                <a:latin typeface="Calibri" panose="020F0502020204030204"/>
                <a:ea typeface="ＭＳ Ｐゴシック" panose="020B0600070205080204" pitchFamily="34" charset="-128"/>
              </a:rPr>
              <a:t>A parameter representing a message has discrete values. </a:t>
            </a:r>
          </a:p>
          <a:p>
            <a:pPr marL="352425" indent="-222250">
              <a:lnSpc>
                <a:spcPct val="90000"/>
              </a:lnSpc>
              <a:spcBef>
                <a:spcPts val="1000"/>
              </a:spcBef>
              <a:buClr>
                <a:srgbClr val="0000A3"/>
              </a:buClr>
              <a:buFont typeface="Wingdings" charset="2"/>
              <a:buChar char="§"/>
              <a:defRPr/>
            </a:pPr>
            <a:r>
              <a:rPr lang="zh-CN" altLang="en-US" sz="2800" dirty="0">
                <a:solidFill>
                  <a:srgbClr val="0013A3"/>
                </a:solidFill>
              </a:rPr>
              <a:t>code - </a:t>
            </a:r>
            <a:r>
              <a:rPr lang="zh-CN" altLang="en-US" sz="2400" dirty="0">
                <a:solidFill>
                  <a:prstClr val="black"/>
                </a:solidFill>
                <a:latin typeface="Calibri" panose="020F0502020204030204"/>
                <a:ea typeface="ＭＳ Ｐゴシック" panose="020B0600070205080204" pitchFamily="34" charset="-128"/>
              </a:rPr>
              <a:t>When a digital signal is represented by a waveform in the time domain (or simply the time domain), the basic waveform that represents different discrete values.</a:t>
            </a:r>
            <a:endParaRPr lang="en-US" altLang="zh-CN" sz="2400" dirty="0">
              <a:solidFill>
                <a:prstClr val="black"/>
              </a:solidFill>
              <a:latin typeface="Calibri" panose="020F0502020204030204"/>
              <a:ea typeface="ＭＳ Ｐゴシック" panose="020B0600070205080204" pitchFamily="34" charset="-128"/>
            </a:endParaRPr>
          </a:p>
          <a:p>
            <a:pPr marL="352425" indent="-222250">
              <a:lnSpc>
                <a:spcPct val="90000"/>
              </a:lnSpc>
              <a:spcBef>
                <a:spcPts val="1000"/>
              </a:spcBef>
              <a:buClr>
                <a:srgbClr val="0000A3"/>
              </a:buClr>
              <a:buFont typeface="Wingdings" charset="2"/>
              <a:buChar char="§"/>
              <a:defRPr/>
            </a:pPr>
            <a:r>
              <a:rPr lang="zh-CN" altLang="en" sz="2000" dirty="0">
                <a:solidFill>
                  <a:prstClr val="black"/>
                </a:solidFill>
                <a:latin typeface="Calibri" panose="020F0502020204030204"/>
                <a:ea typeface="ＭＳ Ｐゴシック" panose="020B0600070205080204" pitchFamily="34" charset="-128"/>
              </a:rPr>
              <a:t>数据</a:t>
            </a:r>
            <a:r>
              <a:rPr lang="en-US" altLang="zh-CN" sz="2000" dirty="0">
                <a:solidFill>
                  <a:prstClr val="black"/>
                </a:solidFill>
                <a:latin typeface="Calibri" panose="020F0502020204030204"/>
                <a:ea typeface="ＭＳ Ｐゴシック" panose="020B0600070205080204" pitchFamily="34" charset="-128"/>
              </a:rPr>
              <a:t>-</a:t>
            </a:r>
            <a:r>
              <a:rPr lang="zh-CN" altLang="en-US" sz="2000" dirty="0">
                <a:solidFill>
                  <a:prstClr val="black"/>
                </a:solidFill>
                <a:latin typeface="Calibri" panose="020F0502020204030204"/>
                <a:ea typeface="ＭＳ Ｐゴシック" panose="020B0600070205080204" pitchFamily="34" charset="-128"/>
              </a:rPr>
              <a:t>传递消息的实体。</a:t>
            </a:r>
          </a:p>
          <a:p>
            <a:pPr marL="352425" indent="-222250">
              <a:lnSpc>
                <a:spcPct val="90000"/>
              </a:lnSpc>
              <a:spcBef>
                <a:spcPts val="1000"/>
              </a:spcBef>
              <a:buClr>
                <a:srgbClr val="0000A3"/>
              </a:buClr>
              <a:buFont typeface="Wingdings" charset="2"/>
              <a:buChar char="§"/>
              <a:defRPr/>
            </a:pPr>
            <a:r>
              <a:rPr lang="zh-CN" altLang="en-US" sz="2000" dirty="0">
                <a:solidFill>
                  <a:prstClr val="black"/>
                </a:solidFill>
                <a:latin typeface="Calibri" panose="020F0502020204030204"/>
                <a:ea typeface="ＭＳ Ｐゴシック" panose="020B0600070205080204" pitchFamily="34" charset="-128"/>
              </a:rPr>
              <a:t>信号</a:t>
            </a:r>
            <a:r>
              <a:rPr lang="en-US" altLang="zh-CN" sz="2000" dirty="0">
                <a:solidFill>
                  <a:prstClr val="black"/>
                </a:solidFill>
                <a:latin typeface="Calibri" panose="020F0502020204030204"/>
                <a:ea typeface="ＭＳ Ｐゴシック" panose="020B0600070205080204" pitchFamily="34" charset="-128"/>
              </a:rPr>
              <a:t>-</a:t>
            </a:r>
            <a:r>
              <a:rPr lang="zh-CN" altLang="en-US" sz="2000" dirty="0">
                <a:solidFill>
                  <a:prstClr val="black"/>
                </a:solidFill>
                <a:latin typeface="Calibri" panose="020F0502020204030204"/>
                <a:ea typeface="ＭＳ Ｐゴシック" panose="020B0600070205080204" pitchFamily="34" charset="-128"/>
              </a:rPr>
              <a:t>数据的电气或电磁表示。</a:t>
            </a:r>
          </a:p>
          <a:p>
            <a:pPr marL="352425" indent="-222250">
              <a:lnSpc>
                <a:spcPct val="90000"/>
              </a:lnSpc>
              <a:spcBef>
                <a:spcPts val="1000"/>
              </a:spcBef>
              <a:buClr>
                <a:srgbClr val="0000A3"/>
              </a:buClr>
              <a:buFont typeface="Wingdings" charset="2"/>
              <a:buChar char="§"/>
              <a:defRPr/>
            </a:pPr>
            <a:r>
              <a:rPr lang="zh-CN" altLang="en-US" sz="2000" dirty="0">
                <a:solidFill>
                  <a:prstClr val="black"/>
                </a:solidFill>
                <a:latin typeface="Calibri" panose="020F0502020204030204"/>
                <a:ea typeface="ＭＳ Ｐゴシック" panose="020B0600070205080204" pitchFamily="34" charset="-128"/>
              </a:rPr>
              <a:t>模拟信号</a:t>
            </a:r>
            <a:r>
              <a:rPr lang="en-US" altLang="zh-CN" sz="2000" dirty="0">
                <a:solidFill>
                  <a:prstClr val="black"/>
                </a:solidFill>
                <a:latin typeface="Calibri" panose="020F0502020204030204"/>
                <a:ea typeface="ＭＳ Ｐゴシック" panose="020B0600070205080204" pitchFamily="34" charset="-128"/>
              </a:rPr>
              <a:t>-</a:t>
            </a:r>
            <a:r>
              <a:rPr lang="zh-CN" altLang="en-US" sz="2000" dirty="0">
                <a:solidFill>
                  <a:prstClr val="black"/>
                </a:solidFill>
                <a:latin typeface="Calibri" panose="020F0502020204030204"/>
                <a:ea typeface="ＭＳ Ｐゴシック" panose="020B0600070205080204" pitchFamily="34" charset="-128"/>
              </a:rPr>
              <a:t>表示值连续的消息的参数。</a:t>
            </a:r>
          </a:p>
          <a:p>
            <a:pPr marL="352425" indent="-222250">
              <a:lnSpc>
                <a:spcPct val="90000"/>
              </a:lnSpc>
              <a:spcBef>
                <a:spcPts val="1000"/>
              </a:spcBef>
              <a:buClr>
                <a:srgbClr val="0000A3"/>
              </a:buClr>
              <a:buFont typeface="Wingdings" charset="2"/>
              <a:buChar char="§"/>
              <a:defRPr/>
            </a:pPr>
            <a:r>
              <a:rPr lang="zh-CN" altLang="en-US" sz="2000" dirty="0">
                <a:solidFill>
                  <a:prstClr val="black"/>
                </a:solidFill>
                <a:latin typeface="Calibri" panose="020F0502020204030204"/>
                <a:ea typeface="ＭＳ Ｐゴシック" panose="020B0600070205080204" pitchFamily="34" charset="-128"/>
              </a:rPr>
              <a:t>数字信号</a:t>
            </a:r>
            <a:r>
              <a:rPr lang="en-US" altLang="zh-CN" sz="2000" dirty="0">
                <a:solidFill>
                  <a:prstClr val="black"/>
                </a:solidFill>
                <a:latin typeface="Calibri" panose="020F0502020204030204"/>
                <a:ea typeface="ＭＳ Ｐゴシック" panose="020B0600070205080204" pitchFamily="34" charset="-128"/>
              </a:rPr>
              <a:t>-</a:t>
            </a:r>
            <a:r>
              <a:rPr lang="zh-CN" altLang="en-US" sz="2000" dirty="0">
                <a:solidFill>
                  <a:prstClr val="black"/>
                </a:solidFill>
                <a:latin typeface="Calibri" panose="020F0502020204030204"/>
                <a:ea typeface="ＭＳ Ｐゴシック" panose="020B0600070205080204" pitchFamily="34" charset="-128"/>
              </a:rPr>
              <a:t>表示消息的参数具有离散值。</a:t>
            </a:r>
          </a:p>
          <a:p>
            <a:pPr marL="352425" indent="-222250">
              <a:lnSpc>
                <a:spcPct val="90000"/>
              </a:lnSpc>
              <a:spcBef>
                <a:spcPts val="1000"/>
              </a:spcBef>
              <a:buClr>
                <a:srgbClr val="0000A3"/>
              </a:buClr>
              <a:buFont typeface="Wingdings" charset="2"/>
              <a:buChar char="§"/>
              <a:defRPr/>
            </a:pPr>
            <a:r>
              <a:rPr lang="zh-CN" altLang="en-US" sz="2000" dirty="0">
                <a:solidFill>
                  <a:prstClr val="black"/>
                </a:solidFill>
                <a:latin typeface="Calibri" panose="020F0502020204030204"/>
                <a:ea typeface="ＭＳ Ｐゴシック" panose="020B0600070205080204" pitchFamily="34" charset="-128"/>
              </a:rPr>
              <a:t>码字</a:t>
            </a:r>
            <a:r>
              <a:rPr lang="en-US" altLang="zh-CN" sz="2000" dirty="0">
                <a:solidFill>
                  <a:prstClr val="black"/>
                </a:solidFill>
                <a:latin typeface="Calibri" panose="020F0502020204030204"/>
                <a:ea typeface="ＭＳ Ｐゴシック" panose="020B0600070205080204" pitchFamily="34" charset="-128"/>
              </a:rPr>
              <a:t>-</a:t>
            </a:r>
            <a:r>
              <a:rPr lang="zh-CN" altLang="en-US" sz="2000" dirty="0">
                <a:solidFill>
                  <a:prstClr val="black"/>
                </a:solidFill>
                <a:latin typeface="Calibri" panose="020F0502020204030204"/>
                <a:ea typeface="ＭＳ Ｐゴシック" panose="020B0600070205080204" pitchFamily="34" charset="-128"/>
              </a:rPr>
              <a:t>当数字信号由时域中的波形表示时，表示不同离散值的基本波形。</a:t>
            </a:r>
          </a:p>
          <a:p>
            <a:pPr marL="352425" indent="-222250">
              <a:lnSpc>
                <a:spcPct val="90000"/>
              </a:lnSpc>
              <a:spcBef>
                <a:spcPts val="1000"/>
              </a:spcBef>
              <a:buClr>
                <a:srgbClr val="0000A3"/>
              </a:buClr>
              <a:buFont typeface="Wingdings" charset="2"/>
              <a:buChar char="§"/>
              <a:defRPr/>
            </a:pPr>
            <a:endParaRPr lang="zh-CN" altLang="en-US" sz="24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2988585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A few basic concepts about channels</a:t>
            </a:r>
          </a:p>
        </p:txBody>
      </p:sp>
      <p:sp>
        <p:nvSpPr>
          <p:cNvPr id="93" name="文本框 92">
            <a:extLst>
              <a:ext uri="{FF2B5EF4-FFF2-40B4-BE49-F238E27FC236}">
                <a16:creationId xmlns:a16="http://schemas.microsoft.com/office/drawing/2014/main" id="{9ADCFF2B-5F24-6A06-CCE7-679609B04FB7}"/>
              </a:ext>
            </a:extLst>
          </p:cNvPr>
          <p:cNvSpPr txBox="1"/>
          <p:nvPr/>
        </p:nvSpPr>
        <p:spPr>
          <a:xfrm>
            <a:off x="583476" y="1348736"/>
            <a:ext cx="11608524" cy="5387116"/>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rPr>
              <a:t>Channel - </a:t>
            </a:r>
            <a:r>
              <a:rPr lang="en" altLang="zh-CN" sz="2400" dirty="0">
                <a:solidFill>
                  <a:prstClr val="black"/>
                </a:solidFill>
                <a:latin typeface="Calibri" panose="020F0502020204030204"/>
                <a:ea typeface="ＭＳ Ｐゴシック" panose="020B0600070205080204" pitchFamily="34" charset="-128"/>
              </a:rPr>
              <a:t>Generally used to refer to a medium that transmits information in a certain direction.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One-way communication </a:t>
            </a:r>
            <a:r>
              <a:rPr lang="en" altLang="zh-CN" sz="2400" dirty="0">
                <a:solidFill>
                  <a:srgbClr val="0013A3"/>
                </a:solidFill>
              </a:rPr>
              <a:t>(simplex communication) - </a:t>
            </a:r>
            <a:r>
              <a:rPr lang="en" altLang="zh-CN" sz="2400" dirty="0">
                <a:solidFill>
                  <a:prstClr val="black"/>
                </a:solidFill>
                <a:latin typeface="Calibri" panose="020F0502020204030204"/>
                <a:ea typeface="ＭＳ Ｐゴシック" panose="020B0600070205080204" pitchFamily="34" charset="-128"/>
              </a:rPr>
              <a:t>there can only be communication in one direction and no interaction in the opposite direction.</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Bidirectional alternating communication </a:t>
            </a:r>
            <a:r>
              <a:rPr lang="en" altLang="zh-CN" sz="2400" dirty="0">
                <a:solidFill>
                  <a:srgbClr val="0013A3"/>
                </a:solidFill>
              </a:rPr>
              <a:t>(half-duplex communication) - </a:t>
            </a:r>
            <a:r>
              <a:rPr lang="en" altLang="zh-CN" sz="2400" dirty="0">
                <a:solidFill>
                  <a:prstClr val="black"/>
                </a:solidFill>
                <a:latin typeface="Calibri" panose="020F0502020204030204"/>
                <a:ea typeface="ＭＳ Ｐゴシック" panose="020B0600070205080204" pitchFamily="34" charset="-128"/>
              </a:rPr>
              <a:t>Both parties can send messages, but they cannot both send (and therefore receive) messages at the same time.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Bidirectional simultaneous communication </a:t>
            </a:r>
            <a:r>
              <a:rPr lang="en" altLang="zh-CN" sz="2400" dirty="0">
                <a:solidFill>
                  <a:srgbClr val="0013A3"/>
                </a:solidFill>
              </a:rPr>
              <a:t>(full-duplex communication) - </a:t>
            </a:r>
            <a:r>
              <a:rPr lang="en" altLang="zh-CN" sz="2400" dirty="0">
                <a:solidFill>
                  <a:prstClr val="black"/>
                </a:solidFill>
                <a:latin typeface="Calibri" panose="020F0502020204030204"/>
                <a:ea typeface="ＭＳ Ｐゴシック" panose="020B0600070205080204" pitchFamily="34" charset="-128"/>
              </a:rPr>
              <a:t>Both parties can send and receive information at the same time.</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rPr>
              <a:t>Baseband signal </a:t>
            </a:r>
            <a:r>
              <a:rPr lang="en" altLang="zh-CN" sz="2400" dirty="0">
                <a:solidFill>
                  <a:prstClr val="black"/>
                </a:solidFill>
                <a:latin typeface="Calibri" panose="020F0502020204030204"/>
                <a:ea typeface="ＭＳ Ｐゴシック" panose="020B0600070205080204" pitchFamily="34" charset="-128"/>
              </a:rPr>
              <a:t>- The signal coming from the source. Data signals such as computer output that represent various text or image files are baseband signals.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Baseband signals often contain more low frequency components, even DC components, but many channels can not transmit this low frequency component or DC component. Therefore, the baseband signal must be </a:t>
            </a:r>
            <a:r>
              <a:rPr lang="en" altLang="zh-CN" sz="2400" dirty="0">
                <a:solidFill>
                  <a:srgbClr val="0013A3"/>
                </a:solidFill>
              </a:rPr>
              <a:t>modulated</a:t>
            </a:r>
            <a:r>
              <a:rPr lang="en" altLang="zh-CN" sz="2400" dirty="0">
                <a:solidFill>
                  <a:prstClr val="black"/>
                </a:solidFill>
                <a:latin typeface="Calibri" panose="020F0502020204030204"/>
                <a:ea typeface="ＭＳ Ｐゴシック" panose="020B0600070205080204" pitchFamily="34" charset="-128"/>
              </a:rPr>
              <a:t>.</a:t>
            </a:r>
            <a:endParaRPr lang="zh-CN" altLang="en-US" sz="24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2114071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A few basic concepts about channels</a:t>
            </a:r>
          </a:p>
        </p:txBody>
      </p:sp>
      <p:sp>
        <p:nvSpPr>
          <p:cNvPr id="93" name="文本框 92">
            <a:extLst>
              <a:ext uri="{FF2B5EF4-FFF2-40B4-BE49-F238E27FC236}">
                <a16:creationId xmlns:a16="http://schemas.microsoft.com/office/drawing/2014/main" id="{9ADCFF2B-5F24-6A06-CCE7-679609B04FB7}"/>
              </a:ext>
            </a:extLst>
          </p:cNvPr>
          <p:cNvSpPr txBox="1"/>
          <p:nvPr/>
        </p:nvSpPr>
        <p:spPr>
          <a:xfrm>
            <a:off x="583476" y="1348736"/>
            <a:ext cx="10607038" cy="4209357"/>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rPr>
              <a:t>Modulation is divided into two main categories: </a:t>
            </a:r>
          </a:p>
          <a:p>
            <a:pPr marL="130175">
              <a:lnSpc>
                <a:spcPct val="90000"/>
              </a:lnSpc>
              <a:spcBef>
                <a:spcPts val="1000"/>
              </a:spcBef>
              <a:buClr>
                <a:srgbClr val="0000A3"/>
              </a:buClr>
              <a:defRPr/>
            </a:pPr>
            <a:endParaRPr lang="en" altLang="zh-CN" sz="2400" dirty="0">
              <a:solidFill>
                <a:srgbClr val="0013A3"/>
              </a:solidFill>
            </a:endParaRPr>
          </a:p>
          <a:p>
            <a:pPr marL="695325" lvl="1" indent="-231775">
              <a:lnSpc>
                <a:spcPct val="90000"/>
              </a:lnSpc>
              <a:buClr>
                <a:srgbClr val="0000A8"/>
              </a:buClr>
              <a:buFont typeface="Arial" panose="020B0604020202020204" pitchFamily="34" charset="0"/>
              <a:buChar char="•"/>
              <a:defRPr/>
            </a:pPr>
            <a:r>
              <a:rPr lang="en" altLang="zh-CN" sz="2400" dirty="0">
                <a:solidFill>
                  <a:srgbClr val="0013A3"/>
                </a:solidFill>
              </a:rPr>
              <a:t>Baseband modulation</a:t>
            </a:r>
            <a:r>
              <a:rPr lang="en" altLang="zh-CN" sz="2400" dirty="0">
                <a:solidFill>
                  <a:prstClr val="black"/>
                </a:solidFill>
                <a:latin typeface="Calibri" panose="020F0502020204030204"/>
                <a:ea typeface="ＭＳ Ｐゴシック" panose="020B0600070205080204" pitchFamily="34" charset="-128"/>
              </a:rPr>
              <a:t>: only the waveform of the baseband signal is transformed so that it can be adapted to the channel characteristics. </a:t>
            </a:r>
            <a:r>
              <a:rPr lang="en" altLang="zh-CN" sz="2400" dirty="0">
                <a:solidFill>
                  <a:srgbClr val="0013A3"/>
                </a:solidFill>
                <a:latin typeface="Calibri" panose="020F0502020204030204" pitchFamily="34" charset="0"/>
                <a:cs typeface="Calibri" panose="020F0502020204030204" pitchFamily="34" charset="0"/>
              </a:rPr>
              <a:t>The transformed signal is still a baseband signal</a:t>
            </a:r>
            <a:r>
              <a:rPr lang="en" altLang="zh-CN" sz="2400" dirty="0">
                <a:solidFill>
                  <a:prstClr val="black"/>
                </a:solidFill>
                <a:latin typeface="Calibri" panose="020F0502020204030204"/>
                <a:ea typeface="ＭＳ Ｐゴシック" panose="020B0600070205080204" pitchFamily="34" charset="-128"/>
              </a:rPr>
              <a:t>. This process is called coding. </a:t>
            </a:r>
            <a:br>
              <a:rPr lang="en" altLang="zh-CN" sz="2400" dirty="0">
                <a:solidFill>
                  <a:prstClr val="black"/>
                </a:solidFill>
                <a:latin typeface="Calibri" panose="020F0502020204030204"/>
                <a:ea typeface="ＭＳ Ｐゴシック" panose="020B0600070205080204" pitchFamily="34" charset="-128"/>
              </a:rPr>
            </a:br>
            <a:endParaRPr lang="en" altLang="zh-CN" sz="2400" dirty="0">
              <a:solidFill>
                <a:prstClr val="black"/>
              </a:solidFill>
              <a:latin typeface="Calibri" panose="020F0502020204030204"/>
              <a:ea typeface="ＭＳ Ｐゴシック" panose="020B0600070205080204" pitchFamily="34" charset="-128"/>
            </a:endParaRPr>
          </a:p>
          <a:p>
            <a:pPr marL="695325" lvl="1" indent="-231775">
              <a:lnSpc>
                <a:spcPct val="90000"/>
              </a:lnSpc>
              <a:buClr>
                <a:srgbClr val="0000A8"/>
              </a:buClr>
              <a:buFont typeface="Arial" panose="020B0604020202020204" pitchFamily="34" charset="0"/>
              <a:buChar char="•"/>
              <a:defRPr/>
            </a:pPr>
            <a:r>
              <a:rPr lang="en" altLang="zh-CN" sz="2400" dirty="0">
                <a:solidFill>
                  <a:srgbClr val="0013A3"/>
                </a:solidFill>
              </a:rPr>
              <a:t>Bandpass modulation</a:t>
            </a:r>
            <a:r>
              <a:rPr lang="en" altLang="zh-CN" sz="2400" dirty="0">
                <a:solidFill>
                  <a:prstClr val="black"/>
                </a:solidFill>
                <a:latin typeface="Calibri" panose="020F0502020204030204"/>
                <a:ea typeface="ＭＳ Ｐゴシック" panose="020B0600070205080204" pitchFamily="34" charset="-128"/>
              </a:rPr>
              <a:t>: The use of </a:t>
            </a:r>
            <a:r>
              <a:rPr lang="en" altLang="zh-CN" sz="2400" dirty="0">
                <a:solidFill>
                  <a:srgbClr val="0013A3"/>
                </a:solidFill>
                <a:latin typeface="Calibri" panose="020F0502020204030204" pitchFamily="34" charset="0"/>
                <a:cs typeface="Calibri" panose="020F0502020204030204" pitchFamily="34" charset="0"/>
              </a:rPr>
              <a:t>carrier</a:t>
            </a:r>
            <a:r>
              <a:rPr lang="en" altLang="zh-CN" sz="2400" dirty="0">
                <a:solidFill>
                  <a:prstClr val="black"/>
                </a:solidFill>
                <a:latin typeface="Calibri" panose="020F0502020204030204"/>
                <a:ea typeface="ＭＳ Ｐゴシック" panose="020B0600070205080204" pitchFamily="34" charset="-128"/>
              </a:rPr>
              <a:t> modulation to shift the frequency range of the baseband signal to a higher frequency band and convert it to an </a:t>
            </a:r>
            <a:r>
              <a:rPr lang="en" altLang="zh-CN" sz="2400" dirty="0">
                <a:solidFill>
                  <a:srgbClr val="0013A3"/>
                </a:solidFill>
                <a:latin typeface="Calibri" panose="020F0502020204030204" pitchFamily="34" charset="0"/>
                <a:cs typeface="Calibri" panose="020F0502020204030204" pitchFamily="34" charset="0"/>
              </a:rPr>
              <a:t>analog signal </a:t>
            </a:r>
            <a:r>
              <a:rPr lang="en" altLang="zh-CN" sz="2400" dirty="0">
                <a:solidFill>
                  <a:prstClr val="black"/>
                </a:solidFill>
                <a:latin typeface="Calibri" panose="020F0502020204030204"/>
                <a:ea typeface="ＭＳ Ｐゴシック" panose="020B0600070205080204" pitchFamily="34" charset="-128"/>
              </a:rPr>
              <a:t>so that it can better transmit over an analog channel (that is, only a range of frequencies can pass through the channel). </a:t>
            </a:r>
            <a:br>
              <a:rPr lang="en" altLang="zh-CN" sz="2400" dirty="0">
                <a:solidFill>
                  <a:prstClr val="black"/>
                </a:solidFill>
                <a:latin typeface="Calibri" panose="020F0502020204030204"/>
                <a:ea typeface="ＭＳ Ｐゴシック" panose="020B0600070205080204" pitchFamily="34" charset="-128"/>
              </a:rPr>
            </a:br>
            <a:endParaRPr lang="en" altLang="zh-CN" sz="2400" dirty="0">
              <a:solidFill>
                <a:prstClr val="black"/>
              </a:solidFill>
              <a:latin typeface="Calibri" panose="020F0502020204030204"/>
              <a:ea typeface="ＭＳ Ｐゴシック" panose="020B0600070205080204" pitchFamily="34" charset="-128"/>
            </a:endParaRPr>
          </a:p>
          <a:p>
            <a:pPr marL="695325" lvl="1" indent="-231775">
              <a:lnSpc>
                <a:spcPct val="90000"/>
              </a:lnSpc>
              <a:buClr>
                <a:srgbClr val="0000A8"/>
              </a:buClr>
              <a:buFont typeface="Arial" panose="020B0604020202020204" pitchFamily="34" charset="0"/>
              <a:buChar char="•"/>
              <a:defRPr/>
            </a:pPr>
            <a:r>
              <a:rPr lang="en" altLang="zh-CN" sz="2400" dirty="0">
                <a:solidFill>
                  <a:srgbClr val="0013A3"/>
                </a:solidFill>
              </a:rPr>
              <a:t>Bandpass signal</a:t>
            </a:r>
            <a:r>
              <a:rPr lang="en" altLang="zh-CN" sz="2400" dirty="0">
                <a:solidFill>
                  <a:prstClr val="black"/>
                </a:solidFill>
                <a:latin typeface="Calibri" panose="020F0502020204030204"/>
                <a:ea typeface="ＭＳ Ｐゴシック" panose="020B0600070205080204" pitchFamily="34" charset="-128"/>
              </a:rPr>
              <a:t>: A signal modulated by a carrier.</a:t>
            </a:r>
            <a:endParaRPr lang="zh-CN" altLang="en-US" sz="24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4176933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Common encoding methods</a:t>
            </a:r>
          </a:p>
        </p:txBody>
      </p:sp>
      <p:sp>
        <p:nvSpPr>
          <p:cNvPr id="93" name="文本框 92">
            <a:extLst>
              <a:ext uri="{FF2B5EF4-FFF2-40B4-BE49-F238E27FC236}">
                <a16:creationId xmlns:a16="http://schemas.microsoft.com/office/drawing/2014/main" id="{9ADCFF2B-5F24-6A06-CCE7-679609B04FB7}"/>
              </a:ext>
            </a:extLst>
          </p:cNvPr>
          <p:cNvSpPr txBox="1"/>
          <p:nvPr/>
        </p:nvSpPr>
        <p:spPr>
          <a:xfrm>
            <a:off x="583476" y="1348736"/>
            <a:ext cx="5607864" cy="5130635"/>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Non-return to zero system</a:t>
            </a:r>
            <a:r>
              <a:rPr lang="en" altLang="zh-CN" sz="2400" dirty="0">
                <a:solidFill>
                  <a:prstClr val="black"/>
                </a:solidFill>
                <a:latin typeface="Calibri" panose="020F0502020204030204"/>
                <a:ea typeface="ＭＳ Ｐゴシック" panose="020B0600070205080204" pitchFamily="34" charset="-128"/>
              </a:rPr>
              <a:t>: positive level represents 1, negative level represents 0.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Return to zero</a:t>
            </a:r>
            <a:r>
              <a:rPr lang="en" altLang="zh-CN" sz="2400" dirty="0">
                <a:solidFill>
                  <a:prstClr val="black"/>
                </a:solidFill>
                <a:latin typeface="Calibri" panose="020F0502020204030204"/>
                <a:ea typeface="ＭＳ Ｐゴシック" panose="020B0600070205080204" pitchFamily="34" charset="-128"/>
              </a:rPr>
              <a:t>: Positive pulse represents 1, negative pulse represents 0.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Manchester coding</a:t>
            </a:r>
            <a:r>
              <a:rPr lang="en" altLang="zh-CN" sz="2400" dirty="0">
                <a:solidFill>
                  <a:prstClr val="black"/>
                </a:solidFill>
                <a:latin typeface="Calibri" panose="020F0502020204030204"/>
                <a:ea typeface="ＭＳ Ｐゴシック" panose="020B0600070205080204" pitchFamily="34" charset="-128"/>
              </a:rPr>
              <a:t>: An up hop at the bit cycle center represents a 0, and a down hop at the bit cycle center represents a 1. But it can also be defined the other way around.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Differential Manchester code</a:t>
            </a:r>
            <a:r>
              <a:rPr lang="en" altLang="zh-CN" sz="2400" dirty="0">
                <a:solidFill>
                  <a:prstClr val="black"/>
                </a:solidFill>
                <a:latin typeface="Calibri" panose="020F0502020204030204"/>
                <a:ea typeface="ＭＳ Ｐゴシック" panose="020B0600070205080204" pitchFamily="34" charset="-128"/>
              </a:rPr>
              <a:t>: There is always a jump at the center of each bit. Bit-start boundaries with jumps represent 0, while bit-start boundaries without jumps represent 1.</a:t>
            </a:r>
            <a:endParaRPr lang="zh-CN" altLang="en-US" sz="2400" dirty="0">
              <a:solidFill>
                <a:prstClr val="black"/>
              </a:solidFill>
              <a:latin typeface="Calibri" panose="020F0502020204030204"/>
              <a:ea typeface="ＭＳ Ｐゴシック" panose="020B0600070205080204" pitchFamily="34" charset="-128"/>
            </a:endParaRPr>
          </a:p>
        </p:txBody>
      </p:sp>
      <p:grpSp>
        <p:nvGrpSpPr>
          <p:cNvPr id="3" name="组合 2">
            <a:extLst>
              <a:ext uri="{FF2B5EF4-FFF2-40B4-BE49-F238E27FC236}">
                <a16:creationId xmlns:a16="http://schemas.microsoft.com/office/drawing/2014/main" id="{406A4941-196C-BAE1-6F9F-320874B7E06D}"/>
              </a:ext>
            </a:extLst>
          </p:cNvPr>
          <p:cNvGrpSpPr/>
          <p:nvPr/>
        </p:nvGrpSpPr>
        <p:grpSpPr>
          <a:xfrm>
            <a:off x="5838777" y="1348736"/>
            <a:ext cx="5908530" cy="2429458"/>
            <a:chOff x="-498929" y="1380600"/>
            <a:chExt cx="10060441" cy="4136632"/>
          </a:xfrm>
        </p:grpSpPr>
        <p:sp>
          <p:nvSpPr>
            <p:cNvPr id="4" name="Rectangle 6">
              <a:extLst>
                <a:ext uri="{FF2B5EF4-FFF2-40B4-BE49-F238E27FC236}">
                  <a16:creationId xmlns:a16="http://schemas.microsoft.com/office/drawing/2014/main" id="{4A02871D-E460-A373-5882-6AE75542E7EC}"/>
                </a:ext>
              </a:extLst>
            </p:cNvPr>
            <p:cNvSpPr>
              <a:spLocks noChangeArrowheads="1"/>
            </p:cNvSpPr>
            <p:nvPr/>
          </p:nvSpPr>
          <p:spPr bwMode="auto">
            <a:xfrm>
              <a:off x="123848" y="2280089"/>
              <a:ext cx="1908729" cy="519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400" b="1" dirty="0">
                  <a:solidFill>
                    <a:srgbClr val="0000FF"/>
                  </a:solidFill>
                  <a:latin typeface="微软雅黑" pitchFamily="34" charset="-122"/>
                  <a:ea typeface="微软雅黑" pitchFamily="34" charset="-122"/>
                </a:rPr>
                <a:t>不归零制</a:t>
              </a:r>
            </a:p>
          </p:txBody>
        </p:sp>
        <p:sp>
          <p:nvSpPr>
            <p:cNvPr id="5" name="Rectangle 7">
              <a:extLst>
                <a:ext uri="{FF2B5EF4-FFF2-40B4-BE49-F238E27FC236}">
                  <a16:creationId xmlns:a16="http://schemas.microsoft.com/office/drawing/2014/main" id="{B8E0A056-B80D-8D5E-DF92-B6A0B60EDF51}"/>
                </a:ext>
              </a:extLst>
            </p:cNvPr>
            <p:cNvSpPr>
              <a:spLocks noChangeArrowheads="1"/>
            </p:cNvSpPr>
            <p:nvPr/>
          </p:nvSpPr>
          <p:spPr bwMode="auto">
            <a:xfrm>
              <a:off x="14351" y="4059760"/>
              <a:ext cx="2018226" cy="519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400" b="1" dirty="0">
                  <a:solidFill>
                    <a:srgbClr val="0000FF"/>
                  </a:solidFill>
                  <a:latin typeface="微软雅黑" pitchFamily="34" charset="-122"/>
                  <a:ea typeface="微软雅黑" pitchFamily="34" charset="-122"/>
                </a:rPr>
                <a:t>曼彻斯特</a:t>
              </a:r>
            </a:p>
          </p:txBody>
        </p:sp>
        <p:sp>
          <p:nvSpPr>
            <p:cNvPr id="6" name="Rectangle 8">
              <a:extLst>
                <a:ext uri="{FF2B5EF4-FFF2-40B4-BE49-F238E27FC236}">
                  <a16:creationId xmlns:a16="http://schemas.microsoft.com/office/drawing/2014/main" id="{6DDF0C7F-0CC4-16AB-0760-94DD86714224}"/>
                </a:ext>
              </a:extLst>
            </p:cNvPr>
            <p:cNvSpPr>
              <a:spLocks noChangeArrowheads="1"/>
            </p:cNvSpPr>
            <p:nvPr/>
          </p:nvSpPr>
          <p:spPr bwMode="auto">
            <a:xfrm>
              <a:off x="8098451" y="1430383"/>
              <a:ext cx="720633" cy="407034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7" name="Rectangle 9">
              <a:extLst>
                <a:ext uri="{FF2B5EF4-FFF2-40B4-BE49-F238E27FC236}">
                  <a16:creationId xmlns:a16="http://schemas.microsoft.com/office/drawing/2014/main" id="{A50D16C3-E768-31B8-FED7-63BB027E3C77}"/>
                </a:ext>
              </a:extLst>
            </p:cNvPr>
            <p:cNvSpPr>
              <a:spLocks noChangeArrowheads="1"/>
            </p:cNvSpPr>
            <p:nvPr/>
          </p:nvSpPr>
          <p:spPr bwMode="auto">
            <a:xfrm>
              <a:off x="3579275" y="1430383"/>
              <a:ext cx="751616" cy="407034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8" name="Rectangle 10">
              <a:extLst>
                <a:ext uri="{FF2B5EF4-FFF2-40B4-BE49-F238E27FC236}">
                  <a16:creationId xmlns:a16="http://schemas.microsoft.com/office/drawing/2014/main" id="{AED20D16-3750-0E48-B0D9-2A8CA888388A}"/>
                </a:ext>
              </a:extLst>
            </p:cNvPr>
            <p:cNvSpPr>
              <a:spLocks noChangeArrowheads="1"/>
            </p:cNvSpPr>
            <p:nvPr/>
          </p:nvSpPr>
          <p:spPr bwMode="auto">
            <a:xfrm>
              <a:off x="5090095" y="1425619"/>
              <a:ext cx="731598" cy="40774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9" name="Rectangle 11">
              <a:extLst>
                <a:ext uri="{FF2B5EF4-FFF2-40B4-BE49-F238E27FC236}">
                  <a16:creationId xmlns:a16="http://schemas.microsoft.com/office/drawing/2014/main" id="{F84E407C-FED5-61CC-E0E6-9EBF025FD5B3}"/>
                </a:ext>
              </a:extLst>
            </p:cNvPr>
            <p:cNvSpPr>
              <a:spLocks noChangeArrowheads="1"/>
            </p:cNvSpPr>
            <p:nvPr/>
          </p:nvSpPr>
          <p:spPr bwMode="auto">
            <a:xfrm>
              <a:off x="6604736" y="1425619"/>
              <a:ext cx="713017" cy="4077429"/>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0" name="Rectangle 12">
              <a:extLst>
                <a:ext uri="{FF2B5EF4-FFF2-40B4-BE49-F238E27FC236}">
                  <a16:creationId xmlns:a16="http://schemas.microsoft.com/office/drawing/2014/main" id="{BC1221D9-6438-6917-DBA4-84DB0384624B}"/>
                </a:ext>
              </a:extLst>
            </p:cNvPr>
            <p:cNvSpPr>
              <a:spLocks noChangeArrowheads="1"/>
            </p:cNvSpPr>
            <p:nvPr/>
          </p:nvSpPr>
          <p:spPr bwMode="auto">
            <a:xfrm>
              <a:off x="2094102" y="1418724"/>
              <a:ext cx="720123" cy="4082008"/>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11" name="Rectangle 13">
              <a:extLst>
                <a:ext uri="{FF2B5EF4-FFF2-40B4-BE49-F238E27FC236}">
                  <a16:creationId xmlns:a16="http://schemas.microsoft.com/office/drawing/2014/main" id="{C8826212-AA35-F8E0-7D97-01BA7AB7A3F2}"/>
                </a:ext>
              </a:extLst>
            </p:cNvPr>
            <p:cNvSpPr>
              <a:spLocks noChangeArrowheads="1"/>
            </p:cNvSpPr>
            <p:nvPr/>
          </p:nvSpPr>
          <p:spPr bwMode="auto">
            <a:xfrm>
              <a:off x="2192549"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1</a:t>
              </a:r>
            </a:p>
          </p:txBody>
        </p:sp>
        <p:sp>
          <p:nvSpPr>
            <p:cNvPr id="12" name="Rectangle 14">
              <a:extLst>
                <a:ext uri="{FF2B5EF4-FFF2-40B4-BE49-F238E27FC236}">
                  <a16:creationId xmlns:a16="http://schemas.microsoft.com/office/drawing/2014/main" id="{9B021588-BDAB-6CA7-9745-7180DA5DD8F2}"/>
                </a:ext>
              </a:extLst>
            </p:cNvPr>
            <p:cNvSpPr>
              <a:spLocks noChangeArrowheads="1"/>
            </p:cNvSpPr>
            <p:nvPr/>
          </p:nvSpPr>
          <p:spPr bwMode="auto">
            <a:xfrm>
              <a:off x="8930155"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1</a:t>
              </a:r>
            </a:p>
          </p:txBody>
        </p:sp>
        <p:sp>
          <p:nvSpPr>
            <p:cNvPr id="13" name="Rectangle 15">
              <a:extLst>
                <a:ext uri="{FF2B5EF4-FFF2-40B4-BE49-F238E27FC236}">
                  <a16:creationId xmlns:a16="http://schemas.microsoft.com/office/drawing/2014/main" id="{ABCEEFBC-06A3-A8AC-F987-42754C488506}"/>
                </a:ext>
              </a:extLst>
            </p:cNvPr>
            <p:cNvSpPr>
              <a:spLocks noChangeArrowheads="1"/>
            </p:cNvSpPr>
            <p:nvPr/>
          </p:nvSpPr>
          <p:spPr bwMode="auto">
            <a:xfrm>
              <a:off x="5232735"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1</a:t>
              </a:r>
            </a:p>
          </p:txBody>
        </p:sp>
        <p:sp>
          <p:nvSpPr>
            <p:cNvPr id="14" name="Rectangle 16">
              <a:extLst>
                <a:ext uri="{FF2B5EF4-FFF2-40B4-BE49-F238E27FC236}">
                  <a16:creationId xmlns:a16="http://schemas.microsoft.com/office/drawing/2014/main" id="{D5145ABF-1DE6-4912-568A-B43B6FE522D2}"/>
                </a:ext>
              </a:extLst>
            </p:cNvPr>
            <p:cNvSpPr>
              <a:spLocks noChangeArrowheads="1"/>
            </p:cNvSpPr>
            <p:nvPr/>
          </p:nvSpPr>
          <p:spPr bwMode="auto">
            <a:xfrm>
              <a:off x="8174646" y="1490708"/>
              <a:ext cx="298451"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600" b="1">
                  <a:latin typeface="微软雅黑" pitchFamily="34" charset="-122"/>
                  <a:ea typeface="微软雅黑" pitchFamily="34" charset="-122"/>
                </a:rPr>
                <a:t>1</a:t>
              </a:r>
            </a:p>
          </p:txBody>
        </p:sp>
        <p:sp>
          <p:nvSpPr>
            <p:cNvPr id="15" name="Rectangle 17">
              <a:extLst>
                <a:ext uri="{FF2B5EF4-FFF2-40B4-BE49-F238E27FC236}">
                  <a16:creationId xmlns:a16="http://schemas.microsoft.com/office/drawing/2014/main" id="{C20B8995-9280-3B74-DF00-8906E1DD817E}"/>
                </a:ext>
              </a:extLst>
            </p:cNvPr>
            <p:cNvSpPr>
              <a:spLocks noChangeArrowheads="1"/>
            </p:cNvSpPr>
            <p:nvPr/>
          </p:nvSpPr>
          <p:spPr bwMode="auto">
            <a:xfrm>
              <a:off x="7464984"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1</a:t>
              </a:r>
            </a:p>
          </p:txBody>
        </p:sp>
        <p:sp>
          <p:nvSpPr>
            <p:cNvPr id="16" name="Rectangle 18">
              <a:extLst>
                <a:ext uri="{FF2B5EF4-FFF2-40B4-BE49-F238E27FC236}">
                  <a16:creationId xmlns:a16="http://schemas.microsoft.com/office/drawing/2014/main" id="{65CBCC8E-40E2-DC69-D081-D673CF725BB9}"/>
                </a:ext>
              </a:extLst>
            </p:cNvPr>
            <p:cNvSpPr>
              <a:spLocks noChangeArrowheads="1"/>
            </p:cNvSpPr>
            <p:nvPr/>
          </p:nvSpPr>
          <p:spPr bwMode="auto">
            <a:xfrm>
              <a:off x="2953490"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a:t>
              </a:r>
            </a:p>
          </p:txBody>
        </p:sp>
        <p:sp>
          <p:nvSpPr>
            <p:cNvPr id="17" name="Rectangle 19">
              <a:extLst>
                <a:ext uri="{FF2B5EF4-FFF2-40B4-BE49-F238E27FC236}">
                  <a16:creationId xmlns:a16="http://schemas.microsoft.com/office/drawing/2014/main" id="{A75180BD-B12E-5688-0072-C3A9FE62A06A}"/>
                </a:ext>
              </a:extLst>
            </p:cNvPr>
            <p:cNvSpPr>
              <a:spLocks noChangeArrowheads="1"/>
            </p:cNvSpPr>
            <p:nvPr/>
          </p:nvSpPr>
          <p:spPr bwMode="auto">
            <a:xfrm>
              <a:off x="3745578"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0</a:t>
              </a:r>
            </a:p>
          </p:txBody>
        </p:sp>
        <p:sp>
          <p:nvSpPr>
            <p:cNvPr id="18" name="Rectangle 20">
              <a:extLst>
                <a:ext uri="{FF2B5EF4-FFF2-40B4-BE49-F238E27FC236}">
                  <a16:creationId xmlns:a16="http://schemas.microsoft.com/office/drawing/2014/main" id="{1846EA6C-E6FE-F6B8-D25D-E2E2D6DBC0A4}"/>
                </a:ext>
              </a:extLst>
            </p:cNvPr>
            <p:cNvSpPr>
              <a:spLocks noChangeArrowheads="1"/>
            </p:cNvSpPr>
            <p:nvPr/>
          </p:nvSpPr>
          <p:spPr bwMode="auto">
            <a:xfrm>
              <a:off x="4465659"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a:t>
              </a:r>
            </a:p>
          </p:txBody>
        </p:sp>
        <p:sp>
          <p:nvSpPr>
            <p:cNvPr id="19" name="Rectangle 21">
              <a:extLst>
                <a:ext uri="{FF2B5EF4-FFF2-40B4-BE49-F238E27FC236}">
                  <a16:creationId xmlns:a16="http://schemas.microsoft.com/office/drawing/2014/main" id="{AE5572D7-D9F3-AA0A-5D43-976170181BF0}"/>
                </a:ext>
              </a:extLst>
            </p:cNvPr>
            <p:cNvSpPr>
              <a:spLocks noChangeArrowheads="1"/>
            </p:cNvSpPr>
            <p:nvPr/>
          </p:nvSpPr>
          <p:spPr bwMode="auto">
            <a:xfrm>
              <a:off x="5977827"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a:t>
              </a:r>
            </a:p>
          </p:txBody>
        </p:sp>
        <p:sp>
          <p:nvSpPr>
            <p:cNvPr id="20" name="Rectangle 22">
              <a:extLst>
                <a:ext uri="{FF2B5EF4-FFF2-40B4-BE49-F238E27FC236}">
                  <a16:creationId xmlns:a16="http://schemas.microsoft.com/office/drawing/2014/main" id="{8B45C330-64A1-60BD-C8CE-B52912970E8C}"/>
                </a:ext>
              </a:extLst>
            </p:cNvPr>
            <p:cNvSpPr>
              <a:spLocks noChangeArrowheads="1"/>
            </p:cNvSpPr>
            <p:nvPr/>
          </p:nvSpPr>
          <p:spPr bwMode="auto">
            <a:xfrm>
              <a:off x="6697906" y="1490708"/>
              <a:ext cx="526782" cy="57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a:t>
              </a:r>
            </a:p>
          </p:txBody>
        </p:sp>
        <p:grpSp>
          <p:nvGrpSpPr>
            <p:cNvPr id="21" name="组合 20">
              <a:extLst>
                <a:ext uri="{FF2B5EF4-FFF2-40B4-BE49-F238E27FC236}">
                  <a16:creationId xmlns:a16="http://schemas.microsoft.com/office/drawing/2014/main" id="{82D46233-E9B4-1A3D-018E-E079576D583E}"/>
                </a:ext>
              </a:extLst>
            </p:cNvPr>
            <p:cNvGrpSpPr/>
            <p:nvPr/>
          </p:nvGrpSpPr>
          <p:grpSpPr>
            <a:xfrm>
              <a:off x="2060906" y="2145700"/>
              <a:ext cx="7475110" cy="704406"/>
              <a:chOff x="2060906" y="2145700"/>
              <a:chExt cx="7475110" cy="704406"/>
            </a:xfrm>
          </p:grpSpPr>
          <p:sp>
            <p:nvSpPr>
              <p:cNvPr id="55" name="Freeform 24">
                <a:extLst>
                  <a:ext uri="{FF2B5EF4-FFF2-40B4-BE49-F238E27FC236}">
                    <a16:creationId xmlns:a16="http://schemas.microsoft.com/office/drawing/2014/main" id="{5614258D-9E33-C439-057B-C923B789BFD7}"/>
                  </a:ext>
                </a:extLst>
              </p:cNvPr>
              <p:cNvSpPr>
                <a:spLocks/>
              </p:cNvSpPr>
              <p:nvPr/>
            </p:nvSpPr>
            <p:spPr bwMode="auto">
              <a:xfrm>
                <a:off x="2060906" y="2154468"/>
                <a:ext cx="7475110" cy="695638"/>
              </a:xfrm>
              <a:custGeom>
                <a:avLst/>
                <a:gdLst>
                  <a:gd name="T0" fmla="*/ 0 w 4728"/>
                  <a:gd name="T1" fmla="*/ 0 h 953"/>
                  <a:gd name="T2" fmla="*/ 486 w 4728"/>
                  <a:gd name="T3" fmla="*/ 0 h 953"/>
                  <a:gd name="T4" fmla="*/ 486 w 4728"/>
                  <a:gd name="T5" fmla="*/ 952 h 953"/>
                  <a:gd name="T6" fmla="*/ 1924 w 4728"/>
                  <a:gd name="T7" fmla="*/ 952 h 953"/>
                  <a:gd name="T8" fmla="*/ 1924 w 4728"/>
                  <a:gd name="T9" fmla="*/ 0 h 953"/>
                  <a:gd name="T10" fmla="*/ 2410 w 4728"/>
                  <a:gd name="T11" fmla="*/ 0 h 953"/>
                  <a:gd name="T12" fmla="*/ 2410 w 4728"/>
                  <a:gd name="T13" fmla="*/ 952 h 953"/>
                  <a:gd name="T14" fmla="*/ 3372 w 4728"/>
                  <a:gd name="T15" fmla="*/ 952 h 953"/>
                  <a:gd name="T16" fmla="*/ 3372 w 4728"/>
                  <a:gd name="T17" fmla="*/ 0 h 953"/>
                  <a:gd name="T18" fmla="*/ 4727 w 4728"/>
                  <a:gd name="T19" fmla="*/ 0 h 953"/>
                  <a:gd name="connsiteX0" fmla="*/ 0 w 10079"/>
                  <a:gd name="connsiteY0" fmla="*/ 0 h 9990"/>
                  <a:gd name="connsiteX1" fmla="*/ 1028 w 10079"/>
                  <a:gd name="connsiteY1" fmla="*/ 0 h 9990"/>
                  <a:gd name="connsiteX2" fmla="*/ 1028 w 10079"/>
                  <a:gd name="connsiteY2" fmla="*/ 9990 h 9990"/>
                  <a:gd name="connsiteX3" fmla="*/ 4069 w 10079"/>
                  <a:gd name="connsiteY3" fmla="*/ 9990 h 9990"/>
                  <a:gd name="connsiteX4" fmla="*/ 4069 w 10079"/>
                  <a:gd name="connsiteY4" fmla="*/ 0 h 9990"/>
                  <a:gd name="connsiteX5" fmla="*/ 5097 w 10079"/>
                  <a:gd name="connsiteY5" fmla="*/ 0 h 9990"/>
                  <a:gd name="connsiteX6" fmla="*/ 5097 w 10079"/>
                  <a:gd name="connsiteY6" fmla="*/ 9990 h 9990"/>
                  <a:gd name="connsiteX7" fmla="*/ 7132 w 10079"/>
                  <a:gd name="connsiteY7" fmla="*/ 9990 h 9990"/>
                  <a:gd name="connsiteX8" fmla="*/ 7132 w 10079"/>
                  <a:gd name="connsiteY8" fmla="*/ 0 h 9990"/>
                  <a:gd name="connsiteX9" fmla="*/ 10079 w 10079"/>
                  <a:gd name="connsiteY9" fmla="*/ 0 h 9990"/>
                  <a:gd name="connsiteX0" fmla="*/ 0 w 10020"/>
                  <a:gd name="connsiteY0" fmla="*/ 0 h 10000"/>
                  <a:gd name="connsiteX1" fmla="*/ 1020 w 10020"/>
                  <a:gd name="connsiteY1" fmla="*/ 0 h 10000"/>
                  <a:gd name="connsiteX2" fmla="*/ 1020 w 10020"/>
                  <a:gd name="connsiteY2" fmla="*/ 10000 h 10000"/>
                  <a:gd name="connsiteX3" fmla="*/ 4037 w 10020"/>
                  <a:gd name="connsiteY3" fmla="*/ 10000 h 10000"/>
                  <a:gd name="connsiteX4" fmla="*/ 4037 w 10020"/>
                  <a:gd name="connsiteY4" fmla="*/ 0 h 10000"/>
                  <a:gd name="connsiteX5" fmla="*/ 5057 w 10020"/>
                  <a:gd name="connsiteY5" fmla="*/ 0 h 10000"/>
                  <a:gd name="connsiteX6" fmla="*/ 5057 w 10020"/>
                  <a:gd name="connsiteY6" fmla="*/ 10000 h 10000"/>
                  <a:gd name="connsiteX7" fmla="*/ 7076 w 10020"/>
                  <a:gd name="connsiteY7" fmla="*/ 10000 h 10000"/>
                  <a:gd name="connsiteX8" fmla="*/ 7076 w 10020"/>
                  <a:gd name="connsiteY8" fmla="*/ 0 h 10000"/>
                  <a:gd name="connsiteX9" fmla="*/ 10020 w 10020"/>
                  <a:gd name="connsiteY9"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20" h="10000">
                    <a:moveTo>
                      <a:pt x="0" y="0"/>
                    </a:moveTo>
                    <a:lnTo>
                      <a:pt x="1020" y="0"/>
                    </a:lnTo>
                    <a:lnTo>
                      <a:pt x="1020" y="10000"/>
                    </a:lnTo>
                    <a:lnTo>
                      <a:pt x="4037" y="10000"/>
                    </a:lnTo>
                    <a:lnTo>
                      <a:pt x="4037" y="0"/>
                    </a:lnTo>
                    <a:lnTo>
                      <a:pt x="5057" y="0"/>
                    </a:lnTo>
                    <a:lnTo>
                      <a:pt x="5057" y="10000"/>
                    </a:lnTo>
                    <a:lnTo>
                      <a:pt x="7076" y="10000"/>
                    </a:lnTo>
                    <a:lnTo>
                      <a:pt x="7076" y="0"/>
                    </a:lnTo>
                    <a:lnTo>
                      <a:pt x="10020"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dirty="0">
                  <a:latin typeface="微软雅黑" pitchFamily="34" charset="-122"/>
                  <a:ea typeface="微软雅黑" pitchFamily="34" charset="-122"/>
                </a:endParaRPr>
              </a:p>
            </p:txBody>
          </p:sp>
          <p:sp>
            <p:nvSpPr>
              <p:cNvPr id="56" name="Line 25">
                <a:extLst>
                  <a:ext uri="{FF2B5EF4-FFF2-40B4-BE49-F238E27FC236}">
                    <a16:creationId xmlns:a16="http://schemas.microsoft.com/office/drawing/2014/main" id="{2F9F9766-B0BF-B9FD-8AAF-D30E47FA72A7}"/>
                  </a:ext>
                </a:extLst>
              </p:cNvPr>
              <p:cNvSpPr>
                <a:spLocks noChangeShapeType="1"/>
              </p:cNvSpPr>
              <p:nvPr/>
            </p:nvSpPr>
            <p:spPr bwMode="auto">
              <a:xfrm flipV="1">
                <a:off x="6583655" y="2778465"/>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57" name="Line 26">
                <a:extLst>
                  <a:ext uri="{FF2B5EF4-FFF2-40B4-BE49-F238E27FC236}">
                    <a16:creationId xmlns:a16="http://schemas.microsoft.com/office/drawing/2014/main" id="{07181E47-77A7-D4E2-FCE5-F5DC4BE68378}"/>
                  </a:ext>
                </a:extLst>
              </p:cNvPr>
              <p:cNvSpPr>
                <a:spLocks noChangeShapeType="1"/>
              </p:cNvSpPr>
              <p:nvPr/>
            </p:nvSpPr>
            <p:spPr bwMode="auto">
              <a:xfrm flipV="1">
                <a:off x="8078714" y="2145700"/>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58" name="Line 27">
                <a:extLst>
                  <a:ext uri="{FF2B5EF4-FFF2-40B4-BE49-F238E27FC236}">
                    <a16:creationId xmlns:a16="http://schemas.microsoft.com/office/drawing/2014/main" id="{DF7B0B49-3463-3ACA-EAF0-147D7F74DCE9}"/>
                  </a:ext>
                </a:extLst>
              </p:cNvPr>
              <p:cNvSpPr>
                <a:spLocks noChangeShapeType="1"/>
              </p:cNvSpPr>
              <p:nvPr/>
            </p:nvSpPr>
            <p:spPr bwMode="auto">
              <a:xfrm flipV="1">
                <a:off x="8828592" y="2155199"/>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59" name="Line 28">
                <a:extLst>
                  <a:ext uri="{FF2B5EF4-FFF2-40B4-BE49-F238E27FC236}">
                    <a16:creationId xmlns:a16="http://schemas.microsoft.com/office/drawing/2014/main" id="{BE9EBEC2-4D16-5FF3-1033-CFC358EE8BB8}"/>
                  </a:ext>
                </a:extLst>
              </p:cNvPr>
              <p:cNvSpPr>
                <a:spLocks noChangeShapeType="1"/>
              </p:cNvSpPr>
              <p:nvPr/>
            </p:nvSpPr>
            <p:spPr bwMode="auto">
              <a:xfrm flipV="1">
                <a:off x="4330891" y="2777004"/>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60" name="Line 29">
                <a:extLst>
                  <a:ext uri="{FF2B5EF4-FFF2-40B4-BE49-F238E27FC236}">
                    <a16:creationId xmlns:a16="http://schemas.microsoft.com/office/drawing/2014/main" id="{7230E57A-2D5B-2887-CDA9-F0FE2B5EDC1E}"/>
                  </a:ext>
                </a:extLst>
              </p:cNvPr>
              <p:cNvSpPr>
                <a:spLocks noChangeShapeType="1"/>
              </p:cNvSpPr>
              <p:nvPr/>
            </p:nvSpPr>
            <p:spPr bwMode="auto">
              <a:xfrm flipV="1">
                <a:off x="3570055" y="2777734"/>
                <a:ext cx="0" cy="64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sp>
          <p:nvSpPr>
            <p:cNvPr id="22" name="Freeform 30">
              <a:extLst>
                <a:ext uri="{FF2B5EF4-FFF2-40B4-BE49-F238E27FC236}">
                  <a16:creationId xmlns:a16="http://schemas.microsoft.com/office/drawing/2014/main" id="{639A7497-77F7-AB8A-8496-AA5CA205F2BB}"/>
                </a:ext>
              </a:extLst>
            </p:cNvPr>
            <p:cNvSpPr>
              <a:spLocks/>
            </p:cNvSpPr>
            <p:nvPr/>
          </p:nvSpPr>
          <p:spPr bwMode="auto">
            <a:xfrm>
              <a:off x="2062492" y="3988564"/>
              <a:ext cx="7473339"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122"/>
                <a:gd name="connsiteY0" fmla="*/ 0 h 10000"/>
                <a:gd name="connsiteX1" fmla="*/ 504 w 10122"/>
                <a:gd name="connsiteY1" fmla="*/ 0 h 10000"/>
                <a:gd name="connsiteX2" fmla="*/ 504 w 10122"/>
                <a:gd name="connsiteY2" fmla="*/ 10000 h 10000"/>
                <a:gd name="connsiteX3" fmla="*/ 1536 w 10122"/>
                <a:gd name="connsiteY3" fmla="*/ 10000 h 10000"/>
                <a:gd name="connsiteX4" fmla="*/ 1536 w 10122"/>
                <a:gd name="connsiteY4" fmla="*/ 0 h 10000"/>
                <a:gd name="connsiteX5" fmla="*/ 2040 w 10122"/>
                <a:gd name="connsiteY5" fmla="*/ 0 h 10000"/>
                <a:gd name="connsiteX6" fmla="*/ 2040 w 10122"/>
                <a:gd name="connsiteY6" fmla="*/ 10000 h 10000"/>
                <a:gd name="connsiteX7" fmla="*/ 2565 w 10122"/>
                <a:gd name="connsiteY7" fmla="*/ 10000 h 10000"/>
                <a:gd name="connsiteX8" fmla="*/ 2565 w 10122"/>
                <a:gd name="connsiteY8" fmla="*/ 0 h 10000"/>
                <a:gd name="connsiteX9" fmla="*/ 3070 w 10122"/>
                <a:gd name="connsiteY9" fmla="*/ 0 h 10000"/>
                <a:gd name="connsiteX10" fmla="*/ 3070 w 10122"/>
                <a:gd name="connsiteY10" fmla="*/ 10000 h 10000"/>
                <a:gd name="connsiteX11" fmla="*/ 3574 w 10122"/>
                <a:gd name="connsiteY11" fmla="*/ 10000 h 10000"/>
                <a:gd name="connsiteX12" fmla="*/ 3574 w 10122"/>
                <a:gd name="connsiteY12" fmla="*/ 0 h 10000"/>
                <a:gd name="connsiteX13" fmla="*/ 4606 w 10122"/>
                <a:gd name="connsiteY13" fmla="*/ 0 h 10000"/>
                <a:gd name="connsiteX14" fmla="*/ 4606 w 10122"/>
                <a:gd name="connsiteY14" fmla="*/ 10000 h 10000"/>
                <a:gd name="connsiteX15" fmla="*/ 5615 w 10122"/>
                <a:gd name="connsiteY15" fmla="*/ 10000 h 10000"/>
                <a:gd name="connsiteX16" fmla="*/ 5615 w 10122"/>
                <a:gd name="connsiteY16" fmla="*/ 122 h 10000"/>
                <a:gd name="connsiteX17" fmla="*/ 6119 w 10122"/>
                <a:gd name="connsiteY17" fmla="*/ 0 h 10000"/>
                <a:gd name="connsiteX18" fmla="*/ 6119 w 10122"/>
                <a:gd name="connsiteY18" fmla="*/ 10000 h 10000"/>
                <a:gd name="connsiteX19" fmla="*/ 6623 w 10122"/>
                <a:gd name="connsiteY19" fmla="*/ 10000 h 10000"/>
                <a:gd name="connsiteX20" fmla="*/ 6623 w 10122"/>
                <a:gd name="connsiteY20" fmla="*/ 0 h 10000"/>
                <a:gd name="connsiteX21" fmla="*/ 7653 w 10122"/>
                <a:gd name="connsiteY21" fmla="*/ 0 h 10000"/>
                <a:gd name="connsiteX22" fmla="*/ 7653 w 10122"/>
                <a:gd name="connsiteY22" fmla="*/ 10000 h 10000"/>
                <a:gd name="connsiteX23" fmla="*/ 8157 w 10122"/>
                <a:gd name="connsiteY23" fmla="*/ 10000 h 10000"/>
                <a:gd name="connsiteX24" fmla="*/ 8157 w 10122"/>
                <a:gd name="connsiteY24" fmla="*/ 0 h 10000"/>
                <a:gd name="connsiteX25" fmla="*/ 8662 w 10122"/>
                <a:gd name="connsiteY25" fmla="*/ 0 h 10000"/>
                <a:gd name="connsiteX26" fmla="*/ 8662 w 10122"/>
                <a:gd name="connsiteY26" fmla="*/ 10000 h 10000"/>
                <a:gd name="connsiteX27" fmla="*/ 9166 w 10122"/>
                <a:gd name="connsiteY27" fmla="*/ 10000 h 10000"/>
                <a:gd name="connsiteX28" fmla="*/ 9166 w 10122"/>
                <a:gd name="connsiteY28" fmla="*/ 0 h 10000"/>
                <a:gd name="connsiteX29" fmla="*/ 9671 w 10122"/>
                <a:gd name="connsiteY29" fmla="*/ 0 h 10000"/>
                <a:gd name="connsiteX30" fmla="*/ 9671 w 10122"/>
                <a:gd name="connsiteY30" fmla="*/ 10000 h 10000"/>
                <a:gd name="connsiteX31" fmla="*/ 10122 w 10122"/>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22"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22"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3" name="Line 32">
              <a:extLst>
                <a:ext uri="{FF2B5EF4-FFF2-40B4-BE49-F238E27FC236}">
                  <a16:creationId xmlns:a16="http://schemas.microsoft.com/office/drawing/2014/main" id="{AFEE84CA-D733-6D48-56E9-15241FFFF31D}"/>
                </a:ext>
              </a:extLst>
            </p:cNvPr>
            <p:cNvSpPr>
              <a:spLocks noChangeShapeType="1"/>
            </p:cNvSpPr>
            <p:nvPr/>
          </p:nvSpPr>
          <p:spPr bwMode="auto">
            <a:xfrm flipH="1" flipV="1">
              <a:off x="2067107" y="1399876"/>
              <a:ext cx="3175"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4" name="Line 33">
              <a:extLst>
                <a:ext uri="{FF2B5EF4-FFF2-40B4-BE49-F238E27FC236}">
                  <a16:creationId xmlns:a16="http://schemas.microsoft.com/office/drawing/2014/main" id="{4185B8A0-31CF-E1DC-5670-07F972E4EE8C}"/>
                </a:ext>
              </a:extLst>
            </p:cNvPr>
            <p:cNvSpPr>
              <a:spLocks noChangeShapeType="1"/>
            </p:cNvSpPr>
            <p:nvPr/>
          </p:nvSpPr>
          <p:spPr bwMode="auto">
            <a:xfrm flipV="1">
              <a:off x="2817167" y="1380600"/>
              <a:ext cx="0" cy="4122657"/>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5" name="Line 34">
              <a:extLst>
                <a:ext uri="{FF2B5EF4-FFF2-40B4-BE49-F238E27FC236}">
                  <a16:creationId xmlns:a16="http://schemas.microsoft.com/office/drawing/2014/main" id="{1E5FE25E-076C-4E9A-F2EA-61ECE6F6D701}"/>
                </a:ext>
              </a:extLst>
            </p:cNvPr>
            <p:cNvSpPr>
              <a:spLocks noChangeShapeType="1"/>
            </p:cNvSpPr>
            <p:nvPr/>
          </p:nvSpPr>
          <p:spPr bwMode="auto">
            <a:xfrm flipV="1">
              <a:off x="3564285" y="1399876"/>
              <a:ext cx="0"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6" name="Line 35">
              <a:extLst>
                <a:ext uri="{FF2B5EF4-FFF2-40B4-BE49-F238E27FC236}">
                  <a16:creationId xmlns:a16="http://schemas.microsoft.com/office/drawing/2014/main" id="{F0D4AE4F-B13C-9857-DE74-01142CD6CC32}"/>
                </a:ext>
              </a:extLst>
            </p:cNvPr>
            <p:cNvSpPr>
              <a:spLocks noChangeShapeType="1"/>
            </p:cNvSpPr>
            <p:nvPr/>
          </p:nvSpPr>
          <p:spPr bwMode="auto">
            <a:xfrm flipH="1" flipV="1">
              <a:off x="4326393" y="1399876"/>
              <a:ext cx="0" cy="4117356"/>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7" name="Line 36">
              <a:extLst>
                <a:ext uri="{FF2B5EF4-FFF2-40B4-BE49-F238E27FC236}">
                  <a16:creationId xmlns:a16="http://schemas.microsoft.com/office/drawing/2014/main" id="{5758A96C-1A89-8DA4-DB27-0576DC80A4FF}"/>
                </a:ext>
              </a:extLst>
            </p:cNvPr>
            <p:cNvSpPr>
              <a:spLocks noChangeShapeType="1"/>
            </p:cNvSpPr>
            <p:nvPr/>
          </p:nvSpPr>
          <p:spPr bwMode="auto">
            <a:xfrm flipV="1">
              <a:off x="5075808" y="1399876"/>
              <a:ext cx="0"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8" name="Line 37">
              <a:extLst>
                <a:ext uri="{FF2B5EF4-FFF2-40B4-BE49-F238E27FC236}">
                  <a16:creationId xmlns:a16="http://schemas.microsoft.com/office/drawing/2014/main" id="{277B81D4-C24E-E17A-411A-BBA7A2E787BC}"/>
                </a:ext>
              </a:extLst>
            </p:cNvPr>
            <p:cNvSpPr>
              <a:spLocks noChangeShapeType="1"/>
            </p:cNvSpPr>
            <p:nvPr/>
          </p:nvSpPr>
          <p:spPr bwMode="auto">
            <a:xfrm flipV="1">
              <a:off x="5838561" y="1399876"/>
              <a:ext cx="0"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29" name="Line 38">
              <a:extLst>
                <a:ext uri="{FF2B5EF4-FFF2-40B4-BE49-F238E27FC236}">
                  <a16:creationId xmlns:a16="http://schemas.microsoft.com/office/drawing/2014/main" id="{6FCB771A-661E-78F1-52A2-FE5E6522FFE9}"/>
                </a:ext>
              </a:extLst>
            </p:cNvPr>
            <p:cNvSpPr>
              <a:spLocks noChangeShapeType="1"/>
            </p:cNvSpPr>
            <p:nvPr/>
          </p:nvSpPr>
          <p:spPr bwMode="auto">
            <a:xfrm flipV="1">
              <a:off x="6591563" y="1399876"/>
              <a:ext cx="0"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0" name="Line 39">
              <a:extLst>
                <a:ext uri="{FF2B5EF4-FFF2-40B4-BE49-F238E27FC236}">
                  <a16:creationId xmlns:a16="http://schemas.microsoft.com/office/drawing/2014/main" id="{F9053A7D-49BF-F85B-24C7-C336564706F6}"/>
                </a:ext>
              </a:extLst>
            </p:cNvPr>
            <p:cNvSpPr>
              <a:spLocks noChangeShapeType="1"/>
            </p:cNvSpPr>
            <p:nvPr/>
          </p:nvSpPr>
          <p:spPr bwMode="auto">
            <a:xfrm flipV="1">
              <a:off x="7332743" y="1399876"/>
              <a:ext cx="0"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1" name="Line 40">
              <a:extLst>
                <a:ext uri="{FF2B5EF4-FFF2-40B4-BE49-F238E27FC236}">
                  <a16:creationId xmlns:a16="http://schemas.microsoft.com/office/drawing/2014/main" id="{1EC49588-F772-4F37-7155-4049D1B8BEC1}"/>
                </a:ext>
              </a:extLst>
            </p:cNvPr>
            <p:cNvSpPr>
              <a:spLocks noChangeShapeType="1"/>
            </p:cNvSpPr>
            <p:nvPr/>
          </p:nvSpPr>
          <p:spPr bwMode="auto">
            <a:xfrm flipH="1" flipV="1">
              <a:off x="8084212" y="1399876"/>
              <a:ext cx="1587" cy="4103381"/>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2" name="Line 41">
              <a:extLst>
                <a:ext uri="{FF2B5EF4-FFF2-40B4-BE49-F238E27FC236}">
                  <a16:creationId xmlns:a16="http://schemas.microsoft.com/office/drawing/2014/main" id="{D82523C4-BE74-E1AC-8548-82C2FC145628}"/>
                </a:ext>
              </a:extLst>
            </p:cNvPr>
            <p:cNvSpPr>
              <a:spLocks noChangeShapeType="1"/>
            </p:cNvSpPr>
            <p:nvPr/>
          </p:nvSpPr>
          <p:spPr bwMode="auto">
            <a:xfrm flipV="1">
              <a:off x="8811941" y="1402285"/>
              <a:ext cx="14287" cy="4100972"/>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sp>
          <p:nvSpPr>
            <p:cNvPr id="33" name="Rectangle 42">
              <a:extLst>
                <a:ext uri="{FF2B5EF4-FFF2-40B4-BE49-F238E27FC236}">
                  <a16:creationId xmlns:a16="http://schemas.microsoft.com/office/drawing/2014/main" id="{32B5A52F-AE01-D406-D49C-33CDAC5690D2}"/>
                </a:ext>
              </a:extLst>
            </p:cNvPr>
            <p:cNvSpPr>
              <a:spLocks noChangeArrowheads="1"/>
            </p:cNvSpPr>
            <p:nvPr/>
          </p:nvSpPr>
          <p:spPr bwMode="auto">
            <a:xfrm>
              <a:off x="275701" y="1498645"/>
              <a:ext cx="1756876" cy="519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400" b="1" dirty="0">
                  <a:solidFill>
                    <a:srgbClr val="0000FF"/>
                  </a:solidFill>
                  <a:latin typeface="微软雅黑" pitchFamily="34" charset="-122"/>
                  <a:ea typeface="微软雅黑" pitchFamily="34" charset="-122"/>
                </a:rPr>
                <a:t>比特流</a:t>
              </a:r>
            </a:p>
          </p:txBody>
        </p:sp>
        <p:grpSp>
          <p:nvGrpSpPr>
            <p:cNvPr id="34" name="Group 66">
              <a:extLst>
                <a:ext uri="{FF2B5EF4-FFF2-40B4-BE49-F238E27FC236}">
                  <a16:creationId xmlns:a16="http://schemas.microsoft.com/office/drawing/2014/main" id="{5CA97E62-3748-4677-6799-2349997B8A43}"/>
                </a:ext>
              </a:extLst>
            </p:cNvPr>
            <p:cNvGrpSpPr>
              <a:grpSpLocks/>
            </p:cNvGrpSpPr>
            <p:nvPr/>
          </p:nvGrpSpPr>
          <p:grpSpPr bwMode="auto">
            <a:xfrm>
              <a:off x="2062493" y="3067440"/>
              <a:ext cx="7499019" cy="705100"/>
              <a:chOff x="1260" y="3138"/>
              <a:chExt cx="4470" cy="192"/>
            </a:xfrm>
          </p:grpSpPr>
          <p:sp>
            <p:nvSpPr>
              <p:cNvPr id="45" name="Freeform 46">
                <a:extLst>
                  <a:ext uri="{FF2B5EF4-FFF2-40B4-BE49-F238E27FC236}">
                    <a16:creationId xmlns:a16="http://schemas.microsoft.com/office/drawing/2014/main" id="{124B6012-A845-E17F-D03E-7180E1F32655}"/>
                  </a:ext>
                </a:extLst>
              </p:cNvPr>
              <p:cNvSpPr>
                <a:spLocks/>
              </p:cNvSpPr>
              <p:nvPr/>
            </p:nvSpPr>
            <p:spPr bwMode="auto">
              <a:xfrm>
                <a:off x="126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6" name="Freeform 47">
                <a:extLst>
                  <a:ext uri="{FF2B5EF4-FFF2-40B4-BE49-F238E27FC236}">
                    <a16:creationId xmlns:a16="http://schemas.microsoft.com/office/drawing/2014/main" id="{71AAC7FE-DE6D-73C4-8D65-B9A6651D61AC}"/>
                  </a:ext>
                </a:extLst>
              </p:cNvPr>
              <p:cNvSpPr>
                <a:spLocks/>
              </p:cNvSpPr>
              <p:nvPr/>
            </p:nvSpPr>
            <p:spPr bwMode="auto">
              <a:xfrm>
                <a:off x="303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7" name="Freeform 48">
                <a:extLst>
                  <a:ext uri="{FF2B5EF4-FFF2-40B4-BE49-F238E27FC236}">
                    <a16:creationId xmlns:a16="http://schemas.microsoft.com/office/drawing/2014/main" id="{8D9E35BA-96A3-13BD-EF45-C2A8FD8E2B42}"/>
                  </a:ext>
                </a:extLst>
              </p:cNvPr>
              <p:cNvSpPr>
                <a:spLocks/>
              </p:cNvSpPr>
              <p:nvPr/>
            </p:nvSpPr>
            <p:spPr bwMode="auto">
              <a:xfrm>
                <a:off x="4386"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8" name="Freeform 49">
                <a:extLst>
                  <a:ext uri="{FF2B5EF4-FFF2-40B4-BE49-F238E27FC236}">
                    <a16:creationId xmlns:a16="http://schemas.microsoft.com/office/drawing/2014/main" id="{61C1B10A-3BC6-C6A4-AB25-0A656E4193D6}"/>
                  </a:ext>
                </a:extLst>
              </p:cNvPr>
              <p:cNvSpPr>
                <a:spLocks/>
              </p:cNvSpPr>
              <p:nvPr/>
            </p:nvSpPr>
            <p:spPr bwMode="auto">
              <a:xfrm>
                <a:off x="483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9" name="Freeform 50">
                <a:extLst>
                  <a:ext uri="{FF2B5EF4-FFF2-40B4-BE49-F238E27FC236}">
                    <a16:creationId xmlns:a16="http://schemas.microsoft.com/office/drawing/2014/main" id="{DEF06324-56AB-A84C-0679-F490D75EA263}"/>
                  </a:ext>
                </a:extLst>
              </p:cNvPr>
              <p:cNvSpPr>
                <a:spLocks/>
              </p:cNvSpPr>
              <p:nvPr/>
            </p:nvSpPr>
            <p:spPr bwMode="auto">
              <a:xfrm>
                <a:off x="5250" y="3138"/>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0" name="Freeform 51">
                <a:extLst>
                  <a:ext uri="{FF2B5EF4-FFF2-40B4-BE49-F238E27FC236}">
                    <a16:creationId xmlns:a16="http://schemas.microsoft.com/office/drawing/2014/main" id="{8410C8AA-78CA-09E0-2861-CD403F9E0C6D}"/>
                  </a:ext>
                </a:extLst>
              </p:cNvPr>
              <p:cNvSpPr>
                <a:spLocks/>
              </p:cNvSpPr>
              <p:nvPr/>
            </p:nvSpPr>
            <p:spPr bwMode="auto">
              <a:xfrm flipV="1">
                <a:off x="16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1" name="Freeform 52">
                <a:extLst>
                  <a:ext uri="{FF2B5EF4-FFF2-40B4-BE49-F238E27FC236}">
                    <a16:creationId xmlns:a16="http://schemas.microsoft.com/office/drawing/2014/main" id="{EDED8F5E-3924-7B1B-0C6E-8D75D4F2616B}"/>
                  </a:ext>
                </a:extLst>
              </p:cNvPr>
              <p:cNvSpPr>
                <a:spLocks/>
              </p:cNvSpPr>
              <p:nvPr/>
            </p:nvSpPr>
            <p:spPr bwMode="auto">
              <a:xfrm flipV="1">
                <a:off x="2130"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2" name="Freeform 53">
                <a:extLst>
                  <a:ext uri="{FF2B5EF4-FFF2-40B4-BE49-F238E27FC236}">
                    <a16:creationId xmlns:a16="http://schemas.microsoft.com/office/drawing/2014/main" id="{993410BE-043E-588C-AC52-E21E28AC287F}"/>
                  </a:ext>
                </a:extLst>
              </p:cNvPr>
              <p:cNvSpPr>
                <a:spLocks/>
              </p:cNvSpPr>
              <p:nvPr/>
            </p:nvSpPr>
            <p:spPr bwMode="auto">
              <a:xfrm flipV="1">
                <a:off x="2592"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3" name="Freeform 54">
                <a:extLst>
                  <a:ext uri="{FF2B5EF4-FFF2-40B4-BE49-F238E27FC236}">
                    <a16:creationId xmlns:a16="http://schemas.microsoft.com/office/drawing/2014/main" id="{51617B3C-80B1-DBAF-D60E-8007FAC445B2}"/>
                  </a:ext>
                </a:extLst>
              </p:cNvPr>
              <p:cNvSpPr>
                <a:spLocks/>
              </p:cNvSpPr>
              <p:nvPr/>
            </p:nvSpPr>
            <p:spPr bwMode="auto">
              <a:xfrm flipV="1">
                <a:off x="348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4" name="Freeform 55">
                <a:extLst>
                  <a:ext uri="{FF2B5EF4-FFF2-40B4-BE49-F238E27FC236}">
                    <a16:creationId xmlns:a16="http://schemas.microsoft.com/office/drawing/2014/main" id="{99339A8D-D82D-B2F3-8923-51394B7D96EA}"/>
                  </a:ext>
                </a:extLst>
              </p:cNvPr>
              <p:cNvSpPr>
                <a:spLocks/>
              </p:cNvSpPr>
              <p:nvPr/>
            </p:nvSpPr>
            <p:spPr bwMode="auto">
              <a:xfrm flipV="1">
                <a:off x="3936" y="3234"/>
                <a:ext cx="480" cy="96"/>
              </a:xfrm>
              <a:custGeom>
                <a:avLst/>
                <a:gdLst>
                  <a:gd name="T0" fmla="*/ 0 w 480"/>
                  <a:gd name="T1" fmla="*/ 144 h 144"/>
                  <a:gd name="T2" fmla="*/ 144 w 480"/>
                  <a:gd name="T3" fmla="*/ 144 h 144"/>
                  <a:gd name="T4" fmla="*/ 144 w 480"/>
                  <a:gd name="T5" fmla="*/ 0 h 144"/>
                  <a:gd name="T6" fmla="*/ 336 w 480"/>
                  <a:gd name="T7" fmla="*/ 0 h 144"/>
                  <a:gd name="T8" fmla="*/ 336 w 480"/>
                  <a:gd name="T9" fmla="*/ 144 h 144"/>
                  <a:gd name="T10" fmla="*/ 480 w 480"/>
                  <a:gd name="T11" fmla="*/ 144 h 144"/>
                </a:gdLst>
                <a:ahLst/>
                <a:cxnLst>
                  <a:cxn ang="0">
                    <a:pos x="T0" y="T1"/>
                  </a:cxn>
                  <a:cxn ang="0">
                    <a:pos x="T2" y="T3"/>
                  </a:cxn>
                  <a:cxn ang="0">
                    <a:pos x="T4" y="T5"/>
                  </a:cxn>
                  <a:cxn ang="0">
                    <a:pos x="T6" y="T7"/>
                  </a:cxn>
                  <a:cxn ang="0">
                    <a:pos x="T8" y="T9"/>
                  </a:cxn>
                  <a:cxn ang="0">
                    <a:pos x="T10" y="T11"/>
                  </a:cxn>
                </a:cxnLst>
                <a:rect l="0" t="0" r="r" b="b"/>
                <a:pathLst>
                  <a:path w="480" h="144">
                    <a:moveTo>
                      <a:pt x="0" y="144"/>
                    </a:moveTo>
                    <a:lnTo>
                      <a:pt x="144" y="144"/>
                    </a:lnTo>
                    <a:lnTo>
                      <a:pt x="144" y="0"/>
                    </a:lnTo>
                    <a:lnTo>
                      <a:pt x="336" y="0"/>
                    </a:lnTo>
                    <a:lnTo>
                      <a:pt x="336" y="144"/>
                    </a:lnTo>
                    <a:lnTo>
                      <a:pt x="480" y="144"/>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grpSp>
          <p:nvGrpSpPr>
            <p:cNvPr id="35" name="Group 65">
              <a:extLst>
                <a:ext uri="{FF2B5EF4-FFF2-40B4-BE49-F238E27FC236}">
                  <a16:creationId xmlns:a16="http://schemas.microsoft.com/office/drawing/2014/main" id="{0839C09A-574A-F591-9988-48E1825179DB}"/>
                </a:ext>
              </a:extLst>
            </p:cNvPr>
            <p:cNvGrpSpPr>
              <a:grpSpLocks/>
            </p:cNvGrpSpPr>
            <p:nvPr/>
          </p:nvGrpSpPr>
          <p:grpSpPr bwMode="auto">
            <a:xfrm>
              <a:off x="2072017" y="4810021"/>
              <a:ext cx="7483921" cy="690711"/>
              <a:chOff x="1264" y="2804"/>
              <a:chExt cx="4461" cy="258"/>
            </a:xfrm>
          </p:grpSpPr>
          <p:sp>
            <p:nvSpPr>
              <p:cNvPr id="43" name="Freeform 63">
                <a:extLst>
                  <a:ext uri="{FF2B5EF4-FFF2-40B4-BE49-F238E27FC236}">
                    <a16:creationId xmlns:a16="http://schemas.microsoft.com/office/drawing/2014/main" id="{823BE530-3E6A-9466-972D-3A3F999F1D6F}"/>
                  </a:ext>
                </a:extLst>
              </p:cNvPr>
              <p:cNvSpPr>
                <a:spLocks/>
              </p:cNvSpPr>
              <p:nvPr/>
            </p:nvSpPr>
            <p:spPr bwMode="auto">
              <a:xfrm>
                <a:off x="1264"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 name="Freeform 64">
                <a:extLst>
                  <a:ext uri="{FF2B5EF4-FFF2-40B4-BE49-F238E27FC236}">
                    <a16:creationId xmlns:a16="http://schemas.microsoft.com/office/drawing/2014/main" id="{EA42C7B3-9847-DD4C-B785-37C76F2028AB}"/>
                  </a:ext>
                </a:extLst>
              </p:cNvPr>
              <p:cNvSpPr>
                <a:spLocks/>
              </p:cNvSpPr>
              <p:nvPr/>
            </p:nvSpPr>
            <p:spPr bwMode="auto">
              <a:xfrm>
                <a:off x="4173"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36" name="Rectangle 68">
              <a:extLst>
                <a:ext uri="{FF2B5EF4-FFF2-40B4-BE49-F238E27FC236}">
                  <a16:creationId xmlns:a16="http://schemas.microsoft.com/office/drawing/2014/main" id="{57B9A085-B655-108A-081B-23B2F82BFAF8}"/>
                </a:ext>
              </a:extLst>
            </p:cNvPr>
            <p:cNvSpPr>
              <a:spLocks noChangeArrowheads="1"/>
            </p:cNvSpPr>
            <p:nvPr/>
          </p:nvSpPr>
          <p:spPr bwMode="auto">
            <a:xfrm>
              <a:off x="-498929" y="4838656"/>
              <a:ext cx="2531510" cy="519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400" b="1" dirty="0">
                  <a:solidFill>
                    <a:srgbClr val="0000FF"/>
                  </a:solidFill>
                  <a:latin typeface="微软雅黑" pitchFamily="34" charset="-122"/>
                  <a:ea typeface="微软雅黑" pitchFamily="34" charset="-122"/>
                </a:rPr>
                <a:t>差分曼彻斯特</a:t>
              </a:r>
            </a:p>
          </p:txBody>
        </p:sp>
        <p:sp>
          <p:nvSpPr>
            <p:cNvPr id="37" name="Rectangle 69">
              <a:extLst>
                <a:ext uri="{FF2B5EF4-FFF2-40B4-BE49-F238E27FC236}">
                  <a16:creationId xmlns:a16="http://schemas.microsoft.com/office/drawing/2014/main" id="{1028E9F8-9DA8-4BA8-4CDC-973C9663EBA3}"/>
                </a:ext>
              </a:extLst>
            </p:cNvPr>
            <p:cNvSpPr>
              <a:spLocks noChangeArrowheads="1"/>
            </p:cNvSpPr>
            <p:nvPr/>
          </p:nvSpPr>
          <p:spPr bwMode="auto">
            <a:xfrm>
              <a:off x="235628" y="3193282"/>
              <a:ext cx="1796952" cy="519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400" b="1" dirty="0">
                  <a:solidFill>
                    <a:srgbClr val="0000FF"/>
                  </a:solidFill>
                  <a:latin typeface="微软雅黑" pitchFamily="34" charset="-122"/>
                  <a:ea typeface="微软雅黑" pitchFamily="34" charset="-122"/>
                </a:rPr>
                <a:t>归零制</a:t>
              </a:r>
            </a:p>
          </p:txBody>
        </p:sp>
        <p:cxnSp>
          <p:nvCxnSpPr>
            <p:cNvPr id="38" name="直接连接符 51">
              <a:extLst>
                <a:ext uri="{FF2B5EF4-FFF2-40B4-BE49-F238E27FC236}">
                  <a16:creationId xmlns:a16="http://schemas.microsoft.com/office/drawing/2014/main" id="{976707F7-211E-DBBC-CEB5-9D80FAF6483B}"/>
                </a:ext>
              </a:extLst>
            </p:cNvPr>
            <p:cNvCxnSpPr/>
            <p:nvPr/>
          </p:nvCxnSpPr>
          <p:spPr bwMode="auto">
            <a:xfrm>
              <a:off x="2060839" y="5167044"/>
              <a:ext cx="7495099"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52">
              <a:extLst>
                <a:ext uri="{FF2B5EF4-FFF2-40B4-BE49-F238E27FC236}">
                  <a16:creationId xmlns:a16="http://schemas.microsoft.com/office/drawing/2014/main" id="{852A0D4B-A16A-D9C3-F1EA-D906F30F6236}"/>
                </a:ext>
              </a:extLst>
            </p:cNvPr>
            <p:cNvCxnSpPr/>
            <p:nvPr/>
          </p:nvCxnSpPr>
          <p:spPr bwMode="auto">
            <a:xfrm>
              <a:off x="2060839" y="4333919"/>
              <a:ext cx="7495099"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53">
              <a:extLst>
                <a:ext uri="{FF2B5EF4-FFF2-40B4-BE49-F238E27FC236}">
                  <a16:creationId xmlns:a16="http://schemas.microsoft.com/office/drawing/2014/main" id="{97517D58-8AF3-0B7B-B182-432C600E6D2A}"/>
                </a:ext>
              </a:extLst>
            </p:cNvPr>
            <p:cNvCxnSpPr/>
            <p:nvPr/>
          </p:nvCxnSpPr>
          <p:spPr bwMode="auto">
            <a:xfrm>
              <a:off x="2060839" y="3422871"/>
              <a:ext cx="7495099"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54">
              <a:extLst>
                <a:ext uri="{FF2B5EF4-FFF2-40B4-BE49-F238E27FC236}">
                  <a16:creationId xmlns:a16="http://schemas.microsoft.com/office/drawing/2014/main" id="{1D0E2943-1B31-7C4A-5BA0-02BC5C227070}"/>
                </a:ext>
              </a:extLst>
            </p:cNvPr>
            <p:cNvCxnSpPr/>
            <p:nvPr/>
          </p:nvCxnSpPr>
          <p:spPr bwMode="auto">
            <a:xfrm>
              <a:off x="2060839" y="2505690"/>
              <a:ext cx="7495099"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 name="Line 41">
              <a:extLst>
                <a:ext uri="{FF2B5EF4-FFF2-40B4-BE49-F238E27FC236}">
                  <a16:creationId xmlns:a16="http://schemas.microsoft.com/office/drawing/2014/main" id="{B5C062A0-2E8B-96FD-3758-1FAA403BC7C3}"/>
                </a:ext>
              </a:extLst>
            </p:cNvPr>
            <p:cNvSpPr>
              <a:spLocks noChangeShapeType="1"/>
            </p:cNvSpPr>
            <p:nvPr/>
          </p:nvSpPr>
          <p:spPr bwMode="auto">
            <a:xfrm flipV="1">
              <a:off x="9541651" y="1402285"/>
              <a:ext cx="14287" cy="4100972"/>
            </a:xfrm>
            <a:prstGeom prst="line">
              <a:avLst/>
            </a:prstGeom>
            <a:noFill/>
            <a:ln w="19050">
              <a:solidFill>
                <a:srgbClr val="0070C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微软雅黑" pitchFamily="34" charset="-122"/>
                <a:ea typeface="微软雅黑" pitchFamily="34" charset="-122"/>
              </a:endParaRPr>
            </a:p>
          </p:txBody>
        </p:sp>
      </p:grpSp>
      <p:sp>
        <p:nvSpPr>
          <p:cNvPr id="64" name="文本框 63">
            <a:extLst>
              <a:ext uri="{FF2B5EF4-FFF2-40B4-BE49-F238E27FC236}">
                <a16:creationId xmlns:a16="http://schemas.microsoft.com/office/drawing/2014/main" id="{F3E93106-BB08-0AEE-4A9A-97D2BF30B68D}"/>
              </a:ext>
            </a:extLst>
          </p:cNvPr>
          <p:cNvSpPr txBox="1"/>
          <p:nvPr/>
        </p:nvSpPr>
        <p:spPr>
          <a:xfrm>
            <a:off x="6044965" y="3905065"/>
            <a:ext cx="6096000" cy="2585323"/>
          </a:xfrm>
          <a:prstGeom prst="rect">
            <a:avLst/>
          </a:prstGeom>
          <a:noFill/>
        </p:spPr>
        <p:txBody>
          <a:bodyPr wrap="square">
            <a:spAutoFit/>
          </a:bodyPr>
          <a:lstStyle/>
          <a:p>
            <a:r>
              <a:rPr lang="zh-CN" altLang="en-US" dirty="0">
                <a:solidFill>
                  <a:prstClr val="black"/>
                </a:solidFill>
                <a:latin typeface="Calibri" panose="020F0502020204030204"/>
                <a:ea typeface="ＭＳ Ｐゴシック" panose="020B0600070205080204" pitchFamily="34" charset="-128"/>
              </a:rPr>
              <a:t>From the signal waveform, it can be seen that Manchester coding and differential Manchester coding produce signals with higher frequency than the non-return-to-zero system. </a:t>
            </a:r>
            <a:br>
              <a:rPr lang="en-US" altLang="zh-CN" dirty="0">
                <a:solidFill>
                  <a:prstClr val="black"/>
                </a:solidFill>
                <a:latin typeface="Calibri" panose="020F0502020204030204"/>
                <a:ea typeface="ＭＳ Ｐゴシック" panose="020B0600070205080204" pitchFamily="34" charset="-128"/>
              </a:rPr>
            </a:br>
            <a:endParaRPr lang="zh-CN" altLang="en-US" dirty="0">
              <a:solidFill>
                <a:prstClr val="black"/>
              </a:solidFill>
              <a:latin typeface="Calibri" panose="020F0502020204030204"/>
              <a:ea typeface="ＭＳ Ｐゴシック" panose="020B0600070205080204" pitchFamily="34" charset="-128"/>
            </a:endParaRPr>
          </a:p>
          <a:p>
            <a:r>
              <a:rPr lang="zh-CN" altLang="en-US" dirty="0">
                <a:solidFill>
                  <a:prstClr val="black"/>
                </a:solidFill>
                <a:latin typeface="Calibri" panose="020F0502020204030204"/>
                <a:ea typeface="ＭＳ Ｐゴシック" panose="020B0600070205080204" pitchFamily="34" charset="-128"/>
              </a:rPr>
              <a:t>From the point </a:t>
            </a:r>
            <a:r>
              <a:rPr lang="en-US" altLang="zh-CN" dirty="0">
                <a:solidFill>
                  <a:prstClr val="black"/>
                </a:solidFill>
                <a:latin typeface="Calibri" panose="020F0502020204030204"/>
                <a:ea typeface="ＭＳ Ｐゴシック" panose="020B0600070205080204" pitchFamily="34" charset="-128"/>
              </a:rPr>
              <a:t>of</a:t>
            </a:r>
            <a:r>
              <a:rPr lang="zh-CN" altLang="en-US" dirty="0">
                <a:solidFill>
                  <a:prstClr val="black"/>
                </a:solidFill>
                <a:latin typeface="Calibri" panose="020F0502020204030204"/>
                <a:ea typeface="ＭＳ Ｐゴシック" panose="020B0600070205080204" pitchFamily="34" charset="-128"/>
              </a:rPr>
              <a:t> view of self-synchronization, </a:t>
            </a:r>
            <a:r>
              <a:rPr lang="en-US" altLang="zh-CN" dirty="0">
                <a:solidFill>
                  <a:prstClr val="black"/>
                </a:solidFill>
                <a:latin typeface="Calibri" panose="020F0502020204030204"/>
                <a:ea typeface="ＭＳ Ｐゴシック" panose="020B0600070205080204" pitchFamily="34" charset="-128"/>
              </a:rPr>
              <a:t>the</a:t>
            </a:r>
            <a:r>
              <a:rPr lang="zh-CN" altLang="en-US" dirty="0">
                <a:solidFill>
                  <a:prstClr val="black"/>
                </a:solidFill>
                <a:latin typeface="Calibri" panose="020F0502020204030204"/>
                <a:ea typeface="ＭＳ Ｐゴシック" panose="020B0600070205080204" pitchFamily="34" charset="-128"/>
              </a:rPr>
              <a:t> NON-</a:t>
            </a:r>
            <a:r>
              <a:rPr lang="en-US" altLang="zh-CN" dirty="0">
                <a:solidFill>
                  <a:prstClr val="black"/>
                </a:solidFill>
                <a:latin typeface="Calibri" panose="020F0502020204030204"/>
                <a:ea typeface="ＭＳ Ｐゴシック" panose="020B0600070205080204" pitchFamily="34" charset="-128"/>
              </a:rPr>
              <a:t>Return</a:t>
            </a:r>
            <a:r>
              <a:rPr lang="zh-CN" altLang="en-US" dirty="0">
                <a:solidFill>
                  <a:prstClr val="black"/>
                </a:solidFill>
                <a:latin typeface="Calibri" panose="020F0502020204030204"/>
                <a:ea typeface="ＭＳ Ｐゴシック" panose="020B0600070205080204" pitchFamily="34" charset="-128"/>
              </a:rPr>
              <a:t>-to-zero system cannot extract the signal clock frequency from the signal waveform itself (this is called no self-synchronization ability), while the </a:t>
            </a:r>
            <a:r>
              <a:rPr kumimoji="1" lang="zh-CN" altLang="en-US" sz="1400" b="1" dirty="0">
                <a:solidFill>
                  <a:srgbClr val="0000FF"/>
                </a:solidFill>
                <a:latin typeface="微软雅黑" pitchFamily="34" charset="-122"/>
                <a:ea typeface="微软雅黑" pitchFamily="34" charset="-122"/>
              </a:rPr>
              <a:t>Manchester code and the differential Manchester code have </a:t>
            </a:r>
            <a:r>
              <a:rPr kumimoji="1" lang="zh-CN" altLang="en-US" sz="1400" b="1" dirty="0">
                <a:solidFill>
                  <a:srgbClr val="7030A0"/>
                </a:solidFill>
                <a:latin typeface="微软雅黑" pitchFamily="34" charset="-122"/>
                <a:ea typeface="微软雅黑" pitchFamily="34" charset="-122"/>
              </a:rPr>
              <a:t>self-synchronization </a:t>
            </a:r>
            <a:r>
              <a:rPr kumimoji="1" lang="zh-CN" altLang="en-US" sz="1400" b="1" dirty="0">
                <a:solidFill>
                  <a:srgbClr val="0000FF"/>
                </a:solidFill>
                <a:latin typeface="微软雅黑" pitchFamily="34" charset="-122"/>
                <a:ea typeface="微软雅黑" pitchFamily="34" charset="-122"/>
              </a:rPr>
              <a:t>ability</a:t>
            </a:r>
            <a:r>
              <a:rPr lang="zh-CN" altLang="en-US" dirty="0">
                <a:solidFill>
                  <a:prstClr val="black"/>
                </a:solidFill>
                <a:latin typeface="Calibri" panose="020F0502020204030204"/>
                <a:ea typeface="ＭＳ Ｐゴシック" panose="020B0600070205080204" pitchFamily="34" charset="-128"/>
              </a:rPr>
              <a:t>.</a:t>
            </a:r>
          </a:p>
        </p:txBody>
      </p:sp>
    </p:spTree>
    <p:extLst>
      <p:ext uri="{BB962C8B-B14F-4D97-AF65-F5344CB8AC3E}">
        <p14:creationId xmlns:p14="http://schemas.microsoft.com/office/powerpoint/2010/main" val="70361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Basic bandpass modulation method</a:t>
            </a:r>
          </a:p>
        </p:txBody>
      </p:sp>
      <p:sp>
        <p:nvSpPr>
          <p:cNvPr id="93" name="文本框 92">
            <a:extLst>
              <a:ext uri="{FF2B5EF4-FFF2-40B4-BE49-F238E27FC236}">
                <a16:creationId xmlns:a16="http://schemas.microsoft.com/office/drawing/2014/main" id="{9ADCFF2B-5F24-6A06-CCE7-679609B04FB7}"/>
              </a:ext>
            </a:extLst>
          </p:cNvPr>
          <p:cNvSpPr txBox="1"/>
          <p:nvPr/>
        </p:nvSpPr>
        <p:spPr>
          <a:xfrm>
            <a:off x="260878" y="986649"/>
            <a:ext cx="6027002" cy="5871351"/>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Baseband signals often contain more low frequency components, even DC components, but many channels can not transmit this low frequency component or DC component. To solve this problem, the baseband signal must be modulated.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most basic </a:t>
            </a:r>
            <a:r>
              <a:rPr lang="en" altLang="zh-CN" sz="2400" dirty="0">
                <a:solidFill>
                  <a:srgbClr val="0013A3"/>
                </a:solidFill>
                <a:latin typeface="Calibri" panose="020F0502020204030204" pitchFamily="34" charset="0"/>
                <a:cs typeface="Calibri" panose="020F0502020204030204" pitchFamily="34" charset="0"/>
              </a:rPr>
              <a:t>binary modulation </a:t>
            </a:r>
            <a:r>
              <a:rPr lang="en" altLang="zh-CN" sz="2400" dirty="0">
                <a:solidFill>
                  <a:prstClr val="black"/>
                </a:solidFill>
                <a:latin typeface="Calibri" panose="020F0502020204030204"/>
                <a:ea typeface="ＭＳ Ｐゴシック" panose="020B0600070205080204" pitchFamily="34" charset="-128"/>
              </a:rPr>
              <a:t>methods are as follows: </a:t>
            </a:r>
          </a:p>
          <a:p>
            <a:pPr marL="695325" lvl="1" indent="-231775">
              <a:lnSpc>
                <a:spcPct val="90000"/>
              </a:lnSpc>
              <a:buClr>
                <a:srgbClr val="0000A8"/>
              </a:buClr>
              <a:buFont typeface="Arial" panose="020B0604020202020204" pitchFamily="34" charset="0"/>
              <a:buChar char="•"/>
              <a:defRPr/>
            </a:pPr>
            <a:r>
              <a:rPr lang="en" altLang="zh-CN" sz="2400" dirty="0">
                <a:solidFill>
                  <a:srgbClr val="0013A3"/>
                </a:solidFill>
                <a:latin typeface="Calibri" panose="020F0502020204030204" pitchFamily="34" charset="0"/>
                <a:cs typeface="Calibri" panose="020F0502020204030204" pitchFamily="34" charset="0"/>
              </a:rPr>
              <a:t>Amplitude modulation (AM) </a:t>
            </a:r>
            <a:r>
              <a:rPr lang="en" altLang="zh-CN" sz="2400" dirty="0">
                <a:solidFill>
                  <a:prstClr val="black"/>
                </a:solidFill>
                <a:latin typeface="Calibri" panose="020F0502020204030204"/>
                <a:ea typeface="ＭＳ Ｐゴシック" panose="020B0600070205080204" pitchFamily="34" charset="-128"/>
              </a:rPr>
              <a:t>: The amplitude of the carrier wave varies with the baseband digital signal. </a:t>
            </a:r>
          </a:p>
          <a:p>
            <a:pPr marL="695325" lvl="1" indent="-231775">
              <a:lnSpc>
                <a:spcPct val="90000"/>
              </a:lnSpc>
              <a:buClr>
                <a:srgbClr val="0000A8"/>
              </a:buClr>
              <a:buFont typeface="Arial" panose="020B0604020202020204" pitchFamily="34" charset="0"/>
              <a:buChar char="•"/>
              <a:defRPr/>
            </a:pPr>
            <a:r>
              <a:rPr lang="en" altLang="zh-CN" sz="2400" dirty="0">
                <a:solidFill>
                  <a:srgbClr val="0013A3"/>
                </a:solidFill>
                <a:latin typeface="Calibri" panose="020F0502020204030204" pitchFamily="34" charset="0"/>
                <a:cs typeface="Calibri" panose="020F0502020204030204" pitchFamily="34" charset="0"/>
              </a:rPr>
              <a:t>Frequency modulation (FM) </a:t>
            </a:r>
            <a:r>
              <a:rPr lang="en" altLang="zh-CN" sz="2400" dirty="0">
                <a:solidFill>
                  <a:prstClr val="black"/>
                </a:solidFill>
                <a:latin typeface="Calibri" panose="020F0502020204030204"/>
                <a:ea typeface="ＭＳ Ｐゴシック" panose="020B0600070205080204" pitchFamily="34" charset="-128"/>
              </a:rPr>
              <a:t>: The frequency of the carrier varies with the baseband digital signal. </a:t>
            </a:r>
          </a:p>
          <a:p>
            <a:pPr marL="695325" lvl="1" indent="-231775">
              <a:lnSpc>
                <a:spcPct val="90000"/>
              </a:lnSpc>
              <a:buClr>
                <a:srgbClr val="0000A8"/>
              </a:buClr>
              <a:buFont typeface="Arial" panose="020B0604020202020204" pitchFamily="34" charset="0"/>
              <a:buChar char="•"/>
              <a:defRPr/>
            </a:pPr>
            <a:r>
              <a:rPr lang="en" altLang="zh-CN" sz="2400" dirty="0">
                <a:solidFill>
                  <a:srgbClr val="0013A3"/>
                </a:solidFill>
                <a:latin typeface="Calibri" panose="020F0502020204030204" pitchFamily="34" charset="0"/>
                <a:cs typeface="Calibri" panose="020F0502020204030204" pitchFamily="34" charset="0"/>
              </a:rPr>
              <a:t>Phase Modulation (PM) </a:t>
            </a:r>
            <a:r>
              <a:rPr lang="en" altLang="zh-CN" sz="2400" dirty="0">
                <a:solidFill>
                  <a:prstClr val="black"/>
                </a:solidFill>
                <a:latin typeface="Calibri" panose="020F0502020204030204"/>
                <a:ea typeface="ＭＳ Ｐゴシック" panose="020B0600070205080204" pitchFamily="34" charset="-128"/>
              </a:rPr>
              <a:t>: The initial phase of the carrier changes with the baseband digital signal.</a:t>
            </a:r>
            <a:endParaRPr lang="zh-CN" altLang="en-US" sz="2400" dirty="0">
              <a:solidFill>
                <a:prstClr val="black"/>
              </a:solidFill>
              <a:latin typeface="Calibri" panose="020F0502020204030204"/>
              <a:ea typeface="ＭＳ Ｐゴシック" panose="020B0600070205080204" pitchFamily="34" charset="-128"/>
            </a:endParaRPr>
          </a:p>
        </p:txBody>
      </p:sp>
      <p:cxnSp>
        <p:nvCxnSpPr>
          <p:cNvPr id="62" name="直接连接符 35">
            <a:extLst>
              <a:ext uri="{FF2B5EF4-FFF2-40B4-BE49-F238E27FC236}">
                <a16:creationId xmlns:a16="http://schemas.microsoft.com/office/drawing/2014/main" id="{0CFCE5D3-EF77-0ACD-4876-39AD73066200}"/>
              </a:ext>
            </a:extLst>
          </p:cNvPr>
          <p:cNvCxnSpPr/>
          <p:nvPr/>
        </p:nvCxnSpPr>
        <p:spPr bwMode="auto">
          <a:xfrm>
            <a:off x="7078674" y="3104704"/>
            <a:ext cx="4590121"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Rectangle 3">
            <a:extLst>
              <a:ext uri="{FF2B5EF4-FFF2-40B4-BE49-F238E27FC236}">
                <a16:creationId xmlns:a16="http://schemas.microsoft.com/office/drawing/2014/main" id="{F35C16BD-2A9B-028A-E818-2E7C8F907724}"/>
              </a:ext>
            </a:extLst>
          </p:cNvPr>
          <p:cNvSpPr>
            <a:spLocks noChangeArrowheads="1"/>
          </p:cNvSpPr>
          <p:nvPr/>
        </p:nvSpPr>
        <p:spPr bwMode="auto">
          <a:xfrm>
            <a:off x="7256532"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0</a:t>
            </a:r>
          </a:p>
        </p:txBody>
      </p:sp>
      <p:sp>
        <p:nvSpPr>
          <p:cNvPr id="65" name="Rectangle 4">
            <a:extLst>
              <a:ext uri="{FF2B5EF4-FFF2-40B4-BE49-F238E27FC236}">
                <a16:creationId xmlns:a16="http://schemas.microsoft.com/office/drawing/2014/main" id="{05CA73E1-9084-2689-186A-59935F0FF621}"/>
              </a:ext>
            </a:extLst>
          </p:cNvPr>
          <p:cNvSpPr>
            <a:spLocks noChangeArrowheads="1"/>
          </p:cNvSpPr>
          <p:nvPr/>
        </p:nvSpPr>
        <p:spPr bwMode="auto">
          <a:xfrm>
            <a:off x="7781341"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1</a:t>
            </a:r>
          </a:p>
        </p:txBody>
      </p:sp>
      <p:sp>
        <p:nvSpPr>
          <p:cNvPr id="66" name="Rectangle 5">
            <a:extLst>
              <a:ext uri="{FF2B5EF4-FFF2-40B4-BE49-F238E27FC236}">
                <a16:creationId xmlns:a16="http://schemas.microsoft.com/office/drawing/2014/main" id="{7F02FB6F-1B07-49EF-CB6E-2C7DBE853E09}"/>
              </a:ext>
            </a:extLst>
          </p:cNvPr>
          <p:cNvSpPr>
            <a:spLocks noChangeArrowheads="1"/>
          </p:cNvSpPr>
          <p:nvPr/>
        </p:nvSpPr>
        <p:spPr bwMode="auto">
          <a:xfrm>
            <a:off x="8249068"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0</a:t>
            </a:r>
          </a:p>
        </p:txBody>
      </p:sp>
      <p:sp>
        <p:nvSpPr>
          <p:cNvPr id="67" name="Rectangle 6">
            <a:extLst>
              <a:ext uri="{FF2B5EF4-FFF2-40B4-BE49-F238E27FC236}">
                <a16:creationId xmlns:a16="http://schemas.microsoft.com/office/drawing/2014/main" id="{A4647A9D-40AA-8E2E-58C5-24998F544F6C}"/>
              </a:ext>
            </a:extLst>
          </p:cNvPr>
          <p:cNvSpPr>
            <a:spLocks noChangeArrowheads="1"/>
          </p:cNvSpPr>
          <p:nvPr/>
        </p:nvSpPr>
        <p:spPr bwMode="auto">
          <a:xfrm>
            <a:off x="8721948"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0000FF"/>
                </a:solidFill>
                <a:latin typeface="+mn-lt"/>
                <a:ea typeface="黑体" pitchFamily="2" charset="-122"/>
              </a:rPr>
              <a:t>0</a:t>
            </a:r>
          </a:p>
        </p:txBody>
      </p:sp>
      <p:sp>
        <p:nvSpPr>
          <p:cNvPr id="68" name="Rectangle 7">
            <a:extLst>
              <a:ext uri="{FF2B5EF4-FFF2-40B4-BE49-F238E27FC236}">
                <a16:creationId xmlns:a16="http://schemas.microsoft.com/office/drawing/2014/main" id="{AEC5EB14-68EB-F3F7-4D9F-EF05A8B925FD}"/>
              </a:ext>
            </a:extLst>
          </p:cNvPr>
          <p:cNvSpPr>
            <a:spLocks noChangeArrowheads="1"/>
          </p:cNvSpPr>
          <p:nvPr/>
        </p:nvSpPr>
        <p:spPr bwMode="auto">
          <a:xfrm>
            <a:off x="9269563"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1</a:t>
            </a:r>
          </a:p>
        </p:txBody>
      </p:sp>
      <p:sp>
        <p:nvSpPr>
          <p:cNvPr id="69" name="Rectangle 8">
            <a:extLst>
              <a:ext uri="{FF2B5EF4-FFF2-40B4-BE49-F238E27FC236}">
                <a16:creationId xmlns:a16="http://schemas.microsoft.com/office/drawing/2014/main" id="{2AB2E042-E296-2035-ECF6-AD4C2A94822A}"/>
              </a:ext>
            </a:extLst>
          </p:cNvPr>
          <p:cNvSpPr>
            <a:spLocks noChangeArrowheads="1"/>
          </p:cNvSpPr>
          <p:nvPr/>
        </p:nvSpPr>
        <p:spPr bwMode="auto">
          <a:xfrm>
            <a:off x="9737290"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1</a:t>
            </a:r>
          </a:p>
        </p:txBody>
      </p:sp>
      <p:sp>
        <p:nvSpPr>
          <p:cNvPr id="70" name="Rectangle 9">
            <a:extLst>
              <a:ext uri="{FF2B5EF4-FFF2-40B4-BE49-F238E27FC236}">
                <a16:creationId xmlns:a16="http://schemas.microsoft.com/office/drawing/2014/main" id="{406C2139-3860-6ABD-F1C1-9CA92D4470D4}"/>
              </a:ext>
            </a:extLst>
          </p:cNvPr>
          <p:cNvSpPr>
            <a:spLocks noChangeArrowheads="1"/>
          </p:cNvSpPr>
          <p:nvPr/>
        </p:nvSpPr>
        <p:spPr bwMode="auto">
          <a:xfrm>
            <a:off x="10156898"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a:solidFill>
                  <a:srgbClr val="0000FF"/>
                </a:solidFill>
                <a:latin typeface="+mn-lt"/>
                <a:ea typeface="黑体" pitchFamily="2" charset="-122"/>
              </a:rPr>
              <a:t>1</a:t>
            </a:r>
          </a:p>
        </p:txBody>
      </p:sp>
      <p:sp>
        <p:nvSpPr>
          <p:cNvPr id="71" name="Rectangle 10">
            <a:extLst>
              <a:ext uri="{FF2B5EF4-FFF2-40B4-BE49-F238E27FC236}">
                <a16:creationId xmlns:a16="http://schemas.microsoft.com/office/drawing/2014/main" id="{F4242E7C-3400-55C6-277C-2BFE19A423D0}"/>
              </a:ext>
            </a:extLst>
          </p:cNvPr>
          <p:cNvSpPr>
            <a:spLocks noChangeArrowheads="1"/>
          </p:cNvSpPr>
          <p:nvPr/>
        </p:nvSpPr>
        <p:spPr bwMode="auto">
          <a:xfrm>
            <a:off x="10665682"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0</a:t>
            </a:r>
          </a:p>
        </p:txBody>
      </p:sp>
      <p:sp>
        <p:nvSpPr>
          <p:cNvPr id="72" name="Rectangle 11">
            <a:extLst>
              <a:ext uri="{FF2B5EF4-FFF2-40B4-BE49-F238E27FC236}">
                <a16:creationId xmlns:a16="http://schemas.microsoft.com/office/drawing/2014/main" id="{74346CA6-96F5-1BC9-9868-54A7E81DBF4F}"/>
              </a:ext>
            </a:extLst>
          </p:cNvPr>
          <p:cNvSpPr>
            <a:spLocks noChangeArrowheads="1"/>
          </p:cNvSpPr>
          <p:nvPr/>
        </p:nvSpPr>
        <p:spPr bwMode="auto">
          <a:xfrm>
            <a:off x="11159231" y="2382187"/>
            <a:ext cx="299763"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b="1" dirty="0">
                <a:solidFill>
                  <a:srgbClr val="0000FF"/>
                </a:solidFill>
                <a:latin typeface="+mn-lt"/>
                <a:ea typeface="黑体" pitchFamily="2" charset="-122"/>
              </a:rPr>
              <a:t>0</a:t>
            </a:r>
          </a:p>
        </p:txBody>
      </p:sp>
      <p:sp>
        <p:nvSpPr>
          <p:cNvPr id="73" name="Freeform 12">
            <a:extLst>
              <a:ext uri="{FF2B5EF4-FFF2-40B4-BE49-F238E27FC236}">
                <a16:creationId xmlns:a16="http://schemas.microsoft.com/office/drawing/2014/main" id="{737DE5E7-5870-552E-E61B-76251180B863}"/>
              </a:ext>
            </a:extLst>
          </p:cNvPr>
          <p:cNvSpPr>
            <a:spLocks/>
          </p:cNvSpPr>
          <p:nvPr/>
        </p:nvSpPr>
        <p:spPr bwMode="auto">
          <a:xfrm>
            <a:off x="7195630" y="2327586"/>
            <a:ext cx="4388124" cy="341220"/>
          </a:xfrm>
          <a:custGeom>
            <a:avLst/>
            <a:gdLst>
              <a:gd name="T0" fmla="*/ 0 w 4321"/>
              <a:gd name="T1" fmla="*/ 486 h 487"/>
              <a:gd name="T2" fmla="*/ 477 w 4321"/>
              <a:gd name="T3" fmla="*/ 486 h 487"/>
              <a:gd name="T4" fmla="*/ 477 w 4321"/>
              <a:gd name="T5" fmla="*/ 0 h 487"/>
              <a:gd name="T6" fmla="*/ 963 w 4321"/>
              <a:gd name="T7" fmla="*/ 0 h 487"/>
              <a:gd name="T8" fmla="*/ 963 w 4321"/>
              <a:gd name="T9" fmla="*/ 486 h 487"/>
              <a:gd name="T10" fmla="*/ 1926 w 4321"/>
              <a:gd name="T11" fmla="*/ 486 h 487"/>
              <a:gd name="T12" fmla="*/ 1926 w 4321"/>
              <a:gd name="T13" fmla="*/ 0 h 487"/>
              <a:gd name="T14" fmla="*/ 3357 w 4321"/>
              <a:gd name="T15" fmla="*/ 0 h 487"/>
              <a:gd name="T16" fmla="*/ 3357 w 4321"/>
              <a:gd name="T17" fmla="*/ 486 h 487"/>
              <a:gd name="T18" fmla="*/ 4320 w 4321"/>
              <a:gd name="T19" fmla="*/ 486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1" h="487">
                <a:moveTo>
                  <a:pt x="0" y="486"/>
                </a:moveTo>
                <a:lnTo>
                  <a:pt x="477" y="486"/>
                </a:lnTo>
                <a:lnTo>
                  <a:pt x="477" y="0"/>
                </a:lnTo>
                <a:lnTo>
                  <a:pt x="963" y="0"/>
                </a:lnTo>
                <a:lnTo>
                  <a:pt x="963" y="486"/>
                </a:lnTo>
                <a:lnTo>
                  <a:pt x="1926" y="486"/>
                </a:lnTo>
                <a:lnTo>
                  <a:pt x="1926" y="0"/>
                </a:lnTo>
                <a:lnTo>
                  <a:pt x="3357" y="0"/>
                </a:lnTo>
                <a:lnTo>
                  <a:pt x="3357" y="486"/>
                </a:lnTo>
                <a:lnTo>
                  <a:pt x="4320" y="486"/>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74" name="Freeform 13">
            <a:extLst>
              <a:ext uri="{FF2B5EF4-FFF2-40B4-BE49-F238E27FC236}">
                <a16:creationId xmlns:a16="http://schemas.microsoft.com/office/drawing/2014/main" id="{92F087B9-9BD4-F7E1-97B6-312208816282}"/>
              </a:ext>
            </a:extLst>
          </p:cNvPr>
          <p:cNvSpPr>
            <a:spLocks/>
          </p:cNvSpPr>
          <p:nvPr/>
        </p:nvSpPr>
        <p:spPr bwMode="auto">
          <a:xfrm>
            <a:off x="11582739" y="2667868"/>
            <a:ext cx="1015" cy="938"/>
          </a:xfrm>
          <a:custGeom>
            <a:avLst/>
            <a:gdLst>
              <a:gd name="T0" fmla="*/ 0 w 1"/>
              <a:gd name="T1" fmla="*/ 0 h 1"/>
              <a:gd name="T2" fmla="*/ 0 w 1"/>
              <a:gd name="T3" fmla="*/ 0 h 1"/>
            </a:gdLst>
            <a:ahLst/>
            <a:cxnLst>
              <a:cxn ang="0">
                <a:pos x="T0" y="T1"/>
              </a:cxn>
              <a:cxn ang="0">
                <a:pos x="T2" y="T3"/>
              </a:cxn>
            </a:cxnLst>
            <a:rect l="0" t="0" r="r" b="b"/>
            <a:pathLst>
              <a:path w="1" h="1">
                <a:moveTo>
                  <a:pt x="0" y="0"/>
                </a:moveTo>
                <a:lnTo>
                  <a:pt x="0" y="0"/>
                </a:lnTo>
              </a:path>
            </a:pathLst>
          </a:custGeom>
          <a:noFill/>
          <a:ln w="38100" cap="rnd" cmpd="sng">
            <a:solidFill>
              <a:schemeClr val="tx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75" name="组合 74">
            <a:extLst>
              <a:ext uri="{FF2B5EF4-FFF2-40B4-BE49-F238E27FC236}">
                <a16:creationId xmlns:a16="http://schemas.microsoft.com/office/drawing/2014/main" id="{5EA2900B-1B43-0DF0-C822-9D9DDBC5E8E4}"/>
              </a:ext>
            </a:extLst>
          </p:cNvPr>
          <p:cNvGrpSpPr/>
          <p:nvPr/>
        </p:nvGrpSpPr>
        <p:grpSpPr>
          <a:xfrm>
            <a:off x="7197660" y="3517168"/>
            <a:ext cx="4373907" cy="510892"/>
            <a:chOff x="1845699" y="3427314"/>
            <a:chExt cx="7407143" cy="865187"/>
          </a:xfrm>
        </p:grpSpPr>
        <p:sp>
          <p:nvSpPr>
            <p:cNvPr id="76" name="Freeform 46">
              <a:extLst>
                <a:ext uri="{FF2B5EF4-FFF2-40B4-BE49-F238E27FC236}">
                  <a16:creationId xmlns:a16="http://schemas.microsoft.com/office/drawing/2014/main" id="{49ECB88C-E0C2-2265-3372-844095442267}"/>
                </a:ext>
              </a:extLst>
            </p:cNvPr>
            <p:cNvSpPr>
              <a:spLocks/>
            </p:cNvSpPr>
            <p:nvPr/>
          </p:nvSpPr>
          <p:spPr bwMode="auto">
            <a:xfrm>
              <a:off x="2662601" y="3433664"/>
              <a:ext cx="65352" cy="460375"/>
            </a:xfrm>
            <a:custGeom>
              <a:avLst/>
              <a:gdLst>
                <a:gd name="T0" fmla="*/ 0 w 38"/>
                <a:gd name="T1" fmla="*/ 290 h 290"/>
                <a:gd name="T2" fmla="*/ 26 w 38"/>
                <a:gd name="T3" fmla="*/ 40 h 290"/>
                <a:gd name="T4" fmla="*/ 27 w 38"/>
                <a:gd name="T5" fmla="*/ 28 h 290"/>
                <a:gd name="T6" fmla="*/ 28 w 38"/>
                <a:gd name="T7" fmla="*/ 19 h 290"/>
                <a:gd name="T8" fmla="*/ 30 w 38"/>
                <a:gd name="T9" fmla="*/ 11 h 290"/>
                <a:gd name="T10" fmla="*/ 33 w 38"/>
                <a:gd name="T11" fmla="*/ 4 h 290"/>
                <a:gd name="T12" fmla="*/ 38 w 38"/>
                <a:gd name="T13" fmla="*/ 0 h 290"/>
              </a:gdLst>
              <a:ahLst/>
              <a:cxnLst>
                <a:cxn ang="0">
                  <a:pos x="T0" y="T1"/>
                </a:cxn>
                <a:cxn ang="0">
                  <a:pos x="T2" y="T3"/>
                </a:cxn>
                <a:cxn ang="0">
                  <a:pos x="T4" y="T5"/>
                </a:cxn>
                <a:cxn ang="0">
                  <a:pos x="T6" y="T7"/>
                </a:cxn>
                <a:cxn ang="0">
                  <a:pos x="T8" y="T9"/>
                </a:cxn>
                <a:cxn ang="0">
                  <a:pos x="T10" y="T11"/>
                </a:cxn>
                <a:cxn ang="0">
                  <a:pos x="T12" y="T13"/>
                </a:cxn>
              </a:cxnLst>
              <a:rect l="0" t="0" r="r" b="b"/>
              <a:pathLst>
                <a:path w="38" h="290">
                  <a:moveTo>
                    <a:pt x="0" y="290"/>
                  </a:moveTo>
                  <a:lnTo>
                    <a:pt x="26" y="40"/>
                  </a:lnTo>
                  <a:lnTo>
                    <a:pt x="27" y="28"/>
                  </a:lnTo>
                  <a:lnTo>
                    <a:pt x="28" y="19"/>
                  </a:lnTo>
                  <a:lnTo>
                    <a:pt x="30" y="11"/>
                  </a:lnTo>
                  <a:lnTo>
                    <a:pt x="33" y="4"/>
                  </a:lnTo>
                  <a:lnTo>
                    <a:pt x="38"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77" name="Freeform 47">
              <a:extLst>
                <a:ext uri="{FF2B5EF4-FFF2-40B4-BE49-F238E27FC236}">
                  <a16:creationId xmlns:a16="http://schemas.microsoft.com/office/drawing/2014/main" id="{27D109D5-C351-5A1C-2A2B-CACF677C9897}"/>
                </a:ext>
              </a:extLst>
            </p:cNvPr>
            <p:cNvSpPr>
              <a:spLocks/>
            </p:cNvSpPr>
            <p:nvPr/>
          </p:nvSpPr>
          <p:spPr bwMode="auto">
            <a:xfrm>
              <a:off x="2729673" y="3438426"/>
              <a:ext cx="149621" cy="842962"/>
            </a:xfrm>
            <a:custGeom>
              <a:avLst/>
              <a:gdLst>
                <a:gd name="T0" fmla="*/ 0 w 87"/>
                <a:gd name="T1" fmla="*/ 0 h 709"/>
                <a:gd name="T2" fmla="*/ 7 w 87"/>
                <a:gd name="T3" fmla="*/ 4 h 709"/>
                <a:gd name="T4" fmla="*/ 12 w 87"/>
                <a:gd name="T5" fmla="*/ 16 h 709"/>
                <a:gd name="T6" fmla="*/ 14 w 87"/>
                <a:gd name="T7" fmla="*/ 33 h 709"/>
                <a:gd name="T8" fmla="*/ 16 w 87"/>
                <a:gd name="T9" fmla="*/ 59 h 709"/>
                <a:gd name="T10" fmla="*/ 43 w 87"/>
                <a:gd name="T11" fmla="*/ 651 h 709"/>
                <a:gd name="T12" fmla="*/ 46 w 87"/>
                <a:gd name="T13" fmla="*/ 684 h 709"/>
                <a:gd name="T14" fmla="*/ 48 w 87"/>
                <a:gd name="T15" fmla="*/ 694 h 709"/>
                <a:gd name="T16" fmla="*/ 53 w 87"/>
                <a:gd name="T17" fmla="*/ 704 h 709"/>
                <a:gd name="T18" fmla="*/ 58 w 87"/>
                <a:gd name="T19" fmla="*/ 708 h 709"/>
                <a:gd name="T20" fmla="*/ 64 w 87"/>
                <a:gd name="T21" fmla="*/ 700 h 709"/>
                <a:gd name="T22" fmla="*/ 68 w 87"/>
                <a:gd name="T23" fmla="*/ 684 h 709"/>
                <a:gd name="T24" fmla="*/ 86 w 87"/>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709">
                  <a:moveTo>
                    <a:pt x="0" y="0"/>
                  </a:moveTo>
                  <a:lnTo>
                    <a:pt x="7" y="4"/>
                  </a:lnTo>
                  <a:lnTo>
                    <a:pt x="12" y="16"/>
                  </a:lnTo>
                  <a:lnTo>
                    <a:pt x="14" y="33"/>
                  </a:lnTo>
                  <a:lnTo>
                    <a:pt x="16" y="59"/>
                  </a:lnTo>
                  <a:lnTo>
                    <a:pt x="43" y="651"/>
                  </a:lnTo>
                  <a:lnTo>
                    <a:pt x="46" y="684"/>
                  </a:lnTo>
                  <a:lnTo>
                    <a:pt x="48" y="694"/>
                  </a:lnTo>
                  <a:lnTo>
                    <a:pt x="53" y="704"/>
                  </a:lnTo>
                  <a:lnTo>
                    <a:pt x="58" y="708"/>
                  </a:lnTo>
                  <a:lnTo>
                    <a:pt x="64" y="700"/>
                  </a:lnTo>
                  <a:lnTo>
                    <a:pt x="68" y="684"/>
                  </a:lnTo>
                  <a:lnTo>
                    <a:pt x="86"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78" name="Group 48">
              <a:extLst>
                <a:ext uri="{FF2B5EF4-FFF2-40B4-BE49-F238E27FC236}">
                  <a16:creationId xmlns:a16="http://schemas.microsoft.com/office/drawing/2014/main" id="{721D4A81-0646-60F3-DBB4-73C538510153}"/>
                </a:ext>
              </a:extLst>
            </p:cNvPr>
            <p:cNvGrpSpPr>
              <a:grpSpLocks/>
            </p:cNvGrpSpPr>
            <p:nvPr/>
          </p:nvGrpSpPr>
          <p:grpSpPr bwMode="auto">
            <a:xfrm>
              <a:off x="2879294" y="3433664"/>
              <a:ext cx="204656" cy="847725"/>
              <a:chOff x="1557" y="2272"/>
              <a:chExt cx="119" cy="713"/>
            </a:xfrm>
          </p:grpSpPr>
          <p:sp>
            <p:nvSpPr>
              <p:cNvPr id="135" name="Freeform 49">
                <a:extLst>
                  <a:ext uri="{FF2B5EF4-FFF2-40B4-BE49-F238E27FC236}">
                    <a16:creationId xmlns:a16="http://schemas.microsoft.com/office/drawing/2014/main" id="{BFE45E18-DD72-B8ED-66F4-57D4A6C49393}"/>
                  </a:ext>
                </a:extLst>
              </p:cNvPr>
              <p:cNvSpPr>
                <a:spLocks/>
              </p:cNvSpPr>
              <p:nvPr/>
            </p:nvSpPr>
            <p:spPr bwMode="auto">
              <a:xfrm>
                <a:off x="1557" y="2272"/>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36" name="Freeform 50">
                <a:extLst>
                  <a:ext uri="{FF2B5EF4-FFF2-40B4-BE49-F238E27FC236}">
                    <a16:creationId xmlns:a16="http://schemas.microsoft.com/office/drawing/2014/main" id="{8949B4ED-FA21-B63F-F40E-0832F9F61316}"/>
                  </a:ext>
                </a:extLst>
              </p:cNvPr>
              <p:cNvSpPr>
                <a:spLocks/>
              </p:cNvSpPr>
              <p:nvPr/>
            </p:nvSpPr>
            <p:spPr bwMode="auto">
              <a:xfrm>
                <a:off x="1590" y="2276"/>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79" name="Freeform 51">
              <a:extLst>
                <a:ext uri="{FF2B5EF4-FFF2-40B4-BE49-F238E27FC236}">
                  <a16:creationId xmlns:a16="http://schemas.microsoft.com/office/drawing/2014/main" id="{E97B411D-AE1D-DF05-F19C-33E248DAE05F}"/>
                </a:ext>
              </a:extLst>
            </p:cNvPr>
            <p:cNvSpPr>
              <a:spLocks/>
            </p:cNvSpPr>
            <p:nvPr/>
          </p:nvSpPr>
          <p:spPr bwMode="auto">
            <a:xfrm>
              <a:off x="3080510" y="3427314"/>
              <a:ext cx="60192" cy="466725"/>
            </a:xfrm>
            <a:custGeom>
              <a:avLst/>
              <a:gdLst>
                <a:gd name="T0" fmla="*/ 0 w 35"/>
                <a:gd name="T1" fmla="*/ 294 h 294"/>
                <a:gd name="T2" fmla="*/ 22 w 35"/>
                <a:gd name="T3" fmla="*/ 40 h 294"/>
                <a:gd name="T4" fmla="*/ 24 w 35"/>
                <a:gd name="T5" fmla="*/ 28 h 294"/>
                <a:gd name="T6" fmla="*/ 25 w 35"/>
                <a:gd name="T7" fmla="*/ 19 h 294"/>
                <a:gd name="T8" fmla="*/ 26 w 35"/>
                <a:gd name="T9" fmla="*/ 11 h 294"/>
                <a:gd name="T10" fmla="*/ 30 w 35"/>
                <a:gd name="T11" fmla="*/ 4 h 294"/>
                <a:gd name="T12" fmla="*/ 35 w 35"/>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35" h="294">
                  <a:moveTo>
                    <a:pt x="0" y="294"/>
                  </a:moveTo>
                  <a:lnTo>
                    <a:pt x="22" y="40"/>
                  </a:lnTo>
                  <a:lnTo>
                    <a:pt x="24" y="28"/>
                  </a:lnTo>
                  <a:lnTo>
                    <a:pt x="25" y="19"/>
                  </a:lnTo>
                  <a:lnTo>
                    <a:pt x="26" y="11"/>
                  </a:lnTo>
                  <a:lnTo>
                    <a:pt x="30" y="4"/>
                  </a:lnTo>
                  <a:lnTo>
                    <a:pt x="35"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0" name="Freeform 52">
              <a:extLst>
                <a:ext uri="{FF2B5EF4-FFF2-40B4-BE49-F238E27FC236}">
                  <a16:creationId xmlns:a16="http://schemas.microsoft.com/office/drawing/2014/main" id="{1E3FEF8D-BB7C-8689-8FD5-D2054DB188D3}"/>
                </a:ext>
              </a:extLst>
            </p:cNvPr>
            <p:cNvSpPr>
              <a:spLocks/>
            </p:cNvSpPr>
            <p:nvPr/>
          </p:nvSpPr>
          <p:spPr bwMode="auto">
            <a:xfrm>
              <a:off x="3142423" y="3432076"/>
              <a:ext cx="146182" cy="842962"/>
            </a:xfrm>
            <a:custGeom>
              <a:avLst/>
              <a:gdLst>
                <a:gd name="T0" fmla="*/ 0 w 85"/>
                <a:gd name="T1" fmla="*/ 0 h 709"/>
                <a:gd name="T2" fmla="*/ 7 w 85"/>
                <a:gd name="T3" fmla="*/ 4 h 709"/>
                <a:gd name="T4" fmla="*/ 12 w 85"/>
                <a:gd name="T5" fmla="*/ 16 h 709"/>
                <a:gd name="T6" fmla="*/ 14 w 85"/>
                <a:gd name="T7" fmla="*/ 33 h 709"/>
                <a:gd name="T8" fmla="*/ 15 w 85"/>
                <a:gd name="T9" fmla="*/ 59 h 709"/>
                <a:gd name="T10" fmla="*/ 42 w 85"/>
                <a:gd name="T11" fmla="*/ 651 h 709"/>
                <a:gd name="T12" fmla="*/ 45 w 85"/>
                <a:gd name="T13" fmla="*/ 684 h 709"/>
                <a:gd name="T14" fmla="*/ 47 w 85"/>
                <a:gd name="T15" fmla="*/ 694 h 709"/>
                <a:gd name="T16" fmla="*/ 52 w 85"/>
                <a:gd name="T17" fmla="*/ 704 h 709"/>
                <a:gd name="T18" fmla="*/ 57 w 85"/>
                <a:gd name="T19" fmla="*/ 708 h 709"/>
                <a:gd name="T20" fmla="*/ 62 w 85"/>
                <a:gd name="T21" fmla="*/ 700 h 709"/>
                <a:gd name="T22" fmla="*/ 66 w 85"/>
                <a:gd name="T23" fmla="*/ 684 h 709"/>
                <a:gd name="T24" fmla="*/ 84 w 85"/>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709">
                  <a:moveTo>
                    <a:pt x="0" y="0"/>
                  </a:moveTo>
                  <a:lnTo>
                    <a:pt x="7" y="4"/>
                  </a:lnTo>
                  <a:lnTo>
                    <a:pt x="12" y="16"/>
                  </a:lnTo>
                  <a:lnTo>
                    <a:pt x="14" y="33"/>
                  </a:lnTo>
                  <a:lnTo>
                    <a:pt x="15" y="59"/>
                  </a:lnTo>
                  <a:lnTo>
                    <a:pt x="42" y="651"/>
                  </a:lnTo>
                  <a:lnTo>
                    <a:pt x="45" y="684"/>
                  </a:lnTo>
                  <a:lnTo>
                    <a:pt x="47" y="694"/>
                  </a:lnTo>
                  <a:lnTo>
                    <a:pt x="52" y="704"/>
                  </a:lnTo>
                  <a:lnTo>
                    <a:pt x="57" y="708"/>
                  </a:lnTo>
                  <a:lnTo>
                    <a:pt x="62" y="700"/>
                  </a:lnTo>
                  <a:lnTo>
                    <a:pt x="66" y="684"/>
                  </a:lnTo>
                  <a:lnTo>
                    <a:pt x="84"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1" name="Freeform 53">
              <a:extLst>
                <a:ext uri="{FF2B5EF4-FFF2-40B4-BE49-F238E27FC236}">
                  <a16:creationId xmlns:a16="http://schemas.microsoft.com/office/drawing/2014/main" id="{E654ED5D-93B0-AD4B-7FBA-C8CE198F0B72}"/>
                </a:ext>
              </a:extLst>
            </p:cNvPr>
            <p:cNvSpPr>
              <a:spLocks/>
            </p:cNvSpPr>
            <p:nvPr/>
          </p:nvSpPr>
          <p:spPr bwMode="auto">
            <a:xfrm>
              <a:off x="3286885" y="3427314"/>
              <a:ext cx="60192" cy="442913"/>
            </a:xfrm>
            <a:custGeom>
              <a:avLst/>
              <a:gdLst>
                <a:gd name="T0" fmla="*/ 0 w 35"/>
                <a:gd name="T1" fmla="*/ 279 h 279"/>
                <a:gd name="T2" fmla="*/ 22 w 35"/>
                <a:gd name="T3" fmla="*/ 40 h 279"/>
                <a:gd name="T4" fmla="*/ 23 w 35"/>
                <a:gd name="T5" fmla="*/ 28 h 279"/>
                <a:gd name="T6" fmla="*/ 24 w 35"/>
                <a:gd name="T7" fmla="*/ 19 h 279"/>
                <a:gd name="T8" fmla="*/ 26 w 35"/>
                <a:gd name="T9" fmla="*/ 11 h 279"/>
                <a:gd name="T10" fmla="*/ 30 w 35"/>
                <a:gd name="T11" fmla="*/ 4 h 279"/>
                <a:gd name="T12" fmla="*/ 35 w 35"/>
                <a:gd name="T13" fmla="*/ 0 h 279"/>
              </a:gdLst>
              <a:ahLst/>
              <a:cxnLst>
                <a:cxn ang="0">
                  <a:pos x="T0" y="T1"/>
                </a:cxn>
                <a:cxn ang="0">
                  <a:pos x="T2" y="T3"/>
                </a:cxn>
                <a:cxn ang="0">
                  <a:pos x="T4" y="T5"/>
                </a:cxn>
                <a:cxn ang="0">
                  <a:pos x="T6" y="T7"/>
                </a:cxn>
                <a:cxn ang="0">
                  <a:pos x="T8" y="T9"/>
                </a:cxn>
                <a:cxn ang="0">
                  <a:pos x="T10" y="T11"/>
                </a:cxn>
                <a:cxn ang="0">
                  <a:pos x="T12" y="T13"/>
                </a:cxn>
              </a:cxnLst>
              <a:rect l="0" t="0" r="r" b="b"/>
              <a:pathLst>
                <a:path w="35" h="279">
                  <a:moveTo>
                    <a:pt x="0" y="279"/>
                  </a:moveTo>
                  <a:lnTo>
                    <a:pt x="22" y="40"/>
                  </a:lnTo>
                  <a:lnTo>
                    <a:pt x="23" y="28"/>
                  </a:lnTo>
                  <a:lnTo>
                    <a:pt x="24" y="19"/>
                  </a:lnTo>
                  <a:lnTo>
                    <a:pt x="26" y="11"/>
                  </a:lnTo>
                  <a:lnTo>
                    <a:pt x="30" y="4"/>
                  </a:lnTo>
                  <a:lnTo>
                    <a:pt x="35"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2" name="Freeform 54">
              <a:extLst>
                <a:ext uri="{FF2B5EF4-FFF2-40B4-BE49-F238E27FC236}">
                  <a16:creationId xmlns:a16="http://schemas.microsoft.com/office/drawing/2014/main" id="{B1450DDE-B596-6F97-7F49-518B5350704C}"/>
                </a:ext>
              </a:extLst>
            </p:cNvPr>
            <p:cNvSpPr>
              <a:spLocks/>
            </p:cNvSpPr>
            <p:nvPr/>
          </p:nvSpPr>
          <p:spPr bwMode="auto">
            <a:xfrm>
              <a:off x="3348797" y="3432077"/>
              <a:ext cx="165100" cy="841375"/>
            </a:xfrm>
            <a:custGeom>
              <a:avLst/>
              <a:gdLst>
                <a:gd name="T0" fmla="*/ 0 w 96"/>
                <a:gd name="T1" fmla="*/ 0 h 530"/>
                <a:gd name="T2" fmla="*/ 7 w 96"/>
                <a:gd name="T3" fmla="*/ 3 h 530"/>
                <a:gd name="T4" fmla="*/ 12 w 96"/>
                <a:gd name="T5" fmla="*/ 12 h 530"/>
                <a:gd name="T6" fmla="*/ 14 w 96"/>
                <a:gd name="T7" fmla="*/ 25 h 530"/>
                <a:gd name="T8" fmla="*/ 15 w 96"/>
                <a:gd name="T9" fmla="*/ 44 h 530"/>
                <a:gd name="T10" fmla="*/ 42 w 96"/>
                <a:gd name="T11" fmla="*/ 488 h 530"/>
                <a:gd name="T12" fmla="*/ 45 w 96"/>
                <a:gd name="T13" fmla="*/ 512 h 530"/>
                <a:gd name="T14" fmla="*/ 47 w 96"/>
                <a:gd name="T15" fmla="*/ 520 h 530"/>
                <a:gd name="T16" fmla="*/ 52 w 96"/>
                <a:gd name="T17" fmla="*/ 527 h 530"/>
                <a:gd name="T18" fmla="*/ 57 w 96"/>
                <a:gd name="T19" fmla="*/ 530 h 530"/>
                <a:gd name="T20" fmla="*/ 62 w 96"/>
                <a:gd name="T21" fmla="*/ 524 h 530"/>
                <a:gd name="T22" fmla="*/ 66 w 96"/>
                <a:gd name="T23" fmla="*/ 512 h 530"/>
                <a:gd name="T24" fmla="*/ 96 w 96"/>
                <a:gd name="T25" fmla="*/ 28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96" y="285"/>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3" name="Freeform 55">
              <a:extLst>
                <a:ext uri="{FF2B5EF4-FFF2-40B4-BE49-F238E27FC236}">
                  <a16:creationId xmlns:a16="http://schemas.microsoft.com/office/drawing/2014/main" id="{E8E48C28-BE90-4110-3247-9A20D848810C}"/>
                </a:ext>
              </a:extLst>
            </p:cNvPr>
            <p:cNvSpPr>
              <a:spLocks/>
            </p:cNvSpPr>
            <p:nvPr/>
          </p:nvSpPr>
          <p:spPr bwMode="auto">
            <a:xfrm>
              <a:off x="6798700" y="343683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4" name="Freeform 56">
              <a:extLst>
                <a:ext uri="{FF2B5EF4-FFF2-40B4-BE49-F238E27FC236}">
                  <a16:creationId xmlns:a16="http://schemas.microsoft.com/office/drawing/2014/main" id="{A63BBF79-5A63-D9E9-A02B-1C621026B4E2}"/>
                </a:ext>
              </a:extLst>
            </p:cNvPr>
            <p:cNvSpPr>
              <a:spLocks/>
            </p:cNvSpPr>
            <p:nvPr/>
          </p:nvSpPr>
          <p:spPr bwMode="auto">
            <a:xfrm>
              <a:off x="6855452" y="3441602"/>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3 w 85"/>
                <a:gd name="T11" fmla="*/ 488 h 530"/>
                <a:gd name="T12" fmla="*/ 45 w 85"/>
                <a:gd name="T13" fmla="*/ 512 h 530"/>
                <a:gd name="T14" fmla="*/ 47 w 85"/>
                <a:gd name="T15" fmla="*/ 520 h 530"/>
                <a:gd name="T16" fmla="*/ 53 w 85"/>
                <a:gd name="T17" fmla="*/ 527 h 530"/>
                <a:gd name="T18" fmla="*/ 57 w 85"/>
                <a:gd name="T19" fmla="*/ 530 h 530"/>
                <a:gd name="T20" fmla="*/ 63 w 85"/>
                <a:gd name="T21" fmla="*/ 524 h 530"/>
                <a:gd name="T22" fmla="*/ 67 w 85"/>
                <a:gd name="T23" fmla="*/ 512 h 530"/>
                <a:gd name="T24" fmla="*/ 85 w 85"/>
                <a:gd name="T25" fmla="*/ 27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5" y="27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5" name="Freeform 57">
              <a:extLst>
                <a:ext uri="{FF2B5EF4-FFF2-40B4-BE49-F238E27FC236}">
                  <a16:creationId xmlns:a16="http://schemas.microsoft.com/office/drawing/2014/main" id="{58EBE76E-7A08-2B9F-DB81-9C75322B08FC}"/>
                </a:ext>
              </a:extLst>
            </p:cNvPr>
            <p:cNvSpPr>
              <a:spLocks/>
            </p:cNvSpPr>
            <p:nvPr/>
          </p:nvSpPr>
          <p:spPr bwMode="auto">
            <a:xfrm>
              <a:off x="70033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6" name="Freeform 58">
              <a:extLst>
                <a:ext uri="{FF2B5EF4-FFF2-40B4-BE49-F238E27FC236}">
                  <a16:creationId xmlns:a16="http://schemas.microsoft.com/office/drawing/2014/main" id="{402AED4C-DE43-A147-8E6F-15150475B723}"/>
                </a:ext>
              </a:extLst>
            </p:cNvPr>
            <p:cNvSpPr>
              <a:spLocks/>
            </p:cNvSpPr>
            <p:nvPr/>
          </p:nvSpPr>
          <p:spPr bwMode="auto">
            <a:xfrm>
              <a:off x="7058388" y="3441602"/>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2 w 87"/>
                <a:gd name="T11" fmla="*/ 488 h 530"/>
                <a:gd name="T12" fmla="*/ 45 w 87"/>
                <a:gd name="T13" fmla="*/ 512 h 530"/>
                <a:gd name="T14" fmla="*/ 47 w 87"/>
                <a:gd name="T15" fmla="*/ 520 h 530"/>
                <a:gd name="T16" fmla="*/ 52 w 87"/>
                <a:gd name="T17" fmla="*/ 527 h 530"/>
                <a:gd name="T18" fmla="*/ 57 w 87"/>
                <a:gd name="T19" fmla="*/ 530 h 530"/>
                <a:gd name="T20" fmla="*/ 62 w 87"/>
                <a:gd name="T21" fmla="*/ 524 h 530"/>
                <a:gd name="T22" fmla="*/ 66 w 87"/>
                <a:gd name="T23" fmla="*/ 512 h 530"/>
                <a:gd name="T24" fmla="*/ 87 w 87"/>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7" y="26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7" name="Freeform 59">
              <a:extLst>
                <a:ext uri="{FF2B5EF4-FFF2-40B4-BE49-F238E27FC236}">
                  <a16:creationId xmlns:a16="http://schemas.microsoft.com/office/drawing/2014/main" id="{407F47A7-7F38-83C4-8F0C-9E473C959A4C}"/>
                </a:ext>
              </a:extLst>
            </p:cNvPr>
            <p:cNvSpPr>
              <a:spLocks/>
            </p:cNvSpPr>
            <p:nvPr/>
          </p:nvSpPr>
          <p:spPr bwMode="auto">
            <a:xfrm>
              <a:off x="7204571"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88" name="Freeform 60">
              <a:extLst>
                <a:ext uri="{FF2B5EF4-FFF2-40B4-BE49-F238E27FC236}">
                  <a16:creationId xmlns:a16="http://schemas.microsoft.com/office/drawing/2014/main" id="{3FABF2FF-E037-6FFB-6C10-CBAC1A401252}"/>
                </a:ext>
              </a:extLst>
            </p:cNvPr>
            <p:cNvSpPr>
              <a:spLocks/>
            </p:cNvSpPr>
            <p:nvPr/>
          </p:nvSpPr>
          <p:spPr bwMode="auto">
            <a:xfrm>
              <a:off x="7263044" y="3435252"/>
              <a:ext cx="146182" cy="841375"/>
            </a:xfrm>
            <a:custGeom>
              <a:avLst/>
              <a:gdLst>
                <a:gd name="T0" fmla="*/ 0 w 85"/>
                <a:gd name="T1" fmla="*/ 0 h 530"/>
                <a:gd name="T2" fmla="*/ 7 w 85"/>
                <a:gd name="T3" fmla="*/ 3 h 530"/>
                <a:gd name="T4" fmla="*/ 12 w 85"/>
                <a:gd name="T5" fmla="*/ 12 h 530"/>
                <a:gd name="T6" fmla="*/ 13 w 85"/>
                <a:gd name="T7" fmla="*/ 25 h 530"/>
                <a:gd name="T8" fmla="*/ 15 w 85"/>
                <a:gd name="T9" fmla="*/ 44 h 530"/>
                <a:gd name="T10" fmla="*/ 42 w 85"/>
                <a:gd name="T11" fmla="*/ 488 h 530"/>
                <a:gd name="T12" fmla="*/ 44 w 85"/>
                <a:gd name="T13" fmla="*/ 512 h 530"/>
                <a:gd name="T14" fmla="*/ 46 w 85"/>
                <a:gd name="T15" fmla="*/ 520 h 530"/>
                <a:gd name="T16" fmla="*/ 52 w 85"/>
                <a:gd name="T17" fmla="*/ 527 h 530"/>
                <a:gd name="T18" fmla="*/ 56 w 85"/>
                <a:gd name="T19" fmla="*/ 530 h 530"/>
                <a:gd name="T20" fmla="*/ 62 w 85"/>
                <a:gd name="T21" fmla="*/ 524 h 530"/>
                <a:gd name="T22" fmla="*/ 65 w 85"/>
                <a:gd name="T23" fmla="*/ 512 h 530"/>
                <a:gd name="T24" fmla="*/ 85 w 85"/>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5" y="27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89" name="Group 61">
              <a:extLst>
                <a:ext uri="{FF2B5EF4-FFF2-40B4-BE49-F238E27FC236}">
                  <a16:creationId xmlns:a16="http://schemas.microsoft.com/office/drawing/2014/main" id="{F71912AC-A550-E995-D2DC-00D77B3D3998}"/>
                </a:ext>
              </a:extLst>
            </p:cNvPr>
            <p:cNvGrpSpPr>
              <a:grpSpLocks/>
            </p:cNvGrpSpPr>
            <p:nvPr/>
          </p:nvGrpSpPr>
          <p:grpSpPr bwMode="auto">
            <a:xfrm>
              <a:off x="7407506" y="3430489"/>
              <a:ext cx="204655" cy="847725"/>
              <a:chOff x="4190" y="2269"/>
              <a:chExt cx="119" cy="713"/>
            </a:xfrm>
          </p:grpSpPr>
          <p:sp>
            <p:nvSpPr>
              <p:cNvPr id="133" name="Freeform 62">
                <a:extLst>
                  <a:ext uri="{FF2B5EF4-FFF2-40B4-BE49-F238E27FC236}">
                    <a16:creationId xmlns:a16="http://schemas.microsoft.com/office/drawing/2014/main" id="{7471D7D7-3654-24E7-DEC5-3FE6D9B514B0}"/>
                  </a:ext>
                </a:extLst>
              </p:cNvPr>
              <p:cNvSpPr>
                <a:spLocks/>
              </p:cNvSpPr>
              <p:nvPr/>
            </p:nvSpPr>
            <p:spPr bwMode="auto">
              <a:xfrm>
                <a:off x="4190"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34" name="Freeform 63">
                <a:extLst>
                  <a:ext uri="{FF2B5EF4-FFF2-40B4-BE49-F238E27FC236}">
                    <a16:creationId xmlns:a16="http://schemas.microsoft.com/office/drawing/2014/main" id="{BC67762B-5A61-E40C-FA53-3E1CA6FEDB18}"/>
                  </a:ext>
                </a:extLst>
              </p:cNvPr>
              <p:cNvSpPr>
                <a:spLocks/>
              </p:cNvSpPr>
              <p:nvPr/>
            </p:nvSpPr>
            <p:spPr bwMode="auto">
              <a:xfrm>
                <a:off x="4225"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90" name="Freeform 64">
              <a:extLst>
                <a:ext uri="{FF2B5EF4-FFF2-40B4-BE49-F238E27FC236}">
                  <a16:creationId xmlns:a16="http://schemas.microsoft.com/office/drawing/2014/main" id="{AFA5A6D9-FA64-C3B3-37C5-F0E179E4A6EA}"/>
                </a:ext>
              </a:extLst>
            </p:cNvPr>
            <p:cNvSpPr>
              <a:spLocks/>
            </p:cNvSpPr>
            <p:nvPr/>
          </p:nvSpPr>
          <p:spPr bwMode="auto">
            <a:xfrm>
              <a:off x="5981798"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91" name="Freeform 65">
              <a:extLst>
                <a:ext uri="{FF2B5EF4-FFF2-40B4-BE49-F238E27FC236}">
                  <a16:creationId xmlns:a16="http://schemas.microsoft.com/office/drawing/2014/main" id="{CDA6E369-6544-8CC0-46C6-531F352CA29A}"/>
                </a:ext>
              </a:extLst>
            </p:cNvPr>
            <p:cNvSpPr>
              <a:spLocks/>
            </p:cNvSpPr>
            <p:nvPr/>
          </p:nvSpPr>
          <p:spPr bwMode="auto">
            <a:xfrm>
              <a:off x="6038552" y="3441602"/>
              <a:ext cx="153061" cy="841375"/>
            </a:xfrm>
            <a:custGeom>
              <a:avLst/>
              <a:gdLst>
                <a:gd name="T0" fmla="*/ 0 w 89"/>
                <a:gd name="T1" fmla="*/ 0 h 530"/>
                <a:gd name="T2" fmla="*/ 7 w 89"/>
                <a:gd name="T3" fmla="*/ 3 h 530"/>
                <a:gd name="T4" fmla="*/ 12 w 89"/>
                <a:gd name="T5" fmla="*/ 12 h 530"/>
                <a:gd name="T6" fmla="*/ 14 w 89"/>
                <a:gd name="T7" fmla="*/ 25 h 530"/>
                <a:gd name="T8" fmla="*/ 15 w 89"/>
                <a:gd name="T9" fmla="*/ 44 h 530"/>
                <a:gd name="T10" fmla="*/ 43 w 89"/>
                <a:gd name="T11" fmla="*/ 488 h 530"/>
                <a:gd name="T12" fmla="*/ 45 w 89"/>
                <a:gd name="T13" fmla="*/ 512 h 530"/>
                <a:gd name="T14" fmla="*/ 47 w 89"/>
                <a:gd name="T15" fmla="*/ 520 h 530"/>
                <a:gd name="T16" fmla="*/ 53 w 89"/>
                <a:gd name="T17" fmla="*/ 527 h 530"/>
                <a:gd name="T18" fmla="*/ 57 w 89"/>
                <a:gd name="T19" fmla="*/ 530 h 530"/>
                <a:gd name="T20" fmla="*/ 63 w 89"/>
                <a:gd name="T21" fmla="*/ 524 h 530"/>
                <a:gd name="T22" fmla="*/ 67 w 89"/>
                <a:gd name="T23" fmla="*/ 512 h 530"/>
                <a:gd name="T24" fmla="*/ 89 w 89"/>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9" y="26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92" name="Freeform 66">
              <a:extLst>
                <a:ext uri="{FF2B5EF4-FFF2-40B4-BE49-F238E27FC236}">
                  <a16:creationId xmlns:a16="http://schemas.microsoft.com/office/drawing/2014/main" id="{969D9F06-BD32-7452-D497-8D0FCFFB2A94}"/>
                </a:ext>
              </a:extLst>
            </p:cNvPr>
            <p:cNvSpPr>
              <a:spLocks/>
            </p:cNvSpPr>
            <p:nvPr/>
          </p:nvSpPr>
          <p:spPr bwMode="auto">
            <a:xfrm>
              <a:off x="6186454"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94" name="Freeform 67">
              <a:extLst>
                <a:ext uri="{FF2B5EF4-FFF2-40B4-BE49-F238E27FC236}">
                  <a16:creationId xmlns:a16="http://schemas.microsoft.com/office/drawing/2014/main" id="{D02509A3-9C7A-5090-1D78-CB4EF7CCB582}"/>
                </a:ext>
              </a:extLst>
            </p:cNvPr>
            <p:cNvSpPr>
              <a:spLocks/>
            </p:cNvSpPr>
            <p:nvPr/>
          </p:nvSpPr>
          <p:spPr bwMode="auto">
            <a:xfrm>
              <a:off x="6241487" y="3441602"/>
              <a:ext cx="146182"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6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6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95" name="Freeform 68">
              <a:extLst>
                <a:ext uri="{FF2B5EF4-FFF2-40B4-BE49-F238E27FC236}">
                  <a16:creationId xmlns:a16="http://schemas.microsoft.com/office/drawing/2014/main" id="{63AD021B-A33B-B706-7BF0-FCB0DB6D267B}"/>
                </a:ext>
              </a:extLst>
            </p:cNvPr>
            <p:cNvSpPr>
              <a:spLocks/>
            </p:cNvSpPr>
            <p:nvPr/>
          </p:nvSpPr>
          <p:spPr bwMode="auto">
            <a:xfrm>
              <a:off x="6387669" y="3430488"/>
              <a:ext cx="58473" cy="431800"/>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96" name="Freeform 69">
              <a:extLst>
                <a:ext uri="{FF2B5EF4-FFF2-40B4-BE49-F238E27FC236}">
                  <a16:creationId xmlns:a16="http://schemas.microsoft.com/office/drawing/2014/main" id="{EF0BD474-1836-F4BF-6B92-8955DF37E45F}"/>
                </a:ext>
              </a:extLst>
            </p:cNvPr>
            <p:cNvSpPr>
              <a:spLocks/>
            </p:cNvSpPr>
            <p:nvPr/>
          </p:nvSpPr>
          <p:spPr bwMode="auto">
            <a:xfrm>
              <a:off x="6446142" y="3435252"/>
              <a:ext cx="147902" cy="841375"/>
            </a:xfrm>
            <a:custGeom>
              <a:avLst/>
              <a:gdLst>
                <a:gd name="T0" fmla="*/ 0 w 86"/>
                <a:gd name="T1" fmla="*/ 0 h 530"/>
                <a:gd name="T2" fmla="*/ 7 w 86"/>
                <a:gd name="T3" fmla="*/ 3 h 530"/>
                <a:gd name="T4" fmla="*/ 12 w 86"/>
                <a:gd name="T5" fmla="*/ 12 h 530"/>
                <a:gd name="T6" fmla="*/ 13 w 86"/>
                <a:gd name="T7" fmla="*/ 25 h 530"/>
                <a:gd name="T8" fmla="*/ 15 w 86"/>
                <a:gd name="T9" fmla="*/ 44 h 530"/>
                <a:gd name="T10" fmla="*/ 42 w 86"/>
                <a:gd name="T11" fmla="*/ 488 h 530"/>
                <a:gd name="T12" fmla="*/ 44 w 86"/>
                <a:gd name="T13" fmla="*/ 512 h 530"/>
                <a:gd name="T14" fmla="*/ 46 w 86"/>
                <a:gd name="T15" fmla="*/ 520 h 530"/>
                <a:gd name="T16" fmla="*/ 52 w 86"/>
                <a:gd name="T17" fmla="*/ 527 h 530"/>
                <a:gd name="T18" fmla="*/ 56 w 86"/>
                <a:gd name="T19" fmla="*/ 530 h 530"/>
                <a:gd name="T20" fmla="*/ 62 w 86"/>
                <a:gd name="T21" fmla="*/ 524 h 530"/>
                <a:gd name="T22" fmla="*/ 65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6" y="27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97" name="Group 70">
              <a:extLst>
                <a:ext uri="{FF2B5EF4-FFF2-40B4-BE49-F238E27FC236}">
                  <a16:creationId xmlns:a16="http://schemas.microsoft.com/office/drawing/2014/main" id="{5D1F2E0A-6F70-764D-230F-929EB2F37FE9}"/>
                </a:ext>
              </a:extLst>
            </p:cNvPr>
            <p:cNvGrpSpPr>
              <a:grpSpLocks/>
            </p:cNvGrpSpPr>
            <p:nvPr/>
          </p:nvGrpSpPr>
          <p:grpSpPr bwMode="auto">
            <a:xfrm>
              <a:off x="6590605" y="3430489"/>
              <a:ext cx="204656" cy="847725"/>
              <a:chOff x="3715" y="2269"/>
              <a:chExt cx="119" cy="713"/>
            </a:xfrm>
          </p:grpSpPr>
          <p:sp>
            <p:nvSpPr>
              <p:cNvPr id="131" name="Freeform 71">
                <a:extLst>
                  <a:ext uri="{FF2B5EF4-FFF2-40B4-BE49-F238E27FC236}">
                    <a16:creationId xmlns:a16="http://schemas.microsoft.com/office/drawing/2014/main" id="{96CC7DA3-B2D3-0A28-C439-0323CAB732F3}"/>
                  </a:ext>
                </a:extLst>
              </p:cNvPr>
              <p:cNvSpPr>
                <a:spLocks/>
              </p:cNvSpPr>
              <p:nvPr/>
            </p:nvSpPr>
            <p:spPr bwMode="auto">
              <a:xfrm>
                <a:off x="3715" y="226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32" name="Freeform 72">
                <a:extLst>
                  <a:ext uri="{FF2B5EF4-FFF2-40B4-BE49-F238E27FC236}">
                    <a16:creationId xmlns:a16="http://schemas.microsoft.com/office/drawing/2014/main" id="{8E3C7274-6405-782D-8C25-02A39E7FC19F}"/>
                  </a:ext>
                </a:extLst>
              </p:cNvPr>
              <p:cNvSpPr>
                <a:spLocks/>
              </p:cNvSpPr>
              <p:nvPr/>
            </p:nvSpPr>
            <p:spPr bwMode="auto">
              <a:xfrm>
                <a:off x="3750" y="227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98" name="Freeform 73">
              <a:extLst>
                <a:ext uri="{FF2B5EF4-FFF2-40B4-BE49-F238E27FC236}">
                  <a16:creationId xmlns:a16="http://schemas.microsoft.com/office/drawing/2014/main" id="{38979611-1EFE-9B58-9DA3-5058C810CB38}"/>
                </a:ext>
              </a:extLst>
            </p:cNvPr>
            <p:cNvSpPr>
              <a:spLocks/>
            </p:cNvSpPr>
            <p:nvPr/>
          </p:nvSpPr>
          <p:spPr bwMode="auto">
            <a:xfrm>
              <a:off x="5149419" y="3436838"/>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99" name="Freeform 74">
              <a:extLst>
                <a:ext uri="{FF2B5EF4-FFF2-40B4-BE49-F238E27FC236}">
                  <a16:creationId xmlns:a16="http://schemas.microsoft.com/office/drawing/2014/main" id="{329D920A-1BBA-2BCA-6BC3-96B4EF1844AC}"/>
                </a:ext>
              </a:extLst>
            </p:cNvPr>
            <p:cNvSpPr>
              <a:spLocks/>
            </p:cNvSpPr>
            <p:nvPr/>
          </p:nvSpPr>
          <p:spPr bwMode="auto">
            <a:xfrm>
              <a:off x="5206173" y="3441602"/>
              <a:ext cx="149621"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76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76"/>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0" name="Freeform 75">
              <a:extLst>
                <a:ext uri="{FF2B5EF4-FFF2-40B4-BE49-F238E27FC236}">
                  <a16:creationId xmlns:a16="http://schemas.microsoft.com/office/drawing/2014/main" id="{E6B84061-272F-D918-62A3-8F5B77AD353A}"/>
                </a:ext>
              </a:extLst>
            </p:cNvPr>
            <p:cNvSpPr>
              <a:spLocks/>
            </p:cNvSpPr>
            <p:nvPr/>
          </p:nvSpPr>
          <p:spPr bwMode="auto">
            <a:xfrm>
              <a:off x="5354075" y="3436838"/>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1" name="Freeform 76">
              <a:extLst>
                <a:ext uri="{FF2B5EF4-FFF2-40B4-BE49-F238E27FC236}">
                  <a16:creationId xmlns:a16="http://schemas.microsoft.com/office/drawing/2014/main" id="{3D69198A-2DE3-B933-5F95-9F967F0C4B5D}"/>
                </a:ext>
              </a:extLst>
            </p:cNvPr>
            <p:cNvSpPr>
              <a:spLocks/>
            </p:cNvSpPr>
            <p:nvPr/>
          </p:nvSpPr>
          <p:spPr bwMode="auto">
            <a:xfrm>
              <a:off x="5409108" y="3441602"/>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5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2" name="Freeform 77">
              <a:extLst>
                <a:ext uri="{FF2B5EF4-FFF2-40B4-BE49-F238E27FC236}">
                  <a16:creationId xmlns:a16="http://schemas.microsoft.com/office/drawing/2014/main" id="{F978C3D5-3D48-38FB-2343-460F5A8E45BE}"/>
                </a:ext>
              </a:extLst>
            </p:cNvPr>
            <p:cNvSpPr>
              <a:spLocks/>
            </p:cNvSpPr>
            <p:nvPr/>
          </p:nvSpPr>
          <p:spPr bwMode="auto">
            <a:xfrm>
              <a:off x="5557010" y="3430488"/>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3" name="Freeform 78">
              <a:extLst>
                <a:ext uri="{FF2B5EF4-FFF2-40B4-BE49-F238E27FC236}">
                  <a16:creationId xmlns:a16="http://schemas.microsoft.com/office/drawing/2014/main" id="{A22D0DA8-1322-16B1-AEF3-1D40B35B5C67}"/>
                </a:ext>
              </a:extLst>
            </p:cNvPr>
            <p:cNvSpPr>
              <a:spLocks/>
            </p:cNvSpPr>
            <p:nvPr/>
          </p:nvSpPr>
          <p:spPr bwMode="auto">
            <a:xfrm>
              <a:off x="5613763" y="3435252"/>
              <a:ext cx="149622" cy="841375"/>
            </a:xfrm>
            <a:custGeom>
              <a:avLst/>
              <a:gdLst>
                <a:gd name="T0" fmla="*/ 0 w 87"/>
                <a:gd name="T1" fmla="*/ 0 h 530"/>
                <a:gd name="T2" fmla="*/ 7 w 87"/>
                <a:gd name="T3" fmla="*/ 3 h 530"/>
                <a:gd name="T4" fmla="*/ 12 w 87"/>
                <a:gd name="T5" fmla="*/ 12 h 530"/>
                <a:gd name="T6" fmla="*/ 13 w 87"/>
                <a:gd name="T7" fmla="*/ 25 h 530"/>
                <a:gd name="T8" fmla="*/ 15 w 87"/>
                <a:gd name="T9" fmla="*/ 44 h 530"/>
                <a:gd name="T10" fmla="*/ 42 w 87"/>
                <a:gd name="T11" fmla="*/ 488 h 530"/>
                <a:gd name="T12" fmla="*/ 44 w 87"/>
                <a:gd name="T13" fmla="*/ 512 h 530"/>
                <a:gd name="T14" fmla="*/ 46 w 87"/>
                <a:gd name="T15" fmla="*/ 520 h 530"/>
                <a:gd name="T16" fmla="*/ 52 w 87"/>
                <a:gd name="T17" fmla="*/ 527 h 530"/>
                <a:gd name="T18" fmla="*/ 56 w 87"/>
                <a:gd name="T19" fmla="*/ 530 h 530"/>
                <a:gd name="T20" fmla="*/ 62 w 87"/>
                <a:gd name="T21" fmla="*/ 524 h 530"/>
                <a:gd name="T22" fmla="*/ 65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7" y="265"/>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4" name="Freeform 79">
              <a:extLst>
                <a:ext uri="{FF2B5EF4-FFF2-40B4-BE49-F238E27FC236}">
                  <a16:creationId xmlns:a16="http://schemas.microsoft.com/office/drawing/2014/main" id="{40EE6A71-BB9C-CE1A-5220-CF117586D3DE}"/>
                </a:ext>
              </a:extLst>
            </p:cNvPr>
            <p:cNvSpPr>
              <a:spLocks/>
            </p:cNvSpPr>
            <p:nvPr/>
          </p:nvSpPr>
          <p:spPr bwMode="auto">
            <a:xfrm>
              <a:off x="5758226" y="3430488"/>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5" name="Freeform 80">
              <a:extLst>
                <a:ext uri="{FF2B5EF4-FFF2-40B4-BE49-F238E27FC236}">
                  <a16:creationId xmlns:a16="http://schemas.microsoft.com/office/drawing/2014/main" id="{4F4B8D83-C977-212B-71D1-9D78F33BAC6F}"/>
                </a:ext>
              </a:extLst>
            </p:cNvPr>
            <p:cNvSpPr>
              <a:spLocks/>
            </p:cNvSpPr>
            <p:nvPr/>
          </p:nvSpPr>
          <p:spPr bwMode="auto">
            <a:xfrm>
              <a:off x="5818419" y="3435252"/>
              <a:ext cx="161660" cy="841375"/>
            </a:xfrm>
            <a:custGeom>
              <a:avLst/>
              <a:gdLst>
                <a:gd name="T0" fmla="*/ 0 w 94"/>
                <a:gd name="T1" fmla="*/ 0 h 530"/>
                <a:gd name="T2" fmla="*/ 7 w 94"/>
                <a:gd name="T3" fmla="*/ 3 h 530"/>
                <a:gd name="T4" fmla="*/ 12 w 94"/>
                <a:gd name="T5" fmla="*/ 12 h 530"/>
                <a:gd name="T6" fmla="*/ 13 w 94"/>
                <a:gd name="T7" fmla="*/ 25 h 530"/>
                <a:gd name="T8" fmla="*/ 15 w 94"/>
                <a:gd name="T9" fmla="*/ 44 h 530"/>
                <a:gd name="T10" fmla="*/ 42 w 94"/>
                <a:gd name="T11" fmla="*/ 488 h 530"/>
                <a:gd name="T12" fmla="*/ 44 w 94"/>
                <a:gd name="T13" fmla="*/ 512 h 530"/>
                <a:gd name="T14" fmla="*/ 46 w 94"/>
                <a:gd name="T15" fmla="*/ 520 h 530"/>
                <a:gd name="T16" fmla="*/ 52 w 94"/>
                <a:gd name="T17" fmla="*/ 527 h 530"/>
                <a:gd name="T18" fmla="*/ 56 w 94"/>
                <a:gd name="T19" fmla="*/ 530 h 530"/>
                <a:gd name="T20" fmla="*/ 62 w 94"/>
                <a:gd name="T21" fmla="*/ 524 h 530"/>
                <a:gd name="T22" fmla="*/ 65 w 94"/>
                <a:gd name="T23" fmla="*/ 512 h 530"/>
                <a:gd name="T24" fmla="*/ 94 w 94"/>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4" y="27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06" name="Group 81">
              <a:extLst>
                <a:ext uri="{FF2B5EF4-FFF2-40B4-BE49-F238E27FC236}">
                  <a16:creationId xmlns:a16="http://schemas.microsoft.com/office/drawing/2014/main" id="{69BAD11E-AF89-14ED-0A5A-8499614F17A9}"/>
                </a:ext>
              </a:extLst>
            </p:cNvPr>
            <p:cNvGrpSpPr>
              <a:grpSpLocks/>
            </p:cNvGrpSpPr>
            <p:nvPr/>
          </p:nvGrpSpPr>
          <p:grpSpPr bwMode="auto">
            <a:xfrm>
              <a:off x="1845699" y="3447951"/>
              <a:ext cx="818621" cy="844550"/>
              <a:chOff x="956" y="2283"/>
              <a:chExt cx="476" cy="711"/>
            </a:xfrm>
          </p:grpSpPr>
          <p:sp>
            <p:nvSpPr>
              <p:cNvPr id="127" name="Freeform 82">
                <a:extLst>
                  <a:ext uri="{FF2B5EF4-FFF2-40B4-BE49-F238E27FC236}">
                    <a16:creationId xmlns:a16="http://schemas.microsoft.com/office/drawing/2014/main" id="{375B5319-D97B-C61C-E7CC-453BF5A221B4}"/>
                  </a:ext>
                </a:extLst>
              </p:cNvPr>
              <p:cNvSpPr>
                <a:spLocks/>
              </p:cNvSpPr>
              <p:nvPr/>
            </p:nvSpPr>
            <p:spPr bwMode="auto">
              <a:xfrm>
                <a:off x="956" y="2284"/>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28" name="Freeform 83">
                <a:extLst>
                  <a:ext uri="{FF2B5EF4-FFF2-40B4-BE49-F238E27FC236}">
                    <a16:creationId xmlns:a16="http://schemas.microsoft.com/office/drawing/2014/main" id="{653F4571-599E-9A19-94C2-BFDA077A1699}"/>
                  </a:ext>
                </a:extLst>
              </p:cNvPr>
              <p:cNvSpPr>
                <a:spLocks/>
              </p:cNvSpPr>
              <p:nvPr/>
            </p:nvSpPr>
            <p:spPr bwMode="auto">
              <a:xfrm>
                <a:off x="1022" y="2283"/>
                <a:ext cx="171" cy="711"/>
              </a:xfrm>
              <a:custGeom>
                <a:avLst/>
                <a:gdLst>
                  <a:gd name="T0" fmla="*/ 0 w 171"/>
                  <a:gd name="T1" fmla="*/ 0 h 711"/>
                  <a:gd name="T2" fmla="*/ 14 w 171"/>
                  <a:gd name="T3" fmla="*/ 4 h 711"/>
                  <a:gd name="T4" fmla="*/ 24 w 171"/>
                  <a:gd name="T5" fmla="*/ 16 h 711"/>
                  <a:gd name="T6" fmla="*/ 28 w 171"/>
                  <a:gd name="T7" fmla="*/ 33 h 711"/>
                  <a:gd name="T8" fmla="*/ 31 w 171"/>
                  <a:gd name="T9" fmla="*/ 59 h 711"/>
                  <a:gd name="T10" fmla="*/ 85 w 171"/>
                  <a:gd name="T11" fmla="*/ 653 h 711"/>
                  <a:gd name="T12" fmla="*/ 90 w 171"/>
                  <a:gd name="T13" fmla="*/ 686 h 711"/>
                  <a:gd name="T14" fmla="*/ 95 w 171"/>
                  <a:gd name="T15" fmla="*/ 696 h 711"/>
                  <a:gd name="T16" fmla="*/ 106 w 171"/>
                  <a:gd name="T17" fmla="*/ 706 h 711"/>
                  <a:gd name="T18" fmla="*/ 115 w 171"/>
                  <a:gd name="T19" fmla="*/ 710 h 711"/>
                  <a:gd name="T20" fmla="*/ 126 w 171"/>
                  <a:gd name="T21" fmla="*/ 702 h 711"/>
                  <a:gd name="T22" fmla="*/ 134 w 171"/>
                  <a:gd name="T23" fmla="*/ 686 h 711"/>
                  <a:gd name="T24" fmla="*/ 170 w 171"/>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11">
                    <a:moveTo>
                      <a:pt x="0" y="0"/>
                    </a:moveTo>
                    <a:lnTo>
                      <a:pt x="14" y="4"/>
                    </a:lnTo>
                    <a:lnTo>
                      <a:pt x="24" y="16"/>
                    </a:lnTo>
                    <a:lnTo>
                      <a:pt x="28" y="33"/>
                    </a:lnTo>
                    <a:lnTo>
                      <a:pt x="31" y="59"/>
                    </a:lnTo>
                    <a:lnTo>
                      <a:pt x="85" y="653"/>
                    </a:lnTo>
                    <a:lnTo>
                      <a:pt x="90" y="686"/>
                    </a:lnTo>
                    <a:lnTo>
                      <a:pt x="95" y="696"/>
                    </a:lnTo>
                    <a:lnTo>
                      <a:pt x="106" y="706"/>
                    </a:lnTo>
                    <a:lnTo>
                      <a:pt x="115" y="710"/>
                    </a:lnTo>
                    <a:lnTo>
                      <a:pt x="126" y="702"/>
                    </a:lnTo>
                    <a:lnTo>
                      <a:pt x="134" y="686"/>
                    </a:lnTo>
                    <a:lnTo>
                      <a:pt x="170" y="38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29" name="Freeform 84">
                <a:extLst>
                  <a:ext uri="{FF2B5EF4-FFF2-40B4-BE49-F238E27FC236}">
                    <a16:creationId xmlns:a16="http://schemas.microsoft.com/office/drawing/2014/main" id="{7E5245FA-55A2-E10B-2B02-8038A9967353}"/>
                  </a:ext>
                </a:extLst>
              </p:cNvPr>
              <p:cNvSpPr>
                <a:spLocks/>
              </p:cNvSpPr>
              <p:nvPr/>
            </p:nvSpPr>
            <p:spPr bwMode="auto">
              <a:xfrm>
                <a:off x="1194" y="2290"/>
                <a:ext cx="66" cy="363"/>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30" name="Freeform 85">
                <a:extLst>
                  <a:ext uri="{FF2B5EF4-FFF2-40B4-BE49-F238E27FC236}">
                    <a16:creationId xmlns:a16="http://schemas.microsoft.com/office/drawing/2014/main" id="{F077E4CA-CEBE-AF97-D9EF-22DD8950C101}"/>
                  </a:ext>
                </a:extLst>
              </p:cNvPr>
              <p:cNvSpPr>
                <a:spLocks/>
              </p:cNvSpPr>
              <p:nvPr/>
            </p:nvSpPr>
            <p:spPr bwMode="auto">
              <a:xfrm>
                <a:off x="1261" y="2285"/>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107" name="Group 86">
              <a:extLst>
                <a:ext uri="{FF2B5EF4-FFF2-40B4-BE49-F238E27FC236}">
                  <a16:creationId xmlns:a16="http://schemas.microsoft.com/office/drawing/2014/main" id="{735FBEB7-FEB0-FB64-EE1F-6C78120D997D}"/>
                </a:ext>
              </a:extLst>
            </p:cNvPr>
            <p:cNvGrpSpPr>
              <a:grpSpLocks/>
            </p:cNvGrpSpPr>
            <p:nvPr/>
          </p:nvGrpSpPr>
          <p:grpSpPr bwMode="auto">
            <a:xfrm>
              <a:off x="3519056" y="3433664"/>
              <a:ext cx="818621" cy="847725"/>
              <a:chOff x="1929" y="2272"/>
              <a:chExt cx="476" cy="713"/>
            </a:xfrm>
          </p:grpSpPr>
          <p:grpSp>
            <p:nvGrpSpPr>
              <p:cNvPr id="121" name="Group 87">
                <a:extLst>
                  <a:ext uri="{FF2B5EF4-FFF2-40B4-BE49-F238E27FC236}">
                    <a16:creationId xmlns:a16="http://schemas.microsoft.com/office/drawing/2014/main" id="{B1CF96CC-F3BE-527D-5BC9-3427E101D7D6}"/>
                  </a:ext>
                </a:extLst>
              </p:cNvPr>
              <p:cNvGrpSpPr>
                <a:grpSpLocks/>
              </p:cNvGrpSpPr>
              <p:nvPr/>
            </p:nvGrpSpPr>
            <p:grpSpPr bwMode="auto">
              <a:xfrm>
                <a:off x="1929" y="2272"/>
                <a:ext cx="238" cy="713"/>
                <a:chOff x="1929" y="2272"/>
                <a:chExt cx="238" cy="713"/>
              </a:xfrm>
            </p:grpSpPr>
            <p:sp>
              <p:nvSpPr>
                <p:cNvPr id="125" name="Freeform 88">
                  <a:extLst>
                    <a:ext uri="{FF2B5EF4-FFF2-40B4-BE49-F238E27FC236}">
                      <a16:creationId xmlns:a16="http://schemas.microsoft.com/office/drawing/2014/main" id="{19AF83BD-CB4D-CCEC-B0CF-440639FD5F1B}"/>
                    </a:ext>
                  </a:extLst>
                </p:cNvPr>
                <p:cNvSpPr>
                  <a:spLocks/>
                </p:cNvSpPr>
                <p:nvPr/>
              </p:nvSpPr>
              <p:spPr bwMode="auto">
                <a:xfrm>
                  <a:off x="1929" y="2272"/>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26" name="Freeform 89">
                  <a:extLst>
                    <a:ext uri="{FF2B5EF4-FFF2-40B4-BE49-F238E27FC236}">
                      <a16:creationId xmlns:a16="http://schemas.microsoft.com/office/drawing/2014/main" id="{7985FF58-DFD5-5660-0036-ED42FFC3CDEA}"/>
                    </a:ext>
                  </a:extLst>
                </p:cNvPr>
                <p:cNvSpPr>
                  <a:spLocks/>
                </p:cNvSpPr>
                <p:nvPr/>
              </p:nvSpPr>
              <p:spPr bwMode="auto">
                <a:xfrm>
                  <a:off x="1995" y="2276"/>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122" name="Group 90">
                <a:extLst>
                  <a:ext uri="{FF2B5EF4-FFF2-40B4-BE49-F238E27FC236}">
                    <a16:creationId xmlns:a16="http://schemas.microsoft.com/office/drawing/2014/main" id="{836C2555-9CB5-EE06-C369-0C609B0BFE8C}"/>
                  </a:ext>
                </a:extLst>
              </p:cNvPr>
              <p:cNvGrpSpPr>
                <a:grpSpLocks/>
              </p:cNvGrpSpPr>
              <p:nvPr/>
            </p:nvGrpSpPr>
            <p:grpSpPr bwMode="auto">
              <a:xfrm>
                <a:off x="2169" y="2272"/>
                <a:ext cx="236" cy="713"/>
                <a:chOff x="2169" y="2272"/>
                <a:chExt cx="236" cy="713"/>
              </a:xfrm>
            </p:grpSpPr>
            <p:sp>
              <p:nvSpPr>
                <p:cNvPr id="123" name="Freeform 91">
                  <a:extLst>
                    <a:ext uri="{FF2B5EF4-FFF2-40B4-BE49-F238E27FC236}">
                      <a16:creationId xmlns:a16="http://schemas.microsoft.com/office/drawing/2014/main" id="{5282B1ED-845D-2A35-1B20-6F1E34EE1393}"/>
                    </a:ext>
                  </a:extLst>
                </p:cNvPr>
                <p:cNvSpPr>
                  <a:spLocks/>
                </p:cNvSpPr>
                <p:nvPr/>
              </p:nvSpPr>
              <p:spPr bwMode="auto">
                <a:xfrm>
                  <a:off x="2169" y="2272"/>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24" name="Freeform 92">
                  <a:extLst>
                    <a:ext uri="{FF2B5EF4-FFF2-40B4-BE49-F238E27FC236}">
                      <a16:creationId xmlns:a16="http://schemas.microsoft.com/office/drawing/2014/main" id="{A6E8CF8E-3261-15D7-64DB-87EF2B38E560}"/>
                    </a:ext>
                  </a:extLst>
                </p:cNvPr>
                <p:cNvSpPr>
                  <a:spLocks/>
                </p:cNvSpPr>
                <p:nvPr/>
              </p:nvSpPr>
              <p:spPr bwMode="auto">
                <a:xfrm>
                  <a:off x="2234" y="2276"/>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108" name="Freeform 93">
              <a:extLst>
                <a:ext uri="{FF2B5EF4-FFF2-40B4-BE49-F238E27FC236}">
                  <a16:creationId xmlns:a16="http://schemas.microsoft.com/office/drawing/2014/main" id="{7B354CF7-6BD2-F624-73C6-CBEDAF3166C3}"/>
                </a:ext>
              </a:extLst>
            </p:cNvPr>
            <p:cNvSpPr>
              <a:spLocks/>
            </p:cNvSpPr>
            <p:nvPr/>
          </p:nvSpPr>
          <p:spPr bwMode="auto">
            <a:xfrm>
              <a:off x="4334237" y="3427314"/>
              <a:ext cx="116946" cy="466725"/>
            </a:xfrm>
            <a:custGeom>
              <a:avLst/>
              <a:gdLst>
                <a:gd name="T0" fmla="*/ 0 w 68"/>
                <a:gd name="T1" fmla="*/ 294 h 294"/>
                <a:gd name="T2" fmla="*/ 43 w 68"/>
                <a:gd name="T3" fmla="*/ 40 h 294"/>
                <a:gd name="T4" fmla="*/ 45 w 68"/>
                <a:gd name="T5" fmla="*/ 28 h 294"/>
                <a:gd name="T6" fmla="*/ 47 w 68"/>
                <a:gd name="T7" fmla="*/ 19 h 294"/>
                <a:gd name="T8" fmla="*/ 51 w 68"/>
                <a:gd name="T9" fmla="*/ 11 h 294"/>
                <a:gd name="T10" fmla="*/ 58 w 68"/>
                <a:gd name="T11" fmla="*/ 4 h 294"/>
                <a:gd name="T12" fmla="*/ 68 w 68"/>
                <a:gd name="T13" fmla="*/ 0 h 294"/>
              </a:gdLst>
              <a:ahLst/>
              <a:cxnLst>
                <a:cxn ang="0">
                  <a:pos x="T0" y="T1"/>
                </a:cxn>
                <a:cxn ang="0">
                  <a:pos x="T2" y="T3"/>
                </a:cxn>
                <a:cxn ang="0">
                  <a:pos x="T4" y="T5"/>
                </a:cxn>
                <a:cxn ang="0">
                  <a:pos x="T6" y="T7"/>
                </a:cxn>
                <a:cxn ang="0">
                  <a:pos x="T8" y="T9"/>
                </a:cxn>
                <a:cxn ang="0">
                  <a:pos x="T10" y="T11"/>
                </a:cxn>
                <a:cxn ang="0">
                  <a:pos x="T12" y="T13"/>
                </a:cxn>
              </a:cxnLst>
              <a:rect l="0" t="0" r="r" b="b"/>
              <a:pathLst>
                <a:path w="68" h="294">
                  <a:moveTo>
                    <a:pt x="0" y="294"/>
                  </a:moveTo>
                  <a:lnTo>
                    <a:pt x="43" y="40"/>
                  </a:lnTo>
                  <a:lnTo>
                    <a:pt x="45" y="28"/>
                  </a:lnTo>
                  <a:lnTo>
                    <a:pt x="47" y="19"/>
                  </a:lnTo>
                  <a:lnTo>
                    <a:pt x="51" y="11"/>
                  </a:lnTo>
                  <a:lnTo>
                    <a:pt x="58" y="4"/>
                  </a:lnTo>
                  <a:lnTo>
                    <a:pt x="68"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09" name="Freeform 94">
              <a:extLst>
                <a:ext uri="{FF2B5EF4-FFF2-40B4-BE49-F238E27FC236}">
                  <a16:creationId xmlns:a16="http://schemas.microsoft.com/office/drawing/2014/main" id="{4CDC5BBB-DB53-2499-81C6-52E42C312765}"/>
                </a:ext>
              </a:extLst>
            </p:cNvPr>
            <p:cNvSpPr>
              <a:spLocks/>
            </p:cNvSpPr>
            <p:nvPr/>
          </p:nvSpPr>
          <p:spPr bwMode="auto">
            <a:xfrm>
              <a:off x="4454623" y="3432076"/>
              <a:ext cx="288925" cy="842962"/>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0" name="Freeform 95">
              <a:extLst>
                <a:ext uri="{FF2B5EF4-FFF2-40B4-BE49-F238E27FC236}">
                  <a16:creationId xmlns:a16="http://schemas.microsoft.com/office/drawing/2014/main" id="{4F3E63F4-A24A-1EE3-781D-A0BADD13F62B}"/>
                </a:ext>
              </a:extLst>
            </p:cNvPr>
            <p:cNvSpPr>
              <a:spLocks/>
            </p:cNvSpPr>
            <p:nvPr/>
          </p:nvSpPr>
          <p:spPr bwMode="auto">
            <a:xfrm>
              <a:off x="4741829" y="3427314"/>
              <a:ext cx="122105" cy="461963"/>
            </a:xfrm>
            <a:custGeom>
              <a:avLst/>
              <a:gdLst>
                <a:gd name="T0" fmla="*/ 0 w 71"/>
                <a:gd name="T1" fmla="*/ 291 h 291"/>
                <a:gd name="T2" fmla="*/ 45 w 71"/>
                <a:gd name="T3" fmla="*/ 40 h 291"/>
                <a:gd name="T4" fmla="*/ 48 w 71"/>
                <a:gd name="T5" fmla="*/ 28 h 291"/>
                <a:gd name="T6" fmla="*/ 50 w 71"/>
                <a:gd name="T7" fmla="*/ 19 h 291"/>
                <a:gd name="T8" fmla="*/ 53 w 71"/>
                <a:gd name="T9" fmla="*/ 11 h 291"/>
                <a:gd name="T10" fmla="*/ 61 w 71"/>
                <a:gd name="T11" fmla="*/ 4 h 291"/>
                <a:gd name="T12" fmla="*/ 71 w 71"/>
                <a:gd name="T13" fmla="*/ 0 h 291"/>
              </a:gdLst>
              <a:ahLst/>
              <a:cxnLst>
                <a:cxn ang="0">
                  <a:pos x="T0" y="T1"/>
                </a:cxn>
                <a:cxn ang="0">
                  <a:pos x="T2" y="T3"/>
                </a:cxn>
                <a:cxn ang="0">
                  <a:pos x="T4" y="T5"/>
                </a:cxn>
                <a:cxn ang="0">
                  <a:pos x="T6" y="T7"/>
                </a:cxn>
                <a:cxn ang="0">
                  <a:pos x="T8" y="T9"/>
                </a:cxn>
                <a:cxn ang="0">
                  <a:pos x="T10" y="T11"/>
                </a:cxn>
                <a:cxn ang="0">
                  <a:pos x="T12" y="T13"/>
                </a:cxn>
              </a:cxnLst>
              <a:rect l="0" t="0" r="r" b="b"/>
              <a:pathLst>
                <a:path w="71" h="291">
                  <a:moveTo>
                    <a:pt x="0" y="291"/>
                  </a:moveTo>
                  <a:lnTo>
                    <a:pt x="45" y="40"/>
                  </a:lnTo>
                  <a:lnTo>
                    <a:pt x="48" y="28"/>
                  </a:lnTo>
                  <a:lnTo>
                    <a:pt x="50" y="19"/>
                  </a:lnTo>
                  <a:lnTo>
                    <a:pt x="53" y="11"/>
                  </a:lnTo>
                  <a:lnTo>
                    <a:pt x="61" y="4"/>
                  </a:lnTo>
                  <a:lnTo>
                    <a:pt x="7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1" name="Freeform 96">
              <a:extLst>
                <a:ext uri="{FF2B5EF4-FFF2-40B4-BE49-F238E27FC236}">
                  <a16:creationId xmlns:a16="http://schemas.microsoft.com/office/drawing/2014/main" id="{9309C173-39FE-6E47-E66A-5E4EE19F7FC3}"/>
                </a:ext>
              </a:extLst>
            </p:cNvPr>
            <p:cNvSpPr>
              <a:spLocks/>
            </p:cNvSpPr>
            <p:nvPr/>
          </p:nvSpPr>
          <p:spPr bwMode="auto">
            <a:xfrm>
              <a:off x="4867373" y="3432077"/>
              <a:ext cx="282046" cy="841375"/>
            </a:xfrm>
            <a:custGeom>
              <a:avLst/>
              <a:gdLst>
                <a:gd name="T0" fmla="*/ 0 w 164"/>
                <a:gd name="T1" fmla="*/ 0 h 530"/>
                <a:gd name="T2" fmla="*/ 14 w 164"/>
                <a:gd name="T3" fmla="*/ 3 h 530"/>
                <a:gd name="T4" fmla="*/ 24 w 164"/>
                <a:gd name="T5" fmla="*/ 12 h 530"/>
                <a:gd name="T6" fmla="*/ 27 w 164"/>
                <a:gd name="T7" fmla="*/ 25 h 530"/>
                <a:gd name="T8" fmla="*/ 30 w 164"/>
                <a:gd name="T9" fmla="*/ 44 h 530"/>
                <a:gd name="T10" fmla="*/ 84 w 164"/>
                <a:gd name="T11" fmla="*/ 488 h 530"/>
                <a:gd name="T12" fmla="*/ 89 w 164"/>
                <a:gd name="T13" fmla="*/ 512 h 530"/>
                <a:gd name="T14" fmla="*/ 93 w 164"/>
                <a:gd name="T15" fmla="*/ 520 h 530"/>
                <a:gd name="T16" fmla="*/ 104 w 164"/>
                <a:gd name="T17" fmla="*/ 527 h 530"/>
                <a:gd name="T18" fmla="*/ 113 w 164"/>
                <a:gd name="T19" fmla="*/ 530 h 530"/>
                <a:gd name="T20" fmla="*/ 124 w 164"/>
                <a:gd name="T21" fmla="*/ 524 h 530"/>
                <a:gd name="T22" fmla="*/ 132 w 164"/>
                <a:gd name="T23" fmla="*/ 512 h 530"/>
                <a:gd name="T24" fmla="*/ 164 w 164"/>
                <a:gd name="T25" fmla="*/ 282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64" y="28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2" name="Freeform 97">
              <a:extLst>
                <a:ext uri="{FF2B5EF4-FFF2-40B4-BE49-F238E27FC236}">
                  <a16:creationId xmlns:a16="http://schemas.microsoft.com/office/drawing/2014/main" id="{7E121E57-2F9B-0D1E-751B-E81DDFA95402}"/>
                </a:ext>
              </a:extLst>
            </p:cNvPr>
            <p:cNvSpPr>
              <a:spLocks/>
            </p:cNvSpPr>
            <p:nvPr/>
          </p:nvSpPr>
          <p:spPr bwMode="auto">
            <a:xfrm>
              <a:off x="7615600" y="3436838"/>
              <a:ext cx="111787" cy="431800"/>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3" name="Freeform 98">
              <a:extLst>
                <a:ext uri="{FF2B5EF4-FFF2-40B4-BE49-F238E27FC236}">
                  <a16:creationId xmlns:a16="http://schemas.microsoft.com/office/drawing/2014/main" id="{A32793CE-3FB9-5943-B4D1-8DD3531D97AE}"/>
                </a:ext>
              </a:extLst>
            </p:cNvPr>
            <p:cNvSpPr>
              <a:spLocks/>
            </p:cNvSpPr>
            <p:nvPr/>
          </p:nvSpPr>
          <p:spPr bwMode="auto">
            <a:xfrm>
              <a:off x="7729107" y="3441602"/>
              <a:ext cx="299244" cy="841375"/>
            </a:xfrm>
            <a:custGeom>
              <a:avLst/>
              <a:gdLst>
                <a:gd name="T0" fmla="*/ 0 w 174"/>
                <a:gd name="T1" fmla="*/ 0 h 530"/>
                <a:gd name="T2" fmla="*/ 14 w 174"/>
                <a:gd name="T3" fmla="*/ 3 h 530"/>
                <a:gd name="T4" fmla="*/ 24 w 174"/>
                <a:gd name="T5" fmla="*/ 12 h 530"/>
                <a:gd name="T6" fmla="*/ 28 w 174"/>
                <a:gd name="T7" fmla="*/ 25 h 530"/>
                <a:gd name="T8" fmla="*/ 31 w 174"/>
                <a:gd name="T9" fmla="*/ 44 h 530"/>
                <a:gd name="T10" fmla="*/ 86 w 174"/>
                <a:gd name="T11" fmla="*/ 488 h 530"/>
                <a:gd name="T12" fmla="*/ 91 w 174"/>
                <a:gd name="T13" fmla="*/ 512 h 530"/>
                <a:gd name="T14" fmla="*/ 95 w 174"/>
                <a:gd name="T15" fmla="*/ 520 h 530"/>
                <a:gd name="T16" fmla="*/ 106 w 174"/>
                <a:gd name="T17" fmla="*/ 527 h 530"/>
                <a:gd name="T18" fmla="*/ 115 w 174"/>
                <a:gd name="T19" fmla="*/ 530 h 530"/>
                <a:gd name="T20" fmla="*/ 127 w 174"/>
                <a:gd name="T21" fmla="*/ 524 h 530"/>
                <a:gd name="T22" fmla="*/ 135 w 174"/>
                <a:gd name="T23" fmla="*/ 512 h 530"/>
                <a:gd name="T24" fmla="*/ 174 w 174"/>
                <a:gd name="T25" fmla="*/ 26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4" h="530">
                  <a:moveTo>
                    <a:pt x="0" y="0"/>
                  </a:moveTo>
                  <a:lnTo>
                    <a:pt x="14" y="3"/>
                  </a:lnTo>
                  <a:lnTo>
                    <a:pt x="24" y="12"/>
                  </a:lnTo>
                  <a:lnTo>
                    <a:pt x="28" y="25"/>
                  </a:lnTo>
                  <a:lnTo>
                    <a:pt x="31" y="44"/>
                  </a:lnTo>
                  <a:lnTo>
                    <a:pt x="86" y="488"/>
                  </a:lnTo>
                  <a:lnTo>
                    <a:pt x="91" y="512"/>
                  </a:lnTo>
                  <a:lnTo>
                    <a:pt x="95" y="520"/>
                  </a:lnTo>
                  <a:lnTo>
                    <a:pt x="106" y="527"/>
                  </a:lnTo>
                  <a:lnTo>
                    <a:pt x="115" y="530"/>
                  </a:lnTo>
                  <a:lnTo>
                    <a:pt x="127" y="524"/>
                  </a:lnTo>
                  <a:lnTo>
                    <a:pt x="135" y="512"/>
                  </a:lnTo>
                  <a:lnTo>
                    <a:pt x="174" y="26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4" name="Freeform 99">
              <a:extLst>
                <a:ext uri="{FF2B5EF4-FFF2-40B4-BE49-F238E27FC236}">
                  <a16:creationId xmlns:a16="http://schemas.microsoft.com/office/drawing/2014/main" id="{EB768374-BE37-A077-36B6-B189DE053443}"/>
                </a:ext>
              </a:extLst>
            </p:cNvPr>
            <p:cNvSpPr>
              <a:spLocks/>
            </p:cNvSpPr>
            <p:nvPr/>
          </p:nvSpPr>
          <p:spPr bwMode="auto">
            <a:xfrm>
              <a:off x="8028350" y="3436838"/>
              <a:ext cx="110067" cy="431800"/>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5" name="Freeform 100">
              <a:extLst>
                <a:ext uri="{FF2B5EF4-FFF2-40B4-BE49-F238E27FC236}">
                  <a16:creationId xmlns:a16="http://schemas.microsoft.com/office/drawing/2014/main" id="{49ED00A0-FBE7-8529-A3B8-5BFF235C780D}"/>
                </a:ext>
              </a:extLst>
            </p:cNvPr>
            <p:cNvSpPr>
              <a:spLocks/>
            </p:cNvSpPr>
            <p:nvPr/>
          </p:nvSpPr>
          <p:spPr bwMode="auto">
            <a:xfrm>
              <a:off x="8140137" y="3441602"/>
              <a:ext cx="300963" cy="841375"/>
            </a:xfrm>
            <a:custGeom>
              <a:avLst/>
              <a:gdLst>
                <a:gd name="T0" fmla="*/ 0 w 175"/>
                <a:gd name="T1" fmla="*/ 0 h 530"/>
                <a:gd name="T2" fmla="*/ 14 w 175"/>
                <a:gd name="T3" fmla="*/ 3 h 530"/>
                <a:gd name="T4" fmla="*/ 24 w 175"/>
                <a:gd name="T5" fmla="*/ 12 h 530"/>
                <a:gd name="T6" fmla="*/ 28 w 175"/>
                <a:gd name="T7" fmla="*/ 25 h 530"/>
                <a:gd name="T8" fmla="*/ 31 w 175"/>
                <a:gd name="T9" fmla="*/ 44 h 530"/>
                <a:gd name="T10" fmla="*/ 85 w 175"/>
                <a:gd name="T11" fmla="*/ 488 h 530"/>
                <a:gd name="T12" fmla="*/ 90 w 175"/>
                <a:gd name="T13" fmla="*/ 512 h 530"/>
                <a:gd name="T14" fmla="*/ 95 w 175"/>
                <a:gd name="T15" fmla="*/ 520 h 530"/>
                <a:gd name="T16" fmla="*/ 106 w 175"/>
                <a:gd name="T17" fmla="*/ 527 h 530"/>
                <a:gd name="T18" fmla="*/ 115 w 175"/>
                <a:gd name="T19" fmla="*/ 530 h 530"/>
                <a:gd name="T20" fmla="*/ 126 w 175"/>
                <a:gd name="T21" fmla="*/ 524 h 530"/>
                <a:gd name="T22" fmla="*/ 134 w 175"/>
                <a:gd name="T23" fmla="*/ 512 h 530"/>
                <a:gd name="T24" fmla="*/ 175 w 175"/>
                <a:gd name="T25" fmla="*/ 25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5" h="530">
                  <a:moveTo>
                    <a:pt x="0" y="0"/>
                  </a:moveTo>
                  <a:lnTo>
                    <a:pt x="14" y="3"/>
                  </a:lnTo>
                  <a:lnTo>
                    <a:pt x="24" y="12"/>
                  </a:lnTo>
                  <a:lnTo>
                    <a:pt x="28" y="25"/>
                  </a:lnTo>
                  <a:lnTo>
                    <a:pt x="31" y="44"/>
                  </a:lnTo>
                  <a:lnTo>
                    <a:pt x="85" y="488"/>
                  </a:lnTo>
                  <a:lnTo>
                    <a:pt x="90" y="512"/>
                  </a:lnTo>
                  <a:lnTo>
                    <a:pt x="95" y="520"/>
                  </a:lnTo>
                  <a:lnTo>
                    <a:pt x="106" y="527"/>
                  </a:lnTo>
                  <a:lnTo>
                    <a:pt x="115" y="530"/>
                  </a:lnTo>
                  <a:lnTo>
                    <a:pt x="126" y="524"/>
                  </a:lnTo>
                  <a:lnTo>
                    <a:pt x="134" y="512"/>
                  </a:lnTo>
                  <a:lnTo>
                    <a:pt x="175" y="25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6" name="Freeform 101">
              <a:extLst>
                <a:ext uri="{FF2B5EF4-FFF2-40B4-BE49-F238E27FC236}">
                  <a16:creationId xmlns:a16="http://schemas.microsoft.com/office/drawing/2014/main" id="{382B4D50-A896-4B81-D12F-2DFB4CC53C2F}"/>
                </a:ext>
              </a:extLst>
            </p:cNvPr>
            <p:cNvSpPr>
              <a:spLocks/>
            </p:cNvSpPr>
            <p:nvPr/>
          </p:nvSpPr>
          <p:spPr bwMode="auto">
            <a:xfrm>
              <a:off x="8434221" y="3430488"/>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17" name="Freeform 102">
              <a:extLst>
                <a:ext uri="{FF2B5EF4-FFF2-40B4-BE49-F238E27FC236}">
                  <a16:creationId xmlns:a16="http://schemas.microsoft.com/office/drawing/2014/main" id="{EB3E6333-DB12-CFD9-4E3A-A7770FE35B67}"/>
                </a:ext>
              </a:extLst>
            </p:cNvPr>
            <p:cNvSpPr>
              <a:spLocks/>
            </p:cNvSpPr>
            <p:nvPr/>
          </p:nvSpPr>
          <p:spPr bwMode="auto">
            <a:xfrm>
              <a:off x="8551167" y="3435252"/>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5"/>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18" name="Group 103">
              <a:extLst>
                <a:ext uri="{FF2B5EF4-FFF2-40B4-BE49-F238E27FC236}">
                  <a16:creationId xmlns:a16="http://schemas.microsoft.com/office/drawing/2014/main" id="{3B3F3DEF-83E0-E0E0-4196-007D22F28E69}"/>
                </a:ext>
              </a:extLst>
            </p:cNvPr>
            <p:cNvGrpSpPr>
              <a:grpSpLocks/>
            </p:cNvGrpSpPr>
            <p:nvPr/>
          </p:nvGrpSpPr>
          <p:grpSpPr bwMode="auto">
            <a:xfrm>
              <a:off x="8843532" y="3430489"/>
              <a:ext cx="409310" cy="847725"/>
              <a:chOff x="5025" y="2269"/>
              <a:chExt cx="238" cy="713"/>
            </a:xfrm>
          </p:grpSpPr>
          <p:sp>
            <p:nvSpPr>
              <p:cNvPr id="119" name="Freeform 104">
                <a:extLst>
                  <a:ext uri="{FF2B5EF4-FFF2-40B4-BE49-F238E27FC236}">
                    <a16:creationId xmlns:a16="http://schemas.microsoft.com/office/drawing/2014/main" id="{9246F5C4-A46A-733D-63E3-12FED64A6206}"/>
                  </a:ext>
                </a:extLst>
              </p:cNvPr>
              <p:cNvSpPr>
                <a:spLocks/>
              </p:cNvSpPr>
              <p:nvPr/>
            </p:nvSpPr>
            <p:spPr bwMode="auto">
              <a:xfrm>
                <a:off x="5025" y="2269"/>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20" name="Freeform 105">
                <a:extLst>
                  <a:ext uri="{FF2B5EF4-FFF2-40B4-BE49-F238E27FC236}">
                    <a16:creationId xmlns:a16="http://schemas.microsoft.com/office/drawing/2014/main" id="{CD7EB882-E782-6E91-FA03-F6B76BDDA277}"/>
                  </a:ext>
                </a:extLst>
              </p:cNvPr>
              <p:cNvSpPr>
                <a:spLocks/>
              </p:cNvSpPr>
              <p:nvPr/>
            </p:nvSpPr>
            <p:spPr bwMode="auto">
              <a:xfrm>
                <a:off x="5095" y="2273"/>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grpSp>
        <p:nvGrpSpPr>
          <p:cNvPr id="137" name="组合 136">
            <a:extLst>
              <a:ext uri="{FF2B5EF4-FFF2-40B4-BE49-F238E27FC236}">
                <a16:creationId xmlns:a16="http://schemas.microsoft.com/office/drawing/2014/main" id="{CA28D06B-B1F3-7297-E52F-D68BF887587C}"/>
              </a:ext>
            </a:extLst>
          </p:cNvPr>
          <p:cNvGrpSpPr/>
          <p:nvPr/>
        </p:nvGrpSpPr>
        <p:grpSpPr>
          <a:xfrm>
            <a:off x="7185474" y="4203356"/>
            <a:ext cx="4392186" cy="514642"/>
            <a:chOff x="1825063" y="4589363"/>
            <a:chExt cx="7438098" cy="871538"/>
          </a:xfrm>
        </p:grpSpPr>
        <p:grpSp>
          <p:nvGrpSpPr>
            <p:cNvPr id="138" name="Group 106">
              <a:extLst>
                <a:ext uri="{FF2B5EF4-FFF2-40B4-BE49-F238E27FC236}">
                  <a16:creationId xmlns:a16="http://schemas.microsoft.com/office/drawing/2014/main" id="{BAF9F592-4B92-0BD2-09D7-F7DA05BCB666}"/>
                </a:ext>
              </a:extLst>
            </p:cNvPr>
            <p:cNvGrpSpPr>
              <a:grpSpLocks/>
            </p:cNvGrpSpPr>
            <p:nvPr/>
          </p:nvGrpSpPr>
          <p:grpSpPr bwMode="auto">
            <a:xfrm>
              <a:off x="1825063" y="4595714"/>
              <a:ext cx="407590" cy="847725"/>
              <a:chOff x="944" y="3250"/>
              <a:chExt cx="237" cy="713"/>
            </a:xfrm>
          </p:grpSpPr>
          <p:sp>
            <p:nvSpPr>
              <p:cNvPr id="183" name="Freeform 107">
                <a:extLst>
                  <a:ext uri="{FF2B5EF4-FFF2-40B4-BE49-F238E27FC236}">
                    <a16:creationId xmlns:a16="http://schemas.microsoft.com/office/drawing/2014/main" id="{9537F96C-C36C-0C68-97B8-C731B7CA1B51}"/>
                  </a:ext>
                </a:extLst>
              </p:cNvPr>
              <p:cNvSpPr>
                <a:spLocks/>
              </p:cNvSpPr>
              <p:nvPr/>
            </p:nvSpPr>
            <p:spPr bwMode="auto">
              <a:xfrm>
                <a:off x="944"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84" name="Freeform 108">
                <a:extLst>
                  <a:ext uri="{FF2B5EF4-FFF2-40B4-BE49-F238E27FC236}">
                    <a16:creationId xmlns:a16="http://schemas.microsoft.com/office/drawing/2014/main" id="{476703EF-6FE7-B098-CD57-E4BD66C9FB3B}"/>
                  </a:ext>
                </a:extLst>
              </p:cNvPr>
              <p:cNvSpPr>
                <a:spLocks/>
              </p:cNvSpPr>
              <p:nvPr/>
            </p:nvSpPr>
            <p:spPr bwMode="auto">
              <a:xfrm>
                <a:off x="1010"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139" name="Freeform 109">
              <a:extLst>
                <a:ext uri="{FF2B5EF4-FFF2-40B4-BE49-F238E27FC236}">
                  <a16:creationId xmlns:a16="http://schemas.microsoft.com/office/drawing/2014/main" id="{4B218211-3919-E07B-5897-38B9EE7AB086}"/>
                </a:ext>
              </a:extLst>
            </p:cNvPr>
            <p:cNvSpPr>
              <a:spLocks/>
            </p:cNvSpPr>
            <p:nvPr/>
          </p:nvSpPr>
          <p:spPr bwMode="auto">
            <a:xfrm>
              <a:off x="2234373" y="4595713"/>
              <a:ext cx="113506" cy="431800"/>
            </a:xfrm>
            <a:custGeom>
              <a:avLst/>
              <a:gdLst>
                <a:gd name="T0" fmla="*/ 0 w 66"/>
                <a:gd name="T1" fmla="*/ 362 h 363"/>
                <a:gd name="T2" fmla="*/ 40 w 66"/>
                <a:gd name="T3" fmla="*/ 54 h 363"/>
                <a:gd name="T4" fmla="*/ 43 w 66"/>
                <a:gd name="T5" fmla="*/ 38 h 363"/>
                <a:gd name="T6" fmla="*/ 44 w 66"/>
                <a:gd name="T7" fmla="*/ 25 h 363"/>
                <a:gd name="T8" fmla="*/ 48 w 66"/>
                <a:gd name="T9" fmla="*/ 15 h 363"/>
                <a:gd name="T10" fmla="*/ 56 w 66"/>
                <a:gd name="T11" fmla="*/ 6 h 363"/>
                <a:gd name="T12" fmla="*/ 65 w 66"/>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362"/>
                  </a:moveTo>
                  <a:lnTo>
                    <a:pt x="40" y="54"/>
                  </a:lnTo>
                  <a:lnTo>
                    <a:pt x="43" y="38"/>
                  </a:lnTo>
                  <a:lnTo>
                    <a:pt x="44" y="25"/>
                  </a:lnTo>
                  <a:lnTo>
                    <a:pt x="48" y="15"/>
                  </a:lnTo>
                  <a:lnTo>
                    <a:pt x="56" y="6"/>
                  </a:lnTo>
                  <a:lnTo>
                    <a:pt x="65"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0" name="Freeform 110">
              <a:extLst>
                <a:ext uri="{FF2B5EF4-FFF2-40B4-BE49-F238E27FC236}">
                  <a16:creationId xmlns:a16="http://schemas.microsoft.com/office/drawing/2014/main" id="{A1BF2FC6-A570-4CDF-9547-61AD5B001EC9}"/>
                </a:ext>
              </a:extLst>
            </p:cNvPr>
            <p:cNvSpPr>
              <a:spLocks/>
            </p:cNvSpPr>
            <p:nvPr/>
          </p:nvSpPr>
          <p:spPr bwMode="auto">
            <a:xfrm>
              <a:off x="2349598" y="4598889"/>
              <a:ext cx="318162" cy="842963"/>
            </a:xfrm>
            <a:custGeom>
              <a:avLst/>
              <a:gdLst>
                <a:gd name="T0" fmla="*/ 0 w 185"/>
                <a:gd name="T1" fmla="*/ 1 h 531"/>
                <a:gd name="T2" fmla="*/ 8 w 185"/>
                <a:gd name="T3" fmla="*/ 0 h 531"/>
                <a:gd name="T4" fmla="*/ 24 w 185"/>
                <a:gd name="T5" fmla="*/ 13 h 531"/>
                <a:gd name="T6" fmla="*/ 28 w 185"/>
                <a:gd name="T7" fmla="*/ 26 h 531"/>
                <a:gd name="T8" fmla="*/ 31 w 185"/>
                <a:gd name="T9" fmla="*/ 45 h 531"/>
                <a:gd name="T10" fmla="*/ 85 w 185"/>
                <a:gd name="T11" fmla="*/ 489 h 531"/>
                <a:gd name="T12" fmla="*/ 90 w 185"/>
                <a:gd name="T13" fmla="*/ 513 h 531"/>
                <a:gd name="T14" fmla="*/ 95 w 185"/>
                <a:gd name="T15" fmla="*/ 521 h 531"/>
                <a:gd name="T16" fmla="*/ 106 w 185"/>
                <a:gd name="T17" fmla="*/ 528 h 531"/>
                <a:gd name="T18" fmla="*/ 115 w 185"/>
                <a:gd name="T19" fmla="*/ 531 h 531"/>
                <a:gd name="T20" fmla="*/ 126 w 185"/>
                <a:gd name="T21" fmla="*/ 525 h 531"/>
                <a:gd name="T22" fmla="*/ 134 w 185"/>
                <a:gd name="T23" fmla="*/ 513 h 531"/>
                <a:gd name="T24" fmla="*/ 185 w 185"/>
                <a:gd name="T25" fmla="*/ 258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531">
                  <a:moveTo>
                    <a:pt x="0" y="1"/>
                  </a:moveTo>
                  <a:lnTo>
                    <a:pt x="8" y="0"/>
                  </a:lnTo>
                  <a:lnTo>
                    <a:pt x="24" y="13"/>
                  </a:lnTo>
                  <a:lnTo>
                    <a:pt x="28" y="26"/>
                  </a:lnTo>
                  <a:lnTo>
                    <a:pt x="31" y="45"/>
                  </a:lnTo>
                  <a:lnTo>
                    <a:pt x="85" y="489"/>
                  </a:lnTo>
                  <a:lnTo>
                    <a:pt x="90" y="513"/>
                  </a:lnTo>
                  <a:lnTo>
                    <a:pt x="95" y="521"/>
                  </a:lnTo>
                  <a:lnTo>
                    <a:pt x="106" y="528"/>
                  </a:lnTo>
                  <a:lnTo>
                    <a:pt x="115" y="531"/>
                  </a:lnTo>
                  <a:lnTo>
                    <a:pt x="126" y="525"/>
                  </a:lnTo>
                  <a:lnTo>
                    <a:pt x="134" y="513"/>
                  </a:lnTo>
                  <a:lnTo>
                    <a:pt x="185" y="25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41" name="Group 111">
              <a:extLst>
                <a:ext uri="{FF2B5EF4-FFF2-40B4-BE49-F238E27FC236}">
                  <a16:creationId xmlns:a16="http://schemas.microsoft.com/office/drawing/2014/main" id="{AE487C99-3DF7-EE83-CA9B-D620BC7A084D}"/>
                </a:ext>
              </a:extLst>
            </p:cNvPr>
            <p:cNvGrpSpPr>
              <a:grpSpLocks/>
            </p:cNvGrpSpPr>
            <p:nvPr/>
          </p:nvGrpSpPr>
          <p:grpSpPr bwMode="auto">
            <a:xfrm>
              <a:off x="2671200" y="4595714"/>
              <a:ext cx="407590" cy="847725"/>
              <a:chOff x="1436" y="3250"/>
              <a:chExt cx="237" cy="713"/>
            </a:xfrm>
          </p:grpSpPr>
          <p:sp>
            <p:nvSpPr>
              <p:cNvPr id="181" name="Freeform 112">
                <a:extLst>
                  <a:ext uri="{FF2B5EF4-FFF2-40B4-BE49-F238E27FC236}">
                    <a16:creationId xmlns:a16="http://schemas.microsoft.com/office/drawing/2014/main" id="{06099495-FFD9-0347-F4D1-9A995CB67218}"/>
                  </a:ext>
                </a:extLst>
              </p:cNvPr>
              <p:cNvSpPr>
                <a:spLocks/>
              </p:cNvSpPr>
              <p:nvPr/>
            </p:nvSpPr>
            <p:spPr bwMode="auto">
              <a:xfrm>
                <a:off x="1436" y="3600"/>
                <a:ext cx="65" cy="363"/>
              </a:xfrm>
              <a:custGeom>
                <a:avLst/>
                <a:gdLst>
                  <a:gd name="T0" fmla="*/ 0 w 65"/>
                  <a:gd name="T1" fmla="*/ 0 h 363"/>
                  <a:gd name="T2" fmla="*/ 40 w 65"/>
                  <a:gd name="T3" fmla="*/ 308 h 363"/>
                  <a:gd name="T4" fmla="*/ 42 w 65"/>
                  <a:gd name="T5" fmla="*/ 324 h 363"/>
                  <a:gd name="T6" fmla="*/ 44 w 65"/>
                  <a:gd name="T7" fmla="*/ 337 h 363"/>
                  <a:gd name="T8" fmla="*/ 47 w 65"/>
                  <a:gd name="T9" fmla="*/ 347 h 363"/>
                  <a:gd name="T10" fmla="*/ 55 w 65"/>
                  <a:gd name="T11" fmla="*/ 356 h 363"/>
                  <a:gd name="T12" fmla="*/ 64 w 65"/>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0"/>
                    </a:moveTo>
                    <a:lnTo>
                      <a:pt x="40" y="308"/>
                    </a:lnTo>
                    <a:lnTo>
                      <a:pt x="42" y="324"/>
                    </a:lnTo>
                    <a:lnTo>
                      <a:pt x="44" y="337"/>
                    </a:lnTo>
                    <a:lnTo>
                      <a:pt x="47" y="347"/>
                    </a:lnTo>
                    <a:lnTo>
                      <a:pt x="55" y="356"/>
                    </a:lnTo>
                    <a:lnTo>
                      <a:pt x="64"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82" name="Freeform 113">
                <a:extLst>
                  <a:ext uri="{FF2B5EF4-FFF2-40B4-BE49-F238E27FC236}">
                    <a16:creationId xmlns:a16="http://schemas.microsoft.com/office/drawing/2014/main" id="{D23C319B-7B6C-2FD7-34E7-1C4316191032}"/>
                  </a:ext>
                </a:extLst>
              </p:cNvPr>
              <p:cNvSpPr>
                <a:spLocks/>
              </p:cNvSpPr>
              <p:nvPr/>
            </p:nvSpPr>
            <p:spPr bwMode="auto">
              <a:xfrm>
                <a:off x="1502" y="3250"/>
                <a:ext cx="171" cy="709"/>
              </a:xfrm>
              <a:custGeom>
                <a:avLst/>
                <a:gdLst>
                  <a:gd name="T0" fmla="*/ 0 w 171"/>
                  <a:gd name="T1" fmla="*/ 708 h 709"/>
                  <a:gd name="T2" fmla="*/ 14 w 171"/>
                  <a:gd name="T3" fmla="*/ 704 h 709"/>
                  <a:gd name="T4" fmla="*/ 24 w 171"/>
                  <a:gd name="T5" fmla="*/ 692 h 709"/>
                  <a:gd name="T6" fmla="*/ 28 w 171"/>
                  <a:gd name="T7" fmla="*/ 675 h 709"/>
                  <a:gd name="T8" fmla="*/ 31 w 171"/>
                  <a:gd name="T9" fmla="*/ 649 h 709"/>
                  <a:gd name="T10" fmla="*/ 85 w 171"/>
                  <a:gd name="T11" fmla="*/ 57 h 709"/>
                  <a:gd name="T12" fmla="*/ 90 w 171"/>
                  <a:gd name="T13" fmla="*/ 24 h 709"/>
                  <a:gd name="T14" fmla="*/ 95 w 171"/>
                  <a:gd name="T15" fmla="*/ 14 h 709"/>
                  <a:gd name="T16" fmla="*/ 106 w 171"/>
                  <a:gd name="T17" fmla="*/ 4 h 709"/>
                  <a:gd name="T18" fmla="*/ 115 w 171"/>
                  <a:gd name="T19" fmla="*/ 0 h 709"/>
                  <a:gd name="T20" fmla="*/ 126 w 171"/>
                  <a:gd name="T21" fmla="*/ 8 h 709"/>
                  <a:gd name="T22" fmla="*/ 134 w 171"/>
                  <a:gd name="T23" fmla="*/ 24 h 709"/>
                  <a:gd name="T24" fmla="*/ 170 w 171"/>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708"/>
                    </a:moveTo>
                    <a:lnTo>
                      <a:pt x="14" y="704"/>
                    </a:lnTo>
                    <a:lnTo>
                      <a:pt x="24" y="692"/>
                    </a:lnTo>
                    <a:lnTo>
                      <a:pt x="28" y="675"/>
                    </a:lnTo>
                    <a:lnTo>
                      <a:pt x="31" y="649"/>
                    </a:lnTo>
                    <a:lnTo>
                      <a:pt x="85" y="57"/>
                    </a:lnTo>
                    <a:lnTo>
                      <a:pt x="90" y="24"/>
                    </a:lnTo>
                    <a:lnTo>
                      <a:pt x="95" y="14"/>
                    </a:lnTo>
                    <a:lnTo>
                      <a:pt x="106" y="4"/>
                    </a:lnTo>
                    <a:lnTo>
                      <a:pt x="115" y="0"/>
                    </a:lnTo>
                    <a:lnTo>
                      <a:pt x="126" y="8"/>
                    </a:lnTo>
                    <a:lnTo>
                      <a:pt x="134" y="24"/>
                    </a:lnTo>
                    <a:lnTo>
                      <a:pt x="170" y="32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142" name="Freeform 114">
              <a:extLst>
                <a:ext uri="{FF2B5EF4-FFF2-40B4-BE49-F238E27FC236}">
                  <a16:creationId xmlns:a16="http://schemas.microsoft.com/office/drawing/2014/main" id="{E7DDEBC6-3859-8F9C-8AA8-B1D33301113F}"/>
                </a:ext>
              </a:extLst>
            </p:cNvPr>
            <p:cNvSpPr>
              <a:spLocks/>
            </p:cNvSpPr>
            <p:nvPr/>
          </p:nvSpPr>
          <p:spPr bwMode="auto">
            <a:xfrm>
              <a:off x="3080511" y="5011638"/>
              <a:ext cx="113506" cy="431800"/>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3" name="Freeform 115">
              <a:extLst>
                <a:ext uri="{FF2B5EF4-FFF2-40B4-BE49-F238E27FC236}">
                  <a16:creationId xmlns:a16="http://schemas.microsoft.com/office/drawing/2014/main" id="{E4451064-8990-F872-113F-CFCFA744251A}"/>
                </a:ext>
              </a:extLst>
            </p:cNvPr>
            <p:cNvSpPr>
              <a:spLocks/>
            </p:cNvSpPr>
            <p:nvPr/>
          </p:nvSpPr>
          <p:spPr bwMode="auto">
            <a:xfrm>
              <a:off x="3195736" y="4595714"/>
              <a:ext cx="313002" cy="841375"/>
            </a:xfrm>
            <a:custGeom>
              <a:avLst/>
              <a:gdLst>
                <a:gd name="T0" fmla="*/ 0 w 182"/>
                <a:gd name="T1" fmla="*/ 530 h 530"/>
                <a:gd name="T2" fmla="*/ 14 w 182"/>
                <a:gd name="T3" fmla="*/ 527 h 530"/>
                <a:gd name="T4" fmla="*/ 24 w 182"/>
                <a:gd name="T5" fmla="*/ 518 h 530"/>
                <a:gd name="T6" fmla="*/ 28 w 182"/>
                <a:gd name="T7" fmla="*/ 506 h 530"/>
                <a:gd name="T8" fmla="*/ 31 w 182"/>
                <a:gd name="T9" fmla="*/ 486 h 530"/>
                <a:gd name="T10" fmla="*/ 85 w 182"/>
                <a:gd name="T11" fmla="*/ 43 h 530"/>
                <a:gd name="T12" fmla="*/ 90 w 182"/>
                <a:gd name="T13" fmla="*/ 18 h 530"/>
                <a:gd name="T14" fmla="*/ 95 w 182"/>
                <a:gd name="T15" fmla="*/ 10 h 530"/>
                <a:gd name="T16" fmla="*/ 106 w 182"/>
                <a:gd name="T17" fmla="*/ 3 h 530"/>
                <a:gd name="T18" fmla="*/ 115 w 182"/>
                <a:gd name="T19" fmla="*/ 0 h 530"/>
                <a:gd name="T20" fmla="*/ 126 w 182"/>
                <a:gd name="T21" fmla="*/ 6 h 530"/>
                <a:gd name="T22" fmla="*/ 134 w 182"/>
                <a:gd name="T23" fmla="*/ 18 h 530"/>
                <a:gd name="T24" fmla="*/ 182 w 182"/>
                <a:gd name="T25" fmla="*/ 29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2" h="530">
                  <a:moveTo>
                    <a:pt x="0" y="530"/>
                  </a:moveTo>
                  <a:lnTo>
                    <a:pt x="14" y="527"/>
                  </a:lnTo>
                  <a:lnTo>
                    <a:pt x="24" y="518"/>
                  </a:lnTo>
                  <a:lnTo>
                    <a:pt x="28" y="506"/>
                  </a:lnTo>
                  <a:lnTo>
                    <a:pt x="31" y="486"/>
                  </a:lnTo>
                  <a:lnTo>
                    <a:pt x="85" y="43"/>
                  </a:lnTo>
                  <a:lnTo>
                    <a:pt x="90" y="18"/>
                  </a:lnTo>
                  <a:lnTo>
                    <a:pt x="95" y="10"/>
                  </a:lnTo>
                  <a:lnTo>
                    <a:pt x="106" y="3"/>
                  </a:lnTo>
                  <a:lnTo>
                    <a:pt x="115" y="0"/>
                  </a:lnTo>
                  <a:lnTo>
                    <a:pt x="126" y="6"/>
                  </a:lnTo>
                  <a:lnTo>
                    <a:pt x="134" y="18"/>
                  </a:lnTo>
                  <a:lnTo>
                    <a:pt x="182" y="29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4" name="Freeform 116">
              <a:extLst>
                <a:ext uri="{FF2B5EF4-FFF2-40B4-BE49-F238E27FC236}">
                  <a16:creationId xmlns:a16="http://schemas.microsoft.com/office/drawing/2014/main" id="{B504AF40-1C69-1AC6-9E3C-85619221D687}"/>
                </a:ext>
              </a:extLst>
            </p:cNvPr>
            <p:cNvSpPr>
              <a:spLocks/>
            </p:cNvSpPr>
            <p:nvPr/>
          </p:nvSpPr>
          <p:spPr bwMode="auto">
            <a:xfrm>
              <a:off x="3519057" y="4598888"/>
              <a:ext cx="120385" cy="457200"/>
            </a:xfrm>
            <a:custGeom>
              <a:avLst/>
              <a:gdLst>
                <a:gd name="T0" fmla="*/ 0 w 70"/>
                <a:gd name="T1" fmla="*/ 288 h 288"/>
                <a:gd name="T2" fmla="*/ 46 w 70"/>
                <a:gd name="T3" fmla="*/ 40 h 288"/>
                <a:gd name="T4" fmla="*/ 48 w 70"/>
                <a:gd name="T5" fmla="*/ 28 h 288"/>
                <a:gd name="T6" fmla="*/ 50 w 70"/>
                <a:gd name="T7" fmla="*/ 19 h 288"/>
                <a:gd name="T8" fmla="*/ 53 w 70"/>
                <a:gd name="T9" fmla="*/ 11 h 288"/>
                <a:gd name="T10" fmla="*/ 61 w 70"/>
                <a:gd name="T11" fmla="*/ 4 h 288"/>
                <a:gd name="T12" fmla="*/ 70 w 70"/>
                <a:gd name="T13" fmla="*/ 0 h 288"/>
              </a:gdLst>
              <a:ahLst/>
              <a:cxnLst>
                <a:cxn ang="0">
                  <a:pos x="T0" y="T1"/>
                </a:cxn>
                <a:cxn ang="0">
                  <a:pos x="T2" y="T3"/>
                </a:cxn>
                <a:cxn ang="0">
                  <a:pos x="T4" y="T5"/>
                </a:cxn>
                <a:cxn ang="0">
                  <a:pos x="T6" y="T7"/>
                </a:cxn>
                <a:cxn ang="0">
                  <a:pos x="T8" y="T9"/>
                </a:cxn>
                <a:cxn ang="0">
                  <a:pos x="T10" y="T11"/>
                </a:cxn>
                <a:cxn ang="0">
                  <a:pos x="T12" y="T13"/>
                </a:cxn>
              </a:cxnLst>
              <a:rect l="0" t="0" r="r" b="b"/>
              <a:pathLst>
                <a:path w="70" h="288">
                  <a:moveTo>
                    <a:pt x="0" y="288"/>
                  </a:moveTo>
                  <a:lnTo>
                    <a:pt x="46" y="40"/>
                  </a:lnTo>
                  <a:lnTo>
                    <a:pt x="48" y="28"/>
                  </a:lnTo>
                  <a:lnTo>
                    <a:pt x="50" y="19"/>
                  </a:lnTo>
                  <a:lnTo>
                    <a:pt x="53" y="11"/>
                  </a:lnTo>
                  <a:lnTo>
                    <a:pt x="61" y="4"/>
                  </a:lnTo>
                  <a:lnTo>
                    <a:pt x="70"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5" name="Freeform 117">
              <a:extLst>
                <a:ext uri="{FF2B5EF4-FFF2-40B4-BE49-F238E27FC236}">
                  <a16:creationId xmlns:a16="http://schemas.microsoft.com/office/drawing/2014/main" id="{53F783B1-CEB0-B2D3-3C53-272C2F4A1BEC}"/>
                </a:ext>
              </a:extLst>
            </p:cNvPr>
            <p:cNvSpPr>
              <a:spLocks/>
            </p:cNvSpPr>
            <p:nvPr/>
          </p:nvSpPr>
          <p:spPr bwMode="auto">
            <a:xfrm>
              <a:off x="3642881" y="4600476"/>
              <a:ext cx="295804" cy="842962"/>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6" name="Freeform 118">
              <a:extLst>
                <a:ext uri="{FF2B5EF4-FFF2-40B4-BE49-F238E27FC236}">
                  <a16:creationId xmlns:a16="http://schemas.microsoft.com/office/drawing/2014/main" id="{BF4E9F3E-1A5F-E281-A59B-63F5C969589D}"/>
                </a:ext>
              </a:extLst>
            </p:cNvPr>
            <p:cNvSpPr>
              <a:spLocks/>
            </p:cNvSpPr>
            <p:nvPr/>
          </p:nvSpPr>
          <p:spPr bwMode="auto">
            <a:xfrm>
              <a:off x="3942125" y="4610001"/>
              <a:ext cx="110067" cy="430212"/>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7" name="Freeform 119">
              <a:extLst>
                <a:ext uri="{FF2B5EF4-FFF2-40B4-BE49-F238E27FC236}">
                  <a16:creationId xmlns:a16="http://schemas.microsoft.com/office/drawing/2014/main" id="{FE7D6A87-9E21-4196-E14E-0A539CA4D0B3}"/>
                </a:ext>
              </a:extLst>
            </p:cNvPr>
            <p:cNvSpPr>
              <a:spLocks/>
            </p:cNvSpPr>
            <p:nvPr/>
          </p:nvSpPr>
          <p:spPr bwMode="auto">
            <a:xfrm>
              <a:off x="4057352" y="4606827"/>
              <a:ext cx="302683" cy="841375"/>
            </a:xfrm>
            <a:custGeom>
              <a:avLst/>
              <a:gdLst>
                <a:gd name="T0" fmla="*/ 0 w 176"/>
                <a:gd name="T1" fmla="*/ 0 h 708"/>
                <a:gd name="T2" fmla="*/ 15 w 176"/>
                <a:gd name="T3" fmla="*/ 4 h 708"/>
                <a:gd name="T4" fmla="*/ 25 w 176"/>
                <a:gd name="T5" fmla="*/ 16 h 708"/>
                <a:gd name="T6" fmla="*/ 28 w 176"/>
                <a:gd name="T7" fmla="*/ 33 h 708"/>
                <a:gd name="T8" fmla="*/ 32 w 176"/>
                <a:gd name="T9" fmla="*/ 59 h 708"/>
                <a:gd name="T10" fmla="*/ 88 w 176"/>
                <a:gd name="T11" fmla="*/ 650 h 708"/>
                <a:gd name="T12" fmla="*/ 93 w 176"/>
                <a:gd name="T13" fmla="*/ 683 h 708"/>
                <a:gd name="T14" fmla="*/ 97 w 176"/>
                <a:gd name="T15" fmla="*/ 693 h 708"/>
                <a:gd name="T16" fmla="*/ 109 w 176"/>
                <a:gd name="T17" fmla="*/ 703 h 708"/>
                <a:gd name="T18" fmla="*/ 118 w 176"/>
                <a:gd name="T19" fmla="*/ 707 h 708"/>
                <a:gd name="T20" fmla="*/ 130 w 176"/>
                <a:gd name="T21" fmla="*/ 699 h 708"/>
                <a:gd name="T22" fmla="*/ 138 w 176"/>
                <a:gd name="T23" fmla="*/ 683 h 708"/>
                <a:gd name="T24" fmla="*/ 175 w 176"/>
                <a:gd name="T25" fmla="*/ 379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6" h="708">
                  <a:moveTo>
                    <a:pt x="0" y="0"/>
                  </a:moveTo>
                  <a:lnTo>
                    <a:pt x="15" y="4"/>
                  </a:lnTo>
                  <a:lnTo>
                    <a:pt x="25" y="16"/>
                  </a:lnTo>
                  <a:lnTo>
                    <a:pt x="28" y="33"/>
                  </a:lnTo>
                  <a:lnTo>
                    <a:pt x="32" y="59"/>
                  </a:lnTo>
                  <a:lnTo>
                    <a:pt x="88" y="650"/>
                  </a:lnTo>
                  <a:lnTo>
                    <a:pt x="93" y="683"/>
                  </a:lnTo>
                  <a:lnTo>
                    <a:pt x="97" y="693"/>
                  </a:lnTo>
                  <a:lnTo>
                    <a:pt x="109" y="703"/>
                  </a:lnTo>
                  <a:lnTo>
                    <a:pt x="118" y="707"/>
                  </a:lnTo>
                  <a:lnTo>
                    <a:pt x="130" y="699"/>
                  </a:lnTo>
                  <a:lnTo>
                    <a:pt x="138" y="683"/>
                  </a:lnTo>
                  <a:lnTo>
                    <a:pt x="175" y="379"/>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8" name="Freeform 120">
              <a:extLst>
                <a:ext uri="{FF2B5EF4-FFF2-40B4-BE49-F238E27FC236}">
                  <a16:creationId xmlns:a16="http://schemas.microsoft.com/office/drawing/2014/main" id="{463E1B87-2C67-AC86-A44E-1F00BA6C0985}"/>
                </a:ext>
              </a:extLst>
            </p:cNvPr>
            <p:cNvSpPr>
              <a:spLocks/>
            </p:cNvSpPr>
            <p:nvPr/>
          </p:nvSpPr>
          <p:spPr bwMode="auto">
            <a:xfrm>
              <a:off x="4361755" y="4616351"/>
              <a:ext cx="115227" cy="431800"/>
            </a:xfrm>
            <a:custGeom>
              <a:avLst/>
              <a:gdLst>
                <a:gd name="T0" fmla="*/ 0 w 67"/>
                <a:gd name="T1" fmla="*/ 362 h 363"/>
                <a:gd name="T2" fmla="*/ 41 w 67"/>
                <a:gd name="T3" fmla="*/ 54 h 363"/>
                <a:gd name="T4" fmla="*/ 43 w 67"/>
                <a:gd name="T5" fmla="*/ 38 h 363"/>
                <a:gd name="T6" fmla="*/ 45 w 67"/>
                <a:gd name="T7" fmla="*/ 25 h 363"/>
                <a:gd name="T8" fmla="*/ 49 w 67"/>
                <a:gd name="T9" fmla="*/ 15 h 363"/>
                <a:gd name="T10" fmla="*/ 56 w 67"/>
                <a:gd name="T11" fmla="*/ 6 h 363"/>
                <a:gd name="T12" fmla="*/ 66 w 67"/>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7" h="363">
                  <a:moveTo>
                    <a:pt x="0" y="362"/>
                  </a:moveTo>
                  <a:lnTo>
                    <a:pt x="41" y="54"/>
                  </a:lnTo>
                  <a:lnTo>
                    <a:pt x="43" y="38"/>
                  </a:lnTo>
                  <a:lnTo>
                    <a:pt x="45" y="25"/>
                  </a:lnTo>
                  <a:lnTo>
                    <a:pt x="49" y="15"/>
                  </a:lnTo>
                  <a:lnTo>
                    <a:pt x="56" y="6"/>
                  </a:lnTo>
                  <a:lnTo>
                    <a:pt x="66"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49" name="Freeform 121">
              <a:extLst>
                <a:ext uri="{FF2B5EF4-FFF2-40B4-BE49-F238E27FC236}">
                  <a16:creationId xmlns:a16="http://schemas.microsoft.com/office/drawing/2014/main" id="{BA01103D-E9E0-B4C3-AAD9-1E70AF01CF87}"/>
                </a:ext>
              </a:extLst>
            </p:cNvPr>
            <p:cNvSpPr>
              <a:spLocks/>
            </p:cNvSpPr>
            <p:nvPr/>
          </p:nvSpPr>
          <p:spPr bwMode="auto">
            <a:xfrm>
              <a:off x="4483860" y="4614764"/>
              <a:ext cx="288925" cy="841375"/>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50" name="Freeform 122">
              <a:extLst>
                <a:ext uri="{FF2B5EF4-FFF2-40B4-BE49-F238E27FC236}">
                  <a16:creationId xmlns:a16="http://schemas.microsoft.com/office/drawing/2014/main" id="{024C0F60-2594-7A93-77BA-01005214D7BE}"/>
                </a:ext>
              </a:extLst>
            </p:cNvPr>
            <p:cNvSpPr>
              <a:spLocks/>
            </p:cNvSpPr>
            <p:nvPr/>
          </p:nvSpPr>
          <p:spPr bwMode="auto">
            <a:xfrm>
              <a:off x="4774504" y="4616351"/>
              <a:ext cx="118666" cy="431800"/>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51" name="Freeform 123">
              <a:extLst>
                <a:ext uri="{FF2B5EF4-FFF2-40B4-BE49-F238E27FC236}">
                  <a16:creationId xmlns:a16="http://schemas.microsoft.com/office/drawing/2014/main" id="{B3544E8F-48FE-D112-BD79-767FEDA0100A}"/>
                </a:ext>
              </a:extLst>
            </p:cNvPr>
            <p:cNvSpPr>
              <a:spLocks/>
            </p:cNvSpPr>
            <p:nvPr/>
          </p:nvSpPr>
          <p:spPr bwMode="auto">
            <a:xfrm>
              <a:off x="4898329" y="4611589"/>
              <a:ext cx="288925" cy="842963"/>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52" name="Group 124">
              <a:extLst>
                <a:ext uri="{FF2B5EF4-FFF2-40B4-BE49-F238E27FC236}">
                  <a16:creationId xmlns:a16="http://schemas.microsoft.com/office/drawing/2014/main" id="{60283341-B7AB-BBC9-C23A-DB6B6FE92FB5}"/>
                </a:ext>
              </a:extLst>
            </p:cNvPr>
            <p:cNvGrpSpPr>
              <a:grpSpLocks/>
            </p:cNvGrpSpPr>
            <p:nvPr/>
          </p:nvGrpSpPr>
          <p:grpSpPr bwMode="auto">
            <a:xfrm>
              <a:off x="5185535" y="4614763"/>
              <a:ext cx="404151" cy="846138"/>
              <a:chOff x="2898" y="3265"/>
              <a:chExt cx="235" cy="713"/>
            </a:xfrm>
          </p:grpSpPr>
          <p:sp>
            <p:nvSpPr>
              <p:cNvPr id="179" name="Freeform 125">
                <a:extLst>
                  <a:ext uri="{FF2B5EF4-FFF2-40B4-BE49-F238E27FC236}">
                    <a16:creationId xmlns:a16="http://schemas.microsoft.com/office/drawing/2014/main" id="{DD083440-76DB-CC51-4EFE-169687D65847}"/>
                  </a:ext>
                </a:extLst>
              </p:cNvPr>
              <p:cNvSpPr>
                <a:spLocks/>
              </p:cNvSpPr>
              <p:nvPr/>
            </p:nvSpPr>
            <p:spPr bwMode="auto">
              <a:xfrm>
                <a:off x="2898" y="3615"/>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80" name="Freeform 126">
                <a:extLst>
                  <a:ext uri="{FF2B5EF4-FFF2-40B4-BE49-F238E27FC236}">
                    <a16:creationId xmlns:a16="http://schemas.microsoft.com/office/drawing/2014/main" id="{30A1469E-F449-7400-8140-43C2C779AFC5}"/>
                  </a:ext>
                </a:extLst>
              </p:cNvPr>
              <p:cNvSpPr>
                <a:spLocks/>
              </p:cNvSpPr>
              <p:nvPr/>
            </p:nvSpPr>
            <p:spPr bwMode="auto">
              <a:xfrm>
                <a:off x="2963" y="3265"/>
                <a:ext cx="170" cy="709"/>
              </a:xfrm>
              <a:custGeom>
                <a:avLst/>
                <a:gdLst>
                  <a:gd name="T0" fmla="*/ 0 w 170"/>
                  <a:gd name="T1" fmla="*/ 708 h 709"/>
                  <a:gd name="T2" fmla="*/ 14 w 170"/>
                  <a:gd name="T3" fmla="*/ 704 h 709"/>
                  <a:gd name="T4" fmla="*/ 24 w 170"/>
                  <a:gd name="T5" fmla="*/ 692 h 709"/>
                  <a:gd name="T6" fmla="*/ 27 w 170"/>
                  <a:gd name="T7" fmla="*/ 675 h 709"/>
                  <a:gd name="T8" fmla="*/ 31 w 170"/>
                  <a:gd name="T9" fmla="*/ 649 h 709"/>
                  <a:gd name="T10" fmla="*/ 85 w 170"/>
                  <a:gd name="T11" fmla="*/ 57 h 709"/>
                  <a:gd name="T12" fmla="*/ 90 w 170"/>
                  <a:gd name="T13" fmla="*/ 24 h 709"/>
                  <a:gd name="T14" fmla="*/ 94 w 170"/>
                  <a:gd name="T15" fmla="*/ 14 h 709"/>
                  <a:gd name="T16" fmla="*/ 105 w 170"/>
                  <a:gd name="T17" fmla="*/ 4 h 709"/>
                  <a:gd name="T18" fmla="*/ 114 w 170"/>
                  <a:gd name="T19" fmla="*/ 0 h 709"/>
                  <a:gd name="T20" fmla="*/ 126 w 170"/>
                  <a:gd name="T21" fmla="*/ 8 h 709"/>
                  <a:gd name="T22" fmla="*/ 133 w 170"/>
                  <a:gd name="T23" fmla="*/ 24 h 709"/>
                  <a:gd name="T24" fmla="*/ 169 w 170"/>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709">
                    <a:moveTo>
                      <a:pt x="0" y="708"/>
                    </a:moveTo>
                    <a:lnTo>
                      <a:pt x="14" y="704"/>
                    </a:lnTo>
                    <a:lnTo>
                      <a:pt x="24" y="692"/>
                    </a:lnTo>
                    <a:lnTo>
                      <a:pt x="27" y="675"/>
                    </a:lnTo>
                    <a:lnTo>
                      <a:pt x="31" y="649"/>
                    </a:lnTo>
                    <a:lnTo>
                      <a:pt x="85" y="57"/>
                    </a:lnTo>
                    <a:lnTo>
                      <a:pt x="90" y="24"/>
                    </a:lnTo>
                    <a:lnTo>
                      <a:pt x="94" y="14"/>
                    </a:lnTo>
                    <a:lnTo>
                      <a:pt x="105" y="4"/>
                    </a:lnTo>
                    <a:lnTo>
                      <a:pt x="114" y="0"/>
                    </a:lnTo>
                    <a:lnTo>
                      <a:pt x="126" y="8"/>
                    </a:lnTo>
                    <a:lnTo>
                      <a:pt x="133" y="24"/>
                    </a:lnTo>
                    <a:lnTo>
                      <a:pt x="169" y="32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153" name="Freeform 127">
              <a:extLst>
                <a:ext uri="{FF2B5EF4-FFF2-40B4-BE49-F238E27FC236}">
                  <a16:creationId xmlns:a16="http://schemas.microsoft.com/office/drawing/2014/main" id="{472DF4C7-C79D-FFE7-5FDF-E732D5B1D4C3}"/>
                </a:ext>
              </a:extLst>
            </p:cNvPr>
            <p:cNvSpPr>
              <a:spLocks/>
            </p:cNvSpPr>
            <p:nvPr/>
          </p:nvSpPr>
          <p:spPr bwMode="auto">
            <a:xfrm>
              <a:off x="5587966" y="5014813"/>
              <a:ext cx="108346" cy="431800"/>
            </a:xfrm>
            <a:custGeom>
              <a:avLst/>
              <a:gdLst>
                <a:gd name="T0" fmla="*/ 0 w 63"/>
                <a:gd name="T1" fmla="*/ 0 h 363"/>
                <a:gd name="T2" fmla="*/ 38 w 63"/>
                <a:gd name="T3" fmla="*/ 308 h 363"/>
                <a:gd name="T4" fmla="*/ 41 w 63"/>
                <a:gd name="T5" fmla="*/ 324 h 363"/>
                <a:gd name="T6" fmla="*/ 42 w 63"/>
                <a:gd name="T7" fmla="*/ 337 h 363"/>
                <a:gd name="T8" fmla="*/ 46 w 63"/>
                <a:gd name="T9" fmla="*/ 347 h 363"/>
                <a:gd name="T10" fmla="*/ 53 w 63"/>
                <a:gd name="T11" fmla="*/ 356 h 363"/>
                <a:gd name="T12" fmla="*/ 62 w 63"/>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3" h="363">
                  <a:moveTo>
                    <a:pt x="0" y="0"/>
                  </a:moveTo>
                  <a:lnTo>
                    <a:pt x="38" y="308"/>
                  </a:lnTo>
                  <a:lnTo>
                    <a:pt x="41" y="324"/>
                  </a:lnTo>
                  <a:lnTo>
                    <a:pt x="42" y="337"/>
                  </a:lnTo>
                  <a:lnTo>
                    <a:pt x="46" y="347"/>
                  </a:lnTo>
                  <a:lnTo>
                    <a:pt x="53" y="356"/>
                  </a:lnTo>
                  <a:lnTo>
                    <a:pt x="62"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54" name="Freeform 128">
              <a:extLst>
                <a:ext uri="{FF2B5EF4-FFF2-40B4-BE49-F238E27FC236}">
                  <a16:creationId xmlns:a16="http://schemas.microsoft.com/office/drawing/2014/main" id="{759893CB-90CB-7863-8BAE-EF5441C124E6}"/>
                </a:ext>
              </a:extLst>
            </p:cNvPr>
            <p:cNvSpPr>
              <a:spLocks/>
            </p:cNvSpPr>
            <p:nvPr/>
          </p:nvSpPr>
          <p:spPr bwMode="auto">
            <a:xfrm>
              <a:off x="5698034" y="4614764"/>
              <a:ext cx="290644" cy="841375"/>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55" name="Group 129">
              <a:extLst>
                <a:ext uri="{FF2B5EF4-FFF2-40B4-BE49-F238E27FC236}">
                  <a16:creationId xmlns:a16="http://schemas.microsoft.com/office/drawing/2014/main" id="{24F4DC61-B315-0817-24AE-805B48238981}"/>
                </a:ext>
              </a:extLst>
            </p:cNvPr>
            <p:cNvGrpSpPr>
              <a:grpSpLocks/>
            </p:cNvGrpSpPr>
            <p:nvPr/>
          </p:nvGrpSpPr>
          <p:grpSpPr bwMode="auto">
            <a:xfrm>
              <a:off x="5988678" y="4603652"/>
              <a:ext cx="808302" cy="846137"/>
              <a:chOff x="3365" y="3256"/>
              <a:chExt cx="470" cy="713"/>
            </a:xfrm>
          </p:grpSpPr>
          <p:grpSp>
            <p:nvGrpSpPr>
              <p:cNvPr id="173" name="Group 130">
                <a:extLst>
                  <a:ext uri="{FF2B5EF4-FFF2-40B4-BE49-F238E27FC236}">
                    <a16:creationId xmlns:a16="http://schemas.microsoft.com/office/drawing/2014/main" id="{8E62211E-C0C0-2C24-018D-64B8C79099F8}"/>
                  </a:ext>
                </a:extLst>
              </p:cNvPr>
              <p:cNvGrpSpPr>
                <a:grpSpLocks/>
              </p:cNvGrpSpPr>
              <p:nvPr/>
            </p:nvGrpSpPr>
            <p:grpSpPr bwMode="auto">
              <a:xfrm>
                <a:off x="3365" y="3256"/>
                <a:ext cx="233" cy="713"/>
                <a:chOff x="3365" y="3256"/>
                <a:chExt cx="233" cy="713"/>
              </a:xfrm>
            </p:grpSpPr>
            <p:sp>
              <p:nvSpPr>
                <p:cNvPr id="177" name="Freeform 131">
                  <a:extLst>
                    <a:ext uri="{FF2B5EF4-FFF2-40B4-BE49-F238E27FC236}">
                      <a16:creationId xmlns:a16="http://schemas.microsoft.com/office/drawing/2014/main" id="{3052D174-0C70-8395-9CC5-2BFC955622E0}"/>
                    </a:ext>
                  </a:extLst>
                </p:cNvPr>
                <p:cNvSpPr>
                  <a:spLocks/>
                </p:cNvSpPr>
                <p:nvPr/>
              </p:nvSpPr>
              <p:spPr bwMode="auto">
                <a:xfrm>
                  <a:off x="3365" y="3606"/>
                  <a:ext cx="66" cy="363"/>
                </a:xfrm>
                <a:custGeom>
                  <a:avLst/>
                  <a:gdLst>
                    <a:gd name="T0" fmla="*/ 0 w 66"/>
                    <a:gd name="T1" fmla="*/ 0 h 363"/>
                    <a:gd name="T2" fmla="*/ 40 w 66"/>
                    <a:gd name="T3" fmla="*/ 308 h 363"/>
                    <a:gd name="T4" fmla="*/ 43 w 66"/>
                    <a:gd name="T5" fmla="*/ 324 h 363"/>
                    <a:gd name="T6" fmla="*/ 44 w 66"/>
                    <a:gd name="T7" fmla="*/ 337 h 363"/>
                    <a:gd name="T8" fmla="*/ 48 w 66"/>
                    <a:gd name="T9" fmla="*/ 347 h 363"/>
                    <a:gd name="T10" fmla="*/ 56 w 66"/>
                    <a:gd name="T11" fmla="*/ 356 h 363"/>
                    <a:gd name="T12" fmla="*/ 65 w 66"/>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6" h="363">
                      <a:moveTo>
                        <a:pt x="0" y="0"/>
                      </a:moveTo>
                      <a:lnTo>
                        <a:pt x="40" y="308"/>
                      </a:lnTo>
                      <a:lnTo>
                        <a:pt x="43" y="324"/>
                      </a:lnTo>
                      <a:lnTo>
                        <a:pt x="44" y="337"/>
                      </a:lnTo>
                      <a:lnTo>
                        <a:pt x="48" y="347"/>
                      </a:lnTo>
                      <a:lnTo>
                        <a:pt x="56" y="356"/>
                      </a:lnTo>
                      <a:lnTo>
                        <a:pt x="65"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78" name="Freeform 132">
                  <a:extLst>
                    <a:ext uri="{FF2B5EF4-FFF2-40B4-BE49-F238E27FC236}">
                      <a16:creationId xmlns:a16="http://schemas.microsoft.com/office/drawing/2014/main" id="{872A2B76-DCCB-97DD-8840-F74525A74DAA}"/>
                    </a:ext>
                  </a:extLst>
                </p:cNvPr>
                <p:cNvSpPr>
                  <a:spLocks/>
                </p:cNvSpPr>
                <p:nvPr/>
              </p:nvSpPr>
              <p:spPr bwMode="auto">
                <a:xfrm>
                  <a:off x="3432"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174" name="Group 133">
                <a:extLst>
                  <a:ext uri="{FF2B5EF4-FFF2-40B4-BE49-F238E27FC236}">
                    <a16:creationId xmlns:a16="http://schemas.microsoft.com/office/drawing/2014/main" id="{EC08D238-BB33-983C-E35C-8D2B4149E022}"/>
                  </a:ext>
                </a:extLst>
              </p:cNvPr>
              <p:cNvGrpSpPr>
                <a:grpSpLocks/>
              </p:cNvGrpSpPr>
              <p:nvPr/>
            </p:nvGrpSpPr>
            <p:grpSpPr bwMode="auto">
              <a:xfrm>
                <a:off x="3600" y="3256"/>
                <a:ext cx="235" cy="713"/>
                <a:chOff x="3600" y="3256"/>
                <a:chExt cx="235" cy="713"/>
              </a:xfrm>
            </p:grpSpPr>
            <p:sp>
              <p:nvSpPr>
                <p:cNvPr id="175" name="Freeform 134">
                  <a:extLst>
                    <a:ext uri="{FF2B5EF4-FFF2-40B4-BE49-F238E27FC236}">
                      <a16:creationId xmlns:a16="http://schemas.microsoft.com/office/drawing/2014/main" id="{FC129385-4DEA-D47E-0A1E-F0242754487F}"/>
                    </a:ext>
                  </a:extLst>
                </p:cNvPr>
                <p:cNvSpPr>
                  <a:spLocks/>
                </p:cNvSpPr>
                <p:nvPr/>
              </p:nvSpPr>
              <p:spPr bwMode="auto">
                <a:xfrm>
                  <a:off x="3600" y="3606"/>
                  <a:ext cx="68" cy="363"/>
                </a:xfrm>
                <a:custGeom>
                  <a:avLst/>
                  <a:gdLst>
                    <a:gd name="T0" fmla="*/ 0 w 68"/>
                    <a:gd name="T1" fmla="*/ 0 h 363"/>
                    <a:gd name="T2" fmla="*/ 41 w 68"/>
                    <a:gd name="T3" fmla="*/ 308 h 363"/>
                    <a:gd name="T4" fmla="*/ 44 w 68"/>
                    <a:gd name="T5" fmla="*/ 324 h 363"/>
                    <a:gd name="T6" fmla="*/ 46 w 68"/>
                    <a:gd name="T7" fmla="*/ 337 h 363"/>
                    <a:gd name="T8" fmla="*/ 49 w 68"/>
                    <a:gd name="T9" fmla="*/ 347 h 363"/>
                    <a:gd name="T10" fmla="*/ 57 w 68"/>
                    <a:gd name="T11" fmla="*/ 356 h 363"/>
                    <a:gd name="T12" fmla="*/ 67 w 68"/>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8" h="363">
                      <a:moveTo>
                        <a:pt x="0" y="0"/>
                      </a:moveTo>
                      <a:lnTo>
                        <a:pt x="41" y="308"/>
                      </a:lnTo>
                      <a:lnTo>
                        <a:pt x="44" y="324"/>
                      </a:lnTo>
                      <a:lnTo>
                        <a:pt x="46" y="337"/>
                      </a:lnTo>
                      <a:lnTo>
                        <a:pt x="49" y="347"/>
                      </a:lnTo>
                      <a:lnTo>
                        <a:pt x="57" y="356"/>
                      </a:lnTo>
                      <a:lnTo>
                        <a:pt x="67"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76" name="Freeform 135">
                  <a:extLst>
                    <a:ext uri="{FF2B5EF4-FFF2-40B4-BE49-F238E27FC236}">
                      <a16:creationId xmlns:a16="http://schemas.microsoft.com/office/drawing/2014/main" id="{E43CEE78-D349-C23C-F540-859F750CCDFB}"/>
                    </a:ext>
                  </a:extLst>
                </p:cNvPr>
                <p:cNvSpPr>
                  <a:spLocks/>
                </p:cNvSpPr>
                <p:nvPr/>
              </p:nvSpPr>
              <p:spPr bwMode="auto">
                <a:xfrm>
                  <a:off x="3669" y="3256"/>
                  <a:ext cx="166" cy="709"/>
                </a:xfrm>
                <a:custGeom>
                  <a:avLst/>
                  <a:gdLst>
                    <a:gd name="T0" fmla="*/ 0 w 166"/>
                    <a:gd name="T1" fmla="*/ 708 h 709"/>
                    <a:gd name="T2" fmla="*/ 14 w 166"/>
                    <a:gd name="T3" fmla="*/ 704 h 709"/>
                    <a:gd name="T4" fmla="*/ 24 w 166"/>
                    <a:gd name="T5" fmla="*/ 692 h 709"/>
                    <a:gd name="T6" fmla="*/ 27 w 166"/>
                    <a:gd name="T7" fmla="*/ 675 h 709"/>
                    <a:gd name="T8" fmla="*/ 30 w 166"/>
                    <a:gd name="T9" fmla="*/ 649 h 709"/>
                    <a:gd name="T10" fmla="*/ 83 w 166"/>
                    <a:gd name="T11" fmla="*/ 57 h 709"/>
                    <a:gd name="T12" fmla="*/ 88 w 166"/>
                    <a:gd name="T13" fmla="*/ 24 h 709"/>
                    <a:gd name="T14" fmla="*/ 92 w 166"/>
                    <a:gd name="T15" fmla="*/ 14 h 709"/>
                    <a:gd name="T16" fmla="*/ 102 w 166"/>
                    <a:gd name="T17" fmla="*/ 4 h 709"/>
                    <a:gd name="T18" fmla="*/ 111 w 166"/>
                    <a:gd name="T19" fmla="*/ 0 h 709"/>
                    <a:gd name="T20" fmla="*/ 123 w 166"/>
                    <a:gd name="T21" fmla="*/ 8 h 709"/>
                    <a:gd name="T22" fmla="*/ 130 w 166"/>
                    <a:gd name="T23" fmla="*/ 24 h 709"/>
                    <a:gd name="T24" fmla="*/ 165 w 166"/>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6" h="709">
                      <a:moveTo>
                        <a:pt x="0" y="708"/>
                      </a:moveTo>
                      <a:lnTo>
                        <a:pt x="14" y="704"/>
                      </a:lnTo>
                      <a:lnTo>
                        <a:pt x="24" y="692"/>
                      </a:lnTo>
                      <a:lnTo>
                        <a:pt x="27" y="675"/>
                      </a:lnTo>
                      <a:lnTo>
                        <a:pt x="30" y="649"/>
                      </a:lnTo>
                      <a:lnTo>
                        <a:pt x="83" y="57"/>
                      </a:lnTo>
                      <a:lnTo>
                        <a:pt x="88" y="24"/>
                      </a:lnTo>
                      <a:lnTo>
                        <a:pt x="92" y="14"/>
                      </a:lnTo>
                      <a:lnTo>
                        <a:pt x="102" y="4"/>
                      </a:lnTo>
                      <a:lnTo>
                        <a:pt x="111" y="0"/>
                      </a:lnTo>
                      <a:lnTo>
                        <a:pt x="123" y="8"/>
                      </a:lnTo>
                      <a:lnTo>
                        <a:pt x="130" y="24"/>
                      </a:lnTo>
                      <a:lnTo>
                        <a:pt x="165" y="32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grpSp>
          <p:nvGrpSpPr>
            <p:cNvPr id="156" name="Group 136">
              <a:extLst>
                <a:ext uri="{FF2B5EF4-FFF2-40B4-BE49-F238E27FC236}">
                  <a16:creationId xmlns:a16="http://schemas.microsoft.com/office/drawing/2014/main" id="{E9BB1D37-0065-D227-808F-9C567FA65FD1}"/>
                </a:ext>
              </a:extLst>
            </p:cNvPr>
            <p:cNvGrpSpPr>
              <a:grpSpLocks/>
            </p:cNvGrpSpPr>
            <p:nvPr/>
          </p:nvGrpSpPr>
          <p:grpSpPr bwMode="auto">
            <a:xfrm>
              <a:off x="6793540" y="4592539"/>
              <a:ext cx="402431" cy="847725"/>
              <a:chOff x="3833" y="3247"/>
              <a:chExt cx="234" cy="713"/>
            </a:xfrm>
          </p:grpSpPr>
          <p:sp>
            <p:nvSpPr>
              <p:cNvPr id="171" name="Freeform 137">
                <a:extLst>
                  <a:ext uri="{FF2B5EF4-FFF2-40B4-BE49-F238E27FC236}">
                    <a16:creationId xmlns:a16="http://schemas.microsoft.com/office/drawing/2014/main" id="{10B64FAA-D738-CE65-DBDF-3685C6CB4B3C}"/>
                  </a:ext>
                </a:extLst>
              </p:cNvPr>
              <p:cNvSpPr>
                <a:spLocks/>
              </p:cNvSpPr>
              <p:nvPr/>
            </p:nvSpPr>
            <p:spPr bwMode="auto">
              <a:xfrm>
                <a:off x="3833" y="3597"/>
                <a:ext cx="64" cy="363"/>
              </a:xfrm>
              <a:custGeom>
                <a:avLst/>
                <a:gdLst>
                  <a:gd name="T0" fmla="*/ 0 w 64"/>
                  <a:gd name="T1" fmla="*/ 0 h 363"/>
                  <a:gd name="T2" fmla="*/ 39 w 64"/>
                  <a:gd name="T3" fmla="*/ 308 h 363"/>
                  <a:gd name="T4" fmla="*/ 41 w 64"/>
                  <a:gd name="T5" fmla="*/ 324 h 363"/>
                  <a:gd name="T6" fmla="*/ 43 w 64"/>
                  <a:gd name="T7" fmla="*/ 337 h 363"/>
                  <a:gd name="T8" fmla="*/ 46 w 64"/>
                  <a:gd name="T9" fmla="*/ 347 h 363"/>
                  <a:gd name="T10" fmla="*/ 54 w 64"/>
                  <a:gd name="T11" fmla="*/ 356 h 363"/>
                  <a:gd name="T12" fmla="*/ 63 w 64"/>
                  <a:gd name="T13" fmla="*/ 362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0"/>
                    </a:moveTo>
                    <a:lnTo>
                      <a:pt x="39" y="308"/>
                    </a:lnTo>
                    <a:lnTo>
                      <a:pt x="41" y="324"/>
                    </a:lnTo>
                    <a:lnTo>
                      <a:pt x="43" y="337"/>
                    </a:lnTo>
                    <a:lnTo>
                      <a:pt x="46" y="347"/>
                    </a:lnTo>
                    <a:lnTo>
                      <a:pt x="54" y="356"/>
                    </a:lnTo>
                    <a:lnTo>
                      <a:pt x="63" y="362"/>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72" name="Freeform 138">
                <a:extLst>
                  <a:ext uri="{FF2B5EF4-FFF2-40B4-BE49-F238E27FC236}">
                    <a16:creationId xmlns:a16="http://schemas.microsoft.com/office/drawing/2014/main" id="{9BCF5ABC-68D6-C649-C831-D7BBB2C803B2}"/>
                  </a:ext>
                </a:extLst>
              </p:cNvPr>
              <p:cNvSpPr>
                <a:spLocks/>
              </p:cNvSpPr>
              <p:nvPr/>
            </p:nvSpPr>
            <p:spPr bwMode="auto">
              <a:xfrm>
                <a:off x="3898" y="3247"/>
                <a:ext cx="169" cy="709"/>
              </a:xfrm>
              <a:custGeom>
                <a:avLst/>
                <a:gdLst>
                  <a:gd name="T0" fmla="*/ 0 w 169"/>
                  <a:gd name="T1" fmla="*/ 708 h 709"/>
                  <a:gd name="T2" fmla="*/ 14 w 169"/>
                  <a:gd name="T3" fmla="*/ 704 h 709"/>
                  <a:gd name="T4" fmla="*/ 24 w 169"/>
                  <a:gd name="T5" fmla="*/ 692 h 709"/>
                  <a:gd name="T6" fmla="*/ 27 w 169"/>
                  <a:gd name="T7" fmla="*/ 675 h 709"/>
                  <a:gd name="T8" fmla="*/ 31 w 169"/>
                  <a:gd name="T9" fmla="*/ 649 h 709"/>
                  <a:gd name="T10" fmla="*/ 84 w 169"/>
                  <a:gd name="T11" fmla="*/ 57 h 709"/>
                  <a:gd name="T12" fmla="*/ 89 w 169"/>
                  <a:gd name="T13" fmla="*/ 24 h 709"/>
                  <a:gd name="T14" fmla="*/ 94 w 169"/>
                  <a:gd name="T15" fmla="*/ 14 h 709"/>
                  <a:gd name="T16" fmla="*/ 104 w 169"/>
                  <a:gd name="T17" fmla="*/ 4 h 709"/>
                  <a:gd name="T18" fmla="*/ 113 w 169"/>
                  <a:gd name="T19" fmla="*/ 0 h 709"/>
                  <a:gd name="T20" fmla="*/ 125 w 169"/>
                  <a:gd name="T21" fmla="*/ 8 h 709"/>
                  <a:gd name="T22" fmla="*/ 132 w 169"/>
                  <a:gd name="T23" fmla="*/ 24 h 709"/>
                  <a:gd name="T24" fmla="*/ 168 w 169"/>
                  <a:gd name="T25" fmla="*/ 328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709">
                    <a:moveTo>
                      <a:pt x="0" y="708"/>
                    </a:moveTo>
                    <a:lnTo>
                      <a:pt x="14" y="704"/>
                    </a:lnTo>
                    <a:lnTo>
                      <a:pt x="24" y="692"/>
                    </a:lnTo>
                    <a:lnTo>
                      <a:pt x="27" y="675"/>
                    </a:lnTo>
                    <a:lnTo>
                      <a:pt x="31" y="649"/>
                    </a:lnTo>
                    <a:lnTo>
                      <a:pt x="84" y="57"/>
                    </a:lnTo>
                    <a:lnTo>
                      <a:pt x="89" y="24"/>
                    </a:lnTo>
                    <a:lnTo>
                      <a:pt x="94" y="14"/>
                    </a:lnTo>
                    <a:lnTo>
                      <a:pt x="104" y="4"/>
                    </a:lnTo>
                    <a:lnTo>
                      <a:pt x="113" y="0"/>
                    </a:lnTo>
                    <a:lnTo>
                      <a:pt x="125" y="8"/>
                    </a:lnTo>
                    <a:lnTo>
                      <a:pt x="132" y="24"/>
                    </a:lnTo>
                    <a:lnTo>
                      <a:pt x="168" y="32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157" name="Freeform 139">
              <a:extLst>
                <a:ext uri="{FF2B5EF4-FFF2-40B4-BE49-F238E27FC236}">
                  <a16:creationId xmlns:a16="http://schemas.microsoft.com/office/drawing/2014/main" id="{8C3865F6-ADF3-C6C9-91C0-C99C4691C3DB}"/>
                </a:ext>
              </a:extLst>
            </p:cNvPr>
            <p:cNvSpPr>
              <a:spLocks/>
            </p:cNvSpPr>
            <p:nvPr/>
          </p:nvSpPr>
          <p:spPr bwMode="auto">
            <a:xfrm>
              <a:off x="7197691" y="5008464"/>
              <a:ext cx="110067" cy="430213"/>
            </a:xfrm>
            <a:custGeom>
              <a:avLst/>
              <a:gdLst>
                <a:gd name="T0" fmla="*/ 0 w 64"/>
                <a:gd name="T1" fmla="*/ 0 h 271"/>
                <a:gd name="T2" fmla="*/ 40 w 64"/>
                <a:gd name="T3" fmla="*/ 231 h 271"/>
                <a:gd name="T4" fmla="*/ 42 w 64"/>
                <a:gd name="T5" fmla="*/ 243 h 271"/>
                <a:gd name="T6" fmla="*/ 44 w 64"/>
                <a:gd name="T7" fmla="*/ 253 h 271"/>
                <a:gd name="T8" fmla="*/ 55 w 64"/>
                <a:gd name="T9" fmla="*/ 267 h 271"/>
                <a:gd name="T10" fmla="*/ 64 w 64"/>
                <a:gd name="T11" fmla="*/ 271 h 271"/>
              </a:gdLst>
              <a:ahLst/>
              <a:cxnLst>
                <a:cxn ang="0">
                  <a:pos x="T0" y="T1"/>
                </a:cxn>
                <a:cxn ang="0">
                  <a:pos x="T2" y="T3"/>
                </a:cxn>
                <a:cxn ang="0">
                  <a:pos x="T4" y="T5"/>
                </a:cxn>
                <a:cxn ang="0">
                  <a:pos x="T6" y="T7"/>
                </a:cxn>
                <a:cxn ang="0">
                  <a:pos x="T8" y="T9"/>
                </a:cxn>
                <a:cxn ang="0">
                  <a:pos x="T10" y="T11"/>
                </a:cxn>
              </a:cxnLst>
              <a:rect l="0" t="0" r="r" b="b"/>
              <a:pathLst>
                <a:path w="64" h="271">
                  <a:moveTo>
                    <a:pt x="0" y="0"/>
                  </a:moveTo>
                  <a:lnTo>
                    <a:pt x="40" y="231"/>
                  </a:lnTo>
                  <a:lnTo>
                    <a:pt x="42" y="243"/>
                  </a:lnTo>
                  <a:lnTo>
                    <a:pt x="44" y="253"/>
                  </a:lnTo>
                  <a:lnTo>
                    <a:pt x="55" y="267"/>
                  </a:lnTo>
                  <a:lnTo>
                    <a:pt x="64" y="27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58" name="Freeform 140">
              <a:extLst>
                <a:ext uri="{FF2B5EF4-FFF2-40B4-BE49-F238E27FC236}">
                  <a16:creationId xmlns:a16="http://schemas.microsoft.com/office/drawing/2014/main" id="{5E11D7A2-529A-BE4B-FF49-0DCD15AA70E6}"/>
                </a:ext>
              </a:extLst>
            </p:cNvPr>
            <p:cNvSpPr>
              <a:spLocks/>
            </p:cNvSpPr>
            <p:nvPr/>
          </p:nvSpPr>
          <p:spPr bwMode="auto">
            <a:xfrm>
              <a:off x="7311198" y="4592539"/>
              <a:ext cx="304403" cy="841375"/>
            </a:xfrm>
            <a:custGeom>
              <a:avLst/>
              <a:gdLst>
                <a:gd name="T0" fmla="*/ 0 w 177"/>
                <a:gd name="T1" fmla="*/ 530 h 530"/>
                <a:gd name="T2" fmla="*/ 14 w 177"/>
                <a:gd name="T3" fmla="*/ 527 h 530"/>
                <a:gd name="T4" fmla="*/ 24 w 177"/>
                <a:gd name="T5" fmla="*/ 518 h 530"/>
                <a:gd name="T6" fmla="*/ 27 w 177"/>
                <a:gd name="T7" fmla="*/ 506 h 530"/>
                <a:gd name="T8" fmla="*/ 31 w 177"/>
                <a:gd name="T9" fmla="*/ 486 h 530"/>
                <a:gd name="T10" fmla="*/ 84 w 177"/>
                <a:gd name="T11" fmla="*/ 43 h 530"/>
                <a:gd name="T12" fmla="*/ 89 w 177"/>
                <a:gd name="T13" fmla="*/ 18 h 530"/>
                <a:gd name="T14" fmla="*/ 94 w 177"/>
                <a:gd name="T15" fmla="*/ 10 h 530"/>
                <a:gd name="T16" fmla="*/ 104 w 177"/>
                <a:gd name="T17" fmla="*/ 3 h 530"/>
                <a:gd name="T18" fmla="*/ 113 w 177"/>
                <a:gd name="T19" fmla="*/ 0 h 530"/>
                <a:gd name="T20" fmla="*/ 125 w 177"/>
                <a:gd name="T21" fmla="*/ 6 h 530"/>
                <a:gd name="T22" fmla="*/ 132 w 177"/>
                <a:gd name="T23" fmla="*/ 18 h 530"/>
                <a:gd name="T24" fmla="*/ 177 w 177"/>
                <a:gd name="T25" fmla="*/ 280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530">
                  <a:moveTo>
                    <a:pt x="0" y="530"/>
                  </a:moveTo>
                  <a:lnTo>
                    <a:pt x="14" y="527"/>
                  </a:lnTo>
                  <a:lnTo>
                    <a:pt x="24" y="518"/>
                  </a:lnTo>
                  <a:lnTo>
                    <a:pt x="27" y="506"/>
                  </a:lnTo>
                  <a:lnTo>
                    <a:pt x="31" y="486"/>
                  </a:lnTo>
                  <a:lnTo>
                    <a:pt x="84" y="43"/>
                  </a:lnTo>
                  <a:lnTo>
                    <a:pt x="89" y="18"/>
                  </a:lnTo>
                  <a:lnTo>
                    <a:pt x="94" y="10"/>
                  </a:lnTo>
                  <a:lnTo>
                    <a:pt x="104" y="3"/>
                  </a:lnTo>
                  <a:lnTo>
                    <a:pt x="113" y="0"/>
                  </a:lnTo>
                  <a:lnTo>
                    <a:pt x="125" y="6"/>
                  </a:lnTo>
                  <a:lnTo>
                    <a:pt x="132" y="18"/>
                  </a:lnTo>
                  <a:lnTo>
                    <a:pt x="177" y="2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59" name="Group 141">
              <a:extLst>
                <a:ext uri="{FF2B5EF4-FFF2-40B4-BE49-F238E27FC236}">
                  <a16:creationId xmlns:a16="http://schemas.microsoft.com/office/drawing/2014/main" id="{AD11406C-8B7D-2A70-1890-43C081FF5BC7}"/>
                </a:ext>
              </a:extLst>
            </p:cNvPr>
            <p:cNvGrpSpPr>
              <a:grpSpLocks/>
            </p:cNvGrpSpPr>
            <p:nvPr/>
          </p:nvGrpSpPr>
          <p:grpSpPr bwMode="auto">
            <a:xfrm>
              <a:off x="7625919" y="4595714"/>
              <a:ext cx="818621" cy="847725"/>
              <a:chOff x="4317" y="3250"/>
              <a:chExt cx="476" cy="713"/>
            </a:xfrm>
          </p:grpSpPr>
          <p:grpSp>
            <p:nvGrpSpPr>
              <p:cNvPr id="165" name="Group 142">
                <a:extLst>
                  <a:ext uri="{FF2B5EF4-FFF2-40B4-BE49-F238E27FC236}">
                    <a16:creationId xmlns:a16="http://schemas.microsoft.com/office/drawing/2014/main" id="{BF38B55E-1E97-06DA-C3A2-6A16089DF6D7}"/>
                  </a:ext>
                </a:extLst>
              </p:cNvPr>
              <p:cNvGrpSpPr>
                <a:grpSpLocks/>
              </p:cNvGrpSpPr>
              <p:nvPr/>
            </p:nvGrpSpPr>
            <p:grpSpPr bwMode="auto">
              <a:xfrm>
                <a:off x="4317" y="3250"/>
                <a:ext cx="238" cy="713"/>
                <a:chOff x="4317" y="3250"/>
                <a:chExt cx="238" cy="713"/>
              </a:xfrm>
            </p:grpSpPr>
            <p:sp>
              <p:nvSpPr>
                <p:cNvPr id="169" name="Freeform 143">
                  <a:extLst>
                    <a:ext uri="{FF2B5EF4-FFF2-40B4-BE49-F238E27FC236}">
                      <a16:creationId xmlns:a16="http://schemas.microsoft.com/office/drawing/2014/main" id="{41154B6D-733D-E99A-5623-32A5495DC012}"/>
                    </a:ext>
                  </a:extLst>
                </p:cNvPr>
                <p:cNvSpPr>
                  <a:spLocks/>
                </p:cNvSpPr>
                <p:nvPr/>
              </p:nvSpPr>
              <p:spPr bwMode="auto">
                <a:xfrm>
                  <a:off x="4317" y="3250"/>
                  <a:ext cx="65" cy="363"/>
                </a:xfrm>
                <a:custGeom>
                  <a:avLst/>
                  <a:gdLst>
                    <a:gd name="T0" fmla="*/ 0 w 65"/>
                    <a:gd name="T1" fmla="*/ 362 h 363"/>
                    <a:gd name="T2" fmla="*/ 40 w 65"/>
                    <a:gd name="T3" fmla="*/ 54 h 363"/>
                    <a:gd name="T4" fmla="*/ 42 w 65"/>
                    <a:gd name="T5" fmla="*/ 38 h 363"/>
                    <a:gd name="T6" fmla="*/ 44 w 65"/>
                    <a:gd name="T7" fmla="*/ 25 h 363"/>
                    <a:gd name="T8" fmla="*/ 47 w 65"/>
                    <a:gd name="T9" fmla="*/ 15 h 363"/>
                    <a:gd name="T10" fmla="*/ 55 w 65"/>
                    <a:gd name="T11" fmla="*/ 6 h 363"/>
                    <a:gd name="T12" fmla="*/ 64 w 6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5" h="363">
                      <a:moveTo>
                        <a:pt x="0" y="362"/>
                      </a:moveTo>
                      <a:lnTo>
                        <a:pt x="40" y="54"/>
                      </a:lnTo>
                      <a:lnTo>
                        <a:pt x="42" y="38"/>
                      </a:lnTo>
                      <a:lnTo>
                        <a:pt x="44" y="25"/>
                      </a:lnTo>
                      <a:lnTo>
                        <a:pt x="47" y="15"/>
                      </a:lnTo>
                      <a:lnTo>
                        <a:pt x="55" y="6"/>
                      </a:lnTo>
                      <a:lnTo>
                        <a:pt x="6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70" name="Freeform 144">
                  <a:extLst>
                    <a:ext uri="{FF2B5EF4-FFF2-40B4-BE49-F238E27FC236}">
                      <a16:creationId xmlns:a16="http://schemas.microsoft.com/office/drawing/2014/main" id="{0247ACE2-6C86-291E-E6A3-CA541D6A3A06}"/>
                    </a:ext>
                  </a:extLst>
                </p:cNvPr>
                <p:cNvSpPr>
                  <a:spLocks/>
                </p:cNvSpPr>
                <p:nvPr/>
              </p:nvSpPr>
              <p:spPr bwMode="auto">
                <a:xfrm>
                  <a:off x="4383" y="3254"/>
                  <a:ext cx="172" cy="709"/>
                </a:xfrm>
                <a:custGeom>
                  <a:avLst/>
                  <a:gdLst>
                    <a:gd name="T0" fmla="*/ 0 w 172"/>
                    <a:gd name="T1" fmla="*/ 0 h 709"/>
                    <a:gd name="T2" fmla="*/ 14 w 172"/>
                    <a:gd name="T3" fmla="*/ 4 h 709"/>
                    <a:gd name="T4" fmla="*/ 24 w 172"/>
                    <a:gd name="T5" fmla="*/ 16 h 709"/>
                    <a:gd name="T6" fmla="*/ 28 w 172"/>
                    <a:gd name="T7" fmla="*/ 33 h 709"/>
                    <a:gd name="T8" fmla="*/ 31 w 172"/>
                    <a:gd name="T9" fmla="*/ 59 h 709"/>
                    <a:gd name="T10" fmla="*/ 86 w 172"/>
                    <a:gd name="T11" fmla="*/ 651 h 709"/>
                    <a:gd name="T12" fmla="*/ 91 w 172"/>
                    <a:gd name="T13" fmla="*/ 684 h 709"/>
                    <a:gd name="T14" fmla="*/ 95 w 172"/>
                    <a:gd name="T15" fmla="*/ 694 h 709"/>
                    <a:gd name="T16" fmla="*/ 106 w 172"/>
                    <a:gd name="T17" fmla="*/ 704 h 709"/>
                    <a:gd name="T18" fmla="*/ 115 w 172"/>
                    <a:gd name="T19" fmla="*/ 708 h 709"/>
                    <a:gd name="T20" fmla="*/ 127 w 172"/>
                    <a:gd name="T21" fmla="*/ 700 h 709"/>
                    <a:gd name="T22" fmla="*/ 135 w 172"/>
                    <a:gd name="T23" fmla="*/ 684 h 709"/>
                    <a:gd name="T24" fmla="*/ 171 w 172"/>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2" h="709">
                      <a:moveTo>
                        <a:pt x="0" y="0"/>
                      </a:moveTo>
                      <a:lnTo>
                        <a:pt x="14" y="4"/>
                      </a:lnTo>
                      <a:lnTo>
                        <a:pt x="24" y="16"/>
                      </a:lnTo>
                      <a:lnTo>
                        <a:pt x="28" y="33"/>
                      </a:lnTo>
                      <a:lnTo>
                        <a:pt x="31" y="59"/>
                      </a:lnTo>
                      <a:lnTo>
                        <a:pt x="86" y="651"/>
                      </a:lnTo>
                      <a:lnTo>
                        <a:pt x="91" y="684"/>
                      </a:lnTo>
                      <a:lnTo>
                        <a:pt x="95" y="694"/>
                      </a:lnTo>
                      <a:lnTo>
                        <a:pt x="106" y="704"/>
                      </a:lnTo>
                      <a:lnTo>
                        <a:pt x="115" y="708"/>
                      </a:lnTo>
                      <a:lnTo>
                        <a:pt x="127" y="700"/>
                      </a:lnTo>
                      <a:lnTo>
                        <a:pt x="135" y="684"/>
                      </a:lnTo>
                      <a:lnTo>
                        <a:pt x="171"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166" name="Group 145">
                <a:extLst>
                  <a:ext uri="{FF2B5EF4-FFF2-40B4-BE49-F238E27FC236}">
                    <a16:creationId xmlns:a16="http://schemas.microsoft.com/office/drawing/2014/main" id="{56EB94C0-210E-3ED5-D26B-8414782C8B6E}"/>
                  </a:ext>
                </a:extLst>
              </p:cNvPr>
              <p:cNvGrpSpPr>
                <a:grpSpLocks/>
              </p:cNvGrpSpPr>
              <p:nvPr/>
            </p:nvGrpSpPr>
            <p:grpSpPr bwMode="auto">
              <a:xfrm>
                <a:off x="4557" y="3250"/>
                <a:ext cx="236" cy="713"/>
                <a:chOff x="4557" y="3250"/>
                <a:chExt cx="236" cy="713"/>
              </a:xfrm>
            </p:grpSpPr>
            <p:sp>
              <p:nvSpPr>
                <p:cNvPr id="167" name="Freeform 146">
                  <a:extLst>
                    <a:ext uri="{FF2B5EF4-FFF2-40B4-BE49-F238E27FC236}">
                      <a16:creationId xmlns:a16="http://schemas.microsoft.com/office/drawing/2014/main" id="{BC25B668-24CC-4E6A-0D89-C906BA4D9EE6}"/>
                    </a:ext>
                  </a:extLst>
                </p:cNvPr>
                <p:cNvSpPr>
                  <a:spLocks/>
                </p:cNvSpPr>
                <p:nvPr/>
              </p:nvSpPr>
              <p:spPr bwMode="auto">
                <a:xfrm>
                  <a:off x="4557" y="3250"/>
                  <a:ext cx="64" cy="363"/>
                </a:xfrm>
                <a:custGeom>
                  <a:avLst/>
                  <a:gdLst>
                    <a:gd name="T0" fmla="*/ 0 w 64"/>
                    <a:gd name="T1" fmla="*/ 362 h 363"/>
                    <a:gd name="T2" fmla="*/ 39 w 64"/>
                    <a:gd name="T3" fmla="*/ 54 h 363"/>
                    <a:gd name="T4" fmla="*/ 41 w 64"/>
                    <a:gd name="T5" fmla="*/ 38 h 363"/>
                    <a:gd name="T6" fmla="*/ 43 w 64"/>
                    <a:gd name="T7" fmla="*/ 25 h 363"/>
                    <a:gd name="T8" fmla="*/ 46 w 64"/>
                    <a:gd name="T9" fmla="*/ 15 h 363"/>
                    <a:gd name="T10" fmla="*/ 54 w 64"/>
                    <a:gd name="T11" fmla="*/ 6 h 363"/>
                    <a:gd name="T12" fmla="*/ 63 w 6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4" h="363">
                      <a:moveTo>
                        <a:pt x="0" y="362"/>
                      </a:moveTo>
                      <a:lnTo>
                        <a:pt x="39" y="54"/>
                      </a:lnTo>
                      <a:lnTo>
                        <a:pt x="41" y="38"/>
                      </a:lnTo>
                      <a:lnTo>
                        <a:pt x="43" y="25"/>
                      </a:lnTo>
                      <a:lnTo>
                        <a:pt x="46" y="15"/>
                      </a:lnTo>
                      <a:lnTo>
                        <a:pt x="54" y="6"/>
                      </a:lnTo>
                      <a:lnTo>
                        <a:pt x="6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68" name="Freeform 147">
                  <a:extLst>
                    <a:ext uri="{FF2B5EF4-FFF2-40B4-BE49-F238E27FC236}">
                      <a16:creationId xmlns:a16="http://schemas.microsoft.com/office/drawing/2014/main" id="{72ED5806-BCB0-8DFB-A986-AEEC7709EA84}"/>
                    </a:ext>
                  </a:extLst>
                </p:cNvPr>
                <p:cNvSpPr>
                  <a:spLocks/>
                </p:cNvSpPr>
                <p:nvPr/>
              </p:nvSpPr>
              <p:spPr bwMode="auto">
                <a:xfrm>
                  <a:off x="4622" y="3254"/>
                  <a:ext cx="171" cy="709"/>
                </a:xfrm>
                <a:custGeom>
                  <a:avLst/>
                  <a:gdLst>
                    <a:gd name="T0" fmla="*/ 0 w 171"/>
                    <a:gd name="T1" fmla="*/ 0 h 709"/>
                    <a:gd name="T2" fmla="*/ 14 w 171"/>
                    <a:gd name="T3" fmla="*/ 4 h 709"/>
                    <a:gd name="T4" fmla="*/ 24 w 171"/>
                    <a:gd name="T5" fmla="*/ 16 h 709"/>
                    <a:gd name="T6" fmla="*/ 28 w 171"/>
                    <a:gd name="T7" fmla="*/ 33 h 709"/>
                    <a:gd name="T8" fmla="*/ 31 w 171"/>
                    <a:gd name="T9" fmla="*/ 59 h 709"/>
                    <a:gd name="T10" fmla="*/ 85 w 171"/>
                    <a:gd name="T11" fmla="*/ 651 h 709"/>
                    <a:gd name="T12" fmla="*/ 90 w 171"/>
                    <a:gd name="T13" fmla="*/ 684 h 709"/>
                    <a:gd name="T14" fmla="*/ 95 w 171"/>
                    <a:gd name="T15" fmla="*/ 694 h 709"/>
                    <a:gd name="T16" fmla="*/ 106 w 171"/>
                    <a:gd name="T17" fmla="*/ 704 h 709"/>
                    <a:gd name="T18" fmla="*/ 115 w 171"/>
                    <a:gd name="T19" fmla="*/ 708 h 709"/>
                    <a:gd name="T20" fmla="*/ 126 w 171"/>
                    <a:gd name="T21" fmla="*/ 700 h 709"/>
                    <a:gd name="T22" fmla="*/ 134 w 171"/>
                    <a:gd name="T23" fmla="*/ 684 h 709"/>
                    <a:gd name="T24" fmla="*/ 170 w 171"/>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1" h="709">
                      <a:moveTo>
                        <a:pt x="0" y="0"/>
                      </a:moveTo>
                      <a:lnTo>
                        <a:pt x="14" y="4"/>
                      </a:lnTo>
                      <a:lnTo>
                        <a:pt x="24" y="16"/>
                      </a:lnTo>
                      <a:lnTo>
                        <a:pt x="28" y="33"/>
                      </a:lnTo>
                      <a:lnTo>
                        <a:pt x="31" y="59"/>
                      </a:lnTo>
                      <a:lnTo>
                        <a:pt x="85" y="651"/>
                      </a:lnTo>
                      <a:lnTo>
                        <a:pt x="90" y="684"/>
                      </a:lnTo>
                      <a:lnTo>
                        <a:pt x="95" y="694"/>
                      </a:lnTo>
                      <a:lnTo>
                        <a:pt x="106" y="704"/>
                      </a:lnTo>
                      <a:lnTo>
                        <a:pt x="115" y="708"/>
                      </a:lnTo>
                      <a:lnTo>
                        <a:pt x="126" y="700"/>
                      </a:lnTo>
                      <a:lnTo>
                        <a:pt x="134" y="684"/>
                      </a:lnTo>
                      <a:lnTo>
                        <a:pt x="170"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160" name="Freeform 148">
              <a:extLst>
                <a:ext uri="{FF2B5EF4-FFF2-40B4-BE49-F238E27FC236}">
                  <a16:creationId xmlns:a16="http://schemas.microsoft.com/office/drawing/2014/main" id="{768AE933-1B44-59E6-8F7E-29E901B4D0A7}"/>
                </a:ext>
              </a:extLst>
            </p:cNvPr>
            <p:cNvSpPr>
              <a:spLocks/>
            </p:cNvSpPr>
            <p:nvPr/>
          </p:nvSpPr>
          <p:spPr bwMode="auto">
            <a:xfrm>
              <a:off x="8435941" y="4589363"/>
              <a:ext cx="122105" cy="490538"/>
            </a:xfrm>
            <a:custGeom>
              <a:avLst/>
              <a:gdLst>
                <a:gd name="T0" fmla="*/ 0 w 71"/>
                <a:gd name="T1" fmla="*/ 309 h 309"/>
                <a:gd name="T2" fmla="*/ 46 w 71"/>
                <a:gd name="T3" fmla="*/ 40 h 309"/>
                <a:gd name="T4" fmla="*/ 48 w 71"/>
                <a:gd name="T5" fmla="*/ 28 h 309"/>
                <a:gd name="T6" fmla="*/ 50 w 71"/>
                <a:gd name="T7" fmla="*/ 19 h 309"/>
                <a:gd name="T8" fmla="*/ 54 w 71"/>
                <a:gd name="T9" fmla="*/ 11 h 309"/>
                <a:gd name="T10" fmla="*/ 61 w 71"/>
                <a:gd name="T11" fmla="*/ 4 h 309"/>
                <a:gd name="T12" fmla="*/ 71 w 71"/>
                <a:gd name="T13" fmla="*/ 0 h 309"/>
              </a:gdLst>
              <a:ahLst/>
              <a:cxnLst>
                <a:cxn ang="0">
                  <a:pos x="T0" y="T1"/>
                </a:cxn>
                <a:cxn ang="0">
                  <a:pos x="T2" y="T3"/>
                </a:cxn>
                <a:cxn ang="0">
                  <a:pos x="T4" y="T5"/>
                </a:cxn>
                <a:cxn ang="0">
                  <a:pos x="T6" y="T7"/>
                </a:cxn>
                <a:cxn ang="0">
                  <a:pos x="T8" y="T9"/>
                </a:cxn>
                <a:cxn ang="0">
                  <a:pos x="T10" y="T11"/>
                </a:cxn>
                <a:cxn ang="0">
                  <a:pos x="T12" y="T13"/>
                </a:cxn>
              </a:cxnLst>
              <a:rect l="0" t="0" r="r" b="b"/>
              <a:pathLst>
                <a:path w="71" h="309">
                  <a:moveTo>
                    <a:pt x="0" y="309"/>
                  </a:moveTo>
                  <a:lnTo>
                    <a:pt x="46" y="40"/>
                  </a:lnTo>
                  <a:lnTo>
                    <a:pt x="48" y="28"/>
                  </a:lnTo>
                  <a:lnTo>
                    <a:pt x="50" y="19"/>
                  </a:lnTo>
                  <a:lnTo>
                    <a:pt x="54" y="11"/>
                  </a:lnTo>
                  <a:lnTo>
                    <a:pt x="61" y="4"/>
                  </a:lnTo>
                  <a:lnTo>
                    <a:pt x="7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61" name="Freeform 149">
              <a:extLst>
                <a:ext uri="{FF2B5EF4-FFF2-40B4-BE49-F238E27FC236}">
                  <a16:creationId xmlns:a16="http://schemas.microsoft.com/office/drawing/2014/main" id="{4975E189-26D8-5A23-FB6F-B35DAD430D53}"/>
                </a:ext>
              </a:extLst>
            </p:cNvPr>
            <p:cNvSpPr>
              <a:spLocks/>
            </p:cNvSpPr>
            <p:nvPr/>
          </p:nvSpPr>
          <p:spPr bwMode="auto">
            <a:xfrm>
              <a:off x="8561486" y="4594127"/>
              <a:ext cx="292365" cy="841375"/>
            </a:xfrm>
            <a:custGeom>
              <a:avLst/>
              <a:gdLst>
                <a:gd name="T0" fmla="*/ 0 w 170"/>
                <a:gd name="T1" fmla="*/ 0 h 530"/>
                <a:gd name="T2" fmla="*/ 14 w 170"/>
                <a:gd name="T3" fmla="*/ 3 h 530"/>
                <a:gd name="T4" fmla="*/ 24 w 170"/>
                <a:gd name="T5" fmla="*/ 12 h 530"/>
                <a:gd name="T6" fmla="*/ 27 w 170"/>
                <a:gd name="T7" fmla="*/ 25 h 530"/>
                <a:gd name="T8" fmla="*/ 30 w 170"/>
                <a:gd name="T9" fmla="*/ 44 h 530"/>
                <a:gd name="T10" fmla="*/ 84 w 170"/>
                <a:gd name="T11" fmla="*/ 488 h 530"/>
                <a:gd name="T12" fmla="*/ 89 w 170"/>
                <a:gd name="T13" fmla="*/ 512 h 530"/>
                <a:gd name="T14" fmla="*/ 93 w 170"/>
                <a:gd name="T15" fmla="*/ 520 h 530"/>
                <a:gd name="T16" fmla="*/ 104 w 170"/>
                <a:gd name="T17" fmla="*/ 527 h 530"/>
                <a:gd name="T18" fmla="*/ 113 w 170"/>
                <a:gd name="T19" fmla="*/ 530 h 530"/>
                <a:gd name="T20" fmla="*/ 124 w 170"/>
                <a:gd name="T21" fmla="*/ 524 h 530"/>
                <a:gd name="T22" fmla="*/ 132 w 170"/>
                <a:gd name="T23" fmla="*/ 512 h 530"/>
                <a:gd name="T24" fmla="*/ 170 w 170"/>
                <a:gd name="T25" fmla="*/ 267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530">
                  <a:moveTo>
                    <a:pt x="0" y="0"/>
                  </a:moveTo>
                  <a:lnTo>
                    <a:pt x="14" y="3"/>
                  </a:lnTo>
                  <a:lnTo>
                    <a:pt x="24" y="12"/>
                  </a:lnTo>
                  <a:lnTo>
                    <a:pt x="27" y="25"/>
                  </a:lnTo>
                  <a:lnTo>
                    <a:pt x="30" y="44"/>
                  </a:lnTo>
                  <a:lnTo>
                    <a:pt x="84" y="488"/>
                  </a:lnTo>
                  <a:lnTo>
                    <a:pt x="89" y="512"/>
                  </a:lnTo>
                  <a:lnTo>
                    <a:pt x="93" y="520"/>
                  </a:lnTo>
                  <a:lnTo>
                    <a:pt x="104" y="527"/>
                  </a:lnTo>
                  <a:lnTo>
                    <a:pt x="113" y="530"/>
                  </a:lnTo>
                  <a:lnTo>
                    <a:pt x="124" y="524"/>
                  </a:lnTo>
                  <a:lnTo>
                    <a:pt x="132" y="512"/>
                  </a:lnTo>
                  <a:lnTo>
                    <a:pt x="170" y="267"/>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62" name="Group 150">
              <a:extLst>
                <a:ext uri="{FF2B5EF4-FFF2-40B4-BE49-F238E27FC236}">
                  <a16:creationId xmlns:a16="http://schemas.microsoft.com/office/drawing/2014/main" id="{DE68C632-3648-2FAE-2F40-C7652628C2FD}"/>
                </a:ext>
              </a:extLst>
            </p:cNvPr>
            <p:cNvGrpSpPr>
              <a:grpSpLocks/>
            </p:cNvGrpSpPr>
            <p:nvPr/>
          </p:nvGrpSpPr>
          <p:grpSpPr bwMode="auto">
            <a:xfrm>
              <a:off x="8853851" y="4589364"/>
              <a:ext cx="409310" cy="847725"/>
              <a:chOff x="5031" y="3244"/>
              <a:chExt cx="238" cy="713"/>
            </a:xfrm>
          </p:grpSpPr>
          <p:sp>
            <p:nvSpPr>
              <p:cNvPr id="163" name="Freeform 151">
                <a:extLst>
                  <a:ext uri="{FF2B5EF4-FFF2-40B4-BE49-F238E27FC236}">
                    <a16:creationId xmlns:a16="http://schemas.microsoft.com/office/drawing/2014/main" id="{3F549ECB-785C-3B95-6939-A0DBCB645F80}"/>
                  </a:ext>
                </a:extLst>
              </p:cNvPr>
              <p:cNvSpPr>
                <a:spLocks/>
              </p:cNvSpPr>
              <p:nvPr/>
            </p:nvSpPr>
            <p:spPr bwMode="auto">
              <a:xfrm>
                <a:off x="5031" y="3244"/>
                <a:ext cx="69" cy="363"/>
              </a:xfrm>
              <a:custGeom>
                <a:avLst/>
                <a:gdLst>
                  <a:gd name="T0" fmla="*/ 0 w 69"/>
                  <a:gd name="T1" fmla="*/ 362 h 363"/>
                  <a:gd name="T2" fmla="*/ 42 w 69"/>
                  <a:gd name="T3" fmla="*/ 54 h 363"/>
                  <a:gd name="T4" fmla="*/ 45 w 69"/>
                  <a:gd name="T5" fmla="*/ 38 h 363"/>
                  <a:gd name="T6" fmla="*/ 47 w 69"/>
                  <a:gd name="T7" fmla="*/ 25 h 363"/>
                  <a:gd name="T8" fmla="*/ 50 w 69"/>
                  <a:gd name="T9" fmla="*/ 15 h 363"/>
                  <a:gd name="T10" fmla="*/ 58 w 69"/>
                  <a:gd name="T11" fmla="*/ 6 h 363"/>
                  <a:gd name="T12" fmla="*/ 68 w 69"/>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69" h="363">
                    <a:moveTo>
                      <a:pt x="0" y="362"/>
                    </a:moveTo>
                    <a:lnTo>
                      <a:pt x="42" y="54"/>
                    </a:lnTo>
                    <a:lnTo>
                      <a:pt x="45" y="38"/>
                    </a:lnTo>
                    <a:lnTo>
                      <a:pt x="47" y="25"/>
                    </a:lnTo>
                    <a:lnTo>
                      <a:pt x="50" y="15"/>
                    </a:lnTo>
                    <a:lnTo>
                      <a:pt x="58" y="6"/>
                    </a:lnTo>
                    <a:lnTo>
                      <a:pt x="68"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64" name="Freeform 152">
                <a:extLst>
                  <a:ext uri="{FF2B5EF4-FFF2-40B4-BE49-F238E27FC236}">
                    <a16:creationId xmlns:a16="http://schemas.microsoft.com/office/drawing/2014/main" id="{3A687762-6124-8729-31C6-001C7FB84B87}"/>
                  </a:ext>
                </a:extLst>
              </p:cNvPr>
              <p:cNvSpPr>
                <a:spLocks/>
              </p:cNvSpPr>
              <p:nvPr/>
            </p:nvSpPr>
            <p:spPr bwMode="auto">
              <a:xfrm>
                <a:off x="5101" y="3248"/>
                <a:ext cx="168" cy="709"/>
              </a:xfrm>
              <a:custGeom>
                <a:avLst/>
                <a:gdLst>
                  <a:gd name="T0" fmla="*/ 0 w 168"/>
                  <a:gd name="T1" fmla="*/ 0 h 709"/>
                  <a:gd name="T2" fmla="*/ 14 w 168"/>
                  <a:gd name="T3" fmla="*/ 4 h 709"/>
                  <a:gd name="T4" fmla="*/ 24 w 168"/>
                  <a:gd name="T5" fmla="*/ 16 h 709"/>
                  <a:gd name="T6" fmla="*/ 27 w 168"/>
                  <a:gd name="T7" fmla="*/ 33 h 709"/>
                  <a:gd name="T8" fmla="*/ 30 w 168"/>
                  <a:gd name="T9" fmla="*/ 59 h 709"/>
                  <a:gd name="T10" fmla="*/ 84 w 168"/>
                  <a:gd name="T11" fmla="*/ 651 h 709"/>
                  <a:gd name="T12" fmla="*/ 89 w 168"/>
                  <a:gd name="T13" fmla="*/ 684 h 709"/>
                  <a:gd name="T14" fmla="*/ 93 w 168"/>
                  <a:gd name="T15" fmla="*/ 694 h 709"/>
                  <a:gd name="T16" fmla="*/ 104 w 168"/>
                  <a:gd name="T17" fmla="*/ 704 h 709"/>
                  <a:gd name="T18" fmla="*/ 113 w 168"/>
                  <a:gd name="T19" fmla="*/ 708 h 709"/>
                  <a:gd name="T20" fmla="*/ 124 w 168"/>
                  <a:gd name="T21" fmla="*/ 700 h 709"/>
                  <a:gd name="T22" fmla="*/ 132 w 168"/>
                  <a:gd name="T23" fmla="*/ 684 h 709"/>
                  <a:gd name="T24" fmla="*/ 167 w 168"/>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709">
                    <a:moveTo>
                      <a:pt x="0" y="0"/>
                    </a:moveTo>
                    <a:lnTo>
                      <a:pt x="14" y="4"/>
                    </a:lnTo>
                    <a:lnTo>
                      <a:pt x="24" y="16"/>
                    </a:lnTo>
                    <a:lnTo>
                      <a:pt x="27" y="33"/>
                    </a:lnTo>
                    <a:lnTo>
                      <a:pt x="30" y="59"/>
                    </a:lnTo>
                    <a:lnTo>
                      <a:pt x="84" y="651"/>
                    </a:lnTo>
                    <a:lnTo>
                      <a:pt x="89" y="684"/>
                    </a:lnTo>
                    <a:lnTo>
                      <a:pt x="93" y="694"/>
                    </a:lnTo>
                    <a:lnTo>
                      <a:pt x="104" y="704"/>
                    </a:lnTo>
                    <a:lnTo>
                      <a:pt x="113" y="708"/>
                    </a:lnTo>
                    <a:lnTo>
                      <a:pt x="124" y="700"/>
                    </a:lnTo>
                    <a:lnTo>
                      <a:pt x="132" y="684"/>
                    </a:lnTo>
                    <a:lnTo>
                      <a:pt x="167"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186" name="Rectangle 154">
            <a:extLst>
              <a:ext uri="{FF2B5EF4-FFF2-40B4-BE49-F238E27FC236}">
                <a16:creationId xmlns:a16="http://schemas.microsoft.com/office/drawing/2014/main" id="{52F6A7BB-C228-EDDF-8D5D-6D9FF66E5E19}"/>
              </a:ext>
            </a:extLst>
          </p:cNvPr>
          <p:cNvSpPr>
            <a:spLocks noChangeArrowheads="1"/>
          </p:cNvSpPr>
          <p:nvPr/>
        </p:nvSpPr>
        <p:spPr bwMode="auto">
          <a:xfrm>
            <a:off x="6563078" y="2974387"/>
            <a:ext cx="501741"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en-US" altLang="zh-CN" sz="1400" b="1" dirty="0">
                <a:solidFill>
                  <a:srgbClr val="0000FF"/>
                </a:solidFill>
                <a:latin typeface="微软雅黑" pitchFamily="34" charset="-122"/>
                <a:ea typeface="微软雅黑" pitchFamily="34" charset="-122"/>
              </a:rPr>
              <a:t>AM</a:t>
            </a:r>
            <a:endParaRPr kumimoji="1" lang="zh-CN" altLang="en-US" sz="1400" b="1" dirty="0">
              <a:solidFill>
                <a:srgbClr val="0000FF"/>
              </a:solidFill>
              <a:latin typeface="微软雅黑" pitchFamily="34" charset="-122"/>
              <a:ea typeface="微软雅黑" pitchFamily="34" charset="-122"/>
            </a:endParaRPr>
          </a:p>
        </p:txBody>
      </p:sp>
      <p:sp>
        <p:nvSpPr>
          <p:cNvPr id="187" name="Rectangle 155">
            <a:extLst>
              <a:ext uri="{FF2B5EF4-FFF2-40B4-BE49-F238E27FC236}">
                <a16:creationId xmlns:a16="http://schemas.microsoft.com/office/drawing/2014/main" id="{CFC9BBC4-2563-0E89-2B54-A57FC5D8A860}"/>
              </a:ext>
            </a:extLst>
          </p:cNvPr>
          <p:cNvSpPr>
            <a:spLocks noChangeArrowheads="1"/>
          </p:cNvSpPr>
          <p:nvPr/>
        </p:nvSpPr>
        <p:spPr bwMode="auto">
          <a:xfrm>
            <a:off x="6596741" y="3630578"/>
            <a:ext cx="468078"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en-US" altLang="zh-CN" sz="1400" b="1" dirty="0">
                <a:solidFill>
                  <a:srgbClr val="0000FF"/>
                </a:solidFill>
                <a:latin typeface="微软雅黑" pitchFamily="34" charset="-122"/>
                <a:ea typeface="微软雅黑" pitchFamily="34" charset="-122"/>
              </a:rPr>
              <a:t>FM</a:t>
            </a:r>
            <a:endParaRPr kumimoji="1" lang="zh-CN" altLang="en-US" sz="1400" b="1" dirty="0">
              <a:solidFill>
                <a:srgbClr val="0000FF"/>
              </a:solidFill>
              <a:latin typeface="微软雅黑" pitchFamily="34" charset="-122"/>
              <a:ea typeface="微软雅黑" pitchFamily="34" charset="-122"/>
            </a:endParaRPr>
          </a:p>
        </p:txBody>
      </p:sp>
      <p:sp>
        <p:nvSpPr>
          <p:cNvPr id="188" name="Rectangle 156">
            <a:extLst>
              <a:ext uri="{FF2B5EF4-FFF2-40B4-BE49-F238E27FC236}">
                <a16:creationId xmlns:a16="http://schemas.microsoft.com/office/drawing/2014/main" id="{0EBBE38A-86D1-0937-658E-042ACDC70910}"/>
              </a:ext>
            </a:extLst>
          </p:cNvPr>
          <p:cNvSpPr>
            <a:spLocks noChangeArrowheads="1"/>
          </p:cNvSpPr>
          <p:nvPr/>
        </p:nvSpPr>
        <p:spPr bwMode="auto">
          <a:xfrm>
            <a:off x="6579108" y="4328954"/>
            <a:ext cx="485711"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en-US" altLang="zh-CN" sz="1400" b="1" dirty="0">
                <a:solidFill>
                  <a:srgbClr val="0000FF"/>
                </a:solidFill>
                <a:latin typeface="微软雅黑" pitchFamily="34" charset="-122"/>
                <a:ea typeface="微软雅黑" pitchFamily="34" charset="-122"/>
              </a:rPr>
              <a:t>PM</a:t>
            </a:r>
            <a:endParaRPr kumimoji="1" lang="zh-CN" altLang="en-US" sz="1400" b="1" dirty="0">
              <a:solidFill>
                <a:srgbClr val="0000FF"/>
              </a:solidFill>
              <a:latin typeface="微软雅黑" pitchFamily="34" charset="-122"/>
              <a:ea typeface="微软雅黑" pitchFamily="34" charset="-122"/>
            </a:endParaRPr>
          </a:p>
        </p:txBody>
      </p:sp>
      <p:grpSp>
        <p:nvGrpSpPr>
          <p:cNvPr id="189" name="组合 188">
            <a:extLst>
              <a:ext uri="{FF2B5EF4-FFF2-40B4-BE49-F238E27FC236}">
                <a16:creationId xmlns:a16="http://schemas.microsoft.com/office/drawing/2014/main" id="{43E485DB-08C5-AB34-4F31-0FF0A66EFEC7}"/>
              </a:ext>
            </a:extLst>
          </p:cNvPr>
          <p:cNvGrpSpPr/>
          <p:nvPr/>
        </p:nvGrpSpPr>
        <p:grpSpPr>
          <a:xfrm>
            <a:off x="7203753" y="2845977"/>
            <a:ext cx="4370861" cy="503394"/>
            <a:chOff x="1856018" y="2290663"/>
            <a:chExt cx="7401984" cy="852489"/>
          </a:xfrm>
        </p:grpSpPr>
        <p:sp>
          <p:nvSpPr>
            <p:cNvPr id="190" name="Freeform 14">
              <a:extLst>
                <a:ext uri="{FF2B5EF4-FFF2-40B4-BE49-F238E27FC236}">
                  <a16:creationId xmlns:a16="http://schemas.microsoft.com/office/drawing/2014/main" id="{1D5F4119-DDCC-62D6-9BDC-D4CEF56EB2CF}"/>
                </a:ext>
              </a:extLst>
            </p:cNvPr>
            <p:cNvSpPr>
              <a:spLocks/>
            </p:cNvSpPr>
            <p:nvPr/>
          </p:nvSpPr>
          <p:spPr bwMode="auto">
            <a:xfrm>
              <a:off x="1856018" y="2735163"/>
              <a:ext cx="816901" cy="1588"/>
            </a:xfrm>
            <a:custGeom>
              <a:avLst/>
              <a:gdLst>
                <a:gd name="T0" fmla="*/ 0 w 475"/>
                <a:gd name="T1" fmla="*/ 0 h 1"/>
                <a:gd name="T2" fmla="*/ 475 w 475"/>
                <a:gd name="T3" fmla="*/ 1 h 1"/>
              </a:gdLst>
              <a:ahLst/>
              <a:cxnLst>
                <a:cxn ang="0">
                  <a:pos x="T0" y="T1"/>
                </a:cxn>
                <a:cxn ang="0">
                  <a:pos x="T2" y="T3"/>
                </a:cxn>
              </a:cxnLst>
              <a:rect l="0" t="0" r="r" b="b"/>
              <a:pathLst>
                <a:path w="475" h="1">
                  <a:moveTo>
                    <a:pt x="0" y="0"/>
                  </a:moveTo>
                  <a:lnTo>
                    <a:pt x="475" y="1"/>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191" name="Freeform 15">
              <a:extLst>
                <a:ext uri="{FF2B5EF4-FFF2-40B4-BE49-F238E27FC236}">
                  <a16:creationId xmlns:a16="http://schemas.microsoft.com/office/drawing/2014/main" id="{BCED23AB-69D0-DAF2-167C-BC9EB02748A4}"/>
                </a:ext>
              </a:extLst>
            </p:cNvPr>
            <p:cNvSpPr>
              <a:spLocks/>
            </p:cNvSpPr>
            <p:nvPr/>
          </p:nvSpPr>
          <p:spPr bwMode="auto">
            <a:xfrm>
              <a:off x="3493260" y="2731989"/>
              <a:ext cx="1666478" cy="4763"/>
            </a:xfrm>
            <a:custGeom>
              <a:avLst/>
              <a:gdLst>
                <a:gd name="T0" fmla="*/ 0 w 969"/>
                <a:gd name="T1" fmla="*/ 3 h 3"/>
                <a:gd name="T2" fmla="*/ 969 w 969"/>
                <a:gd name="T3" fmla="*/ 0 h 3"/>
              </a:gdLst>
              <a:ahLst/>
              <a:cxnLst>
                <a:cxn ang="0">
                  <a:pos x="T0" y="T1"/>
                </a:cxn>
                <a:cxn ang="0">
                  <a:pos x="T2" y="T3"/>
                </a:cxn>
              </a:cxnLst>
              <a:rect l="0" t="0" r="r" b="b"/>
              <a:pathLst>
                <a:path w="969" h="3">
                  <a:moveTo>
                    <a:pt x="0" y="3"/>
                  </a:moveTo>
                  <a:lnTo>
                    <a:pt x="969" y="0"/>
                  </a:lnTo>
                </a:path>
              </a:pathLst>
            </a:custGeom>
            <a:noFill/>
            <a:ln w="28575" cmpd="sng">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192" name="Line 16">
              <a:extLst>
                <a:ext uri="{FF2B5EF4-FFF2-40B4-BE49-F238E27FC236}">
                  <a16:creationId xmlns:a16="http://schemas.microsoft.com/office/drawing/2014/main" id="{DBB536F3-53A3-35E5-B591-3F9EF8CD3F2D}"/>
                </a:ext>
              </a:extLst>
            </p:cNvPr>
            <p:cNvSpPr>
              <a:spLocks noChangeShapeType="1"/>
            </p:cNvSpPr>
            <p:nvPr/>
          </p:nvSpPr>
          <p:spPr bwMode="auto">
            <a:xfrm>
              <a:off x="7629359" y="2735163"/>
              <a:ext cx="162864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sp>
          <p:nvSpPr>
            <p:cNvPr id="193" name="Freeform 17">
              <a:extLst>
                <a:ext uri="{FF2B5EF4-FFF2-40B4-BE49-F238E27FC236}">
                  <a16:creationId xmlns:a16="http://schemas.microsoft.com/office/drawing/2014/main" id="{6FFC3427-D954-1469-FCAC-89AC2896E632}"/>
                </a:ext>
              </a:extLst>
            </p:cNvPr>
            <p:cNvSpPr>
              <a:spLocks/>
            </p:cNvSpPr>
            <p:nvPr/>
          </p:nvSpPr>
          <p:spPr bwMode="auto">
            <a:xfrm>
              <a:off x="6803858" y="2297013"/>
              <a:ext cx="56754"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94" name="Freeform 18">
              <a:extLst>
                <a:ext uri="{FF2B5EF4-FFF2-40B4-BE49-F238E27FC236}">
                  <a16:creationId xmlns:a16="http://schemas.microsoft.com/office/drawing/2014/main" id="{49CABF2F-1569-8957-0269-CC61B73AC399}"/>
                </a:ext>
              </a:extLst>
            </p:cNvPr>
            <p:cNvSpPr>
              <a:spLocks/>
            </p:cNvSpPr>
            <p:nvPr/>
          </p:nvSpPr>
          <p:spPr bwMode="auto">
            <a:xfrm>
              <a:off x="6860612" y="2301777"/>
              <a:ext cx="151342" cy="841375"/>
            </a:xfrm>
            <a:custGeom>
              <a:avLst/>
              <a:gdLst>
                <a:gd name="T0" fmla="*/ 0 w 88"/>
                <a:gd name="T1" fmla="*/ 0 h 530"/>
                <a:gd name="T2" fmla="*/ 7 w 88"/>
                <a:gd name="T3" fmla="*/ 3 h 530"/>
                <a:gd name="T4" fmla="*/ 12 w 88"/>
                <a:gd name="T5" fmla="*/ 12 h 530"/>
                <a:gd name="T6" fmla="*/ 14 w 88"/>
                <a:gd name="T7" fmla="*/ 25 h 530"/>
                <a:gd name="T8" fmla="*/ 15 w 88"/>
                <a:gd name="T9" fmla="*/ 44 h 530"/>
                <a:gd name="T10" fmla="*/ 43 w 88"/>
                <a:gd name="T11" fmla="*/ 488 h 530"/>
                <a:gd name="T12" fmla="*/ 45 w 88"/>
                <a:gd name="T13" fmla="*/ 512 h 530"/>
                <a:gd name="T14" fmla="*/ 47 w 88"/>
                <a:gd name="T15" fmla="*/ 520 h 530"/>
                <a:gd name="T16" fmla="*/ 53 w 88"/>
                <a:gd name="T17" fmla="*/ 527 h 530"/>
                <a:gd name="T18" fmla="*/ 57 w 88"/>
                <a:gd name="T19" fmla="*/ 530 h 530"/>
                <a:gd name="T20" fmla="*/ 63 w 88"/>
                <a:gd name="T21" fmla="*/ 524 h 530"/>
                <a:gd name="T22" fmla="*/ 67 w 88"/>
                <a:gd name="T23" fmla="*/ 512 h 530"/>
                <a:gd name="T24" fmla="*/ 88 w 88"/>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8" y="27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95" name="Freeform 19">
              <a:extLst>
                <a:ext uri="{FF2B5EF4-FFF2-40B4-BE49-F238E27FC236}">
                  <a16:creationId xmlns:a16="http://schemas.microsoft.com/office/drawing/2014/main" id="{5617F5C2-5D2D-19CD-9A64-68812DE14509}"/>
                </a:ext>
              </a:extLst>
            </p:cNvPr>
            <p:cNvSpPr>
              <a:spLocks/>
            </p:cNvSpPr>
            <p:nvPr/>
          </p:nvSpPr>
          <p:spPr bwMode="auto">
            <a:xfrm>
              <a:off x="700851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96" name="Freeform 20">
              <a:extLst>
                <a:ext uri="{FF2B5EF4-FFF2-40B4-BE49-F238E27FC236}">
                  <a16:creationId xmlns:a16="http://schemas.microsoft.com/office/drawing/2014/main" id="{CF45D37B-478D-18D5-C9B0-931766F24FF5}"/>
                </a:ext>
              </a:extLst>
            </p:cNvPr>
            <p:cNvSpPr>
              <a:spLocks/>
            </p:cNvSpPr>
            <p:nvPr/>
          </p:nvSpPr>
          <p:spPr bwMode="auto">
            <a:xfrm>
              <a:off x="7063547" y="2301777"/>
              <a:ext cx="144463" cy="841375"/>
            </a:xfrm>
            <a:custGeom>
              <a:avLst/>
              <a:gdLst>
                <a:gd name="T0" fmla="*/ 0 w 84"/>
                <a:gd name="T1" fmla="*/ 0 h 530"/>
                <a:gd name="T2" fmla="*/ 7 w 84"/>
                <a:gd name="T3" fmla="*/ 3 h 530"/>
                <a:gd name="T4" fmla="*/ 12 w 84"/>
                <a:gd name="T5" fmla="*/ 12 h 530"/>
                <a:gd name="T6" fmla="*/ 14 w 84"/>
                <a:gd name="T7" fmla="*/ 25 h 530"/>
                <a:gd name="T8" fmla="*/ 15 w 84"/>
                <a:gd name="T9" fmla="*/ 44 h 530"/>
                <a:gd name="T10" fmla="*/ 42 w 84"/>
                <a:gd name="T11" fmla="*/ 488 h 530"/>
                <a:gd name="T12" fmla="*/ 45 w 84"/>
                <a:gd name="T13" fmla="*/ 512 h 530"/>
                <a:gd name="T14" fmla="*/ 47 w 84"/>
                <a:gd name="T15" fmla="*/ 520 h 530"/>
                <a:gd name="T16" fmla="*/ 52 w 84"/>
                <a:gd name="T17" fmla="*/ 527 h 530"/>
                <a:gd name="T18" fmla="*/ 57 w 84"/>
                <a:gd name="T19" fmla="*/ 530 h 530"/>
                <a:gd name="T20" fmla="*/ 62 w 84"/>
                <a:gd name="T21" fmla="*/ 524 h 530"/>
                <a:gd name="T22" fmla="*/ 66 w 84"/>
                <a:gd name="T23" fmla="*/ 512 h 530"/>
                <a:gd name="T24" fmla="*/ 84 w 84"/>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4" y="27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197" name="Group 21">
              <a:extLst>
                <a:ext uri="{FF2B5EF4-FFF2-40B4-BE49-F238E27FC236}">
                  <a16:creationId xmlns:a16="http://schemas.microsoft.com/office/drawing/2014/main" id="{FF96685A-652C-B877-4740-594F1550A3E7}"/>
                </a:ext>
              </a:extLst>
            </p:cNvPr>
            <p:cNvGrpSpPr>
              <a:grpSpLocks/>
            </p:cNvGrpSpPr>
            <p:nvPr/>
          </p:nvGrpSpPr>
          <p:grpSpPr bwMode="auto">
            <a:xfrm>
              <a:off x="7209730" y="2290663"/>
              <a:ext cx="202935" cy="847725"/>
              <a:chOff x="4075" y="1309"/>
              <a:chExt cx="118" cy="713"/>
            </a:xfrm>
          </p:grpSpPr>
          <p:sp>
            <p:nvSpPr>
              <p:cNvPr id="232" name="Freeform 22">
                <a:extLst>
                  <a:ext uri="{FF2B5EF4-FFF2-40B4-BE49-F238E27FC236}">
                    <a16:creationId xmlns:a16="http://schemas.microsoft.com/office/drawing/2014/main" id="{F8022358-6A3D-C9E9-AF46-CD6ADA384E40}"/>
                  </a:ext>
                </a:extLst>
              </p:cNvPr>
              <p:cNvSpPr>
                <a:spLocks/>
              </p:cNvSpPr>
              <p:nvPr/>
            </p:nvSpPr>
            <p:spPr bwMode="auto">
              <a:xfrm>
                <a:off x="4075"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33" name="Freeform 23">
                <a:extLst>
                  <a:ext uri="{FF2B5EF4-FFF2-40B4-BE49-F238E27FC236}">
                    <a16:creationId xmlns:a16="http://schemas.microsoft.com/office/drawing/2014/main" id="{2406A047-204A-6520-1AA0-98C06001DD4E}"/>
                  </a:ext>
                </a:extLst>
              </p:cNvPr>
              <p:cNvSpPr>
                <a:spLocks/>
              </p:cNvSpPr>
              <p:nvPr/>
            </p:nvSpPr>
            <p:spPr bwMode="auto">
              <a:xfrm>
                <a:off x="4109"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198" name="Freeform 24">
              <a:extLst>
                <a:ext uri="{FF2B5EF4-FFF2-40B4-BE49-F238E27FC236}">
                  <a16:creationId xmlns:a16="http://schemas.microsoft.com/office/drawing/2014/main" id="{A817F772-5C58-8529-DDAE-B17663CDBF28}"/>
                </a:ext>
              </a:extLst>
            </p:cNvPr>
            <p:cNvSpPr>
              <a:spLocks/>
            </p:cNvSpPr>
            <p:nvPr/>
          </p:nvSpPr>
          <p:spPr bwMode="auto">
            <a:xfrm>
              <a:off x="7412665" y="2290663"/>
              <a:ext cx="60193"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199" name="Freeform 25">
              <a:extLst>
                <a:ext uri="{FF2B5EF4-FFF2-40B4-BE49-F238E27FC236}">
                  <a16:creationId xmlns:a16="http://schemas.microsoft.com/office/drawing/2014/main" id="{DA671C78-D0D7-6952-2DE5-402E747B6A40}"/>
                </a:ext>
              </a:extLst>
            </p:cNvPr>
            <p:cNvSpPr>
              <a:spLocks/>
            </p:cNvSpPr>
            <p:nvPr/>
          </p:nvSpPr>
          <p:spPr bwMode="auto">
            <a:xfrm>
              <a:off x="7472858" y="2295427"/>
              <a:ext cx="142742" cy="841375"/>
            </a:xfrm>
            <a:custGeom>
              <a:avLst/>
              <a:gdLst>
                <a:gd name="T0" fmla="*/ 0 w 83"/>
                <a:gd name="T1" fmla="*/ 0 h 530"/>
                <a:gd name="T2" fmla="*/ 7 w 83"/>
                <a:gd name="T3" fmla="*/ 3 h 530"/>
                <a:gd name="T4" fmla="*/ 12 w 83"/>
                <a:gd name="T5" fmla="*/ 12 h 530"/>
                <a:gd name="T6" fmla="*/ 13 w 83"/>
                <a:gd name="T7" fmla="*/ 25 h 530"/>
                <a:gd name="T8" fmla="*/ 15 w 83"/>
                <a:gd name="T9" fmla="*/ 44 h 530"/>
                <a:gd name="T10" fmla="*/ 42 w 83"/>
                <a:gd name="T11" fmla="*/ 488 h 530"/>
                <a:gd name="T12" fmla="*/ 44 w 83"/>
                <a:gd name="T13" fmla="*/ 512 h 530"/>
                <a:gd name="T14" fmla="*/ 46 w 83"/>
                <a:gd name="T15" fmla="*/ 520 h 530"/>
                <a:gd name="T16" fmla="*/ 52 w 83"/>
                <a:gd name="T17" fmla="*/ 527 h 530"/>
                <a:gd name="T18" fmla="*/ 56 w 83"/>
                <a:gd name="T19" fmla="*/ 530 h 530"/>
                <a:gd name="T20" fmla="*/ 62 w 83"/>
                <a:gd name="T21" fmla="*/ 524 h 530"/>
                <a:gd name="T22" fmla="*/ 65 w 83"/>
                <a:gd name="T23" fmla="*/ 512 h 530"/>
                <a:gd name="T24" fmla="*/ 83 w 83"/>
                <a:gd name="T25" fmla="*/ 27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83" y="27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0" name="Freeform 26">
              <a:extLst>
                <a:ext uri="{FF2B5EF4-FFF2-40B4-BE49-F238E27FC236}">
                  <a16:creationId xmlns:a16="http://schemas.microsoft.com/office/drawing/2014/main" id="{72EAD5BC-D7BC-3F4D-307D-EDC702661C3F}"/>
                </a:ext>
              </a:extLst>
            </p:cNvPr>
            <p:cNvSpPr>
              <a:spLocks/>
            </p:cNvSpPr>
            <p:nvPr/>
          </p:nvSpPr>
          <p:spPr bwMode="auto">
            <a:xfrm>
              <a:off x="5986958"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1" name="Freeform 27">
              <a:extLst>
                <a:ext uri="{FF2B5EF4-FFF2-40B4-BE49-F238E27FC236}">
                  <a16:creationId xmlns:a16="http://schemas.microsoft.com/office/drawing/2014/main" id="{F536B2E9-F30D-EC1A-D053-8C13EB1AE8A1}"/>
                </a:ext>
              </a:extLst>
            </p:cNvPr>
            <p:cNvSpPr>
              <a:spLocks/>
            </p:cNvSpPr>
            <p:nvPr/>
          </p:nvSpPr>
          <p:spPr bwMode="auto">
            <a:xfrm>
              <a:off x="6043711"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68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68"/>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2" name="Freeform 28">
              <a:extLst>
                <a:ext uri="{FF2B5EF4-FFF2-40B4-BE49-F238E27FC236}">
                  <a16:creationId xmlns:a16="http://schemas.microsoft.com/office/drawing/2014/main" id="{2135EDAE-2057-D017-7A75-721A81F72C31}"/>
                </a:ext>
              </a:extLst>
            </p:cNvPr>
            <p:cNvSpPr>
              <a:spLocks/>
            </p:cNvSpPr>
            <p:nvPr/>
          </p:nvSpPr>
          <p:spPr bwMode="auto">
            <a:xfrm>
              <a:off x="6191613"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3" name="Freeform 29">
              <a:extLst>
                <a:ext uri="{FF2B5EF4-FFF2-40B4-BE49-F238E27FC236}">
                  <a16:creationId xmlns:a16="http://schemas.microsoft.com/office/drawing/2014/main" id="{8B035328-72CC-BC90-FC1D-40AC2AD02967}"/>
                </a:ext>
              </a:extLst>
            </p:cNvPr>
            <p:cNvSpPr>
              <a:spLocks/>
            </p:cNvSpPr>
            <p:nvPr/>
          </p:nvSpPr>
          <p:spPr bwMode="auto">
            <a:xfrm>
              <a:off x="6246646" y="2301777"/>
              <a:ext cx="146183" cy="841375"/>
            </a:xfrm>
            <a:custGeom>
              <a:avLst/>
              <a:gdLst>
                <a:gd name="T0" fmla="*/ 0 w 85"/>
                <a:gd name="T1" fmla="*/ 0 h 530"/>
                <a:gd name="T2" fmla="*/ 7 w 85"/>
                <a:gd name="T3" fmla="*/ 3 h 530"/>
                <a:gd name="T4" fmla="*/ 12 w 85"/>
                <a:gd name="T5" fmla="*/ 12 h 530"/>
                <a:gd name="T6" fmla="*/ 14 w 85"/>
                <a:gd name="T7" fmla="*/ 25 h 530"/>
                <a:gd name="T8" fmla="*/ 15 w 85"/>
                <a:gd name="T9" fmla="*/ 44 h 530"/>
                <a:gd name="T10" fmla="*/ 42 w 85"/>
                <a:gd name="T11" fmla="*/ 488 h 530"/>
                <a:gd name="T12" fmla="*/ 45 w 85"/>
                <a:gd name="T13" fmla="*/ 512 h 530"/>
                <a:gd name="T14" fmla="*/ 47 w 85"/>
                <a:gd name="T15" fmla="*/ 520 h 530"/>
                <a:gd name="T16" fmla="*/ 52 w 85"/>
                <a:gd name="T17" fmla="*/ 527 h 530"/>
                <a:gd name="T18" fmla="*/ 57 w 85"/>
                <a:gd name="T19" fmla="*/ 530 h 530"/>
                <a:gd name="T20" fmla="*/ 62 w 85"/>
                <a:gd name="T21" fmla="*/ 524 h 530"/>
                <a:gd name="T22" fmla="*/ 66 w 85"/>
                <a:gd name="T23" fmla="*/ 512 h 530"/>
                <a:gd name="T24" fmla="*/ 85 w 85"/>
                <a:gd name="T25" fmla="*/ 27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530">
                  <a:moveTo>
                    <a:pt x="0" y="0"/>
                  </a:moveTo>
                  <a:lnTo>
                    <a:pt x="7" y="3"/>
                  </a:lnTo>
                  <a:lnTo>
                    <a:pt x="12" y="12"/>
                  </a:lnTo>
                  <a:lnTo>
                    <a:pt x="14" y="25"/>
                  </a:lnTo>
                  <a:lnTo>
                    <a:pt x="15" y="44"/>
                  </a:lnTo>
                  <a:lnTo>
                    <a:pt x="42" y="488"/>
                  </a:lnTo>
                  <a:lnTo>
                    <a:pt x="45" y="512"/>
                  </a:lnTo>
                  <a:lnTo>
                    <a:pt x="47" y="520"/>
                  </a:lnTo>
                  <a:lnTo>
                    <a:pt x="52" y="527"/>
                  </a:lnTo>
                  <a:lnTo>
                    <a:pt x="57" y="530"/>
                  </a:lnTo>
                  <a:lnTo>
                    <a:pt x="62" y="524"/>
                  </a:lnTo>
                  <a:lnTo>
                    <a:pt x="66" y="512"/>
                  </a:lnTo>
                  <a:lnTo>
                    <a:pt x="85" y="27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04" name="Group 30">
              <a:extLst>
                <a:ext uri="{FF2B5EF4-FFF2-40B4-BE49-F238E27FC236}">
                  <a16:creationId xmlns:a16="http://schemas.microsoft.com/office/drawing/2014/main" id="{0B7A7E91-0742-B853-41BF-D95FA5614886}"/>
                </a:ext>
              </a:extLst>
            </p:cNvPr>
            <p:cNvGrpSpPr>
              <a:grpSpLocks/>
            </p:cNvGrpSpPr>
            <p:nvPr/>
          </p:nvGrpSpPr>
          <p:grpSpPr bwMode="auto">
            <a:xfrm>
              <a:off x="6392829" y="2290663"/>
              <a:ext cx="407590" cy="847725"/>
              <a:chOff x="3600" y="1309"/>
              <a:chExt cx="237" cy="713"/>
            </a:xfrm>
          </p:grpSpPr>
          <p:grpSp>
            <p:nvGrpSpPr>
              <p:cNvPr id="226" name="Group 31">
                <a:extLst>
                  <a:ext uri="{FF2B5EF4-FFF2-40B4-BE49-F238E27FC236}">
                    <a16:creationId xmlns:a16="http://schemas.microsoft.com/office/drawing/2014/main" id="{D89305D6-7580-C9BD-39A5-22B95B81AE12}"/>
                  </a:ext>
                </a:extLst>
              </p:cNvPr>
              <p:cNvGrpSpPr>
                <a:grpSpLocks/>
              </p:cNvGrpSpPr>
              <p:nvPr/>
            </p:nvGrpSpPr>
            <p:grpSpPr bwMode="auto">
              <a:xfrm>
                <a:off x="3600" y="1309"/>
                <a:ext cx="118" cy="713"/>
                <a:chOff x="3600" y="1309"/>
                <a:chExt cx="118" cy="713"/>
              </a:xfrm>
            </p:grpSpPr>
            <p:sp>
              <p:nvSpPr>
                <p:cNvPr id="230" name="Freeform 32">
                  <a:extLst>
                    <a:ext uri="{FF2B5EF4-FFF2-40B4-BE49-F238E27FC236}">
                      <a16:creationId xmlns:a16="http://schemas.microsoft.com/office/drawing/2014/main" id="{C72A66DB-FEB3-1987-7974-58F2DF9A0A76}"/>
                    </a:ext>
                  </a:extLst>
                </p:cNvPr>
                <p:cNvSpPr>
                  <a:spLocks/>
                </p:cNvSpPr>
                <p:nvPr/>
              </p:nvSpPr>
              <p:spPr bwMode="auto">
                <a:xfrm>
                  <a:off x="3600" y="1309"/>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31" name="Freeform 33">
                  <a:extLst>
                    <a:ext uri="{FF2B5EF4-FFF2-40B4-BE49-F238E27FC236}">
                      <a16:creationId xmlns:a16="http://schemas.microsoft.com/office/drawing/2014/main" id="{058F0017-523A-7CB9-68B9-EE9B5EB89A8A}"/>
                    </a:ext>
                  </a:extLst>
                </p:cNvPr>
                <p:cNvSpPr>
                  <a:spLocks/>
                </p:cNvSpPr>
                <p:nvPr/>
              </p:nvSpPr>
              <p:spPr bwMode="auto">
                <a:xfrm>
                  <a:off x="3634"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27" name="Group 34">
                <a:extLst>
                  <a:ext uri="{FF2B5EF4-FFF2-40B4-BE49-F238E27FC236}">
                    <a16:creationId xmlns:a16="http://schemas.microsoft.com/office/drawing/2014/main" id="{7183C33D-7597-6CC1-7B47-2A5143F13FFE}"/>
                  </a:ext>
                </a:extLst>
              </p:cNvPr>
              <p:cNvGrpSpPr>
                <a:grpSpLocks/>
              </p:cNvGrpSpPr>
              <p:nvPr/>
            </p:nvGrpSpPr>
            <p:grpSpPr bwMode="auto">
              <a:xfrm>
                <a:off x="3718" y="1309"/>
                <a:ext cx="119" cy="713"/>
                <a:chOff x="3718" y="1309"/>
                <a:chExt cx="119" cy="713"/>
              </a:xfrm>
            </p:grpSpPr>
            <p:sp>
              <p:nvSpPr>
                <p:cNvPr id="228" name="Freeform 35">
                  <a:extLst>
                    <a:ext uri="{FF2B5EF4-FFF2-40B4-BE49-F238E27FC236}">
                      <a16:creationId xmlns:a16="http://schemas.microsoft.com/office/drawing/2014/main" id="{D72A6E99-76E1-70C6-27AA-A6E3F6218DCF}"/>
                    </a:ext>
                  </a:extLst>
                </p:cNvPr>
                <p:cNvSpPr>
                  <a:spLocks/>
                </p:cNvSpPr>
                <p:nvPr/>
              </p:nvSpPr>
              <p:spPr bwMode="auto">
                <a:xfrm>
                  <a:off x="3718" y="1309"/>
                  <a:ext cx="35" cy="363"/>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29" name="Freeform 36">
                  <a:extLst>
                    <a:ext uri="{FF2B5EF4-FFF2-40B4-BE49-F238E27FC236}">
                      <a16:creationId xmlns:a16="http://schemas.microsoft.com/office/drawing/2014/main" id="{56E2E167-5506-FA00-1351-5978DCC80FE1}"/>
                    </a:ext>
                  </a:extLst>
                </p:cNvPr>
                <p:cNvSpPr>
                  <a:spLocks/>
                </p:cNvSpPr>
                <p:nvPr/>
              </p:nvSpPr>
              <p:spPr bwMode="auto">
                <a:xfrm>
                  <a:off x="3753"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sp>
          <p:nvSpPr>
            <p:cNvPr id="205" name="Freeform 37">
              <a:extLst>
                <a:ext uri="{FF2B5EF4-FFF2-40B4-BE49-F238E27FC236}">
                  <a16:creationId xmlns:a16="http://schemas.microsoft.com/office/drawing/2014/main" id="{F4B3222B-0A7E-0FEE-7C1F-C78A9BA39786}"/>
                </a:ext>
              </a:extLst>
            </p:cNvPr>
            <p:cNvSpPr>
              <a:spLocks/>
            </p:cNvSpPr>
            <p:nvPr/>
          </p:nvSpPr>
          <p:spPr bwMode="auto">
            <a:xfrm>
              <a:off x="5154579" y="2297013"/>
              <a:ext cx="56753" cy="431800"/>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6" name="Freeform 38">
              <a:extLst>
                <a:ext uri="{FF2B5EF4-FFF2-40B4-BE49-F238E27FC236}">
                  <a16:creationId xmlns:a16="http://schemas.microsoft.com/office/drawing/2014/main" id="{7D813A29-E4A5-392D-5745-AD900BF5CA12}"/>
                </a:ext>
              </a:extLst>
            </p:cNvPr>
            <p:cNvSpPr>
              <a:spLocks/>
            </p:cNvSpPr>
            <p:nvPr/>
          </p:nvSpPr>
          <p:spPr bwMode="auto">
            <a:xfrm>
              <a:off x="5211332" y="2301777"/>
              <a:ext cx="149622" cy="841375"/>
            </a:xfrm>
            <a:custGeom>
              <a:avLst/>
              <a:gdLst>
                <a:gd name="T0" fmla="*/ 0 w 87"/>
                <a:gd name="T1" fmla="*/ 0 h 530"/>
                <a:gd name="T2" fmla="*/ 7 w 87"/>
                <a:gd name="T3" fmla="*/ 3 h 530"/>
                <a:gd name="T4" fmla="*/ 12 w 87"/>
                <a:gd name="T5" fmla="*/ 12 h 530"/>
                <a:gd name="T6" fmla="*/ 14 w 87"/>
                <a:gd name="T7" fmla="*/ 25 h 530"/>
                <a:gd name="T8" fmla="*/ 15 w 87"/>
                <a:gd name="T9" fmla="*/ 44 h 530"/>
                <a:gd name="T10" fmla="*/ 43 w 87"/>
                <a:gd name="T11" fmla="*/ 488 h 530"/>
                <a:gd name="T12" fmla="*/ 45 w 87"/>
                <a:gd name="T13" fmla="*/ 512 h 530"/>
                <a:gd name="T14" fmla="*/ 47 w 87"/>
                <a:gd name="T15" fmla="*/ 520 h 530"/>
                <a:gd name="T16" fmla="*/ 53 w 87"/>
                <a:gd name="T17" fmla="*/ 527 h 530"/>
                <a:gd name="T18" fmla="*/ 57 w 87"/>
                <a:gd name="T19" fmla="*/ 530 h 530"/>
                <a:gd name="T20" fmla="*/ 63 w 87"/>
                <a:gd name="T21" fmla="*/ 524 h 530"/>
                <a:gd name="T22" fmla="*/ 67 w 87"/>
                <a:gd name="T23" fmla="*/ 512 h 530"/>
                <a:gd name="T24" fmla="*/ 87 w 87"/>
                <a:gd name="T25" fmla="*/ 265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7"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7" y="265"/>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7" name="Freeform 39">
              <a:extLst>
                <a:ext uri="{FF2B5EF4-FFF2-40B4-BE49-F238E27FC236}">
                  <a16:creationId xmlns:a16="http://schemas.microsoft.com/office/drawing/2014/main" id="{1A89568F-2377-B24C-DA8C-5B5E2322CFAB}"/>
                </a:ext>
              </a:extLst>
            </p:cNvPr>
            <p:cNvSpPr>
              <a:spLocks/>
            </p:cNvSpPr>
            <p:nvPr/>
          </p:nvSpPr>
          <p:spPr bwMode="auto">
            <a:xfrm>
              <a:off x="5359234" y="2297013"/>
              <a:ext cx="55033" cy="431800"/>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08" name="Freeform 40">
              <a:extLst>
                <a:ext uri="{FF2B5EF4-FFF2-40B4-BE49-F238E27FC236}">
                  <a16:creationId xmlns:a16="http://schemas.microsoft.com/office/drawing/2014/main" id="{5D8515E3-AB87-03A5-8919-19B107341CD2}"/>
                </a:ext>
              </a:extLst>
            </p:cNvPr>
            <p:cNvSpPr>
              <a:spLocks/>
            </p:cNvSpPr>
            <p:nvPr/>
          </p:nvSpPr>
          <p:spPr bwMode="auto">
            <a:xfrm>
              <a:off x="5414267" y="2301777"/>
              <a:ext cx="147902" cy="841375"/>
            </a:xfrm>
            <a:custGeom>
              <a:avLst/>
              <a:gdLst>
                <a:gd name="T0" fmla="*/ 0 w 86"/>
                <a:gd name="T1" fmla="*/ 0 h 530"/>
                <a:gd name="T2" fmla="*/ 7 w 86"/>
                <a:gd name="T3" fmla="*/ 3 h 530"/>
                <a:gd name="T4" fmla="*/ 12 w 86"/>
                <a:gd name="T5" fmla="*/ 12 h 530"/>
                <a:gd name="T6" fmla="*/ 14 w 86"/>
                <a:gd name="T7" fmla="*/ 25 h 530"/>
                <a:gd name="T8" fmla="*/ 15 w 86"/>
                <a:gd name="T9" fmla="*/ 44 h 530"/>
                <a:gd name="T10" fmla="*/ 43 w 86"/>
                <a:gd name="T11" fmla="*/ 488 h 530"/>
                <a:gd name="T12" fmla="*/ 45 w 86"/>
                <a:gd name="T13" fmla="*/ 512 h 530"/>
                <a:gd name="T14" fmla="*/ 47 w 86"/>
                <a:gd name="T15" fmla="*/ 520 h 530"/>
                <a:gd name="T16" fmla="*/ 53 w 86"/>
                <a:gd name="T17" fmla="*/ 527 h 530"/>
                <a:gd name="T18" fmla="*/ 57 w 86"/>
                <a:gd name="T19" fmla="*/ 530 h 530"/>
                <a:gd name="T20" fmla="*/ 63 w 86"/>
                <a:gd name="T21" fmla="*/ 524 h 530"/>
                <a:gd name="T22" fmla="*/ 67 w 86"/>
                <a:gd name="T23" fmla="*/ 512 h 530"/>
                <a:gd name="T24" fmla="*/ 86 w 86"/>
                <a:gd name="T25" fmla="*/ 27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530">
                  <a:moveTo>
                    <a:pt x="0" y="0"/>
                  </a:moveTo>
                  <a:lnTo>
                    <a:pt x="7" y="3"/>
                  </a:lnTo>
                  <a:lnTo>
                    <a:pt x="12" y="12"/>
                  </a:lnTo>
                  <a:lnTo>
                    <a:pt x="14" y="25"/>
                  </a:lnTo>
                  <a:lnTo>
                    <a:pt x="15" y="44"/>
                  </a:lnTo>
                  <a:lnTo>
                    <a:pt x="43" y="488"/>
                  </a:lnTo>
                  <a:lnTo>
                    <a:pt x="45" y="512"/>
                  </a:lnTo>
                  <a:lnTo>
                    <a:pt x="47" y="520"/>
                  </a:lnTo>
                  <a:lnTo>
                    <a:pt x="53" y="527"/>
                  </a:lnTo>
                  <a:lnTo>
                    <a:pt x="57" y="530"/>
                  </a:lnTo>
                  <a:lnTo>
                    <a:pt x="63" y="524"/>
                  </a:lnTo>
                  <a:lnTo>
                    <a:pt x="67" y="512"/>
                  </a:lnTo>
                  <a:lnTo>
                    <a:pt x="86" y="274"/>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09" name="Group 41">
              <a:extLst>
                <a:ext uri="{FF2B5EF4-FFF2-40B4-BE49-F238E27FC236}">
                  <a16:creationId xmlns:a16="http://schemas.microsoft.com/office/drawing/2014/main" id="{C7D40D4D-5785-9678-1264-2B04628DCA9E}"/>
                </a:ext>
              </a:extLst>
            </p:cNvPr>
            <p:cNvGrpSpPr>
              <a:grpSpLocks/>
            </p:cNvGrpSpPr>
            <p:nvPr/>
          </p:nvGrpSpPr>
          <p:grpSpPr bwMode="auto">
            <a:xfrm>
              <a:off x="5562169" y="2290663"/>
              <a:ext cx="201216" cy="847725"/>
              <a:chOff x="3117" y="1309"/>
              <a:chExt cx="117" cy="713"/>
            </a:xfrm>
          </p:grpSpPr>
          <p:sp>
            <p:nvSpPr>
              <p:cNvPr id="224" name="Freeform 42">
                <a:extLst>
                  <a:ext uri="{FF2B5EF4-FFF2-40B4-BE49-F238E27FC236}">
                    <a16:creationId xmlns:a16="http://schemas.microsoft.com/office/drawing/2014/main" id="{DC10EF6A-077B-2A5C-095D-B9CBBD97B736}"/>
                  </a:ext>
                </a:extLst>
              </p:cNvPr>
              <p:cNvSpPr>
                <a:spLocks/>
              </p:cNvSpPr>
              <p:nvPr/>
            </p:nvSpPr>
            <p:spPr bwMode="auto">
              <a:xfrm>
                <a:off x="3117" y="1309"/>
                <a:ext cx="33" cy="363"/>
              </a:xfrm>
              <a:custGeom>
                <a:avLst/>
                <a:gdLst>
                  <a:gd name="T0" fmla="*/ 0 w 33"/>
                  <a:gd name="T1" fmla="*/ 362 h 363"/>
                  <a:gd name="T2" fmla="*/ 20 w 33"/>
                  <a:gd name="T3" fmla="*/ 54 h 363"/>
                  <a:gd name="T4" fmla="*/ 21 w 33"/>
                  <a:gd name="T5" fmla="*/ 38 h 363"/>
                  <a:gd name="T6" fmla="*/ 22 w 33"/>
                  <a:gd name="T7" fmla="*/ 25 h 363"/>
                  <a:gd name="T8" fmla="*/ 24 w 33"/>
                  <a:gd name="T9" fmla="*/ 15 h 363"/>
                  <a:gd name="T10" fmla="*/ 27 w 33"/>
                  <a:gd name="T11" fmla="*/ 6 h 363"/>
                  <a:gd name="T12" fmla="*/ 32 w 33"/>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3" h="363">
                    <a:moveTo>
                      <a:pt x="0" y="362"/>
                    </a:moveTo>
                    <a:lnTo>
                      <a:pt x="20" y="54"/>
                    </a:lnTo>
                    <a:lnTo>
                      <a:pt x="21" y="38"/>
                    </a:lnTo>
                    <a:lnTo>
                      <a:pt x="22" y="25"/>
                    </a:lnTo>
                    <a:lnTo>
                      <a:pt x="24" y="15"/>
                    </a:lnTo>
                    <a:lnTo>
                      <a:pt x="27" y="6"/>
                    </a:lnTo>
                    <a:lnTo>
                      <a:pt x="32"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25" name="Freeform 43">
                <a:extLst>
                  <a:ext uri="{FF2B5EF4-FFF2-40B4-BE49-F238E27FC236}">
                    <a16:creationId xmlns:a16="http://schemas.microsoft.com/office/drawing/2014/main" id="{BA21E30D-E92E-F755-23B3-8D9269F95448}"/>
                  </a:ext>
                </a:extLst>
              </p:cNvPr>
              <p:cNvSpPr>
                <a:spLocks/>
              </p:cNvSpPr>
              <p:nvPr/>
            </p:nvSpPr>
            <p:spPr bwMode="auto">
              <a:xfrm>
                <a:off x="3150" y="1313"/>
                <a:ext cx="84" cy="709"/>
              </a:xfrm>
              <a:custGeom>
                <a:avLst/>
                <a:gdLst>
                  <a:gd name="T0" fmla="*/ 0 w 84"/>
                  <a:gd name="T1" fmla="*/ 0 h 709"/>
                  <a:gd name="T2" fmla="*/ 7 w 84"/>
                  <a:gd name="T3" fmla="*/ 4 h 709"/>
                  <a:gd name="T4" fmla="*/ 12 w 84"/>
                  <a:gd name="T5" fmla="*/ 16 h 709"/>
                  <a:gd name="T6" fmla="*/ 13 w 84"/>
                  <a:gd name="T7" fmla="*/ 33 h 709"/>
                  <a:gd name="T8" fmla="*/ 15 w 84"/>
                  <a:gd name="T9" fmla="*/ 59 h 709"/>
                  <a:gd name="T10" fmla="*/ 42 w 84"/>
                  <a:gd name="T11" fmla="*/ 651 h 709"/>
                  <a:gd name="T12" fmla="*/ 44 w 84"/>
                  <a:gd name="T13" fmla="*/ 684 h 709"/>
                  <a:gd name="T14" fmla="*/ 46 w 84"/>
                  <a:gd name="T15" fmla="*/ 694 h 709"/>
                  <a:gd name="T16" fmla="*/ 52 w 84"/>
                  <a:gd name="T17" fmla="*/ 704 h 709"/>
                  <a:gd name="T18" fmla="*/ 56 w 84"/>
                  <a:gd name="T19" fmla="*/ 708 h 709"/>
                  <a:gd name="T20" fmla="*/ 62 w 84"/>
                  <a:gd name="T21" fmla="*/ 700 h 709"/>
                  <a:gd name="T22" fmla="*/ 65 w 84"/>
                  <a:gd name="T23" fmla="*/ 684 h 709"/>
                  <a:gd name="T24" fmla="*/ 83 w 84"/>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4" h="709">
                    <a:moveTo>
                      <a:pt x="0" y="0"/>
                    </a:moveTo>
                    <a:lnTo>
                      <a:pt x="7" y="4"/>
                    </a:lnTo>
                    <a:lnTo>
                      <a:pt x="12" y="16"/>
                    </a:lnTo>
                    <a:lnTo>
                      <a:pt x="13" y="33"/>
                    </a:lnTo>
                    <a:lnTo>
                      <a:pt x="15" y="59"/>
                    </a:lnTo>
                    <a:lnTo>
                      <a:pt x="42" y="651"/>
                    </a:lnTo>
                    <a:lnTo>
                      <a:pt x="44" y="684"/>
                    </a:lnTo>
                    <a:lnTo>
                      <a:pt x="46" y="694"/>
                    </a:lnTo>
                    <a:lnTo>
                      <a:pt x="52" y="704"/>
                    </a:lnTo>
                    <a:lnTo>
                      <a:pt x="56" y="708"/>
                    </a:lnTo>
                    <a:lnTo>
                      <a:pt x="62" y="700"/>
                    </a:lnTo>
                    <a:lnTo>
                      <a:pt x="65" y="684"/>
                    </a:lnTo>
                    <a:lnTo>
                      <a:pt x="83"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10" name="Freeform 44">
              <a:extLst>
                <a:ext uri="{FF2B5EF4-FFF2-40B4-BE49-F238E27FC236}">
                  <a16:creationId xmlns:a16="http://schemas.microsoft.com/office/drawing/2014/main" id="{5E3F7151-7EBE-CC08-949D-4ED779AE4357}"/>
                </a:ext>
              </a:extLst>
            </p:cNvPr>
            <p:cNvSpPr>
              <a:spLocks/>
            </p:cNvSpPr>
            <p:nvPr/>
          </p:nvSpPr>
          <p:spPr bwMode="auto">
            <a:xfrm>
              <a:off x="5763385" y="2290663"/>
              <a:ext cx="60192" cy="431800"/>
            </a:xfrm>
            <a:custGeom>
              <a:avLst/>
              <a:gdLst>
                <a:gd name="T0" fmla="*/ 0 w 35"/>
                <a:gd name="T1" fmla="*/ 362 h 363"/>
                <a:gd name="T2" fmla="*/ 21 w 35"/>
                <a:gd name="T3" fmla="*/ 54 h 363"/>
                <a:gd name="T4" fmla="*/ 22 w 35"/>
                <a:gd name="T5" fmla="*/ 38 h 363"/>
                <a:gd name="T6" fmla="*/ 23 w 35"/>
                <a:gd name="T7" fmla="*/ 25 h 363"/>
                <a:gd name="T8" fmla="*/ 25 w 35"/>
                <a:gd name="T9" fmla="*/ 15 h 363"/>
                <a:gd name="T10" fmla="*/ 29 w 35"/>
                <a:gd name="T11" fmla="*/ 6 h 363"/>
                <a:gd name="T12" fmla="*/ 34 w 35"/>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5" h="363">
                  <a:moveTo>
                    <a:pt x="0" y="362"/>
                  </a:moveTo>
                  <a:lnTo>
                    <a:pt x="21" y="54"/>
                  </a:lnTo>
                  <a:lnTo>
                    <a:pt x="22" y="38"/>
                  </a:lnTo>
                  <a:lnTo>
                    <a:pt x="23" y="25"/>
                  </a:lnTo>
                  <a:lnTo>
                    <a:pt x="25" y="15"/>
                  </a:lnTo>
                  <a:lnTo>
                    <a:pt x="29" y="6"/>
                  </a:lnTo>
                  <a:lnTo>
                    <a:pt x="34"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11" name="Freeform 45">
              <a:extLst>
                <a:ext uri="{FF2B5EF4-FFF2-40B4-BE49-F238E27FC236}">
                  <a16:creationId xmlns:a16="http://schemas.microsoft.com/office/drawing/2014/main" id="{AA68E848-641E-EE75-394F-EA32BD3F1160}"/>
                </a:ext>
              </a:extLst>
            </p:cNvPr>
            <p:cNvSpPr>
              <a:spLocks/>
            </p:cNvSpPr>
            <p:nvPr/>
          </p:nvSpPr>
          <p:spPr bwMode="auto">
            <a:xfrm>
              <a:off x="5823577" y="2295427"/>
              <a:ext cx="156502" cy="841375"/>
            </a:xfrm>
            <a:custGeom>
              <a:avLst/>
              <a:gdLst>
                <a:gd name="T0" fmla="*/ 0 w 91"/>
                <a:gd name="T1" fmla="*/ 0 h 530"/>
                <a:gd name="T2" fmla="*/ 7 w 91"/>
                <a:gd name="T3" fmla="*/ 3 h 530"/>
                <a:gd name="T4" fmla="*/ 12 w 91"/>
                <a:gd name="T5" fmla="*/ 12 h 530"/>
                <a:gd name="T6" fmla="*/ 13 w 91"/>
                <a:gd name="T7" fmla="*/ 25 h 530"/>
                <a:gd name="T8" fmla="*/ 15 w 91"/>
                <a:gd name="T9" fmla="*/ 44 h 530"/>
                <a:gd name="T10" fmla="*/ 42 w 91"/>
                <a:gd name="T11" fmla="*/ 488 h 530"/>
                <a:gd name="T12" fmla="*/ 44 w 91"/>
                <a:gd name="T13" fmla="*/ 512 h 530"/>
                <a:gd name="T14" fmla="*/ 46 w 91"/>
                <a:gd name="T15" fmla="*/ 520 h 530"/>
                <a:gd name="T16" fmla="*/ 52 w 91"/>
                <a:gd name="T17" fmla="*/ 527 h 530"/>
                <a:gd name="T18" fmla="*/ 56 w 91"/>
                <a:gd name="T19" fmla="*/ 530 h 530"/>
                <a:gd name="T20" fmla="*/ 62 w 91"/>
                <a:gd name="T21" fmla="*/ 524 h 530"/>
                <a:gd name="T22" fmla="*/ 65 w 91"/>
                <a:gd name="T23" fmla="*/ 512 h 530"/>
                <a:gd name="T24" fmla="*/ 91 w 91"/>
                <a:gd name="T25" fmla="*/ 281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530">
                  <a:moveTo>
                    <a:pt x="0" y="0"/>
                  </a:moveTo>
                  <a:lnTo>
                    <a:pt x="7" y="3"/>
                  </a:lnTo>
                  <a:lnTo>
                    <a:pt x="12" y="12"/>
                  </a:lnTo>
                  <a:lnTo>
                    <a:pt x="13" y="25"/>
                  </a:lnTo>
                  <a:lnTo>
                    <a:pt x="15" y="44"/>
                  </a:lnTo>
                  <a:lnTo>
                    <a:pt x="42" y="488"/>
                  </a:lnTo>
                  <a:lnTo>
                    <a:pt x="44" y="512"/>
                  </a:lnTo>
                  <a:lnTo>
                    <a:pt x="46" y="520"/>
                  </a:lnTo>
                  <a:lnTo>
                    <a:pt x="52" y="527"/>
                  </a:lnTo>
                  <a:lnTo>
                    <a:pt x="56" y="530"/>
                  </a:lnTo>
                  <a:lnTo>
                    <a:pt x="62" y="524"/>
                  </a:lnTo>
                  <a:lnTo>
                    <a:pt x="65" y="512"/>
                  </a:lnTo>
                  <a:lnTo>
                    <a:pt x="91" y="28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nvGrpSpPr>
            <p:cNvPr id="212" name="Group 157">
              <a:extLst>
                <a:ext uri="{FF2B5EF4-FFF2-40B4-BE49-F238E27FC236}">
                  <a16:creationId xmlns:a16="http://schemas.microsoft.com/office/drawing/2014/main" id="{2E00D71F-8495-733C-C58E-2A3698AA0766}"/>
                </a:ext>
              </a:extLst>
            </p:cNvPr>
            <p:cNvGrpSpPr>
              <a:grpSpLocks/>
            </p:cNvGrpSpPr>
            <p:nvPr/>
          </p:nvGrpSpPr>
          <p:grpSpPr bwMode="auto">
            <a:xfrm>
              <a:off x="2676358" y="2298601"/>
              <a:ext cx="818621" cy="844550"/>
              <a:chOff x="1439" y="1316"/>
              <a:chExt cx="476" cy="711"/>
            </a:xfrm>
          </p:grpSpPr>
          <p:grpSp>
            <p:nvGrpSpPr>
              <p:cNvPr id="213" name="Group 158">
                <a:extLst>
                  <a:ext uri="{FF2B5EF4-FFF2-40B4-BE49-F238E27FC236}">
                    <a16:creationId xmlns:a16="http://schemas.microsoft.com/office/drawing/2014/main" id="{92E88F80-37DE-3D0A-268D-A66005346D0C}"/>
                  </a:ext>
                </a:extLst>
              </p:cNvPr>
              <p:cNvGrpSpPr>
                <a:grpSpLocks/>
              </p:cNvGrpSpPr>
              <p:nvPr/>
            </p:nvGrpSpPr>
            <p:grpSpPr bwMode="auto">
              <a:xfrm>
                <a:off x="1439" y="1316"/>
                <a:ext cx="239" cy="711"/>
                <a:chOff x="1439" y="1316"/>
                <a:chExt cx="239" cy="711"/>
              </a:xfrm>
            </p:grpSpPr>
            <p:sp>
              <p:nvSpPr>
                <p:cNvPr id="220" name="Freeform 159">
                  <a:extLst>
                    <a:ext uri="{FF2B5EF4-FFF2-40B4-BE49-F238E27FC236}">
                      <a16:creationId xmlns:a16="http://schemas.microsoft.com/office/drawing/2014/main" id="{52DD9E91-55C5-8CCA-1A15-8E29DEF48439}"/>
                    </a:ext>
                  </a:extLst>
                </p:cNvPr>
                <p:cNvSpPr>
                  <a:spLocks/>
                </p:cNvSpPr>
                <p:nvPr/>
              </p:nvSpPr>
              <p:spPr bwMode="auto">
                <a:xfrm>
                  <a:off x="1439"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21" name="Freeform 160">
                  <a:extLst>
                    <a:ext uri="{FF2B5EF4-FFF2-40B4-BE49-F238E27FC236}">
                      <a16:creationId xmlns:a16="http://schemas.microsoft.com/office/drawing/2014/main" id="{37A4E9EA-4528-3C88-7753-1A2B4FDC31A3}"/>
                    </a:ext>
                  </a:extLst>
                </p:cNvPr>
                <p:cNvSpPr>
                  <a:spLocks/>
                </p:cNvSpPr>
                <p:nvPr/>
              </p:nvSpPr>
              <p:spPr bwMode="auto">
                <a:xfrm>
                  <a:off x="1472"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22" name="Freeform 161">
                  <a:extLst>
                    <a:ext uri="{FF2B5EF4-FFF2-40B4-BE49-F238E27FC236}">
                      <a16:creationId xmlns:a16="http://schemas.microsoft.com/office/drawing/2014/main" id="{F06C783B-9617-6728-D822-2FBF316BEDF9}"/>
                    </a:ext>
                  </a:extLst>
                </p:cNvPr>
                <p:cNvSpPr>
                  <a:spLocks/>
                </p:cNvSpPr>
                <p:nvPr/>
              </p:nvSpPr>
              <p:spPr bwMode="auto">
                <a:xfrm>
                  <a:off x="1558"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23" name="Freeform 162">
                  <a:extLst>
                    <a:ext uri="{FF2B5EF4-FFF2-40B4-BE49-F238E27FC236}">
                      <a16:creationId xmlns:a16="http://schemas.microsoft.com/office/drawing/2014/main" id="{4BBAD1A5-89F1-480A-B0F8-B6394A71DF57}"/>
                    </a:ext>
                  </a:extLst>
                </p:cNvPr>
                <p:cNvSpPr>
                  <a:spLocks/>
                </p:cNvSpPr>
                <p:nvPr/>
              </p:nvSpPr>
              <p:spPr bwMode="auto">
                <a:xfrm>
                  <a:off x="1592"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grpSp>
            <p:nvGrpSpPr>
              <p:cNvPr id="214" name="Group 163">
                <a:extLst>
                  <a:ext uri="{FF2B5EF4-FFF2-40B4-BE49-F238E27FC236}">
                    <a16:creationId xmlns:a16="http://schemas.microsoft.com/office/drawing/2014/main" id="{350008F0-3C33-F14B-394D-DDD715D1E5CA}"/>
                  </a:ext>
                </a:extLst>
              </p:cNvPr>
              <p:cNvGrpSpPr>
                <a:grpSpLocks/>
              </p:cNvGrpSpPr>
              <p:nvPr/>
            </p:nvGrpSpPr>
            <p:grpSpPr bwMode="auto">
              <a:xfrm>
                <a:off x="1676" y="1316"/>
                <a:ext cx="239" cy="711"/>
                <a:chOff x="1676" y="1316"/>
                <a:chExt cx="239" cy="711"/>
              </a:xfrm>
            </p:grpSpPr>
            <p:sp>
              <p:nvSpPr>
                <p:cNvPr id="216" name="Freeform 164">
                  <a:extLst>
                    <a:ext uri="{FF2B5EF4-FFF2-40B4-BE49-F238E27FC236}">
                      <a16:creationId xmlns:a16="http://schemas.microsoft.com/office/drawing/2014/main" id="{F3152669-F9BE-885F-FEC8-C69A5C779073}"/>
                    </a:ext>
                  </a:extLst>
                </p:cNvPr>
                <p:cNvSpPr>
                  <a:spLocks/>
                </p:cNvSpPr>
                <p:nvPr/>
              </p:nvSpPr>
              <p:spPr bwMode="auto">
                <a:xfrm>
                  <a:off x="1676" y="1317"/>
                  <a:ext cx="32" cy="363"/>
                </a:xfrm>
                <a:custGeom>
                  <a:avLst/>
                  <a:gdLst>
                    <a:gd name="T0" fmla="*/ 0 w 32"/>
                    <a:gd name="T1" fmla="*/ 362 h 363"/>
                    <a:gd name="T2" fmla="*/ 19 w 32"/>
                    <a:gd name="T3" fmla="*/ 54 h 363"/>
                    <a:gd name="T4" fmla="*/ 20 w 32"/>
                    <a:gd name="T5" fmla="*/ 38 h 363"/>
                    <a:gd name="T6" fmla="*/ 21 w 32"/>
                    <a:gd name="T7" fmla="*/ 25 h 363"/>
                    <a:gd name="T8" fmla="*/ 23 w 32"/>
                    <a:gd name="T9" fmla="*/ 15 h 363"/>
                    <a:gd name="T10" fmla="*/ 27 w 32"/>
                    <a:gd name="T11" fmla="*/ 6 h 363"/>
                    <a:gd name="T12" fmla="*/ 31 w 32"/>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2" h="363">
                      <a:moveTo>
                        <a:pt x="0" y="362"/>
                      </a:moveTo>
                      <a:lnTo>
                        <a:pt x="19" y="54"/>
                      </a:lnTo>
                      <a:lnTo>
                        <a:pt x="20" y="38"/>
                      </a:lnTo>
                      <a:lnTo>
                        <a:pt x="21" y="25"/>
                      </a:lnTo>
                      <a:lnTo>
                        <a:pt x="23" y="15"/>
                      </a:lnTo>
                      <a:lnTo>
                        <a:pt x="27" y="6"/>
                      </a:lnTo>
                      <a:lnTo>
                        <a:pt x="31"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17" name="Freeform 165">
                  <a:extLst>
                    <a:ext uri="{FF2B5EF4-FFF2-40B4-BE49-F238E27FC236}">
                      <a16:creationId xmlns:a16="http://schemas.microsoft.com/office/drawing/2014/main" id="{EE703706-E15E-49A9-5F0D-C6A918478358}"/>
                    </a:ext>
                  </a:extLst>
                </p:cNvPr>
                <p:cNvSpPr>
                  <a:spLocks/>
                </p:cNvSpPr>
                <p:nvPr/>
              </p:nvSpPr>
              <p:spPr bwMode="auto">
                <a:xfrm>
                  <a:off x="1709" y="1316"/>
                  <a:ext cx="86" cy="711"/>
                </a:xfrm>
                <a:custGeom>
                  <a:avLst/>
                  <a:gdLst>
                    <a:gd name="T0" fmla="*/ 0 w 86"/>
                    <a:gd name="T1" fmla="*/ 0 h 711"/>
                    <a:gd name="T2" fmla="*/ 7 w 86"/>
                    <a:gd name="T3" fmla="*/ 4 h 711"/>
                    <a:gd name="T4" fmla="*/ 12 w 86"/>
                    <a:gd name="T5" fmla="*/ 16 h 711"/>
                    <a:gd name="T6" fmla="*/ 14 w 86"/>
                    <a:gd name="T7" fmla="*/ 33 h 711"/>
                    <a:gd name="T8" fmla="*/ 15 w 86"/>
                    <a:gd name="T9" fmla="*/ 59 h 711"/>
                    <a:gd name="T10" fmla="*/ 43 w 86"/>
                    <a:gd name="T11" fmla="*/ 653 h 711"/>
                    <a:gd name="T12" fmla="*/ 45 w 86"/>
                    <a:gd name="T13" fmla="*/ 686 h 711"/>
                    <a:gd name="T14" fmla="*/ 47 w 86"/>
                    <a:gd name="T15" fmla="*/ 696 h 711"/>
                    <a:gd name="T16" fmla="*/ 53 w 86"/>
                    <a:gd name="T17" fmla="*/ 706 h 711"/>
                    <a:gd name="T18" fmla="*/ 57 w 86"/>
                    <a:gd name="T19" fmla="*/ 710 h 711"/>
                    <a:gd name="T20" fmla="*/ 63 w 86"/>
                    <a:gd name="T21" fmla="*/ 702 h 711"/>
                    <a:gd name="T22" fmla="*/ 67 w 86"/>
                    <a:gd name="T23" fmla="*/ 686 h 711"/>
                    <a:gd name="T24" fmla="*/ 85 w 86"/>
                    <a:gd name="T25" fmla="*/ 381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11">
                      <a:moveTo>
                        <a:pt x="0" y="0"/>
                      </a:moveTo>
                      <a:lnTo>
                        <a:pt x="7" y="4"/>
                      </a:lnTo>
                      <a:lnTo>
                        <a:pt x="12" y="16"/>
                      </a:lnTo>
                      <a:lnTo>
                        <a:pt x="14" y="33"/>
                      </a:lnTo>
                      <a:lnTo>
                        <a:pt x="15" y="59"/>
                      </a:lnTo>
                      <a:lnTo>
                        <a:pt x="43" y="653"/>
                      </a:lnTo>
                      <a:lnTo>
                        <a:pt x="45" y="686"/>
                      </a:lnTo>
                      <a:lnTo>
                        <a:pt x="47" y="696"/>
                      </a:lnTo>
                      <a:lnTo>
                        <a:pt x="53" y="706"/>
                      </a:lnTo>
                      <a:lnTo>
                        <a:pt x="57" y="710"/>
                      </a:lnTo>
                      <a:lnTo>
                        <a:pt x="63" y="702"/>
                      </a:lnTo>
                      <a:lnTo>
                        <a:pt x="67" y="686"/>
                      </a:lnTo>
                      <a:lnTo>
                        <a:pt x="85" y="38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18" name="Freeform 166">
                  <a:extLst>
                    <a:ext uri="{FF2B5EF4-FFF2-40B4-BE49-F238E27FC236}">
                      <a16:creationId xmlns:a16="http://schemas.microsoft.com/office/drawing/2014/main" id="{117DB947-C654-9E97-9482-E61C73ADCE0E}"/>
                    </a:ext>
                  </a:extLst>
                </p:cNvPr>
                <p:cNvSpPr>
                  <a:spLocks/>
                </p:cNvSpPr>
                <p:nvPr/>
              </p:nvSpPr>
              <p:spPr bwMode="auto">
                <a:xfrm>
                  <a:off x="1795" y="1323"/>
                  <a:ext cx="34" cy="363"/>
                </a:xfrm>
                <a:custGeom>
                  <a:avLst/>
                  <a:gdLst>
                    <a:gd name="T0" fmla="*/ 0 w 34"/>
                    <a:gd name="T1" fmla="*/ 362 h 363"/>
                    <a:gd name="T2" fmla="*/ 20 w 34"/>
                    <a:gd name="T3" fmla="*/ 54 h 363"/>
                    <a:gd name="T4" fmla="*/ 22 w 34"/>
                    <a:gd name="T5" fmla="*/ 38 h 363"/>
                    <a:gd name="T6" fmla="*/ 23 w 34"/>
                    <a:gd name="T7" fmla="*/ 25 h 363"/>
                    <a:gd name="T8" fmla="*/ 24 w 34"/>
                    <a:gd name="T9" fmla="*/ 15 h 363"/>
                    <a:gd name="T10" fmla="*/ 28 w 34"/>
                    <a:gd name="T11" fmla="*/ 6 h 363"/>
                    <a:gd name="T12" fmla="*/ 33 w 34"/>
                    <a:gd name="T13" fmla="*/ 0 h 363"/>
                  </a:gdLst>
                  <a:ahLst/>
                  <a:cxnLst>
                    <a:cxn ang="0">
                      <a:pos x="T0" y="T1"/>
                    </a:cxn>
                    <a:cxn ang="0">
                      <a:pos x="T2" y="T3"/>
                    </a:cxn>
                    <a:cxn ang="0">
                      <a:pos x="T4" y="T5"/>
                    </a:cxn>
                    <a:cxn ang="0">
                      <a:pos x="T6" y="T7"/>
                    </a:cxn>
                    <a:cxn ang="0">
                      <a:pos x="T8" y="T9"/>
                    </a:cxn>
                    <a:cxn ang="0">
                      <a:pos x="T10" y="T11"/>
                    </a:cxn>
                    <a:cxn ang="0">
                      <a:pos x="T12" y="T13"/>
                    </a:cxn>
                  </a:cxnLst>
                  <a:rect l="0" t="0" r="r" b="b"/>
                  <a:pathLst>
                    <a:path w="34" h="363">
                      <a:moveTo>
                        <a:pt x="0" y="362"/>
                      </a:moveTo>
                      <a:lnTo>
                        <a:pt x="20" y="54"/>
                      </a:lnTo>
                      <a:lnTo>
                        <a:pt x="22" y="38"/>
                      </a:lnTo>
                      <a:lnTo>
                        <a:pt x="23" y="25"/>
                      </a:lnTo>
                      <a:lnTo>
                        <a:pt x="24" y="15"/>
                      </a:lnTo>
                      <a:lnTo>
                        <a:pt x="28" y="6"/>
                      </a:lnTo>
                      <a:lnTo>
                        <a:pt x="33" y="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sp>
              <p:nvSpPr>
                <p:cNvPr id="219" name="Freeform 167">
                  <a:extLst>
                    <a:ext uri="{FF2B5EF4-FFF2-40B4-BE49-F238E27FC236}">
                      <a16:creationId xmlns:a16="http://schemas.microsoft.com/office/drawing/2014/main" id="{C04071B6-18DA-3549-4E15-756054CE66C5}"/>
                    </a:ext>
                  </a:extLst>
                </p:cNvPr>
                <p:cNvSpPr>
                  <a:spLocks/>
                </p:cNvSpPr>
                <p:nvPr/>
              </p:nvSpPr>
              <p:spPr bwMode="auto">
                <a:xfrm>
                  <a:off x="1829" y="1318"/>
                  <a:ext cx="86" cy="709"/>
                </a:xfrm>
                <a:custGeom>
                  <a:avLst/>
                  <a:gdLst>
                    <a:gd name="T0" fmla="*/ 0 w 86"/>
                    <a:gd name="T1" fmla="*/ 0 h 709"/>
                    <a:gd name="T2" fmla="*/ 7 w 86"/>
                    <a:gd name="T3" fmla="*/ 4 h 709"/>
                    <a:gd name="T4" fmla="*/ 12 w 86"/>
                    <a:gd name="T5" fmla="*/ 16 h 709"/>
                    <a:gd name="T6" fmla="*/ 14 w 86"/>
                    <a:gd name="T7" fmla="*/ 33 h 709"/>
                    <a:gd name="T8" fmla="*/ 15 w 86"/>
                    <a:gd name="T9" fmla="*/ 59 h 709"/>
                    <a:gd name="T10" fmla="*/ 43 w 86"/>
                    <a:gd name="T11" fmla="*/ 651 h 709"/>
                    <a:gd name="T12" fmla="*/ 45 w 86"/>
                    <a:gd name="T13" fmla="*/ 684 h 709"/>
                    <a:gd name="T14" fmla="*/ 47 w 86"/>
                    <a:gd name="T15" fmla="*/ 694 h 709"/>
                    <a:gd name="T16" fmla="*/ 53 w 86"/>
                    <a:gd name="T17" fmla="*/ 704 h 709"/>
                    <a:gd name="T18" fmla="*/ 57 w 86"/>
                    <a:gd name="T19" fmla="*/ 708 h 709"/>
                    <a:gd name="T20" fmla="*/ 63 w 86"/>
                    <a:gd name="T21" fmla="*/ 700 h 709"/>
                    <a:gd name="T22" fmla="*/ 67 w 86"/>
                    <a:gd name="T23" fmla="*/ 684 h 709"/>
                    <a:gd name="T24" fmla="*/ 85 w 86"/>
                    <a:gd name="T25" fmla="*/ 380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709">
                      <a:moveTo>
                        <a:pt x="0" y="0"/>
                      </a:moveTo>
                      <a:lnTo>
                        <a:pt x="7" y="4"/>
                      </a:lnTo>
                      <a:lnTo>
                        <a:pt x="12" y="16"/>
                      </a:lnTo>
                      <a:lnTo>
                        <a:pt x="14" y="33"/>
                      </a:lnTo>
                      <a:lnTo>
                        <a:pt x="15" y="59"/>
                      </a:lnTo>
                      <a:lnTo>
                        <a:pt x="43" y="651"/>
                      </a:lnTo>
                      <a:lnTo>
                        <a:pt x="45" y="684"/>
                      </a:lnTo>
                      <a:lnTo>
                        <a:pt x="47" y="694"/>
                      </a:lnTo>
                      <a:lnTo>
                        <a:pt x="53" y="704"/>
                      </a:lnTo>
                      <a:lnTo>
                        <a:pt x="57" y="708"/>
                      </a:lnTo>
                      <a:lnTo>
                        <a:pt x="63" y="700"/>
                      </a:lnTo>
                      <a:lnTo>
                        <a:pt x="67" y="684"/>
                      </a:lnTo>
                      <a:lnTo>
                        <a:pt x="85" y="38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b="1">
                    <a:latin typeface="+mn-lt"/>
                    <a:ea typeface="黑体" pitchFamily="2" charset="-122"/>
                  </a:endParaRPr>
                </a:p>
              </p:txBody>
            </p:sp>
          </p:grpSp>
          <p:sp>
            <p:nvSpPr>
              <p:cNvPr id="215" name="Line 168">
                <a:extLst>
                  <a:ext uri="{FF2B5EF4-FFF2-40B4-BE49-F238E27FC236}">
                    <a16:creationId xmlns:a16="http://schemas.microsoft.com/office/drawing/2014/main" id="{57C11B3B-C724-F4C5-A903-449BE81C95C0}"/>
                  </a:ext>
                </a:extLst>
              </p:cNvPr>
              <p:cNvSpPr>
                <a:spLocks noChangeShapeType="1"/>
              </p:cNvSpPr>
              <p:nvPr/>
            </p:nvSpPr>
            <p:spPr bwMode="auto">
              <a:xfrm flipV="1">
                <a:off x="1674" y="1661"/>
                <a:ext cx="3" cy="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latin typeface="+mn-lt"/>
                  <a:ea typeface="黑体" pitchFamily="2" charset="-122"/>
                </a:endParaRPr>
              </a:p>
            </p:txBody>
          </p:sp>
        </p:grpSp>
      </p:grpSp>
      <p:cxnSp>
        <p:nvCxnSpPr>
          <p:cNvPr id="234" name="直接连接符 33">
            <a:extLst>
              <a:ext uri="{FF2B5EF4-FFF2-40B4-BE49-F238E27FC236}">
                <a16:creationId xmlns:a16="http://schemas.microsoft.com/office/drawing/2014/main" id="{2B8D0240-93CB-F263-0513-BC2E18CF1BD2}"/>
              </a:ext>
            </a:extLst>
          </p:cNvPr>
          <p:cNvCxnSpPr/>
          <p:nvPr/>
        </p:nvCxnSpPr>
        <p:spPr bwMode="auto">
          <a:xfrm>
            <a:off x="7078674" y="4471320"/>
            <a:ext cx="4590121"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连接符 34">
            <a:extLst>
              <a:ext uri="{FF2B5EF4-FFF2-40B4-BE49-F238E27FC236}">
                <a16:creationId xmlns:a16="http://schemas.microsoft.com/office/drawing/2014/main" id="{CB23714D-9621-3B6E-EF21-37BBEA346510}"/>
              </a:ext>
            </a:extLst>
          </p:cNvPr>
          <p:cNvCxnSpPr/>
          <p:nvPr/>
        </p:nvCxnSpPr>
        <p:spPr bwMode="auto">
          <a:xfrm>
            <a:off x="7078674" y="3785000"/>
            <a:ext cx="4590121" cy="0"/>
          </a:xfrm>
          <a:prstGeom prst="line">
            <a:avLst/>
          </a:prstGeom>
          <a:solidFill>
            <a:schemeClr val="accent1"/>
          </a:solidFill>
          <a:ln w="19050" cap="flat" cmpd="sng" algn="ctr">
            <a:solidFill>
              <a:srgbClr val="0000F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65685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5" grpId="0"/>
      <p:bldP spid="66" grpId="0"/>
      <p:bldP spid="67" grpId="0"/>
      <p:bldP spid="68" grpId="0"/>
      <p:bldP spid="69" grpId="0"/>
      <p:bldP spid="70" grpId="0"/>
      <p:bldP spid="71" grpId="0"/>
      <p:bldP spid="72" grpId="0"/>
      <p:bldP spid="73" grpId="0" animBg="1"/>
      <p:bldP spid="74" grpId="0" animBg="1"/>
      <p:bldP spid="186" grpId="0"/>
      <p:bldP spid="187" grpId="0"/>
      <p:bldP spid="18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Quadrature Amplitude Modulation</a:t>
            </a:r>
          </a:p>
        </p:txBody>
      </p:sp>
      <p:sp>
        <p:nvSpPr>
          <p:cNvPr id="93" name="文本框 92">
            <a:extLst>
              <a:ext uri="{FF2B5EF4-FFF2-40B4-BE49-F238E27FC236}">
                <a16:creationId xmlns:a16="http://schemas.microsoft.com/office/drawing/2014/main" id="{9ADCFF2B-5F24-6A06-CCE7-679609B04FB7}"/>
              </a:ext>
            </a:extLst>
          </p:cNvPr>
          <p:cNvSpPr txBox="1"/>
          <p:nvPr/>
        </p:nvSpPr>
        <p:spPr>
          <a:xfrm>
            <a:off x="312998" y="1219483"/>
            <a:ext cx="11486986" cy="254736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In order to achieve higher information transmission rate, it is necessary to use a technically more complex multi-system amplitude and phase modulation method.</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For example: </a:t>
            </a:r>
          </a:p>
          <a:p>
            <a:pPr marL="695325" lvl="1" indent="-231775">
              <a:lnSpc>
                <a:spcPct val="90000"/>
              </a:lnSpc>
              <a:buClr>
                <a:srgbClr val="0000A8"/>
              </a:buClr>
              <a:buFont typeface="Arial" panose="020B0604020202020204" pitchFamily="34" charset="0"/>
              <a:buChar char="•"/>
              <a:defRPr/>
            </a:pPr>
            <a:r>
              <a:rPr lang="en" altLang="zh-CN" sz="2400" dirty="0">
                <a:solidFill>
                  <a:prstClr val="black"/>
                </a:solidFill>
                <a:latin typeface="Calibri" panose="020F0502020204030204"/>
                <a:ea typeface="ＭＳ Ｐゴシック" panose="020B0600070205080204" pitchFamily="34" charset="-128"/>
              </a:rPr>
              <a:t>There are 1 or 2 amplitudes to choose from. In total, there are 16 combinations, that is, 16 symbols. </a:t>
            </a:r>
          </a:p>
          <a:p>
            <a:pPr marL="695325" lvl="1" indent="-231775">
              <a:lnSpc>
                <a:spcPct val="90000"/>
              </a:lnSpc>
              <a:buClr>
                <a:srgbClr val="0000A8"/>
              </a:buClr>
              <a:buFont typeface="Arial" panose="020B0604020202020204" pitchFamily="34" charset="0"/>
              <a:buChar char="•"/>
              <a:defRPr/>
            </a:pPr>
            <a:r>
              <a:rPr lang="en" altLang="zh-CN" sz="2400" dirty="0">
                <a:solidFill>
                  <a:prstClr val="black"/>
                </a:solidFill>
                <a:latin typeface="Calibri" panose="020F0502020204030204"/>
                <a:ea typeface="ＭＳ Ｐゴシック" panose="020B0600070205080204" pitchFamily="34" charset="-128"/>
              </a:rPr>
              <a:t>Since there are 16 different combinations of 4 bit codes, each of the 16 points corresponds to a 4 bit code. The data transfer rate can be increased by 4 times.</a:t>
            </a:r>
            <a:endParaRPr lang="zh-CN" altLang="en-US" sz="2400" dirty="0">
              <a:solidFill>
                <a:prstClr val="black"/>
              </a:solidFill>
              <a:latin typeface="Calibri" panose="020F0502020204030204"/>
              <a:ea typeface="ＭＳ Ｐゴシック" panose="020B0600070205080204" pitchFamily="34" charset="-128"/>
            </a:endParaRPr>
          </a:p>
        </p:txBody>
      </p:sp>
      <p:grpSp>
        <p:nvGrpSpPr>
          <p:cNvPr id="3" name="组合 2">
            <a:extLst>
              <a:ext uri="{FF2B5EF4-FFF2-40B4-BE49-F238E27FC236}">
                <a16:creationId xmlns:a16="http://schemas.microsoft.com/office/drawing/2014/main" id="{6138665A-016F-129A-62C5-17E2BE75F3F4}"/>
              </a:ext>
            </a:extLst>
          </p:cNvPr>
          <p:cNvGrpSpPr/>
          <p:nvPr/>
        </p:nvGrpSpPr>
        <p:grpSpPr>
          <a:xfrm>
            <a:off x="1149839" y="4056676"/>
            <a:ext cx="2522157" cy="2309216"/>
            <a:chOff x="6148560" y="1193129"/>
            <a:chExt cx="2522157" cy="2309216"/>
          </a:xfrm>
        </p:grpSpPr>
        <p:grpSp>
          <p:nvGrpSpPr>
            <p:cNvPr id="7" name="组合 6">
              <a:extLst>
                <a:ext uri="{FF2B5EF4-FFF2-40B4-BE49-F238E27FC236}">
                  <a16:creationId xmlns:a16="http://schemas.microsoft.com/office/drawing/2014/main" id="{6F42447E-312D-94E2-3F2A-9A2FA8ADD4B5}"/>
                </a:ext>
              </a:extLst>
            </p:cNvPr>
            <p:cNvGrpSpPr/>
            <p:nvPr/>
          </p:nvGrpSpPr>
          <p:grpSpPr>
            <a:xfrm>
              <a:off x="6148560" y="1193129"/>
              <a:ext cx="2522157" cy="2309216"/>
              <a:chOff x="584729" y="2640013"/>
              <a:chExt cx="2971800" cy="2584450"/>
            </a:xfrm>
          </p:grpSpPr>
          <p:sp>
            <p:nvSpPr>
              <p:cNvPr id="9" name="Line 4">
                <a:extLst>
                  <a:ext uri="{FF2B5EF4-FFF2-40B4-BE49-F238E27FC236}">
                    <a16:creationId xmlns:a16="http://schemas.microsoft.com/office/drawing/2014/main" id="{9E60C1B8-F8A3-C8B4-8D80-0CCA10445241}"/>
                  </a:ext>
                </a:extLst>
              </p:cNvPr>
              <p:cNvSpPr>
                <a:spLocks noChangeShapeType="1"/>
              </p:cNvSpPr>
              <p:nvPr/>
            </p:nvSpPr>
            <p:spPr bwMode="auto">
              <a:xfrm>
                <a:off x="2077508" y="2640013"/>
                <a:ext cx="0" cy="2584450"/>
              </a:xfrm>
              <a:prstGeom prst="line">
                <a:avLst/>
              </a:prstGeom>
              <a:noFill/>
              <a:ln w="28575">
                <a:solidFill>
                  <a:srgbClr val="009900"/>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0" name="Oval 5">
                <a:extLst>
                  <a:ext uri="{FF2B5EF4-FFF2-40B4-BE49-F238E27FC236}">
                    <a16:creationId xmlns:a16="http://schemas.microsoft.com/office/drawing/2014/main" id="{54EC0296-7D3B-192A-2206-C8E0B2D92119}"/>
                  </a:ext>
                </a:extLst>
              </p:cNvPr>
              <p:cNvSpPr>
                <a:spLocks noChangeArrowheads="1"/>
              </p:cNvSpPr>
              <p:nvPr/>
            </p:nvSpPr>
            <p:spPr bwMode="auto">
              <a:xfrm>
                <a:off x="1172898" y="42306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1" name="Oval 6">
                <a:extLst>
                  <a:ext uri="{FF2B5EF4-FFF2-40B4-BE49-F238E27FC236}">
                    <a16:creationId xmlns:a16="http://schemas.microsoft.com/office/drawing/2014/main" id="{17C6DE45-4B08-923E-844C-0BECB5E5F7C2}"/>
                  </a:ext>
                </a:extLst>
              </p:cNvPr>
              <p:cNvSpPr>
                <a:spLocks noChangeArrowheads="1"/>
              </p:cNvSpPr>
              <p:nvPr/>
            </p:nvSpPr>
            <p:spPr bwMode="auto">
              <a:xfrm>
                <a:off x="1172898" y="31511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2" name="Oval 7">
                <a:extLst>
                  <a:ext uri="{FF2B5EF4-FFF2-40B4-BE49-F238E27FC236}">
                    <a16:creationId xmlns:a16="http://schemas.microsoft.com/office/drawing/2014/main" id="{5F36B60E-390E-4252-95CF-926BE2741240}"/>
                  </a:ext>
                </a:extLst>
              </p:cNvPr>
              <p:cNvSpPr>
                <a:spLocks noChangeArrowheads="1"/>
              </p:cNvSpPr>
              <p:nvPr/>
            </p:nvSpPr>
            <p:spPr bwMode="auto">
              <a:xfrm>
                <a:off x="2344076"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3" name="Oval 8">
                <a:extLst>
                  <a:ext uri="{FF2B5EF4-FFF2-40B4-BE49-F238E27FC236}">
                    <a16:creationId xmlns:a16="http://schemas.microsoft.com/office/drawing/2014/main" id="{6AC29134-5F16-2649-243D-B1E9E4AFBE9C}"/>
                  </a:ext>
                </a:extLst>
              </p:cNvPr>
              <p:cNvSpPr>
                <a:spLocks noChangeArrowheads="1"/>
              </p:cNvSpPr>
              <p:nvPr/>
            </p:nvSpPr>
            <p:spPr bwMode="auto">
              <a:xfrm>
                <a:off x="1749029"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4" name="Oval 9">
                <a:extLst>
                  <a:ext uri="{FF2B5EF4-FFF2-40B4-BE49-F238E27FC236}">
                    <a16:creationId xmlns:a16="http://schemas.microsoft.com/office/drawing/2014/main" id="{3C08A250-88E3-4FA7-682A-D6824CC03F70}"/>
                  </a:ext>
                </a:extLst>
              </p:cNvPr>
              <p:cNvSpPr>
                <a:spLocks noChangeArrowheads="1"/>
              </p:cNvSpPr>
              <p:nvPr/>
            </p:nvSpPr>
            <p:spPr bwMode="auto">
              <a:xfrm>
                <a:off x="1172898" y="36972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5" name="Oval 10">
                <a:extLst>
                  <a:ext uri="{FF2B5EF4-FFF2-40B4-BE49-F238E27FC236}">
                    <a16:creationId xmlns:a16="http://schemas.microsoft.com/office/drawing/2014/main" id="{3B0C0A44-C285-18F4-F235-7F0EF683976F}"/>
                  </a:ext>
                </a:extLst>
              </p:cNvPr>
              <p:cNvSpPr>
                <a:spLocks noChangeArrowheads="1"/>
              </p:cNvSpPr>
              <p:nvPr/>
            </p:nvSpPr>
            <p:spPr bwMode="auto">
              <a:xfrm>
                <a:off x="2345796" y="3695701"/>
                <a:ext cx="80831"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6" name="Oval 11">
                <a:extLst>
                  <a:ext uri="{FF2B5EF4-FFF2-40B4-BE49-F238E27FC236}">
                    <a16:creationId xmlns:a16="http://schemas.microsoft.com/office/drawing/2014/main" id="{1D4763CD-AEBA-353C-2C2E-0E2EB5C8C1B0}"/>
                  </a:ext>
                </a:extLst>
              </p:cNvPr>
              <p:cNvSpPr>
                <a:spLocks noChangeArrowheads="1"/>
              </p:cNvSpPr>
              <p:nvPr/>
            </p:nvSpPr>
            <p:spPr bwMode="auto">
              <a:xfrm>
                <a:off x="1750748" y="36972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7" name="Oval 12">
                <a:extLst>
                  <a:ext uri="{FF2B5EF4-FFF2-40B4-BE49-F238E27FC236}">
                    <a16:creationId xmlns:a16="http://schemas.microsoft.com/office/drawing/2014/main" id="{2DA3D1CB-60CF-8098-6121-5471D61E2D5D}"/>
                  </a:ext>
                </a:extLst>
              </p:cNvPr>
              <p:cNvSpPr>
                <a:spLocks noChangeArrowheads="1"/>
              </p:cNvSpPr>
              <p:nvPr/>
            </p:nvSpPr>
            <p:spPr bwMode="auto">
              <a:xfrm>
                <a:off x="2918487" y="31511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sz="2800" b="1">
                  <a:solidFill>
                    <a:srgbClr val="C00000"/>
                  </a:solidFill>
                </a:endParaRPr>
              </a:p>
            </p:txBody>
          </p:sp>
          <p:sp>
            <p:nvSpPr>
              <p:cNvPr id="18" name="Oval 13">
                <a:extLst>
                  <a:ext uri="{FF2B5EF4-FFF2-40B4-BE49-F238E27FC236}">
                    <a16:creationId xmlns:a16="http://schemas.microsoft.com/office/drawing/2014/main" id="{CDE67DE1-1AC4-D80E-64DA-BD1635183089}"/>
                  </a:ext>
                </a:extLst>
              </p:cNvPr>
              <p:cNvSpPr>
                <a:spLocks noChangeArrowheads="1"/>
              </p:cNvSpPr>
              <p:nvPr/>
            </p:nvSpPr>
            <p:spPr bwMode="auto">
              <a:xfrm>
                <a:off x="2345796" y="4229101"/>
                <a:ext cx="80831"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19" name="Oval 14">
                <a:extLst>
                  <a:ext uri="{FF2B5EF4-FFF2-40B4-BE49-F238E27FC236}">
                    <a16:creationId xmlns:a16="http://schemas.microsoft.com/office/drawing/2014/main" id="{44D3516E-F5D1-F7ED-4620-A6468DB34BD9}"/>
                  </a:ext>
                </a:extLst>
              </p:cNvPr>
              <p:cNvSpPr>
                <a:spLocks noChangeArrowheads="1"/>
              </p:cNvSpPr>
              <p:nvPr/>
            </p:nvSpPr>
            <p:spPr bwMode="auto">
              <a:xfrm>
                <a:off x="1750748" y="4230688"/>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0" name="Oval 15">
                <a:extLst>
                  <a:ext uri="{FF2B5EF4-FFF2-40B4-BE49-F238E27FC236}">
                    <a16:creationId xmlns:a16="http://schemas.microsoft.com/office/drawing/2014/main" id="{53E1F7C3-F5E8-E0D4-3EC6-ADD44F731D3C}"/>
                  </a:ext>
                </a:extLst>
              </p:cNvPr>
              <p:cNvSpPr>
                <a:spLocks noChangeArrowheads="1"/>
              </p:cNvSpPr>
              <p:nvPr/>
            </p:nvSpPr>
            <p:spPr bwMode="auto">
              <a:xfrm>
                <a:off x="2918487" y="3695701"/>
                <a:ext cx="80830" cy="74613"/>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1" name="Oval 16">
                <a:extLst>
                  <a:ext uri="{FF2B5EF4-FFF2-40B4-BE49-F238E27FC236}">
                    <a16:creationId xmlns:a16="http://schemas.microsoft.com/office/drawing/2014/main" id="{B0ECC627-8A75-DBE7-97D2-E437CE0868A7}"/>
                  </a:ext>
                </a:extLst>
              </p:cNvPr>
              <p:cNvSpPr>
                <a:spLocks noChangeArrowheads="1"/>
              </p:cNvSpPr>
              <p:nvPr/>
            </p:nvSpPr>
            <p:spPr bwMode="auto">
              <a:xfrm>
                <a:off x="2344076"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2" name="Oval 17">
                <a:extLst>
                  <a:ext uri="{FF2B5EF4-FFF2-40B4-BE49-F238E27FC236}">
                    <a16:creationId xmlns:a16="http://schemas.microsoft.com/office/drawing/2014/main" id="{13496C96-7A4E-B857-CDAF-F05613271ABF}"/>
                  </a:ext>
                </a:extLst>
              </p:cNvPr>
              <p:cNvSpPr>
                <a:spLocks noChangeArrowheads="1"/>
              </p:cNvSpPr>
              <p:nvPr/>
            </p:nvSpPr>
            <p:spPr bwMode="auto">
              <a:xfrm>
                <a:off x="1172898" y="4786313"/>
                <a:ext cx="80831"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3" name="Oval 18">
                <a:extLst>
                  <a:ext uri="{FF2B5EF4-FFF2-40B4-BE49-F238E27FC236}">
                    <a16:creationId xmlns:a16="http://schemas.microsoft.com/office/drawing/2014/main" id="{7028FC19-3F4A-CD51-461E-D9C30C20F9AA}"/>
                  </a:ext>
                </a:extLst>
              </p:cNvPr>
              <p:cNvSpPr>
                <a:spLocks noChangeArrowheads="1"/>
              </p:cNvSpPr>
              <p:nvPr/>
            </p:nvSpPr>
            <p:spPr bwMode="auto">
              <a:xfrm>
                <a:off x="2918487" y="4230688"/>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4" name="Oval 19">
                <a:extLst>
                  <a:ext uri="{FF2B5EF4-FFF2-40B4-BE49-F238E27FC236}">
                    <a16:creationId xmlns:a16="http://schemas.microsoft.com/office/drawing/2014/main" id="{C723EC8C-40CD-ED48-D622-7308D8DDDD2F}"/>
                  </a:ext>
                </a:extLst>
              </p:cNvPr>
              <p:cNvSpPr>
                <a:spLocks noChangeArrowheads="1"/>
              </p:cNvSpPr>
              <p:nvPr/>
            </p:nvSpPr>
            <p:spPr bwMode="auto">
              <a:xfrm>
                <a:off x="1749029"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5" name="Oval 20">
                <a:extLst>
                  <a:ext uri="{FF2B5EF4-FFF2-40B4-BE49-F238E27FC236}">
                    <a16:creationId xmlns:a16="http://schemas.microsoft.com/office/drawing/2014/main" id="{6DDF38C7-D03A-0920-A01C-7BE27E91595C}"/>
                  </a:ext>
                </a:extLst>
              </p:cNvPr>
              <p:cNvSpPr>
                <a:spLocks noChangeArrowheads="1"/>
              </p:cNvSpPr>
              <p:nvPr/>
            </p:nvSpPr>
            <p:spPr bwMode="auto">
              <a:xfrm>
                <a:off x="2918487" y="4786313"/>
                <a:ext cx="80830" cy="74612"/>
              </a:xfrm>
              <a:prstGeom prst="ellipse">
                <a:avLst/>
              </a:prstGeom>
              <a:solidFill>
                <a:srgbClr val="0000FF"/>
              </a:solidFill>
              <a:ln w="952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6" name="Line 21">
                <a:extLst>
                  <a:ext uri="{FF2B5EF4-FFF2-40B4-BE49-F238E27FC236}">
                    <a16:creationId xmlns:a16="http://schemas.microsoft.com/office/drawing/2014/main" id="{DAFDA454-D67F-4C96-0CC9-BC8AD4F0D041}"/>
                  </a:ext>
                </a:extLst>
              </p:cNvPr>
              <p:cNvSpPr>
                <a:spLocks noChangeShapeType="1"/>
              </p:cNvSpPr>
              <p:nvPr/>
            </p:nvSpPr>
            <p:spPr bwMode="auto">
              <a:xfrm>
                <a:off x="584729" y="4011613"/>
                <a:ext cx="2641600" cy="0"/>
              </a:xfrm>
              <a:prstGeom prst="line">
                <a:avLst/>
              </a:prstGeom>
              <a:noFill/>
              <a:ln w="952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7" name="Line 22">
                <a:extLst>
                  <a:ext uri="{FF2B5EF4-FFF2-40B4-BE49-F238E27FC236}">
                    <a16:creationId xmlns:a16="http://schemas.microsoft.com/office/drawing/2014/main" id="{AB2299AD-4BE1-E7AE-5794-8622A3D94256}"/>
                  </a:ext>
                </a:extLst>
              </p:cNvPr>
              <p:cNvSpPr>
                <a:spLocks noChangeShapeType="1"/>
              </p:cNvSpPr>
              <p:nvPr/>
            </p:nvSpPr>
            <p:spPr bwMode="auto">
              <a:xfrm>
                <a:off x="584729" y="4011613"/>
                <a:ext cx="2971800" cy="0"/>
              </a:xfrm>
              <a:prstGeom prst="line">
                <a:avLst/>
              </a:prstGeom>
              <a:noFill/>
              <a:ln w="28575">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8" name="Line 23">
                <a:extLst>
                  <a:ext uri="{FF2B5EF4-FFF2-40B4-BE49-F238E27FC236}">
                    <a16:creationId xmlns:a16="http://schemas.microsoft.com/office/drawing/2014/main" id="{7C780E92-EC40-1D41-195B-B90667324C82}"/>
                  </a:ext>
                </a:extLst>
              </p:cNvPr>
              <p:cNvSpPr>
                <a:spLocks noChangeShapeType="1"/>
              </p:cNvSpPr>
              <p:nvPr/>
            </p:nvSpPr>
            <p:spPr bwMode="auto">
              <a:xfrm flipV="1">
                <a:off x="2077508" y="3197225"/>
                <a:ext cx="297525" cy="808038"/>
              </a:xfrm>
              <a:prstGeom prst="line">
                <a:avLst/>
              </a:prstGeom>
              <a:noFill/>
              <a:ln w="28575">
                <a:solidFill>
                  <a:srgbClr val="0099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29" name="Freeform 24">
                <a:extLst>
                  <a:ext uri="{FF2B5EF4-FFF2-40B4-BE49-F238E27FC236}">
                    <a16:creationId xmlns:a16="http://schemas.microsoft.com/office/drawing/2014/main" id="{750DAFA0-8413-3AD6-277C-BA1738532F9C}"/>
                  </a:ext>
                </a:extLst>
              </p:cNvPr>
              <p:cNvSpPr>
                <a:spLocks/>
              </p:cNvSpPr>
              <p:nvPr/>
            </p:nvSpPr>
            <p:spPr bwMode="auto">
              <a:xfrm>
                <a:off x="2170378" y="3751263"/>
                <a:ext cx="189177" cy="260350"/>
              </a:xfrm>
              <a:custGeom>
                <a:avLst/>
                <a:gdLst>
                  <a:gd name="T0" fmla="*/ 0 w 110"/>
                  <a:gd name="T1" fmla="*/ 0 h 164"/>
                  <a:gd name="T2" fmla="*/ 44 w 110"/>
                  <a:gd name="T3" fmla="*/ 24 h 164"/>
                  <a:gd name="T4" fmla="*/ 86 w 110"/>
                  <a:gd name="T5" fmla="*/ 66 h 164"/>
                  <a:gd name="T6" fmla="*/ 104 w 110"/>
                  <a:gd name="T7" fmla="*/ 112 h 164"/>
                  <a:gd name="T8" fmla="*/ 110 w 110"/>
                  <a:gd name="T9" fmla="*/ 164 h 164"/>
                </a:gdLst>
                <a:ahLst/>
                <a:cxnLst>
                  <a:cxn ang="0">
                    <a:pos x="T0" y="T1"/>
                  </a:cxn>
                  <a:cxn ang="0">
                    <a:pos x="T2" y="T3"/>
                  </a:cxn>
                  <a:cxn ang="0">
                    <a:pos x="T4" y="T5"/>
                  </a:cxn>
                  <a:cxn ang="0">
                    <a:pos x="T6" y="T7"/>
                  </a:cxn>
                  <a:cxn ang="0">
                    <a:pos x="T8" y="T9"/>
                  </a:cxn>
                </a:cxnLst>
                <a:rect l="0" t="0" r="r" b="b"/>
                <a:pathLst>
                  <a:path w="110" h="164">
                    <a:moveTo>
                      <a:pt x="0" y="0"/>
                    </a:moveTo>
                    <a:cubicBezTo>
                      <a:pt x="7" y="4"/>
                      <a:pt x="30" y="13"/>
                      <a:pt x="44" y="24"/>
                    </a:cubicBezTo>
                    <a:cubicBezTo>
                      <a:pt x="58" y="35"/>
                      <a:pt x="76" y="51"/>
                      <a:pt x="86" y="66"/>
                    </a:cubicBezTo>
                    <a:cubicBezTo>
                      <a:pt x="96" y="81"/>
                      <a:pt x="100" y="96"/>
                      <a:pt x="104" y="112"/>
                    </a:cubicBezTo>
                    <a:cubicBezTo>
                      <a:pt x="108" y="128"/>
                      <a:pt x="109" y="153"/>
                      <a:pt x="110" y="164"/>
                    </a:cubicBezTo>
                  </a:path>
                </a:pathLst>
              </a:custGeom>
              <a:noFill/>
              <a:ln w="190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C00000"/>
                  </a:solidFill>
                </a:endParaRPr>
              </a:p>
            </p:txBody>
          </p:sp>
          <p:sp>
            <p:nvSpPr>
              <p:cNvPr id="30" name="Text Box 25">
                <a:extLst>
                  <a:ext uri="{FF2B5EF4-FFF2-40B4-BE49-F238E27FC236}">
                    <a16:creationId xmlns:a16="http://schemas.microsoft.com/office/drawing/2014/main" id="{6318701A-B5D0-16A3-9B17-9229B8B539E9}"/>
                  </a:ext>
                </a:extLst>
              </p:cNvPr>
              <p:cNvSpPr txBox="1">
                <a:spLocks noChangeArrowheads="1"/>
              </p:cNvSpPr>
              <p:nvPr/>
            </p:nvSpPr>
            <p:spPr bwMode="auto">
              <a:xfrm>
                <a:off x="2001737" y="3288761"/>
                <a:ext cx="338470" cy="413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dirty="0">
                    <a:solidFill>
                      <a:srgbClr val="CC00CC"/>
                    </a:solidFill>
                    <a:latin typeface="Times New Roman" pitchFamily="18" charset="0"/>
                  </a:rPr>
                  <a:t>r</a:t>
                </a:r>
              </a:p>
            </p:txBody>
          </p:sp>
        </p:grpSp>
        <p:sp>
          <p:nvSpPr>
            <p:cNvPr id="5" name="Text Box 26">
              <a:extLst>
                <a:ext uri="{FF2B5EF4-FFF2-40B4-BE49-F238E27FC236}">
                  <a16:creationId xmlns:a16="http://schemas.microsoft.com/office/drawing/2014/main" id="{EA9B2A15-52BE-8F6C-A0B3-DB68C8443458}"/>
                </a:ext>
              </a:extLst>
            </p:cNvPr>
            <p:cNvSpPr txBox="1">
              <a:spLocks noChangeArrowheads="1"/>
            </p:cNvSpPr>
            <p:nvPr/>
          </p:nvSpPr>
          <p:spPr bwMode="auto">
            <a:xfrm>
              <a:off x="7611834" y="2074413"/>
              <a:ext cx="3241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dirty="0">
                  <a:solidFill>
                    <a:srgbClr val="CC00CC"/>
                  </a:solidFill>
                  <a:latin typeface="Times New Roman" pitchFamily="18" charset="0"/>
                  <a:sym typeface="Symbol" pitchFamily="18" charset="2"/>
                </a:rPr>
                <a:t></a:t>
              </a:r>
              <a:endParaRPr kumimoji="1" lang="en-US" altLang="zh-CN" b="1" dirty="0">
                <a:solidFill>
                  <a:srgbClr val="CC00CC"/>
                </a:solidFill>
                <a:latin typeface="Times New Roman" pitchFamily="18" charset="0"/>
              </a:endParaRPr>
            </a:p>
          </p:txBody>
        </p:sp>
        <p:sp>
          <p:nvSpPr>
            <p:cNvPr id="6" name="Text Box 27">
              <a:extLst>
                <a:ext uri="{FF2B5EF4-FFF2-40B4-BE49-F238E27FC236}">
                  <a16:creationId xmlns:a16="http://schemas.microsoft.com/office/drawing/2014/main" id="{12CE693A-D9BA-C438-2B86-69917F303C7F}"/>
                </a:ext>
              </a:extLst>
            </p:cNvPr>
            <p:cNvSpPr txBox="1">
              <a:spLocks noChangeArrowheads="1"/>
            </p:cNvSpPr>
            <p:nvPr/>
          </p:nvSpPr>
          <p:spPr bwMode="auto">
            <a:xfrm>
              <a:off x="7452478" y="1304962"/>
              <a:ext cx="67486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b="1" dirty="0">
                  <a:solidFill>
                    <a:srgbClr val="CC00CC"/>
                  </a:solidFill>
                  <a:latin typeface="Times New Roman" pitchFamily="18" charset="0"/>
                  <a:sym typeface="Symbol" pitchFamily="18" charset="2"/>
                </a:rPr>
                <a:t>(r, )</a:t>
              </a:r>
              <a:endParaRPr kumimoji="1" lang="en-US" altLang="zh-CN" b="1" dirty="0">
                <a:solidFill>
                  <a:srgbClr val="CC00CC"/>
                </a:solidFill>
                <a:latin typeface="Times New Roman" pitchFamily="18" charset="0"/>
              </a:endParaRPr>
            </a:p>
          </p:txBody>
        </p:sp>
      </p:grpSp>
      <p:sp>
        <p:nvSpPr>
          <p:cNvPr id="32" name="文本框 31">
            <a:extLst>
              <a:ext uri="{FF2B5EF4-FFF2-40B4-BE49-F238E27FC236}">
                <a16:creationId xmlns:a16="http://schemas.microsoft.com/office/drawing/2014/main" id="{446EED7C-A8D1-FB0D-33CD-2CC7B8B4ACB7}"/>
              </a:ext>
            </a:extLst>
          </p:cNvPr>
          <p:cNvSpPr txBox="1"/>
          <p:nvPr/>
        </p:nvSpPr>
        <p:spPr>
          <a:xfrm>
            <a:off x="7062652" y="4528020"/>
            <a:ext cx="4472501" cy="1366528"/>
          </a:xfrm>
          <a:prstGeom prst="rect">
            <a:avLst/>
          </a:prstGeom>
          <a:noFill/>
        </p:spPr>
        <p:txBody>
          <a:bodyPr wrap="square">
            <a:spAutoFit/>
          </a:body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lang="en-US" altLang="en-US" dirty="0">
                <a:solidFill>
                  <a:srgbClr val="0013A3"/>
                </a:solidFill>
                <a:latin typeface="Calibri" panose="020F0502020204030204" pitchFamily="34" charset="0"/>
                <a:cs typeface="Calibri" panose="020F0502020204030204" pitchFamily="34" charset="0"/>
              </a:rPr>
              <a:t>Note</a:t>
            </a:r>
            <a:r>
              <a:rPr kumimoji="0" lang="en-US" altLang="en-US" sz="1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The more bits each symbol can represent, the more difficult it is for the receiver to correctly identify each state when demodulation is carried out, and the error rate increases.</a:t>
            </a:r>
            <a:endParaRPr kumimoji="0" lang="en-US" altLang="en-US" sz="18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695891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Ultimate capacity of channel</a:t>
            </a:r>
          </a:p>
        </p:txBody>
      </p:sp>
      <p:sp>
        <p:nvSpPr>
          <p:cNvPr id="33" name="文本框 32">
            <a:extLst>
              <a:ext uri="{FF2B5EF4-FFF2-40B4-BE49-F238E27FC236}">
                <a16:creationId xmlns:a16="http://schemas.microsoft.com/office/drawing/2014/main" id="{810D353B-28CE-9216-E5A7-5D48BE6BB880}"/>
              </a:ext>
            </a:extLst>
          </p:cNvPr>
          <p:cNvSpPr txBox="1"/>
          <p:nvPr/>
        </p:nvSpPr>
        <p:spPr>
          <a:xfrm>
            <a:off x="798690" y="1489882"/>
            <a:ext cx="9721263" cy="2214965"/>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Any practical channel is not ideal, there will be a variety of distortion and interference in the transmission of signals.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higher the transmission rate of the symbol, the farther the signal transmission distance, or the worse the quality of the transmission media, the more serious the distortion of the waveform at the output of the channel.</a:t>
            </a:r>
          </a:p>
        </p:txBody>
      </p:sp>
      <p:grpSp>
        <p:nvGrpSpPr>
          <p:cNvPr id="57" name="组合 56">
            <a:extLst>
              <a:ext uri="{FF2B5EF4-FFF2-40B4-BE49-F238E27FC236}">
                <a16:creationId xmlns:a16="http://schemas.microsoft.com/office/drawing/2014/main" id="{8C3C62FA-060A-9747-3097-30446CD5316C}"/>
              </a:ext>
            </a:extLst>
          </p:cNvPr>
          <p:cNvGrpSpPr/>
          <p:nvPr/>
        </p:nvGrpSpPr>
        <p:grpSpPr>
          <a:xfrm>
            <a:off x="3268727" y="3641677"/>
            <a:ext cx="5654546" cy="1264402"/>
            <a:chOff x="490636" y="1498303"/>
            <a:chExt cx="8839846" cy="1976659"/>
          </a:xfrm>
        </p:grpSpPr>
        <p:sp>
          <p:nvSpPr>
            <p:cNvPr id="70" name="AutoShape 4">
              <a:extLst>
                <a:ext uri="{FF2B5EF4-FFF2-40B4-BE49-F238E27FC236}">
                  <a16:creationId xmlns:a16="http://schemas.microsoft.com/office/drawing/2014/main" id="{5800030E-C16B-4909-B41B-6FAD5362FFD0}"/>
                </a:ext>
              </a:extLst>
            </p:cNvPr>
            <p:cNvSpPr>
              <a:spLocks noChangeArrowheads="1"/>
            </p:cNvSpPr>
            <p:nvPr/>
          </p:nvSpPr>
          <p:spPr bwMode="auto">
            <a:xfrm rot="-5400000">
              <a:off x="4592787" y="806591"/>
              <a:ext cx="395287" cy="4399227"/>
            </a:xfrm>
            <a:prstGeom prst="can">
              <a:avLst>
                <a:gd name="adj" fmla="val 66775"/>
              </a:avLst>
            </a:prstGeom>
            <a:gradFill rotWithShape="1">
              <a:gsLst>
                <a:gs pos="0">
                  <a:srgbClr val="00B050"/>
                </a:gs>
                <a:gs pos="50000">
                  <a:schemeClr val="bg1"/>
                </a:gs>
                <a:gs pos="100000">
                  <a:srgbClr val="009900"/>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71" name="Freeform 5">
              <a:extLst>
                <a:ext uri="{FF2B5EF4-FFF2-40B4-BE49-F238E27FC236}">
                  <a16:creationId xmlns:a16="http://schemas.microsoft.com/office/drawing/2014/main" id="{F24355C0-EE12-BE46-D5F8-32227CD829EA}"/>
                </a:ext>
              </a:extLst>
            </p:cNvPr>
            <p:cNvSpPr>
              <a:spLocks/>
            </p:cNvSpPr>
            <p:nvPr/>
          </p:nvSpPr>
          <p:spPr bwMode="auto">
            <a:xfrm>
              <a:off x="693887" y="2214835"/>
              <a:ext cx="166819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72" name="Line 6">
              <a:extLst>
                <a:ext uri="{FF2B5EF4-FFF2-40B4-BE49-F238E27FC236}">
                  <a16:creationId xmlns:a16="http://schemas.microsoft.com/office/drawing/2014/main" id="{EB99DE86-AFDD-D5AE-B177-4DFE04B8FC92}"/>
                </a:ext>
              </a:extLst>
            </p:cNvPr>
            <p:cNvSpPr>
              <a:spLocks noChangeShapeType="1"/>
            </p:cNvSpPr>
            <p:nvPr/>
          </p:nvSpPr>
          <p:spPr bwMode="auto">
            <a:xfrm>
              <a:off x="693887" y="3005410"/>
              <a:ext cx="2123942"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73" name="Freeform 7">
              <a:extLst>
                <a:ext uri="{FF2B5EF4-FFF2-40B4-BE49-F238E27FC236}">
                  <a16:creationId xmlns:a16="http://schemas.microsoft.com/office/drawing/2014/main" id="{822530B4-39E3-A9E9-9C53-1FFDC531C8E5}"/>
                </a:ext>
              </a:extLst>
            </p:cNvPr>
            <p:cNvSpPr>
              <a:spLocks/>
            </p:cNvSpPr>
            <p:nvPr/>
          </p:nvSpPr>
          <p:spPr bwMode="auto">
            <a:xfrm>
              <a:off x="7292727" y="2214835"/>
              <a:ext cx="1669918" cy="658812"/>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74" name="Line 8">
              <a:extLst>
                <a:ext uri="{FF2B5EF4-FFF2-40B4-BE49-F238E27FC236}">
                  <a16:creationId xmlns:a16="http://schemas.microsoft.com/office/drawing/2014/main" id="{7AF2EAC9-8B08-7F24-337E-AB028306BCE6}"/>
                </a:ext>
              </a:extLst>
            </p:cNvPr>
            <p:cNvSpPr>
              <a:spLocks noChangeShapeType="1"/>
            </p:cNvSpPr>
            <p:nvPr/>
          </p:nvSpPr>
          <p:spPr bwMode="auto">
            <a:xfrm>
              <a:off x="6990045" y="3005410"/>
              <a:ext cx="2340437"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75" name="Freeform 9">
              <a:extLst>
                <a:ext uri="{FF2B5EF4-FFF2-40B4-BE49-F238E27FC236}">
                  <a16:creationId xmlns:a16="http://schemas.microsoft.com/office/drawing/2014/main" id="{54A01814-1BA3-C96B-E3C4-ADB332EDF4DD}"/>
                </a:ext>
              </a:extLst>
            </p:cNvPr>
            <p:cNvSpPr>
              <a:spLocks/>
            </p:cNvSpPr>
            <p:nvPr/>
          </p:nvSpPr>
          <p:spPr bwMode="auto">
            <a:xfrm>
              <a:off x="7308206" y="2251348"/>
              <a:ext cx="1620044" cy="633413"/>
            </a:xfrm>
            <a:custGeom>
              <a:avLst/>
              <a:gdLst>
                <a:gd name="T0" fmla="*/ 0 w 1026"/>
                <a:gd name="T1" fmla="*/ 447 h 461"/>
                <a:gd name="T2" fmla="*/ 57 w 1026"/>
                <a:gd name="T3" fmla="*/ 459 h 461"/>
                <a:gd name="T4" fmla="*/ 78 w 1026"/>
                <a:gd name="T5" fmla="*/ 456 h 461"/>
                <a:gd name="T6" fmla="*/ 105 w 1026"/>
                <a:gd name="T7" fmla="*/ 444 h 461"/>
                <a:gd name="T8" fmla="*/ 153 w 1026"/>
                <a:gd name="T9" fmla="*/ 444 h 461"/>
                <a:gd name="T10" fmla="*/ 177 w 1026"/>
                <a:gd name="T11" fmla="*/ 354 h 461"/>
                <a:gd name="T12" fmla="*/ 180 w 1026"/>
                <a:gd name="T13" fmla="*/ 258 h 461"/>
                <a:gd name="T14" fmla="*/ 183 w 1026"/>
                <a:gd name="T15" fmla="*/ 246 h 461"/>
                <a:gd name="T16" fmla="*/ 189 w 1026"/>
                <a:gd name="T17" fmla="*/ 207 h 461"/>
                <a:gd name="T18" fmla="*/ 198 w 1026"/>
                <a:gd name="T19" fmla="*/ 180 h 461"/>
                <a:gd name="T20" fmla="*/ 213 w 1026"/>
                <a:gd name="T21" fmla="*/ 96 h 461"/>
                <a:gd name="T22" fmla="*/ 228 w 1026"/>
                <a:gd name="T23" fmla="*/ 18 h 461"/>
                <a:gd name="T24" fmla="*/ 252 w 1026"/>
                <a:gd name="T25" fmla="*/ 3 h 461"/>
                <a:gd name="T26" fmla="*/ 261 w 1026"/>
                <a:gd name="T27" fmla="*/ 0 h 461"/>
                <a:gd name="T28" fmla="*/ 321 w 1026"/>
                <a:gd name="T29" fmla="*/ 27 h 461"/>
                <a:gd name="T30" fmla="*/ 363 w 1026"/>
                <a:gd name="T31" fmla="*/ 27 h 461"/>
                <a:gd name="T32" fmla="*/ 387 w 1026"/>
                <a:gd name="T33" fmla="*/ 81 h 461"/>
                <a:gd name="T34" fmla="*/ 399 w 1026"/>
                <a:gd name="T35" fmla="*/ 222 h 461"/>
                <a:gd name="T36" fmla="*/ 417 w 1026"/>
                <a:gd name="T37" fmla="*/ 366 h 461"/>
                <a:gd name="T38" fmla="*/ 450 w 1026"/>
                <a:gd name="T39" fmla="*/ 417 h 461"/>
                <a:gd name="T40" fmla="*/ 504 w 1026"/>
                <a:gd name="T41" fmla="*/ 444 h 461"/>
                <a:gd name="T42" fmla="*/ 540 w 1026"/>
                <a:gd name="T43" fmla="*/ 450 h 461"/>
                <a:gd name="T44" fmla="*/ 558 w 1026"/>
                <a:gd name="T45" fmla="*/ 444 h 461"/>
                <a:gd name="T46" fmla="*/ 615 w 1026"/>
                <a:gd name="T47" fmla="*/ 459 h 461"/>
                <a:gd name="T48" fmla="*/ 639 w 1026"/>
                <a:gd name="T49" fmla="*/ 450 h 461"/>
                <a:gd name="T50" fmla="*/ 642 w 1026"/>
                <a:gd name="T51" fmla="*/ 432 h 461"/>
                <a:gd name="T52" fmla="*/ 654 w 1026"/>
                <a:gd name="T53" fmla="*/ 405 h 461"/>
                <a:gd name="T54" fmla="*/ 672 w 1026"/>
                <a:gd name="T55" fmla="*/ 315 h 461"/>
                <a:gd name="T56" fmla="*/ 690 w 1026"/>
                <a:gd name="T57" fmla="*/ 171 h 461"/>
                <a:gd name="T58" fmla="*/ 711 w 1026"/>
                <a:gd name="T59" fmla="*/ 81 h 461"/>
                <a:gd name="T60" fmla="*/ 741 w 1026"/>
                <a:gd name="T61" fmla="*/ 24 h 461"/>
                <a:gd name="T62" fmla="*/ 804 w 1026"/>
                <a:gd name="T63" fmla="*/ 45 h 461"/>
                <a:gd name="T64" fmla="*/ 831 w 1026"/>
                <a:gd name="T65" fmla="*/ 66 h 461"/>
                <a:gd name="T66" fmla="*/ 867 w 1026"/>
                <a:gd name="T67" fmla="*/ 69 h 461"/>
                <a:gd name="T68" fmla="*/ 870 w 1026"/>
                <a:gd name="T69" fmla="*/ 84 h 461"/>
                <a:gd name="T70" fmla="*/ 879 w 1026"/>
                <a:gd name="T71" fmla="*/ 135 h 461"/>
                <a:gd name="T72" fmla="*/ 901 w 1026"/>
                <a:gd name="T73" fmla="*/ 267 h 461"/>
                <a:gd name="T74" fmla="*/ 924 w 1026"/>
                <a:gd name="T75" fmla="*/ 363 h 461"/>
                <a:gd name="T76" fmla="*/ 963 w 1026"/>
                <a:gd name="T77" fmla="*/ 432 h 461"/>
                <a:gd name="T78" fmla="*/ 1026 w 1026"/>
                <a:gd name="T79" fmla="*/ 453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6" h="461">
                  <a:moveTo>
                    <a:pt x="0" y="447"/>
                  </a:moveTo>
                  <a:cubicBezTo>
                    <a:pt x="9" y="449"/>
                    <a:pt x="44" y="457"/>
                    <a:pt x="57" y="459"/>
                  </a:cubicBezTo>
                  <a:cubicBezTo>
                    <a:pt x="64" y="461"/>
                    <a:pt x="71" y="457"/>
                    <a:pt x="78" y="456"/>
                  </a:cubicBezTo>
                  <a:cubicBezTo>
                    <a:pt x="88" y="453"/>
                    <a:pt x="95" y="447"/>
                    <a:pt x="105" y="444"/>
                  </a:cubicBezTo>
                  <a:cubicBezTo>
                    <a:pt x="121" y="445"/>
                    <a:pt x="142" y="455"/>
                    <a:pt x="153" y="444"/>
                  </a:cubicBezTo>
                  <a:cubicBezTo>
                    <a:pt x="163" y="434"/>
                    <a:pt x="174" y="371"/>
                    <a:pt x="177" y="354"/>
                  </a:cubicBezTo>
                  <a:cubicBezTo>
                    <a:pt x="178" y="322"/>
                    <a:pt x="178" y="290"/>
                    <a:pt x="180" y="258"/>
                  </a:cubicBezTo>
                  <a:cubicBezTo>
                    <a:pt x="180" y="254"/>
                    <a:pt x="182" y="250"/>
                    <a:pt x="183" y="246"/>
                  </a:cubicBezTo>
                  <a:cubicBezTo>
                    <a:pt x="187" y="221"/>
                    <a:pt x="184" y="225"/>
                    <a:pt x="189" y="207"/>
                  </a:cubicBezTo>
                  <a:cubicBezTo>
                    <a:pt x="192" y="198"/>
                    <a:pt x="198" y="180"/>
                    <a:pt x="198" y="180"/>
                  </a:cubicBezTo>
                  <a:cubicBezTo>
                    <a:pt x="200" y="148"/>
                    <a:pt x="206" y="126"/>
                    <a:pt x="213" y="96"/>
                  </a:cubicBezTo>
                  <a:cubicBezTo>
                    <a:pt x="215" y="75"/>
                    <a:pt x="214" y="38"/>
                    <a:pt x="228" y="18"/>
                  </a:cubicBezTo>
                  <a:cubicBezTo>
                    <a:pt x="238" y="4"/>
                    <a:pt x="231" y="10"/>
                    <a:pt x="252" y="3"/>
                  </a:cubicBezTo>
                  <a:cubicBezTo>
                    <a:pt x="255" y="2"/>
                    <a:pt x="261" y="0"/>
                    <a:pt x="261" y="0"/>
                  </a:cubicBezTo>
                  <a:cubicBezTo>
                    <a:pt x="284" y="11"/>
                    <a:pt x="295" y="23"/>
                    <a:pt x="321" y="27"/>
                  </a:cubicBezTo>
                  <a:cubicBezTo>
                    <a:pt x="335" y="26"/>
                    <a:pt x="355" y="16"/>
                    <a:pt x="363" y="27"/>
                  </a:cubicBezTo>
                  <a:cubicBezTo>
                    <a:pt x="374" y="42"/>
                    <a:pt x="376" y="65"/>
                    <a:pt x="387" y="81"/>
                  </a:cubicBezTo>
                  <a:cubicBezTo>
                    <a:pt x="389" y="141"/>
                    <a:pt x="399" y="159"/>
                    <a:pt x="399" y="222"/>
                  </a:cubicBezTo>
                  <a:cubicBezTo>
                    <a:pt x="401" y="267"/>
                    <a:pt x="413" y="321"/>
                    <a:pt x="417" y="366"/>
                  </a:cubicBezTo>
                  <a:cubicBezTo>
                    <a:pt x="425" y="397"/>
                    <a:pt x="436" y="404"/>
                    <a:pt x="450" y="417"/>
                  </a:cubicBezTo>
                  <a:cubicBezTo>
                    <a:pt x="462" y="435"/>
                    <a:pt x="483" y="440"/>
                    <a:pt x="504" y="444"/>
                  </a:cubicBezTo>
                  <a:cubicBezTo>
                    <a:pt x="518" y="453"/>
                    <a:pt x="522" y="454"/>
                    <a:pt x="540" y="450"/>
                  </a:cubicBezTo>
                  <a:cubicBezTo>
                    <a:pt x="546" y="448"/>
                    <a:pt x="558" y="444"/>
                    <a:pt x="558" y="444"/>
                  </a:cubicBezTo>
                  <a:cubicBezTo>
                    <a:pt x="570" y="445"/>
                    <a:pt x="602" y="458"/>
                    <a:pt x="615" y="459"/>
                  </a:cubicBezTo>
                  <a:cubicBezTo>
                    <a:pt x="622" y="454"/>
                    <a:pt x="633" y="456"/>
                    <a:pt x="639" y="450"/>
                  </a:cubicBezTo>
                  <a:cubicBezTo>
                    <a:pt x="643" y="445"/>
                    <a:pt x="641" y="438"/>
                    <a:pt x="642" y="432"/>
                  </a:cubicBezTo>
                  <a:cubicBezTo>
                    <a:pt x="644" y="422"/>
                    <a:pt x="651" y="415"/>
                    <a:pt x="654" y="405"/>
                  </a:cubicBezTo>
                  <a:cubicBezTo>
                    <a:pt x="658" y="327"/>
                    <a:pt x="656" y="363"/>
                    <a:pt x="672" y="315"/>
                  </a:cubicBezTo>
                  <a:cubicBezTo>
                    <a:pt x="677" y="266"/>
                    <a:pt x="678" y="219"/>
                    <a:pt x="690" y="171"/>
                  </a:cubicBezTo>
                  <a:cubicBezTo>
                    <a:pt x="693" y="134"/>
                    <a:pt x="700" y="113"/>
                    <a:pt x="711" y="81"/>
                  </a:cubicBezTo>
                  <a:cubicBezTo>
                    <a:pt x="714" y="53"/>
                    <a:pt x="712" y="34"/>
                    <a:pt x="741" y="24"/>
                  </a:cubicBezTo>
                  <a:cubicBezTo>
                    <a:pt x="783" y="28"/>
                    <a:pt x="771" y="37"/>
                    <a:pt x="804" y="45"/>
                  </a:cubicBezTo>
                  <a:cubicBezTo>
                    <a:pt x="815" y="52"/>
                    <a:pt x="843" y="54"/>
                    <a:pt x="831" y="66"/>
                  </a:cubicBezTo>
                  <a:cubicBezTo>
                    <a:pt x="842" y="64"/>
                    <a:pt x="856" y="62"/>
                    <a:pt x="867" y="69"/>
                  </a:cubicBezTo>
                  <a:cubicBezTo>
                    <a:pt x="871" y="72"/>
                    <a:pt x="868" y="79"/>
                    <a:pt x="870" y="84"/>
                  </a:cubicBezTo>
                  <a:cubicBezTo>
                    <a:pt x="873" y="91"/>
                    <a:pt x="875" y="129"/>
                    <a:pt x="879" y="135"/>
                  </a:cubicBezTo>
                  <a:cubicBezTo>
                    <a:pt x="884" y="165"/>
                    <a:pt x="893" y="229"/>
                    <a:pt x="901" y="267"/>
                  </a:cubicBezTo>
                  <a:cubicBezTo>
                    <a:pt x="909" y="305"/>
                    <a:pt x="914" y="335"/>
                    <a:pt x="924" y="363"/>
                  </a:cubicBezTo>
                  <a:cubicBezTo>
                    <a:pt x="934" y="391"/>
                    <a:pt x="946" y="417"/>
                    <a:pt x="963" y="432"/>
                  </a:cubicBezTo>
                  <a:cubicBezTo>
                    <a:pt x="980" y="447"/>
                    <a:pt x="1013" y="449"/>
                    <a:pt x="1026" y="453"/>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76" name="Text Box 10">
              <a:extLst>
                <a:ext uri="{FF2B5EF4-FFF2-40B4-BE49-F238E27FC236}">
                  <a16:creationId xmlns:a16="http://schemas.microsoft.com/office/drawing/2014/main" id="{1EE3C9B1-E05D-F4B8-BA92-0F5DEC6EA8AB}"/>
                </a:ext>
              </a:extLst>
            </p:cNvPr>
            <p:cNvSpPr txBox="1">
              <a:spLocks noChangeArrowheads="1"/>
            </p:cNvSpPr>
            <p:nvPr/>
          </p:nvSpPr>
          <p:spPr bwMode="auto">
            <a:xfrm>
              <a:off x="2741325" y="2089438"/>
              <a:ext cx="4137909" cy="721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实际的信道</a:t>
              </a:r>
            </a:p>
            <a:p>
              <a:pPr algn="ctr"/>
              <a:r>
                <a:rPr kumimoji="1" lang="zh-CN" altLang="en-US" sz="1200" b="1" dirty="0">
                  <a:solidFill>
                    <a:srgbClr val="0000FF"/>
                  </a:solidFill>
                  <a:latin typeface="微软雅黑" pitchFamily="34" charset="-122"/>
                  <a:ea typeface="微软雅黑" pitchFamily="34" charset="-122"/>
                </a:rPr>
                <a:t>（带宽受限、有噪声、干扰和失真）</a:t>
              </a:r>
            </a:p>
          </p:txBody>
        </p:sp>
        <p:sp>
          <p:nvSpPr>
            <p:cNvPr id="77" name="Text Box 11">
              <a:extLst>
                <a:ext uri="{FF2B5EF4-FFF2-40B4-BE49-F238E27FC236}">
                  <a16:creationId xmlns:a16="http://schemas.microsoft.com/office/drawing/2014/main" id="{84D6CDA6-3B9B-75BC-09DA-64F886ED3C56}"/>
                </a:ext>
              </a:extLst>
            </p:cNvPr>
            <p:cNvSpPr txBox="1">
              <a:spLocks noChangeArrowheads="1"/>
            </p:cNvSpPr>
            <p:nvPr/>
          </p:nvSpPr>
          <p:spPr bwMode="auto">
            <a:xfrm>
              <a:off x="747101" y="3027636"/>
              <a:ext cx="1732149" cy="43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CC"/>
                  </a:solidFill>
                  <a:latin typeface="微软雅黑" pitchFamily="34" charset="-122"/>
                  <a:ea typeface="微软雅黑" pitchFamily="34" charset="-122"/>
                </a:rPr>
                <a:t>发送信号波形</a:t>
              </a:r>
            </a:p>
          </p:txBody>
        </p:sp>
        <p:sp>
          <p:nvSpPr>
            <p:cNvPr id="78" name="Text Box 12">
              <a:extLst>
                <a:ext uri="{FF2B5EF4-FFF2-40B4-BE49-F238E27FC236}">
                  <a16:creationId xmlns:a16="http://schemas.microsoft.com/office/drawing/2014/main" id="{4CA6BD6B-D1F0-45EF-B1BC-66E318D95362}"/>
                </a:ext>
              </a:extLst>
            </p:cNvPr>
            <p:cNvSpPr txBox="1">
              <a:spLocks noChangeArrowheads="1"/>
            </p:cNvSpPr>
            <p:nvPr/>
          </p:nvSpPr>
          <p:spPr bwMode="auto">
            <a:xfrm>
              <a:off x="7116551" y="3041925"/>
              <a:ext cx="2084388" cy="43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1200" b="1">
                  <a:solidFill>
                    <a:srgbClr val="0000CC"/>
                  </a:solidFill>
                  <a:latin typeface="微软雅黑" pitchFamily="34" charset="-122"/>
                  <a:ea typeface="微软雅黑" pitchFamily="34" charset="-122"/>
                </a:rPr>
                <a:t>接收信号波形</a:t>
              </a:r>
            </a:p>
          </p:txBody>
        </p:sp>
        <p:sp>
          <p:nvSpPr>
            <p:cNvPr id="79" name="矩形 78">
              <a:extLst>
                <a:ext uri="{FF2B5EF4-FFF2-40B4-BE49-F238E27FC236}">
                  <a16:creationId xmlns:a16="http://schemas.microsoft.com/office/drawing/2014/main" id="{E9F5F62B-719C-C648-9321-3DEF6795EADC}"/>
                </a:ext>
              </a:extLst>
            </p:cNvPr>
            <p:cNvSpPr/>
            <p:nvPr/>
          </p:nvSpPr>
          <p:spPr>
            <a:xfrm>
              <a:off x="490636" y="1498303"/>
              <a:ext cx="2854837" cy="567759"/>
            </a:xfrm>
            <a:prstGeom prst="rect">
              <a:avLst/>
            </a:prstGeom>
          </p:spPr>
          <p:txBody>
            <a:bodyPr wrap="none">
              <a:spAutoFit/>
            </a:bodyPr>
            <a:lstStyle/>
            <a:p>
              <a:pPr>
                <a:lnSpc>
                  <a:spcPct val="110000"/>
                </a:lnSpc>
              </a:pPr>
              <a:r>
                <a:rPr lang="zh-CN" altLang="en-US" sz="1600" b="1" dirty="0">
                  <a:latin typeface="微软雅黑" pitchFamily="34" charset="-122"/>
                  <a:ea typeface="微软雅黑" pitchFamily="34" charset="-122"/>
                </a:rPr>
                <a:t>有失真，但</a:t>
              </a:r>
              <a:r>
                <a:rPr lang="zh-CN" altLang="en-US" sz="1600" b="1" dirty="0">
                  <a:solidFill>
                    <a:srgbClr val="CC00CC"/>
                  </a:solidFill>
                  <a:latin typeface="微软雅黑" pitchFamily="34" charset="-122"/>
                  <a:ea typeface="微软雅黑" pitchFamily="34" charset="-122"/>
                </a:rPr>
                <a:t>可识别</a:t>
              </a:r>
            </a:p>
          </p:txBody>
        </p:sp>
      </p:grpSp>
      <p:grpSp>
        <p:nvGrpSpPr>
          <p:cNvPr id="58" name="组合 57">
            <a:extLst>
              <a:ext uri="{FF2B5EF4-FFF2-40B4-BE49-F238E27FC236}">
                <a16:creationId xmlns:a16="http://schemas.microsoft.com/office/drawing/2014/main" id="{257BEB9F-F97E-B706-40FC-BC6E5E2F521D}"/>
              </a:ext>
            </a:extLst>
          </p:cNvPr>
          <p:cNvGrpSpPr/>
          <p:nvPr/>
        </p:nvGrpSpPr>
        <p:grpSpPr>
          <a:xfrm>
            <a:off x="3213523" y="5220282"/>
            <a:ext cx="5709269" cy="1282063"/>
            <a:chOff x="404333" y="3837509"/>
            <a:chExt cx="8925396" cy="2004271"/>
          </a:xfrm>
        </p:grpSpPr>
        <p:grpSp>
          <p:nvGrpSpPr>
            <p:cNvPr id="59" name="Group 24">
              <a:extLst>
                <a:ext uri="{FF2B5EF4-FFF2-40B4-BE49-F238E27FC236}">
                  <a16:creationId xmlns:a16="http://schemas.microsoft.com/office/drawing/2014/main" id="{3C461049-C074-7650-6B46-4427C0D9AB92}"/>
                </a:ext>
              </a:extLst>
            </p:cNvPr>
            <p:cNvGrpSpPr>
              <a:grpSpLocks/>
            </p:cNvGrpSpPr>
            <p:nvPr/>
          </p:nvGrpSpPr>
          <p:grpSpPr bwMode="auto">
            <a:xfrm>
              <a:off x="627584" y="4409854"/>
              <a:ext cx="8702145" cy="1431926"/>
              <a:chOff x="343" y="2904"/>
              <a:chExt cx="5060" cy="902"/>
            </a:xfrm>
          </p:grpSpPr>
          <p:sp>
            <p:nvSpPr>
              <p:cNvPr id="61" name="AutoShape 13">
                <a:extLst>
                  <a:ext uri="{FF2B5EF4-FFF2-40B4-BE49-F238E27FC236}">
                    <a16:creationId xmlns:a16="http://schemas.microsoft.com/office/drawing/2014/main" id="{CD9B0352-D9DA-AE7F-0E6C-5ADE82202DFB}"/>
                  </a:ext>
                </a:extLst>
              </p:cNvPr>
              <p:cNvSpPr>
                <a:spLocks noChangeArrowheads="1"/>
              </p:cNvSpPr>
              <p:nvPr/>
            </p:nvSpPr>
            <p:spPr bwMode="auto">
              <a:xfrm rot="-5400000">
                <a:off x="2600" y="2210"/>
                <a:ext cx="250" cy="2558"/>
              </a:xfrm>
              <a:prstGeom prst="can">
                <a:avLst>
                  <a:gd name="adj" fmla="val 66508"/>
                </a:avLst>
              </a:prstGeom>
              <a:gradFill rotWithShape="1">
                <a:gsLst>
                  <a:gs pos="0">
                    <a:srgbClr val="00B050"/>
                  </a:gs>
                  <a:gs pos="50000">
                    <a:schemeClr val="bg1"/>
                  </a:gs>
                  <a:gs pos="100000">
                    <a:srgbClr val="009900"/>
                  </a:gs>
                </a:gsLst>
                <a:lin ang="0" scaled="1"/>
              </a:gra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62" name="Freeform 14">
                <a:extLst>
                  <a:ext uri="{FF2B5EF4-FFF2-40B4-BE49-F238E27FC236}">
                    <a16:creationId xmlns:a16="http://schemas.microsoft.com/office/drawing/2014/main" id="{6AFAD06E-BFD9-D5EF-3E07-CD5A1863A7C1}"/>
                  </a:ext>
                </a:extLst>
              </p:cNvPr>
              <p:cNvSpPr>
                <a:spLocks/>
              </p:cNvSpPr>
              <p:nvPr/>
            </p:nvSpPr>
            <p:spPr bwMode="auto">
              <a:xfrm>
                <a:off x="343" y="2991"/>
                <a:ext cx="970"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3810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63" name="Line 15">
                <a:extLst>
                  <a:ext uri="{FF2B5EF4-FFF2-40B4-BE49-F238E27FC236}">
                    <a16:creationId xmlns:a16="http://schemas.microsoft.com/office/drawing/2014/main" id="{84D2A123-7453-1173-E7EE-EAB633F2D9C2}"/>
                  </a:ext>
                </a:extLst>
              </p:cNvPr>
              <p:cNvSpPr>
                <a:spLocks noChangeShapeType="1"/>
              </p:cNvSpPr>
              <p:nvPr/>
            </p:nvSpPr>
            <p:spPr bwMode="auto">
              <a:xfrm>
                <a:off x="343" y="3489"/>
                <a:ext cx="1235"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64" name="Freeform 16">
                <a:extLst>
                  <a:ext uri="{FF2B5EF4-FFF2-40B4-BE49-F238E27FC236}">
                    <a16:creationId xmlns:a16="http://schemas.microsoft.com/office/drawing/2014/main" id="{23F9511A-9A61-C6B1-E2AA-852ACF03C2A9}"/>
                  </a:ext>
                </a:extLst>
              </p:cNvPr>
              <p:cNvSpPr>
                <a:spLocks/>
              </p:cNvSpPr>
              <p:nvPr/>
            </p:nvSpPr>
            <p:spPr bwMode="auto">
              <a:xfrm>
                <a:off x="4180" y="2991"/>
                <a:ext cx="971" cy="415"/>
              </a:xfrm>
              <a:custGeom>
                <a:avLst/>
                <a:gdLst>
                  <a:gd name="T0" fmla="*/ 0 w 1056"/>
                  <a:gd name="T1" fmla="*/ 480 h 480"/>
                  <a:gd name="T2" fmla="*/ 144 w 1056"/>
                  <a:gd name="T3" fmla="*/ 480 h 480"/>
                  <a:gd name="T4" fmla="*/ 144 w 1056"/>
                  <a:gd name="T5" fmla="*/ 0 h 480"/>
                  <a:gd name="T6" fmla="*/ 384 w 1056"/>
                  <a:gd name="T7" fmla="*/ 0 h 480"/>
                  <a:gd name="T8" fmla="*/ 384 w 1056"/>
                  <a:gd name="T9" fmla="*/ 480 h 480"/>
                  <a:gd name="T10" fmla="*/ 624 w 1056"/>
                  <a:gd name="T11" fmla="*/ 480 h 480"/>
                  <a:gd name="T12" fmla="*/ 624 w 1056"/>
                  <a:gd name="T13" fmla="*/ 0 h 480"/>
                  <a:gd name="T14" fmla="*/ 864 w 1056"/>
                  <a:gd name="T15" fmla="*/ 0 h 480"/>
                  <a:gd name="T16" fmla="*/ 864 w 1056"/>
                  <a:gd name="T17" fmla="*/ 480 h 480"/>
                  <a:gd name="T18" fmla="*/ 1056 w 1056"/>
                  <a:gd name="T19" fmla="*/ 48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56" h="480">
                    <a:moveTo>
                      <a:pt x="0" y="480"/>
                    </a:moveTo>
                    <a:lnTo>
                      <a:pt x="144" y="480"/>
                    </a:lnTo>
                    <a:lnTo>
                      <a:pt x="144" y="0"/>
                    </a:lnTo>
                    <a:lnTo>
                      <a:pt x="384" y="0"/>
                    </a:lnTo>
                    <a:lnTo>
                      <a:pt x="384" y="480"/>
                    </a:lnTo>
                    <a:lnTo>
                      <a:pt x="624" y="480"/>
                    </a:lnTo>
                    <a:lnTo>
                      <a:pt x="624" y="0"/>
                    </a:lnTo>
                    <a:lnTo>
                      <a:pt x="864" y="0"/>
                    </a:lnTo>
                    <a:lnTo>
                      <a:pt x="864" y="480"/>
                    </a:lnTo>
                    <a:lnTo>
                      <a:pt x="1056" y="480"/>
                    </a:lnTo>
                  </a:path>
                </a:pathLst>
              </a:custGeom>
              <a:noFill/>
              <a:ln w="19050" cap="flat" cmpd="sng">
                <a:solidFill>
                  <a:srgbClr val="333399"/>
                </a:solidFill>
                <a:prstDash val="dash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65" name="Line 17">
                <a:extLst>
                  <a:ext uri="{FF2B5EF4-FFF2-40B4-BE49-F238E27FC236}">
                    <a16:creationId xmlns:a16="http://schemas.microsoft.com/office/drawing/2014/main" id="{2751F9B8-D3AA-F467-AD0B-43C2F4E4617B}"/>
                  </a:ext>
                </a:extLst>
              </p:cNvPr>
              <p:cNvSpPr>
                <a:spLocks noChangeShapeType="1"/>
              </p:cNvSpPr>
              <p:nvPr/>
            </p:nvSpPr>
            <p:spPr bwMode="auto">
              <a:xfrm>
                <a:off x="4004" y="3489"/>
                <a:ext cx="1399" cy="0"/>
              </a:xfrm>
              <a:prstGeom prst="line">
                <a:avLst/>
              </a:prstGeom>
              <a:noFill/>
              <a:ln w="38100">
                <a:solidFill>
                  <a:srgbClr val="00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66" name="Freeform 18">
                <a:extLst>
                  <a:ext uri="{FF2B5EF4-FFF2-40B4-BE49-F238E27FC236}">
                    <a16:creationId xmlns:a16="http://schemas.microsoft.com/office/drawing/2014/main" id="{D7158FD6-2B91-9710-6F13-E2B8747C36A0}"/>
                  </a:ext>
                </a:extLst>
              </p:cNvPr>
              <p:cNvSpPr>
                <a:spLocks/>
              </p:cNvSpPr>
              <p:nvPr/>
            </p:nvSpPr>
            <p:spPr bwMode="auto">
              <a:xfrm>
                <a:off x="4186" y="3270"/>
                <a:ext cx="934" cy="124"/>
              </a:xfrm>
              <a:custGeom>
                <a:avLst/>
                <a:gdLst>
                  <a:gd name="T0" fmla="*/ 0 w 1017"/>
                  <a:gd name="T1" fmla="*/ 109 h 143"/>
                  <a:gd name="T2" fmla="*/ 57 w 1017"/>
                  <a:gd name="T3" fmla="*/ 130 h 143"/>
                  <a:gd name="T4" fmla="*/ 84 w 1017"/>
                  <a:gd name="T5" fmla="*/ 130 h 143"/>
                  <a:gd name="T6" fmla="*/ 114 w 1017"/>
                  <a:gd name="T7" fmla="*/ 91 h 143"/>
                  <a:gd name="T8" fmla="*/ 162 w 1017"/>
                  <a:gd name="T9" fmla="*/ 34 h 143"/>
                  <a:gd name="T10" fmla="*/ 180 w 1017"/>
                  <a:gd name="T11" fmla="*/ 58 h 143"/>
                  <a:gd name="T12" fmla="*/ 189 w 1017"/>
                  <a:gd name="T13" fmla="*/ 109 h 143"/>
                  <a:gd name="T14" fmla="*/ 201 w 1017"/>
                  <a:gd name="T15" fmla="*/ 76 h 143"/>
                  <a:gd name="T16" fmla="*/ 219 w 1017"/>
                  <a:gd name="T17" fmla="*/ 82 h 143"/>
                  <a:gd name="T18" fmla="*/ 252 w 1017"/>
                  <a:gd name="T19" fmla="*/ 79 h 143"/>
                  <a:gd name="T20" fmla="*/ 327 w 1017"/>
                  <a:gd name="T21" fmla="*/ 100 h 143"/>
                  <a:gd name="T22" fmla="*/ 351 w 1017"/>
                  <a:gd name="T23" fmla="*/ 121 h 143"/>
                  <a:gd name="T24" fmla="*/ 408 w 1017"/>
                  <a:gd name="T25" fmla="*/ 79 h 143"/>
                  <a:gd name="T26" fmla="*/ 465 w 1017"/>
                  <a:gd name="T27" fmla="*/ 103 h 143"/>
                  <a:gd name="T28" fmla="*/ 507 w 1017"/>
                  <a:gd name="T29" fmla="*/ 121 h 143"/>
                  <a:gd name="T30" fmla="*/ 564 w 1017"/>
                  <a:gd name="T31" fmla="*/ 121 h 143"/>
                  <a:gd name="T32" fmla="*/ 615 w 1017"/>
                  <a:gd name="T33" fmla="*/ 88 h 143"/>
                  <a:gd name="T34" fmla="*/ 639 w 1017"/>
                  <a:gd name="T35" fmla="*/ 70 h 143"/>
                  <a:gd name="T36" fmla="*/ 657 w 1017"/>
                  <a:gd name="T37" fmla="*/ 109 h 143"/>
                  <a:gd name="T38" fmla="*/ 672 w 1017"/>
                  <a:gd name="T39" fmla="*/ 49 h 143"/>
                  <a:gd name="T40" fmla="*/ 699 w 1017"/>
                  <a:gd name="T41" fmla="*/ 40 h 143"/>
                  <a:gd name="T42" fmla="*/ 756 w 1017"/>
                  <a:gd name="T43" fmla="*/ 64 h 143"/>
                  <a:gd name="T44" fmla="*/ 801 w 1017"/>
                  <a:gd name="T45" fmla="*/ 67 h 143"/>
                  <a:gd name="T46" fmla="*/ 834 w 1017"/>
                  <a:gd name="T47" fmla="*/ 97 h 143"/>
                  <a:gd name="T48" fmla="*/ 873 w 1017"/>
                  <a:gd name="T49" fmla="*/ 115 h 143"/>
                  <a:gd name="T50" fmla="*/ 891 w 1017"/>
                  <a:gd name="T51" fmla="*/ 85 h 143"/>
                  <a:gd name="T52" fmla="*/ 912 w 1017"/>
                  <a:gd name="T53" fmla="*/ 103 h 143"/>
                  <a:gd name="T54" fmla="*/ 927 w 1017"/>
                  <a:gd name="T55" fmla="*/ 67 h 143"/>
                  <a:gd name="T56" fmla="*/ 972 w 1017"/>
                  <a:gd name="T57" fmla="*/ 112 h 143"/>
                  <a:gd name="T58" fmla="*/ 1017 w 1017"/>
                  <a:gd name="T59" fmla="*/ 12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17" h="143">
                    <a:moveTo>
                      <a:pt x="0" y="109"/>
                    </a:moveTo>
                    <a:cubicBezTo>
                      <a:pt x="9" y="111"/>
                      <a:pt x="44" y="128"/>
                      <a:pt x="57" y="130"/>
                    </a:cubicBezTo>
                    <a:cubicBezTo>
                      <a:pt x="64" y="132"/>
                      <a:pt x="77" y="131"/>
                      <a:pt x="84" y="130"/>
                    </a:cubicBezTo>
                    <a:cubicBezTo>
                      <a:pt x="94" y="127"/>
                      <a:pt x="104" y="94"/>
                      <a:pt x="114" y="91"/>
                    </a:cubicBezTo>
                    <a:cubicBezTo>
                      <a:pt x="130" y="92"/>
                      <a:pt x="151" y="45"/>
                      <a:pt x="162" y="34"/>
                    </a:cubicBezTo>
                    <a:cubicBezTo>
                      <a:pt x="172" y="24"/>
                      <a:pt x="177" y="75"/>
                      <a:pt x="180" y="58"/>
                    </a:cubicBezTo>
                    <a:cubicBezTo>
                      <a:pt x="181" y="26"/>
                      <a:pt x="187" y="141"/>
                      <a:pt x="189" y="109"/>
                    </a:cubicBezTo>
                    <a:cubicBezTo>
                      <a:pt x="189" y="105"/>
                      <a:pt x="200" y="80"/>
                      <a:pt x="201" y="76"/>
                    </a:cubicBezTo>
                    <a:cubicBezTo>
                      <a:pt x="205" y="51"/>
                      <a:pt x="214" y="100"/>
                      <a:pt x="219" y="82"/>
                    </a:cubicBezTo>
                    <a:cubicBezTo>
                      <a:pt x="222" y="73"/>
                      <a:pt x="252" y="79"/>
                      <a:pt x="252" y="79"/>
                    </a:cubicBezTo>
                    <a:cubicBezTo>
                      <a:pt x="254" y="47"/>
                      <a:pt x="320" y="130"/>
                      <a:pt x="327" y="100"/>
                    </a:cubicBezTo>
                    <a:cubicBezTo>
                      <a:pt x="355" y="75"/>
                      <a:pt x="322" y="123"/>
                      <a:pt x="351" y="121"/>
                    </a:cubicBezTo>
                    <a:cubicBezTo>
                      <a:pt x="364" y="92"/>
                      <a:pt x="396" y="88"/>
                      <a:pt x="408" y="79"/>
                    </a:cubicBezTo>
                    <a:cubicBezTo>
                      <a:pt x="425" y="79"/>
                      <a:pt x="448" y="96"/>
                      <a:pt x="465" y="103"/>
                    </a:cubicBezTo>
                    <a:cubicBezTo>
                      <a:pt x="477" y="121"/>
                      <a:pt x="486" y="117"/>
                      <a:pt x="507" y="121"/>
                    </a:cubicBezTo>
                    <a:cubicBezTo>
                      <a:pt x="523" y="128"/>
                      <a:pt x="546" y="114"/>
                      <a:pt x="564" y="121"/>
                    </a:cubicBezTo>
                    <a:cubicBezTo>
                      <a:pt x="576" y="122"/>
                      <a:pt x="602" y="87"/>
                      <a:pt x="615" y="88"/>
                    </a:cubicBezTo>
                    <a:cubicBezTo>
                      <a:pt x="628" y="90"/>
                      <a:pt x="632" y="67"/>
                      <a:pt x="639" y="70"/>
                    </a:cubicBezTo>
                    <a:cubicBezTo>
                      <a:pt x="641" y="60"/>
                      <a:pt x="654" y="119"/>
                      <a:pt x="657" y="109"/>
                    </a:cubicBezTo>
                    <a:cubicBezTo>
                      <a:pt x="661" y="31"/>
                      <a:pt x="656" y="97"/>
                      <a:pt x="672" y="49"/>
                    </a:cubicBezTo>
                    <a:cubicBezTo>
                      <a:pt x="677" y="0"/>
                      <a:pt x="687" y="88"/>
                      <a:pt x="699" y="40"/>
                    </a:cubicBezTo>
                    <a:cubicBezTo>
                      <a:pt x="712" y="40"/>
                      <a:pt x="737" y="85"/>
                      <a:pt x="756" y="64"/>
                    </a:cubicBezTo>
                    <a:cubicBezTo>
                      <a:pt x="798" y="68"/>
                      <a:pt x="768" y="59"/>
                      <a:pt x="801" y="67"/>
                    </a:cubicBezTo>
                    <a:cubicBezTo>
                      <a:pt x="820" y="26"/>
                      <a:pt x="822" y="143"/>
                      <a:pt x="834" y="97"/>
                    </a:cubicBezTo>
                    <a:cubicBezTo>
                      <a:pt x="838" y="100"/>
                      <a:pt x="871" y="110"/>
                      <a:pt x="873" y="115"/>
                    </a:cubicBezTo>
                    <a:cubicBezTo>
                      <a:pt x="876" y="122"/>
                      <a:pt x="887" y="79"/>
                      <a:pt x="891" y="85"/>
                    </a:cubicBezTo>
                    <a:cubicBezTo>
                      <a:pt x="896" y="115"/>
                      <a:pt x="906" y="106"/>
                      <a:pt x="912" y="103"/>
                    </a:cubicBezTo>
                    <a:cubicBezTo>
                      <a:pt x="918" y="100"/>
                      <a:pt x="917" y="65"/>
                      <a:pt x="927" y="67"/>
                    </a:cubicBezTo>
                    <a:cubicBezTo>
                      <a:pt x="937" y="69"/>
                      <a:pt x="957" y="103"/>
                      <a:pt x="972" y="112"/>
                    </a:cubicBezTo>
                    <a:cubicBezTo>
                      <a:pt x="987" y="121"/>
                      <a:pt x="1005" y="112"/>
                      <a:pt x="1017" y="121"/>
                    </a:cubicBezTo>
                  </a:path>
                </a:pathLst>
              </a:custGeom>
              <a:noFill/>
              <a:ln w="57150"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CC"/>
                  </a:solidFill>
                </a:endParaRPr>
              </a:p>
            </p:txBody>
          </p:sp>
          <p:sp>
            <p:nvSpPr>
              <p:cNvPr id="67" name="Text Box 19">
                <a:extLst>
                  <a:ext uri="{FF2B5EF4-FFF2-40B4-BE49-F238E27FC236}">
                    <a16:creationId xmlns:a16="http://schemas.microsoft.com/office/drawing/2014/main" id="{A74F9995-4533-F1D8-A9D7-6DDFDFAF3DB0}"/>
                  </a:ext>
                </a:extLst>
              </p:cNvPr>
              <p:cNvSpPr txBox="1">
                <a:spLocks noChangeArrowheads="1"/>
              </p:cNvSpPr>
              <p:nvPr/>
            </p:nvSpPr>
            <p:spPr bwMode="auto">
              <a:xfrm>
                <a:off x="374" y="3503"/>
                <a:ext cx="1007"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CC"/>
                    </a:solidFill>
                    <a:latin typeface="微软雅黑" pitchFamily="34" charset="-122"/>
                    <a:ea typeface="微软雅黑" pitchFamily="34" charset="-122"/>
                  </a:rPr>
                  <a:t>发送信号波形</a:t>
                </a:r>
              </a:p>
            </p:txBody>
          </p:sp>
          <p:sp>
            <p:nvSpPr>
              <p:cNvPr id="68" name="Text Box 22">
                <a:extLst>
                  <a:ext uri="{FF2B5EF4-FFF2-40B4-BE49-F238E27FC236}">
                    <a16:creationId xmlns:a16="http://schemas.microsoft.com/office/drawing/2014/main" id="{4602A93E-EB87-D7A3-7033-06A59BC918F3}"/>
                  </a:ext>
                </a:extLst>
              </p:cNvPr>
              <p:cNvSpPr txBox="1">
                <a:spLocks noChangeArrowheads="1"/>
              </p:cNvSpPr>
              <p:nvPr/>
            </p:nvSpPr>
            <p:spPr bwMode="auto">
              <a:xfrm>
                <a:off x="1547" y="2904"/>
                <a:ext cx="2406" cy="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实际的信道</a:t>
                </a:r>
              </a:p>
              <a:p>
                <a:pPr algn="ctr"/>
                <a:r>
                  <a:rPr kumimoji="1" lang="zh-CN" altLang="en-US" sz="1200" b="1" dirty="0">
                    <a:solidFill>
                      <a:srgbClr val="0000FF"/>
                    </a:solidFill>
                    <a:latin typeface="微软雅黑" pitchFamily="34" charset="-122"/>
                    <a:ea typeface="微软雅黑" pitchFamily="34" charset="-122"/>
                  </a:rPr>
                  <a:t>（带宽受限、有噪声、干扰和失真）</a:t>
                </a:r>
              </a:p>
            </p:txBody>
          </p:sp>
          <p:sp>
            <p:nvSpPr>
              <p:cNvPr id="69" name="Text Box 23">
                <a:extLst>
                  <a:ext uri="{FF2B5EF4-FFF2-40B4-BE49-F238E27FC236}">
                    <a16:creationId xmlns:a16="http://schemas.microsoft.com/office/drawing/2014/main" id="{29A35F9B-EAD0-50B5-70A3-5B86C1BBD3BE}"/>
                  </a:ext>
                </a:extLst>
              </p:cNvPr>
              <p:cNvSpPr txBox="1">
                <a:spLocks noChangeArrowheads="1"/>
              </p:cNvSpPr>
              <p:nvPr/>
            </p:nvSpPr>
            <p:spPr bwMode="auto">
              <a:xfrm>
                <a:off x="4143" y="3533"/>
                <a:ext cx="1167"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zh-CN" altLang="en-US" sz="1200" b="1" dirty="0">
                    <a:solidFill>
                      <a:srgbClr val="0000CC"/>
                    </a:solidFill>
                    <a:latin typeface="微软雅黑" pitchFamily="34" charset="-122"/>
                    <a:ea typeface="微软雅黑" pitchFamily="34" charset="-122"/>
                  </a:rPr>
                  <a:t>接收信号波形</a:t>
                </a:r>
              </a:p>
            </p:txBody>
          </p:sp>
        </p:grpSp>
        <p:sp>
          <p:nvSpPr>
            <p:cNvPr id="60" name="矩形 59">
              <a:extLst>
                <a:ext uri="{FF2B5EF4-FFF2-40B4-BE49-F238E27FC236}">
                  <a16:creationId xmlns:a16="http://schemas.microsoft.com/office/drawing/2014/main" id="{610CF7E7-86CF-1DD0-F160-DA2B9A76CB66}"/>
                </a:ext>
              </a:extLst>
            </p:cNvPr>
            <p:cNvSpPr/>
            <p:nvPr/>
          </p:nvSpPr>
          <p:spPr>
            <a:xfrm>
              <a:off x="404333" y="3837509"/>
              <a:ext cx="2950065" cy="529267"/>
            </a:xfrm>
            <a:prstGeom prst="rect">
              <a:avLst/>
            </a:prstGeom>
          </p:spPr>
          <p:txBody>
            <a:bodyPr wrap="none">
              <a:spAutoFit/>
            </a:bodyPr>
            <a:lstStyle/>
            <a:p>
              <a:r>
                <a:rPr lang="zh-CN" altLang="en-US" sz="1600" b="1" dirty="0">
                  <a:latin typeface="微软雅黑" pitchFamily="34" charset="-122"/>
                  <a:ea typeface="微软雅黑" pitchFamily="34" charset="-122"/>
                </a:rPr>
                <a:t>失真大，</a:t>
              </a:r>
              <a:r>
                <a:rPr lang="zh-CN" altLang="en-US" sz="1600" b="1" dirty="0">
                  <a:solidFill>
                    <a:srgbClr val="CC00CC"/>
                  </a:solidFill>
                  <a:latin typeface="微软雅黑" pitchFamily="34" charset="-122"/>
                  <a:ea typeface="微软雅黑" pitchFamily="34" charset="-122"/>
                </a:rPr>
                <a:t>无法识别 </a:t>
              </a:r>
            </a:p>
          </p:txBody>
        </p:sp>
      </p:grpSp>
    </p:spTree>
    <p:extLst>
      <p:ext uri="{BB962C8B-B14F-4D97-AF65-F5344CB8AC3E}">
        <p14:creationId xmlns:p14="http://schemas.microsoft.com/office/powerpoint/2010/main" val="1338422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Ultimate capacity of channel</a:t>
            </a:r>
          </a:p>
        </p:txBody>
      </p:sp>
      <p:sp>
        <p:nvSpPr>
          <p:cNvPr id="33" name="文本框 32">
            <a:extLst>
              <a:ext uri="{FF2B5EF4-FFF2-40B4-BE49-F238E27FC236}">
                <a16:creationId xmlns:a16="http://schemas.microsoft.com/office/drawing/2014/main" id="{810D353B-28CE-9216-E5A7-5D48BE6BB880}"/>
              </a:ext>
            </a:extLst>
          </p:cNvPr>
          <p:cNvSpPr txBox="1"/>
          <p:nvPr/>
        </p:nvSpPr>
        <p:spPr>
          <a:xfrm>
            <a:off x="798690" y="1489882"/>
            <a:ext cx="9721263" cy="1660968"/>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800" dirty="0"/>
              <a:t>Conceptually, there are two factors that limit the transmission rate of a symbol over a channel: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The range of frequencies through which the channel can pass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Signal to noise ratio</a:t>
            </a:r>
          </a:p>
        </p:txBody>
      </p:sp>
    </p:spTree>
    <p:extLst>
      <p:ext uri="{BB962C8B-B14F-4D97-AF65-F5344CB8AC3E}">
        <p14:creationId xmlns:p14="http://schemas.microsoft.com/office/powerpoint/2010/main" val="2701330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range of frequencies through which the channel can pass</a:t>
            </a:r>
          </a:p>
        </p:txBody>
      </p:sp>
      <p:sp>
        <p:nvSpPr>
          <p:cNvPr id="6" name="文本框 5">
            <a:extLst>
              <a:ext uri="{FF2B5EF4-FFF2-40B4-BE49-F238E27FC236}">
                <a16:creationId xmlns:a16="http://schemas.microsoft.com/office/drawing/2014/main" id="{469A565C-38C2-0452-7D2E-1DEF2D6103B6}"/>
              </a:ext>
            </a:extLst>
          </p:cNvPr>
          <p:cNvSpPr txBox="1"/>
          <p:nvPr/>
        </p:nvSpPr>
        <p:spPr>
          <a:xfrm>
            <a:off x="653143" y="1433186"/>
            <a:ext cx="10661148" cy="4798237"/>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frequency range that a specific channel can pass through is always limited. Many high-frequency components in the signal often fail to pass through the channel. </a:t>
            </a:r>
          </a:p>
          <a:p>
            <a:pPr marL="352425" indent="-222250">
              <a:lnSpc>
                <a:spcPct val="90000"/>
              </a:lnSpc>
              <a:spcBef>
                <a:spcPts val="1000"/>
              </a:spcBef>
              <a:buClr>
                <a:srgbClr val="0000A3"/>
              </a:buClr>
              <a:buFont typeface="Wingdings" charset="2"/>
              <a:buChar char="§"/>
              <a:defRPr/>
            </a:pPr>
            <a:endParaRPr lang="en" altLang="zh-CN" sz="2400" dirty="0">
              <a:solidFill>
                <a:prstClr val="black"/>
              </a:solidFill>
              <a:latin typeface="Calibri" panose="020F0502020204030204"/>
              <a:ea typeface="ＭＳ Ｐゴシック" panose="020B0600070205080204" pitchFamily="34" charset="-128"/>
            </a:endParaRP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In 1924, Nyquist derived the famous Nyquist criterion. He gave an upper bound on the transmission rate of a symbol in order to avoid </a:t>
            </a:r>
            <a:r>
              <a:rPr lang="en" altLang="zh-CN" sz="2400" dirty="0" err="1">
                <a:solidFill>
                  <a:prstClr val="black"/>
                </a:solidFill>
                <a:latin typeface="Calibri" panose="020F0502020204030204"/>
                <a:ea typeface="ＭＳ Ｐゴシック" panose="020B0600070205080204" pitchFamily="34" charset="-128"/>
              </a:rPr>
              <a:t>intersymbol</a:t>
            </a:r>
            <a:r>
              <a:rPr lang="en" altLang="zh-CN" sz="2400" dirty="0">
                <a:solidFill>
                  <a:prstClr val="black"/>
                </a:solidFill>
                <a:latin typeface="Calibri" panose="020F0502020204030204"/>
                <a:ea typeface="ＭＳ Ｐゴシック" panose="020B0600070205080204" pitchFamily="34" charset="-128"/>
              </a:rPr>
              <a:t> crosstalk under assumed ideal conditions.</a:t>
            </a:r>
          </a:p>
          <a:p>
            <a:pPr marL="695325" lvl="1" indent="-231775">
              <a:lnSpc>
                <a:spcPct val="90000"/>
              </a:lnSpc>
              <a:spcBef>
                <a:spcPts val="500"/>
              </a:spcBef>
              <a:buClr>
                <a:srgbClr val="0000A8"/>
              </a:buClr>
              <a:buFont typeface="Arial"/>
              <a:buChar char="•"/>
              <a:defRPr/>
            </a:pPr>
            <a:r>
              <a:rPr lang="en-US" altLang="zh-CN" sz="2400" dirty="0">
                <a:solidFill>
                  <a:prstClr val="black"/>
                </a:solidFill>
                <a:latin typeface="Calibri" panose="020F0502020204030204"/>
                <a:ea typeface="ＭＳ Ｐゴシック" panose="020B0600070205080204" pitchFamily="34" charset="-128"/>
              </a:rPr>
              <a:t>In any channel, the rate of symbol transmission is bounded, otherwise the problem of </a:t>
            </a:r>
            <a:r>
              <a:rPr lang="en-US" altLang="zh-CN" sz="2400" dirty="0" err="1">
                <a:solidFill>
                  <a:prstClr val="black"/>
                </a:solidFill>
                <a:latin typeface="Calibri" panose="020F0502020204030204"/>
                <a:ea typeface="ＭＳ Ｐゴシック" panose="020B0600070205080204" pitchFamily="34" charset="-128"/>
              </a:rPr>
              <a:t>intersymbol</a:t>
            </a:r>
            <a:r>
              <a:rPr lang="en-US" altLang="zh-CN" sz="2400" dirty="0">
                <a:solidFill>
                  <a:prstClr val="black"/>
                </a:solidFill>
                <a:latin typeface="Calibri" panose="020F0502020204030204"/>
                <a:ea typeface="ＭＳ Ｐゴシック" panose="020B0600070205080204" pitchFamily="34" charset="-128"/>
              </a:rPr>
              <a:t> interference will occur, making the decision of symbol (i.e., recognition) impossible at the receiver.</a:t>
            </a:r>
          </a:p>
          <a:p>
            <a:pPr marL="695325" lvl="1" indent="-231775">
              <a:lnSpc>
                <a:spcPct val="90000"/>
              </a:lnSpc>
              <a:spcBef>
                <a:spcPts val="500"/>
              </a:spcBef>
              <a:buClr>
                <a:srgbClr val="0000A8"/>
              </a:buClr>
              <a:buFont typeface="Arial"/>
              <a:buChar char="•"/>
              <a:defRPr/>
            </a:pPr>
            <a:r>
              <a:rPr lang="en-US" altLang="zh-CN" sz="2400" dirty="0">
                <a:solidFill>
                  <a:prstClr val="black"/>
                </a:solidFill>
                <a:latin typeface="Calibri" panose="020F0502020204030204"/>
                <a:ea typeface="ＭＳ Ｐゴシック" panose="020B0600070205080204" pitchFamily="34" charset="-128"/>
              </a:rPr>
              <a:t>If the channel has a wider frequency band, that is, the more high-frequency components of the signal can be passed through, then symbols can be transmitted at a higher rate without </a:t>
            </a:r>
            <a:r>
              <a:rPr lang="en-US" altLang="zh-CN" sz="2400" dirty="0" err="1">
                <a:solidFill>
                  <a:prstClr val="black"/>
                </a:solidFill>
                <a:latin typeface="Calibri" panose="020F0502020204030204"/>
                <a:ea typeface="ＭＳ Ｐゴシック" panose="020B0600070205080204" pitchFamily="34" charset="-128"/>
              </a:rPr>
              <a:t>intersymbol</a:t>
            </a:r>
            <a:r>
              <a:rPr lang="en-US" altLang="zh-CN" sz="2400" dirty="0">
                <a:solidFill>
                  <a:prstClr val="black"/>
                </a:solidFill>
                <a:latin typeface="Calibri" panose="020F0502020204030204"/>
                <a:ea typeface="ＭＳ Ｐゴシック" panose="020B0600070205080204" pitchFamily="34" charset="-128"/>
              </a:rPr>
              <a:t> interference.</a:t>
            </a:r>
            <a:endParaRPr lang="en" altLang="zh-CN" sz="2400" dirty="0">
              <a:solidFill>
                <a:prstClr val="black"/>
              </a:solidFill>
              <a:latin typeface="Calibri" panose="020F0502020204030204"/>
              <a:ea typeface="ＭＳ Ｐゴシック" panose="020B0600070205080204" pitchFamily="34" charset="-128"/>
            </a:endParaRPr>
          </a:p>
        </p:txBody>
      </p:sp>
    </p:spTree>
    <p:extLst>
      <p:ext uri="{BB962C8B-B14F-4D97-AF65-F5344CB8AC3E}">
        <p14:creationId xmlns:p14="http://schemas.microsoft.com/office/powerpoint/2010/main" val="2747648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SNR</a:t>
            </a:r>
            <a:r>
              <a:rPr lang="zh-CN" altLang="en-US" b="1" dirty="0">
                <a:solidFill>
                  <a:srgbClr val="000099"/>
                </a:solidFill>
              </a:rPr>
              <a:t> </a:t>
            </a:r>
            <a:r>
              <a:rPr lang="en-US" altLang="en-US" b="1" dirty="0">
                <a:solidFill>
                  <a:srgbClr val="000099"/>
                </a:solidFill>
              </a:rPr>
              <a:t>(Signal to Noise Ratio)</a:t>
            </a:r>
          </a:p>
        </p:txBody>
      </p:sp>
      <p:sp>
        <p:nvSpPr>
          <p:cNvPr id="6" name="文本框 5">
            <a:extLst>
              <a:ext uri="{FF2B5EF4-FFF2-40B4-BE49-F238E27FC236}">
                <a16:creationId xmlns:a16="http://schemas.microsoft.com/office/drawing/2014/main" id="{469A565C-38C2-0452-7D2E-1DEF2D6103B6}"/>
              </a:ext>
            </a:extLst>
          </p:cNvPr>
          <p:cNvSpPr txBox="1"/>
          <p:nvPr/>
        </p:nvSpPr>
        <p:spPr>
          <a:xfrm>
            <a:off x="653143" y="1433186"/>
            <a:ext cx="10661148" cy="4777718"/>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Noise is present in all electronic devices and communication channels.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noise is randomly generated and its instantaneous value can sometimes be large. Therefore, the noise will make the receiver make errors in the decision of the symbol.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But the effect of noise is relative. If the signal is relatively strong, then the effect of noise is relatively small.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SNR is simply the ratio of the average power of the signal to the average power of the noise. It is often written as S/N and is measured in decibels (dB). That is: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SNR= 10 log10(S/N) (dB)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For example, when S/N=10, the SNR is 10dB, while when S/N=1000, the SNR is 30dB.</a:t>
            </a:r>
          </a:p>
        </p:txBody>
      </p:sp>
    </p:spTree>
    <p:extLst>
      <p:ext uri="{BB962C8B-B14F-4D97-AF65-F5344CB8AC3E}">
        <p14:creationId xmlns:p14="http://schemas.microsoft.com/office/powerpoint/2010/main" val="1249987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SNR</a:t>
            </a:r>
            <a:r>
              <a:rPr lang="zh-CN" altLang="en-US" b="1" dirty="0">
                <a:solidFill>
                  <a:srgbClr val="000099"/>
                </a:solidFill>
              </a:rPr>
              <a:t> </a:t>
            </a:r>
            <a:r>
              <a:rPr lang="en-US" altLang="en-US" b="1" dirty="0">
                <a:solidFill>
                  <a:srgbClr val="000099"/>
                </a:solidFill>
              </a:rPr>
              <a:t>(Signal to Noise Ratio)</a:t>
            </a:r>
          </a:p>
        </p:txBody>
      </p:sp>
      <p:sp>
        <p:nvSpPr>
          <p:cNvPr id="6" name="文本框 5">
            <a:extLst>
              <a:ext uri="{FF2B5EF4-FFF2-40B4-BE49-F238E27FC236}">
                <a16:creationId xmlns:a16="http://schemas.microsoft.com/office/drawing/2014/main" id="{469A565C-38C2-0452-7D2E-1DEF2D6103B6}"/>
              </a:ext>
            </a:extLst>
          </p:cNvPr>
          <p:cNvSpPr txBox="1"/>
          <p:nvPr/>
        </p:nvSpPr>
        <p:spPr>
          <a:xfrm>
            <a:off x="653143" y="1433186"/>
            <a:ext cx="10661148" cy="3725122"/>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In 19</a:t>
            </a:r>
            <a:r>
              <a:rPr lang="en-US" altLang="zh-CN" sz="2400" dirty="0">
                <a:solidFill>
                  <a:prstClr val="black"/>
                </a:solidFill>
                <a:latin typeface="Calibri" panose="020F0502020204030204"/>
                <a:ea typeface="ＭＳ Ｐゴシック" panose="020B0600070205080204" pitchFamily="34" charset="-128"/>
              </a:rPr>
              <a:t>48</a:t>
            </a:r>
            <a:r>
              <a:rPr lang="en" altLang="zh-CN" sz="2400" dirty="0">
                <a:solidFill>
                  <a:prstClr val="black"/>
                </a:solidFill>
                <a:latin typeface="Calibri" panose="020F0502020204030204"/>
                <a:ea typeface="ＭＳ Ｐゴシック" panose="020B0600070205080204" pitchFamily="34" charset="-128"/>
              </a:rPr>
              <a:t>, Shannon used the theory of information theory to derive the</a:t>
            </a:r>
            <a:r>
              <a:rPr lang="en" altLang="zh-CN" sz="2400" dirty="0">
                <a:solidFill>
                  <a:srgbClr val="0013A3"/>
                </a:solidFill>
                <a:latin typeface="Calibri" panose="020F0502020204030204" pitchFamily="34" charset="0"/>
                <a:cs typeface="Calibri" panose="020F0502020204030204" pitchFamily="34" charset="0"/>
              </a:rPr>
              <a:t> limit and error-free</a:t>
            </a:r>
            <a:r>
              <a:rPr lang="en" altLang="zh-CN" sz="2400" dirty="0">
                <a:solidFill>
                  <a:prstClr val="black"/>
                </a:solidFill>
                <a:latin typeface="Calibri" panose="020F0502020204030204"/>
                <a:ea typeface="ＭＳ Ｐゴシック" panose="020B0600070205080204" pitchFamily="34" charset="-128"/>
              </a:rPr>
              <a:t> information transmission rate of the channel with limited bandwidth and Gaussian white noise interference (Shannon formula).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limiting information transmission rate C of the channel can be expressed as follows.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C = W log2(1+S/N) (bit/s)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Where W is the bandwidth of the channel (in Hz);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S is the average power of the signal transmitted in the channel;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N is the Gaussian noise power inside the channel.</a:t>
            </a:r>
          </a:p>
        </p:txBody>
      </p:sp>
    </p:spTree>
    <p:extLst>
      <p:ext uri="{BB962C8B-B14F-4D97-AF65-F5344CB8AC3E}">
        <p14:creationId xmlns:p14="http://schemas.microsoft.com/office/powerpoint/2010/main" val="545497548"/>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Shannon's formula shows that</a:t>
            </a:r>
          </a:p>
        </p:txBody>
      </p:sp>
      <p:sp>
        <p:nvSpPr>
          <p:cNvPr id="6" name="文本框 5">
            <a:extLst>
              <a:ext uri="{FF2B5EF4-FFF2-40B4-BE49-F238E27FC236}">
                <a16:creationId xmlns:a16="http://schemas.microsoft.com/office/drawing/2014/main" id="{469A565C-38C2-0452-7D2E-1DEF2D6103B6}"/>
              </a:ext>
            </a:extLst>
          </p:cNvPr>
          <p:cNvSpPr txBox="1"/>
          <p:nvPr/>
        </p:nvSpPr>
        <p:spPr>
          <a:xfrm>
            <a:off x="653143" y="1433186"/>
            <a:ext cx="10661148" cy="3801041"/>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greater is the bandwidth of the channel or the SNR in the channel, the higher is the limiting transmission rate of information.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As long as the information transmission rate is below the limit information transmission rate of the channel, some way to achieve error-free transmission must be found.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If there is no upper bound on the channel bandwidth W or signal-to-noise ratio S/N (which of course is never the case for real channels), then there is no upper bound on the limit information transmission rate C of the channel.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The achievable information transmission rate over practical channels is much lower than Shannon</a:t>
            </a:r>
            <a:r>
              <a:rPr lang="en-US" altLang="zh-CN" sz="2400" dirty="0">
                <a:solidFill>
                  <a:prstClr val="black"/>
                </a:solidFill>
                <a:latin typeface="Calibri" panose="020F0502020204030204"/>
                <a:ea typeface="ＭＳ Ｐゴシック" panose="020B0600070205080204" pitchFamily="34" charset="-128"/>
              </a:rPr>
              <a:t>’</a:t>
            </a:r>
            <a:r>
              <a:rPr lang="en" altLang="zh-CN" sz="2400" dirty="0">
                <a:solidFill>
                  <a:prstClr val="black"/>
                </a:solidFill>
                <a:latin typeface="Calibri" panose="020F0502020204030204"/>
                <a:ea typeface="ＭＳ Ｐゴシック" panose="020B0600070205080204" pitchFamily="34" charset="-128"/>
              </a:rPr>
              <a:t>s limit transmission rate</a:t>
            </a:r>
            <a:r>
              <a:rPr lang="en-US" altLang="zh-CN" sz="2400" dirty="0">
                <a:solidFill>
                  <a:prstClr val="black"/>
                </a:solidFill>
                <a:latin typeface="Calibri" panose="020F0502020204030204"/>
                <a:ea typeface="ＭＳ Ｐゴシック" panose="020B0600070205080204" pitchFamily="34" charset="-128"/>
              </a:rPr>
              <a:t>.</a:t>
            </a:r>
            <a:endParaRPr lang="en" altLang="zh-CN" sz="2400" dirty="0">
              <a:solidFill>
                <a:prstClr val="black"/>
              </a:solidFill>
              <a:latin typeface="Calibri" panose="020F0502020204030204"/>
              <a:ea typeface="ＭＳ Ｐゴシック" panose="020B0600070205080204" pitchFamily="34" charset="-128"/>
            </a:endParaRPr>
          </a:p>
        </p:txBody>
      </p:sp>
      <p:sp>
        <p:nvSpPr>
          <p:cNvPr id="3" name="文本框 2">
            <a:extLst>
              <a:ext uri="{FF2B5EF4-FFF2-40B4-BE49-F238E27FC236}">
                <a16:creationId xmlns:a16="http://schemas.microsoft.com/office/drawing/2014/main" id="{D06F02EA-4C43-164F-1B89-261508A55492}"/>
              </a:ext>
            </a:extLst>
          </p:cNvPr>
          <p:cNvSpPr txBox="1"/>
          <p:nvPr/>
        </p:nvSpPr>
        <p:spPr>
          <a:xfrm>
            <a:off x="6662057" y="5234227"/>
            <a:ext cx="5390606" cy="1588127"/>
          </a:xfrm>
          <a:prstGeom prst="rect">
            <a:avLst/>
          </a:prstGeom>
          <a:noFill/>
        </p:spPr>
        <p:txBody>
          <a:bodyPr wrap="square">
            <a:spAutoFit/>
          </a:body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lang="en-US" altLang="en-US" dirty="0">
                <a:solidFill>
                  <a:srgbClr val="0013A3"/>
                </a:solidFill>
                <a:latin typeface="Calibri" panose="020F0502020204030204" pitchFamily="34" charset="0"/>
                <a:cs typeface="Calibri" panose="020F0502020204030204" pitchFamily="34" charset="0"/>
              </a:rPr>
              <a:t>Note</a:t>
            </a:r>
            <a:r>
              <a:rPr kumimoji="0" lang="en-US" altLang="en-US" sz="18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For a defined bandwidth channel, if the signal-to-noise ratio can no longer be improved and the symbol transmission rate has reached the upper bound, there are ways to increase the information transmission rate. That is, </a:t>
            </a:r>
            <a:r>
              <a:rPr lang="en-US" altLang="en-US" dirty="0">
                <a:solidFill>
                  <a:srgbClr val="0013A3"/>
                </a:solidFill>
                <a:latin typeface="Calibri" panose="020F0502020204030204" pitchFamily="34" charset="0"/>
                <a:cs typeface="Calibri" panose="020F0502020204030204" pitchFamily="34" charset="0"/>
              </a:rPr>
              <a:t>using encoding to make each symbol carry more bits of information.</a:t>
            </a:r>
          </a:p>
        </p:txBody>
      </p:sp>
    </p:spTree>
    <p:extLst>
      <p:ext uri="{BB962C8B-B14F-4D97-AF65-F5344CB8AC3E}">
        <p14:creationId xmlns:p14="http://schemas.microsoft.com/office/powerpoint/2010/main" val="817273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Physical Layer roadmap</a:t>
            </a:r>
            <a:endParaRPr lang="en-US" b="1" dirty="0">
              <a:solidFill>
                <a:srgbClr val="000099"/>
              </a:solidFill>
            </a:endParaRPr>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concepts of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knowledge of data communication </a:t>
            </a:r>
          </a:p>
          <a:p>
            <a:pPr marL="407988" indent="-277813">
              <a:spcBef>
                <a:spcPts val="600"/>
              </a:spcBef>
              <a:buClr>
                <a:schemeClr val="bg1">
                  <a:lumMod val="75000"/>
                </a:schemeClr>
              </a:buClr>
            </a:pPr>
            <a:r>
              <a:rPr lang="en-US" altLang="en-US" sz="3200" dirty="0">
                <a:ea typeface="ＭＳ Ｐゴシック" panose="020B0600070205080204" pitchFamily="34" charset="-128"/>
                <a:cs typeface="Arial" panose="020B0604020202020204" pitchFamily="34" charset="0"/>
              </a:rPr>
              <a:t>The transmission medium below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Channel multiplexing techniques</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Broadband Access Technology</a:t>
            </a:r>
          </a:p>
          <a:p>
            <a:pPr marL="407988" indent="-277813">
              <a:spcBef>
                <a:spcPts val="600"/>
              </a:spcBef>
              <a:buClr>
                <a:schemeClr val="bg1">
                  <a:lumMod val="75000"/>
                </a:schemeClr>
              </a:buClr>
            </a:pPr>
            <a:endParaRPr lang="en-US" altLang="en-US" sz="3200" dirty="0">
              <a:solidFill>
                <a:schemeClr val="bg1">
                  <a:lumMod val="75000"/>
                </a:schemeClr>
              </a:solidFill>
              <a:ea typeface="ＭＳ Ｐゴシック" panose="020B0600070205080204" pitchFamily="34" charset="-128"/>
              <a:cs typeface="Arial" panose="020B0604020202020204" pitchFamily="34" charset="0"/>
            </a:endParaRP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Tree>
    <p:extLst>
      <p:ext uri="{BB962C8B-B14F-4D97-AF65-F5344CB8AC3E}">
        <p14:creationId xmlns:p14="http://schemas.microsoft.com/office/powerpoint/2010/main" val="2583764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3468642"/>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The transmission medium</a:t>
            </a:r>
            <a:r>
              <a:rPr lang="en" altLang="zh-CN" sz="2400" dirty="0">
                <a:solidFill>
                  <a:prstClr val="black"/>
                </a:solidFill>
                <a:latin typeface="Calibri" panose="020F0502020204030204"/>
                <a:ea typeface="ＭＳ Ｐゴシック" panose="020B0600070205080204" pitchFamily="34" charset="-128"/>
              </a:rPr>
              <a:t>, is the physical path between the transmitter and the receiver in the data transmission system. </a:t>
            </a:r>
          </a:p>
          <a:p>
            <a:pPr marL="352425"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Transmission media can be divided into two main categories, namely guided transmission media and unguided transmission media. </a:t>
            </a:r>
          </a:p>
          <a:p>
            <a:pPr marL="809625" lvl="1" indent="-222250">
              <a:lnSpc>
                <a:spcPct val="90000"/>
              </a:lnSpc>
              <a:spcBef>
                <a:spcPts val="1000"/>
              </a:spcBef>
              <a:buClr>
                <a:srgbClr val="0000A3"/>
              </a:buClr>
              <a:buFont typeface="Wingdings" charset="2"/>
              <a:buChar char="§"/>
              <a:defRPr/>
            </a:pPr>
            <a:r>
              <a:rPr lang="en" altLang="zh-CN" sz="2400" dirty="0">
                <a:solidFill>
                  <a:prstClr val="black"/>
                </a:solidFill>
                <a:latin typeface="Calibri" panose="020F0502020204030204"/>
                <a:ea typeface="ＭＳ Ｐゴシック" panose="020B0600070205080204" pitchFamily="34" charset="-128"/>
              </a:rPr>
              <a:t>In </a:t>
            </a:r>
            <a:r>
              <a:rPr lang="en" altLang="zh-CN" sz="2400" dirty="0">
                <a:solidFill>
                  <a:srgbClr val="0013A3"/>
                </a:solidFill>
                <a:latin typeface="Calibri" panose="020F0502020204030204" pitchFamily="34" charset="0"/>
                <a:cs typeface="Calibri" panose="020F0502020204030204" pitchFamily="34" charset="0"/>
              </a:rPr>
              <a:t>guided transmission media</a:t>
            </a:r>
            <a:r>
              <a:rPr lang="en" altLang="zh-CN" sz="2400" dirty="0">
                <a:solidFill>
                  <a:prstClr val="black"/>
                </a:solidFill>
                <a:latin typeface="Calibri" panose="020F0502020204030204"/>
                <a:ea typeface="ＭＳ Ｐゴシック" panose="020B0600070205080204" pitchFamily="34" charset="-128"/>
              </a:rPr>
              <a:t>, electromagnetic waves are guided along a solid medium (copper wire or optical fiber). </a:t>
            </a:r>
          </a:p>
          <a:p>
            <a:pPr marL="809625" lvl="1"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Unguided transmission media is free space</a:t>
            </a:r>
            <a:r>
              <a:rPr lang="en" altLang="zh-CN" sz="2400" dirty="0">
                <a:solidFill>
                  <a:prstClr val="black"/>
                </a:solidFill>
                <a:latin typeface="Calibri" panose="020F0502020204030204"/>
                <a:ea typeface="ＭＳ Ｐゴシック" panose="020B0600070205080204" pitchFamily="34" charset="-128"/>
              </a:rPr>
              <a:t>. In unguided transmission media, the transmission of electromagnetic waves is often referred to as wireless transmission.</a:t>
            </a:r>
          </a:p>
        </p:txBody>
      </p:sp>
    </p:spTree>
    <p:extLst>
      <p:ext uri="{BB962C8B-B14F-4D97-AF65-F5344CB8AC3E}">
        <p14:creationId xmlns:p14="http://schemas.microsoft.com/office/powerpoint/2010/main" val="678741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885371"/>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The spectrum of electromagnetic waves used in telecommunications:</a:t>
            </a:r>
          </a:p>
          <a:p>
            <a:pPr marL="352425" indent="-222250">
              <a:lnSpc>
                <a:spcPct val="90000"/>
              </a:lnSpc>
              <a:spcBef>
                <a:spcPts val="1000"/>
              </a:spcBef>
              <a:buClr>
                <a:srgbClr val="0000A3"/>
              </a:buClr>
              <a:buFont typeface="Wingdings" charset="2"/>
              <a:buChar char="§"/>
              <a:defRPr/>
            </a:pPr>
            <a:endParaRPr lang="en" altLang="zh-CN" sz="2400" dirty="0">
              <a:solidFill>
                <a:srgbClr val="0013A3"/>
              </a:solidFill>
              <a:latin typeface="Calibri" panose="020F0502020204030204" pitchFamily="34" charset="0"/>
              <a:cs typeface="Calibri" panose="020F0502020204030204" pitchFamily="34" charset="0"/>
            </a:endParaRPr>
          </a:p>
        </p:txBody>
      </p:sp>
      <p:sp>
        <p:nvSpPr>
          <p:cNvPr id="3" name="矩形 2">
            <a:extLst>
              <a:ext uri="{FF2B5EF4-FFF2-40B4-BE49-F238E27FC236}">
                <a16:creationId xmlns:a16="http://schemas.microsoft.com/office/drawing/2014/main" id="{F624E2E7-0D02-ACC7-6E44-329DEDCEBA3D}"/>
              </a:ext>
            </a:extLst>
          </p:cNvPr>
          <p:cNvSpPr/>
          <p:nvPr/>
        </p:nvSpPr>
        <p:spPr>
          <a:xfrm>
            <a:off x="3012116" y="3486006"/>
            <a:ext cx="2096586" cy="1414739"/>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6AAB17D-4E0D-D08C-CF1B-DAFEFA1C197D}"/>
              </a:ext>
            </a:extLst>
          </p:cNvPr>
          <p:cNvSpPr/>
          <p:nvPr/>
        </p:nvSpPr>
        <p:spPr>
          <a:xfrm>
            <a:off x="5079486" y="3486007"/>
            <a:ext cx="1558987" cy="1414738"/>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5FB48A0D-9F9B-51D9-B3B5-A6E79735245A}"/>
              </a:ext>
            </a:extLst>
          </p:cNvPr>
          <p:cNvSpPr/>
          <p:nvPr/>
        </p:nvSpPr>
        <p:spPr>
          <a:xfrm>
            <a:off x="6640637" y="3479333"/>
            <a:ext cx="1546580" cy="14395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110D3650-0048-A9E3-EB5A-3DF774335C70}"/>
              </a:ext>
            </a:extLst>
          </p:cNvPr>
          <p:cNvSpPr/>
          <p:nvPr/>
        </p:nvSpPr>
        <p:spPr>
          <a:xfrm>
            <a:off x="8705705" y="3464703"/>
            <a:ext cx="526774" cy="1446406"/>
          </a:xfrm>
          <a:prstGeom prst="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49E7F1B-4BA8-C44F-2F2C-AF288B0B01F7}"/>
              </a:ext>
            </a:extLst>
          </p:cNvPr>
          <p:cNvSpPr/>
          <p:nvPr/>
        </p:nvSpPr>
        <p:spPr>
          <a:xfrm>
            <a:off x="7121529" y="2495828"/>
            <a:ext cx="1666036" cy="304295"/>
          </a:xfrm>
          <a:prstGeom prst="rect">
            <a:avLst/>
          </a:prstGeom>
          <a:solidFill>
            <a:srgbClr val="00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2610F00C-8335-FCBF-03FA-ADDA0E2E6387}"/>
              </a:ext>
            </a:extLst>
          </p:cNvPr>
          <p:cNvSpPr/>
          <p:nvPr/>
        </p:nvSpPr>
        <p:spPr>
          <a:xfrm>
            <a:off x="6833498" y="2495828"/>
            <a:ext cx="334414" cy="304295"/>
          </a:xfrm>
          <a:prstGeom prst="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C4E759E-20D5-87A5-F2BE-697FEE5B0E21}"/>
              </a:ext>
            </a:extLst>
          </p:cNvPr>
          <p:cNvSpPr/>
          <p:nvPr/>
        </p:nvSpPr>
        <p:spPr>
          <a:xfrm>
            <a:off x="5825385" y="2495828"/>
            <a:ext cx="921671" cy="30429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F7349E5-B90B-82AB-A2D9-12C1EB3BB4E8}"/>
              </a:ext>
            </a:extLst>
          </p:cNvPr>
          <p:cNvSpPr/>
          <p:nvPr/>
        </p:nvSpPr>
        <p:spPr>
          <a:xfrm>
            <a:off x="4966238" y="2495828"/>
            <a:ext cx="921671" cy="304295"/>
          </a:xfrm>
          <a:prstGeom prst="rect">
            <a:avLst/>
          </a:prstGeom>
          <a:solidFill>
            <a:srgbClr val="B1D8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7E2CBC78-4FBF-D0EE-632F-E52187ADA3F7}"/>
              </a:ext>
            </a:extLst>
          </p:cNvPr>
          <p:cNvSpPr/>
          <p:nvPr/>
        </p:nvSpPr>
        <p:spPr>
          <a:xfrm>
            <a:off x="4066409" y="2493774"/>
            <a:ext cx="896585" cy="304295"/>
          </a:xfrm>
          <a:prstGeom prst="rect">
            <a:avLst/>
          </a:prstGeom>
          <a:solidFill>
            <a:srgbClr val="99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A35B99D7-0430-D2D3-F9C3-6E05A3052473}"/>
              </a:ext>
            </a:extLst>
          </p:cNvPr>
          <p:cNvGrpSpPr/>
          <p:nvPr/>
        </p:nvGrpSpPr>
        <p:grpSpPr>
          <a:xfrm>
            <a:off x="2250007" y="2216367"/>
            <a:ext cx="7441419" cy="2975697"/>
            <a:chOff x="676784" y="1429966"/>
            <a:chExt cx="7509802" cy="3003042"/>
          </a:xfrm>
        </p:grpSpPr>
        <p:sp>
          <p:nvSpPr>
            <p:cNvPr id="14" name="Line 6">
              <a:extLst>
                <a:ext uri="{FF2B5EF4-FFF2-40B4-BE49-F238E27FC236}">
                  <a16:creationId xmlns:a16="http://schemas.microsoft.com/office/drawing/2014/main" id="{B2292214-5D4B-A0FF-63F7-E1536146873E}"/>
                </a:ext>
              </a:extLst>
            </p:cNvPr>
            <p:cNvSpPr>
              <a:spLocks noChangeShapeType="1"/>
            </p:cNvSpPr>
            <p:nvPr/>
          </p:nvSpPr>
          <p:spPr bwMode="auto">
            <a:xfrm>
              <a:off x="5628551" y="2020936"/>
              <a:ext cx="2096286" cy="690336"/>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5" name="Rectangle 7">
              <a:extLst>
                <a:ext uri="{FF2B5EF4-FFF2-40B4-BE49-F238E27FC236}">
                  <a16:creationId xmlns:a16="http://schemas.microsoft.com/office/drawing/2014/main" id="{7AB204EB-430E-0A95-9720-3FA550D7DFFA}"/>
                </a:ext>
              </a:extLst>
            </p:cNvPr>
            <p:cNvSpPr>
              <a:spLocks noChangeArrowheads="1"/>
            </p:cNvSpPr>
            <p:nvPr/>
          </p:nvSpPr>
          <p:spPr bwMode="auto">
            <a:xfrm>
              <a:off x="7135611" y="2453704"/>
              <a:ext cx="322942" cy="1961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6" name="Line 8">
              <a:extLst>
                <a:ext uri="{FF2B5EF4-FFF2-40B4-BE49-F238E27FC236}">
                  <a16:creationId xmlns:a16="http://schemas.microsoft.com/office/drawing/2014/main" id="{1147D94D-020E-A8AE-0CAB-A1D4CC940C97}"/>
                </a:ext>
              </a:extLst>
            </p:cNvPr>
            <p:cNvSpPr>
              <a:spLocks noChangeShapeType="1"/>
            </p:cNvSpPr>
            <p:nvPr/>
          </p:nvSpPr>
          <p:spPr bwMode="auto">
            <a:xfrm flipV="1">
              <a:off x="1445895" y="2020936"/>
              <a:ext cx="1045310" cy="690336"/>
            </a:xfrm>
            <a:prstGeom prst="line">
              <a:avLst/>
            </a:prstGeom>
            <a:noFill/>
            <a:ln w="285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7" name="Rectangle 9">
              <a:extLst>
                <a:ext uri="{FF2B5EF4-FFF2-40B4-BE49-F238E27FC236}">
                  <a16:creationId xmlns:a16="http://schemas.microsoft.com/office/drawing/2014/main" id="{8329396B-5EAC-CC8B-8E2B-4E2D5A4CF922}"/>
                </a:ext>
              </a:extLst>
            </p:cNvPr>
            <p:cNvSpPr>
              <a:spLocks noChangeArrowheads="1"/>
            </p:cNvSpPr>
            <p:nvPr/>
          </p:nvSpPr>
          <p:spPr bwMode="auto">
            <a:xfrm>
              <a:off x="1356660" y="2453703"/>
              <a:ext cx="288948" cy="18042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8" name="Line 10">
              <a:extLst>
                <a:ext uri="{FF2B5EF4-FFF2-40B4-BE49-F238E27FC236}">
                  <a16:creationId xmlns:a16="http://schemas.microsoft.com/office/drawing/2014/main" id="{7D2D3D61-568D-F4FF-CB23-78C4DEE14246}"/>
                </a:ext>
              </a:extLst>
            </p:cNvPr>
            <p:cNvSpPr>
              <a:spLocks noChangeShapeType="1"/>
            </p:cNvSpPr>
            <p:nvPr/>
          </p:nvSpPr>
          <p:spPr bwMode="auto">
            <a:xfrm>
              <a:off x="2489787" y="2695582"/>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9" name="Line 12">
              <a:extLst>
                <a:ext uri="{FF2B5EF4-FFF2-40B4-BE49-F238E27FC236}">
                  <a16:creationId xmlns:a16="http://schemas.microsoft.com/office/drawing/2014/main" id="{5516461D-FD0F-87EE-AD63-EA54EC9E3FC7}"/>
                </a:ext>
              </a:extLst>
            </p:cNvPr>
            <p:cNvSpPr>
              <a:spLocks noChangeShapeType="1"/>
            </p:cNvSpPr>
            <p:nvPr/>
          </p:nvSpPr>
          <p:spPr bwMode="auto">
            <a:xfrm>
              <a:off x="1972798" y="2698197"/>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0" name="Line 15">
              <a:extLst>
                <a:ext uri="{FF2B5EF4-FFF2-40B4-BE49-F238E27FC236}">
                  <a16:creationId xmlns:a16="http://schemas.microsoft.com/office/drawing/2014/main" id="{F262EE4E-18D0-2125-3684-6E7DEC8F1475}"/>
                </a:ext>
              </a:extLst>
            </p:cNvPr>
            <p:cNvSpPr>
              <a:spLocks noChangeShapeType="1"/>
            </p:cNvSpPr>
            <p:nvPr/>
          </p:nvSpPr>
          <p:spPr bwMode="auto">
            <a:xfrm>
              <a:off x="3015276" y="2700812"/>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1" name="Line 17">
              <a:extLst>
                <a:ext uri="{FF2B5EF4-FFF2-40B4-BE49-F238E27FC236}">
                  <a16:creationId xmlns:a16="http://schemas.microsoft.com/office/drawing/2014/main" id="{5FAF1F2C-B9FE-CA20-2696-7815B88FC4E7}"/>
                </a:ext>
              </a:extLst>
            </p:cNvPr>
            <p:cNvSpPr>
              <a:spLocks noChangeShapeType="1"/>
            </p:cNvSpPr>
            <p:nvPr/>
          </p:nvSpPr>
          <p:spPr bwMode="auto">
            <a:xfrm>
              <a:off x="3536515" y="2706042"/>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2" name="Line 19">
              <a:extLst>
                <a:ext uri="{FF2B5EF4-FFF2-40B4-BE49-F238E27FC236}">
                  <a16:creationId xmlns:a16="http://schemas.microsoft.com/office/drawing/2014/main" id="{FED2163B-E472-7FD8-C214-2E209EBC255D}"/>
                </a:ext>
              </a:extLst>
            </p:cNvPr>
            <p:cNvSpPr>
              <a:spLocks noChangeShapeType="1"/>
            </p:cNvSpPr>
            <p:nvPr/>
          </p:nvSpPr>
          <p:spPr bwMode="auto">
            <a:xfrm>
              <a:off x="4583240" y="2700812"/>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3" name="Line 21">
              <a:extLst>
                <a:ext uri="{FF2B5EF4-FFF2-40B4-BE49-F238E27FC236}">
                  <a16:creationId xmlns:a16="http://schemas.microsoft.com/office/drawing/2014/main" id="{011A1982-4E7A-545D-64AE-6054BAB4C6CA}"/>
                </a:ext>
              </a:extLst>
            </p:cNvPr>
            <p:cNvSpPr>
              <a:spLocks noChangeShapeType="1"/>
            </p:cNvSpPr>
            <p:nvPr/>
          </p:nvSpPr>
          <p:spPr bwMode="auto">
            <a:xfrm>
              <a:off x="1438812" y="1707146"/>
              <a:ext cx="673077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4" name="Line 22">
              <a:extLst>
                <a:ext uri="{FF2B5EF4-FFF2-40B4-BE49-F238E27FC236}">
                  <a16:creationId xmlns:a16="http://schemas.microsoft.com/office/drawing/2014/main" id="{F1DBEFC2-A3C3-DD4E-964B-9C7F4159F40A}"/>
                </a:ext>
              </a:extLst>
            </p:cNvPr>
            <p:cNvSpPr>
              <a:spLocks noChangeShapeType="1"/>
            </p:cNvSpPr>
            <p:nvPr/>
          </p:nvSpPr>
          <p:spPr bwMode="auto">
            <a:xfrm>
              <a:off x="1455808" y="2020936"/>
              <a:ext cx="673077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5" name="Line 23">
              <a:extLst>
                <a:ext uri="{FF2B5EF4-FFF2-40B4-BE49-F238E27FC236}">
                  <a16:creationId xmlns:a16="http://schemas.microsoft.com/office/drawing/2014/main" id="{45730B2C-81B2-2B45-2F7D-D747FF3F3003}"/>
                </a:ext>
              </a:extLst>
            </p:cNvPr>
            <p:cNvSpPr>
              <a:spLocks noChangeShapeType="1"/>
            </p:cNvSpPr>
            <p:nvPr/>
          </p:nvSpPr>
          <p:spPr bwMode="auto">
            <a:xfrm>
              <a:off x="1435978" y="1707146"/>
              <a:ext cx="0" cy="5020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6" name="Line 24">
              <a:extLst>
                <a:ext uri="{FF2B5EF4-FFF2-40B4-BE49-F238E27FC236}">
                  <a16:creationId xmlns:a16="http://schemas.microsoft.com/office/drawing/2014/main" id="{60724707-0361-25F0-96F5-B678184188F7}"/>
                </a:ext>
              </a:extLst>
            </p:cNvPr>
            <p:cNvSpPr>
              <a:spLocks noChangeShapeType="1"/>
            </p:cNvSpPr>
            <p:nvPr/>
          </p:nvSpPr>
          <p:spPr bwMode="auto">
            <a:xfrm>
              <a:off x="3407621" y="1711068"/>
              <a:ext cx="0" cy="3098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7" name="Line 25">
              <a:extLst>
                <a:ext uri="{FF2B5EF4-FFF2-40B4-BE49-F238E27FC236}">
                  <a16:creationId xmlns:a16="http://schemas.microsoft.com/office/drawing/2014/main" id="{3006BBC4-B40E-9BAB-EE66-EA7F27DCB09C}"/>
                </a:ext>
              </a:extLst>
            </p:cNvPr>
            <p:cNvSpPr>
              <a:spLocks noChangeShapeType="1"/>
            </p:cNvSpPr>
            <p:nvPr/>
          </p:nvSpPr>
          <p:spPr bwMode="auto">
            <a:xfrm>
              <a:off x="2498286" y="1720222"/>
              <a:ext cx="0" cy="3164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8" name="Line 26">
              <a:extLst>
                <a:ext uri="{FF2B5EF4-FFF2-40B4-BE49-F238E27FC236}">
                  <a16:creationId xmlns:a16="http://schemas.microsoft.com/office/drawing/2014/main" id="{580B756B-18D4-636C-239C-C213789FF78E}"/>
                </a:ext>
              </a:extLst>
            </p:cNvPr>
            <p:cNvSpPr>
              <a:spLocks noChangeShapeType="1"/>
            </p:cNvSpPr>
            <p:nvPr/>
          </p:nvSpPr>
          <p:spPr bwMode="auto">
            <a:xfrm>
              <a:off x="5302777" y="1707146"/>
              <a:ext cx="0" cy="3137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29" name="Line 27">
              <a:extLst>
                <a:ext uri="{FF2B5EF4-FFF2-40B4-BE49-F238E27FC236}">
                  <a16:creationId xmlns:a16="http://schemas.microsoft.com/office/drawing/2014/main" id="{9CD2D7E0-837D-B5E3-E286-D55EFCE74B94}"/>
                </a:ext>
              </a:extLst>
            </p:cNvPr>
            <p:cNvSpPr>
              <a:spLocks noChangeShapeType="1"/>
            </p:cNvSpPr>
            <p:nvPr/>
          </p:nvSpPr>
          <p:spPr bwMode="auto">
            <a:xfrm>
              <a:off x="7274419" y="1714991"/>
              <a:ext cx="0" cy="3020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0" name="Line 28">
              <a:extLst>
                <a:ext uri="{FF2B5EF4-FFF2-40B4-BE49-F238E27FC236}">
                  <a16:creationId xmlns:a16="http://schemas.microsoft.com/office/drawing/2014/main" id="{09B79FD8-509E-D7C2-7EAB-5DE88CE6B9B8}"/>
                </a:ext>
              </a:extLst>
            </p:cNvPr>
            <p:cNvSpPr>
              <a:spLocks noChangeShapeType="1"/>
            </p:cNvSpPr>
            <p:nvPr/>
          </p:nvSpPr>
          <p:spPr bwMode="auto">
            <a:xfrm flipV="1">
              <a:off x="1441645" y="2700812"/>
              <a:ext cx="6290275" cy="392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1" name="Text Box 29">
              <a:extLst>
                <a:ext uri="{FF2B5EF4-FFF2-40B4-BE49-F238E27FC236}">
                  <a16:creationId xmlns:a16="http://schemas.microsoft.com/office/drawing/2014/main" id="{9DCEEC32-4198-0962-1AE0-1B69D7236F37}"/>
                </a:ext>
              </a:extLst>
            </p:cNvPr>
            <p:cNvSpPr txBox="1">
              <a:spLocks noChangeArrowheads="1"/>
            </p:cNvSpPr>
            <p:nvPr/>
          </p:nvSpPr>
          <p:spPr bwMode="auto">
            <a:xfrm>
              <a:off x="2656924" y="172283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无线电</a:t>
              </a:r>
            </a:p>
          </p:txBody>
        </p:sp>
        <p:sp>
          <p:nvSpPr>
            <p:cNvPr id="32" name="Text Box 30">
              <a:extLst>
                <a:ext uri="{FF2B5EF4-FFF2-40B4-BE49-F238E27FC236}">
                  <a16:creationId xmlns:a16="http://schemas.microsoft.com/office/drawing/2014/main" id="{D7E4A4E9-E3B7-E362-1D09-C32926A897D3}"/>
                </a:ext>
              </a:extLst>
            </p:cNvPr>
            <p:cNvSpPr txBox="1">
              <a:spLocks noChangeArrowheads="1"/>
            </p:cNvSpPr>
            <p:nvPr/>
          </p:nvSpPr>
          <p:spPr bwMode="auto">
            <a:xfrm>
              <a:off x="3631923" y="17228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微波</a:t>
              </a:r>
            </a:p>
          </p:txBody>
        </p:sp>
        <p:sp>
          <p:nvSpPr>
            <p:cNvPr id="33" name="Line 31">
              <a:extLst>
                <a:ext uri="{FF2B5EF4-FFF2-40B4-BE49-F238E27FC236}">
                  <a16:creationId xmlns:a16="http://schemas.microsoft.com/office/drawing/2014/main" id="{F6C7D0F9-80DF-DCDE-29B0-3CACE91D38DD}"/>
                </a:ext>
              </a:extLst>
            </p:cNvPr>
            <p:cNvSpPr>
              <a:spLocks noChangeShapeType="1"/>
            </p:cNvSpPr>
            <p:nvPr/>
          </p:nvSpPr>
          <p:spPr bwMode="auto">
            <a:xfrm>
              <a:off x="4348117" y="1707146"/>
              <a:ext cx="0" cy="3137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4" name="Line 32">
              <a:extLst>
                <a:ext uri="{FF2B5EF4-FFF2-40B4-BE49-F238E27FC236}">
                  <a16:creationId xmlns:a16="http://schemas.microsoft.com/office/drawing/2014/main" id="{3DAEE4E9-027B-0D4B-28ED-ED53862BC7F5}"/>
                </a:ext>
              </a:extLst>
            </p:cNvPr>
            <p:cNvSpPr>
              <a:spLocks noChangeShapeType="1"/>
            </p:cNvSpPr>
            <p:nvPr/>
          </p:nvSpPr>
          <p:spPr bwMode="auto">
            <a:xfrm>
              <a:off x="5214960" y="1707146"/>
              <a:ext cx="0" cy="31378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5" name="Text Box 33">
              <a:extLst>
                <a:ext uri="{FF2B5EF4-FFF2-40B4-BE49-F238E27FC236}">
                  <a16:creationId xmlns:a16="http://schemas.microsoft.com/office/drawing/2014/main" id="{F98F658F-67B2-9081-FCED-90E6339F9711}"/>
                </a:ext>
              </a:extLst>
            </p:cNvPr>
            <p:cNvSpPr txBox="1">
              <a:spLocks noChangeArrowheads="1"/>
            </p:cNvSpPr>
            <p:nvPr/>
          </p:nvSpPr>
          <p:spPr bwMode="auto">
            <a:xfrm>
              <a:off x="4461429" y="172283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红外线</a:t>
              </a:r>
            </a:p>
          </p:txBody>
        </p:sp>
        <p:sp>
          <p:nvSpPr>
            <p:cNvPr id="36" name="Text Box 34">
              <a:extLst>
                <a:ext uri="{FF2B5EF4-FFF2-40B4-BE49-F238E27FC236}">
                  <a16:creationId xmlns:a16="http://schemas.microsoft.com/office/drawing/2014/main" id="{F110B5BE-AA80-5260-B0B9-98800D6E0B67}"/>
                </a:ext>
              </a:extLst>
            </p:cNvPr>
            <p:cNvSpPr txBox="1">
              <a:spLocks noChangeArrowheads="1"/>
            </p:cNvSpPr>
            <p:nvPr/>
          </p:nvSpPr>
          <p:spPr bwMode="auto">
            <a:xfrm>
              <a:off x="4699386" y="212430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可见光</a:t>
              </a:r>
            </a:p>
          </p:txBody>
        </p:sp>
        <p:sp>
          <p:nvSpPr>
            <p:cNvPr id="37" name="Text Box 35">
              <a:extLst>
                <a:ext uri="{FF2B5EF4-FFF2-40B4-BE49-F238E27FC236}">
                  <a16:creationId xmlns:a16="http://schemas.microsoft.com/office/drawing/2014/main" id="{E674D8D3-14AF-E2CA-E381-3E11B3206B0B}"/>
                </a:ext>
              </a:extLst>
            </p:cNvPr>
            <p:cNvSpPr txBox="1">
              <a:spLocks noChangeArrowheads="1"/>
            </p:cNvSpPr>
            <p:nvPr/>
          </p:nvSpPr>
          <p:spPr bwMode="auto">
            <a:xfrm>
              <a:off x="5324670" y="212430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紫外线</a:t>
              </a:r>
            </a:p>
          </p:txBody>
        </p:sp>
        <p:sp>
          <p:nvSpPr>
            <p:cNvPr id="38" name="Line 36">
              <a:extLst>
                <a:ext uri="{FF2B5EF4-FFF2-40B4-BE49-F238E27FC236}">
                  <a16:creationId xmlns:a16="http://schemas.microsoft.com/office/drawing/2014/main" id="{5ED11E6D-194B-0716-D1F7-0B1A289DEC88}"/>
                </a:ext>
              </a:extLst>
            </p:cNvPr>
            <p:cNvSpPr>
              <a:spLocks noChangeShapeType="1"/>
            </p:cNvSpPr>
            <p:nvPr/>
          </p:nvSpPr>
          <p:spPr bwMode="auto">
            <a:xfrm>
              <a:off x="5639882" y="1707146"/>
              <a:ext cx="0" cy="3177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39" name="Text Box 37">
              <a:extLst>
                <a:ext uri="{FF2B5EF4-FFF2-40B4-BE49-F238E27FC236}">
                  <a16:creationId xmlns:a16="http://schemas.microsoft.com/office/drawing/2014/main" id="{BBD960A9-3D25-2D95-89B6-FFEC5B8D8A61}"/>
                </a:ext>
              </a:extLst>
            </p:cNvPr>
            <p:cNvSpPr txBox="1">
              <a:spLocks noChangeArrowheads="1"/>
            </p:cNvSpPr>
            <p:nvPr/>
          </p:nvSpPr>
          <p:spPr bwMode="auto">
            <a:xfrm>
              <a:off x="6047808" y="1722836"/>
              <a:ext cx="5998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rPr>
                <a:t>X</a:t>
              </a:r>
              <a:r>
                <a:rPr kumimoji="1" lang="zh-CN" altLang="en-US" sz="1200" b="1">
                  <a:solidFill>
                    <a:srgbClr val="0000FF"/>
                  </a:solidFill>
                  <a:latin typeface="微软雅黑" pitchFamily="34" charset="-122"/>
                  <a:ea typeface="微软雅黑" pitchFamily="34" charset="-122"/>
                </a:rPr>
                <a:t>射线</a:t>
              </a:r>
            </a:p>
          </p:txBody>
        </p:sp>
        <p:sp>
          <p:nvSpPr>
            <p:cNvPr id="40" name="Text Box 38">
              <a:extLst>
                <a:ext uri="{FF2B5EF4-FFF2-40B4-BE49-F238E27FC236}">
                  <a16:creationId xmlns:a16="http://schemas.microsoft.com/office/drawing/2014/main" id="{7D2BF354-304E-1E2F-26CE-DEC0F22C0D4E}"/>
                </a:ext>
              </a:extLst>
            </p:cNvPr>
            <p:cNvSpPr txBox="1">
              <a:spLocks noChangeArrowheads="1"/>
            </p:cNvSpPr>
            <p:nvPr/>
          </p:nvSpPr>
          <p:spPr bwMode="auto">
            <a:xfrm>
              <a:off x="7407562" y="1696687"/>
              <a:ext cx="24878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sym typeface="Symbol" pitchFamily="18" charset="2"/>
                </a:rPr>
                <a:t></a:t>
              </a:r>
            </a:p>
          </p:txBody>
        </p:sp>
        <p:sp>
          <p:nvSpPr>
            <p:cNvPr id="41" name="Text Box 39">
              <a:extLst>
                <a:ext uri="{FF2B5EF4-FFF2-40B4-BE49-F238E27FC236}">
                  <a16:creationId xmlns:a16="http://schemas.microsoft.com/office/drawing/2014/main" id="{A560DB52-D816-20D5-B29C-A5E25A8E1AC8}"/>
                </a:ext>
              </a:extLst>
            </p:cNvPr>
            <p:cNvSpPr txBox="1">
              <a:spLocks noChangeArrowheads="1"/>
            </p:cNvSpPr>
            <p:nvPr/>
          </p:nvSpPr>
          <p:spPr bwMode="auto">
            <a:xfrm>
              <a:off x="7540704" y="17228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射线</a:t>
              </a:r>
            </a:p>
          </p:txBody>
        </p:sp>
        <p:sp>
          <p:nvSpPr>
            <p:cNvPr id="42" name="Line 41">
              <a:extLst>
                <a:ext uri="{FF2B5EF4-FFF2-40B4-BE49-F238E27FC236}">
                  <a16:creationId xmlns:a16="http://schemas.microsoft.com/office/drawing/2014/main" id="{41F56580-AE82-0AD7-7259-FBA250A6E9EA}"/>
                </a:ext>
              </a:extLst>
            </p:cNvPr>
            <p:cNvSpPr>
              <a:spLocks noChangeShapeType="1"/>
            </p:cNvSpPr>
            <p:nvPr/>
          </p:nvSpPr>
          <p:spPr bwMode="auto">
            <a:xfrm>
              <a:off x="1441644" y="2962303"/>
              <a:ext cx="1206781"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3" name="Line 43">
              <a:extLst>
                <a:ext uri="{FF2B5EF4-FFF2-40B4-BE49-F238E27FC236}">
                  <a16:creationId xmlns:a16="http://schemas.microsoft.com/office/drawing/2014/main" id="{513DB04B-4DB7-D4EE-3212-DA231E63EAF3}"/>
                </a:ext>
              </a:extLst>
            </p:cNvPr>
            <p:cNvSpPr>
              <a:spLocks noChangeShapeType="1"/>
            </p:cNvSpPr>
            <p:nvPr/>
          </p:nvSpPr>
          <p:spPr bwMode="auto">
            <a:xfrm>
              <a:off x="1968549" y="3269555"/>
              <a:ext cx="2039630"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4" name="Line 45">
              <a:extLst>
                <a:ext uri="{FF2B5EF4-FFF2-40B4-BE49-F238E27FC236}">
                  <a16:creationId xmlns:a16="http://schemas.microsoft.com/office/drawing/2014/main" id="{74E560C4-690B-3C7C-99A1-CA9AC1070A4C}"/>
                </a:ext>
              </a:extLst>
            </p:cNvPr>
            <p:cNvSpPr>
              <a:spLocks noChangeShapeType="1"/>
            </p:cNvSpPr>
            <p:nvPr/>
          </p:nvSpPr>
          <p:spPr bwMode="auto">
            <a:xfrm>
              <a:off x="3872203" y="2987144"/>
              <a:ext cx="1019815"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5" name="Line 47">
              <a:extLst>
                <a:ext uri="{FF2B5EF4-FFF2-40B4-BE49-F238E27FC236}">
                  <a16:creationId xmlns:a16="http://schemas.microsoft.com/office/drawing/2014/main" id="{8DB2B36E-9893-0425-3797-F40430EDF7C8}"/>
                </a:ext>
              </a:extLst>
            </p:cNvPr>
            <p:cNvSpPr>
              <a:spLocks noChangeShapeType="1"/>
            </p:cNvSpPr>
            <p:nvPr/>
          </p:nvSpPr>
          <p:spPr bwMode="auto">
            <a:xfrm>
              <a:off x="4200811" y="3338850"/>
              <a:ext cx="838515"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6" name="Line 51">
              <a:extLst>
                <a:ext uri="{FF2B5EF4-FFF2-40B4-BE49-F238E27FC236}">
                  <a16:creationId xmlns:a16="http://schemas.microsoft.com/office/drawing/2014/main" id="{3D8A9126-9B18-6ED5-2E2D-CC4424C1B0E0}"/>
                </a:ext>
              </a:extLst>
            </p:cNvPr>
            <p:cNvSpPr>
              <a:spLocks noChangeShapeType="1"/>
            </p:cNvSpPr>
            <p:nvPr/>
          </p:nvSpPr>
          <p:spPr bwMode="auto">
            <a:xfrm>
              <a:off x="3362296" y="3778155"/>
              <a:ext cx="385263"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7" name="Text Box 52">
              <a:extLst>
                <a:ext uri="{FF2B5EF4-FFF2-40B4-BE49-F238E27FC236}">
                  <a16:creationId xmlns:a16="http://schemas.microsoft.com/office/drawing/2014/main" id="{DB34C8F0-E84E-E1B8-CA32-B20E532C0AE1}"/>
                </a:ext>
              </a:extLst>
            </p:cNvPr>
            <p:cNvSpPr txBox="1">
              <a:spLocks noChangeArrowheads="1"/>
            </p:cNvSpPr>
            <p:nvPr/>
          </p:nvSpPr>
          <p:spPr bwMode="auto">
            <a:xfrm>
              <a:off x="6682359" y="272434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光纤</a:t>
              </a:r>
            </a:p>
          </p:txBody>
        </p:sp>
        <p:sp>
          <p:nvSpPr>
            <p:cNvPr id="48" name="Line 53">
              <a:extLst>
                <a:ext uri="{FF2B5EF4-FFF2-40B4-BE49-F238E27FC236}">
                  <a16:creationId xmlns:a16="http://schemas.microsoft.com/office/drawing/2014/main" id="{DF746E20-BDBE-C8A0-762C-491F2A9A1640}"/>
                </a:ext>
              </a:extLst>
            </p:cNvPr>
            <p:cNvSpPr>
              <a:spLocks noChangeShapeType="1"/>
            </p:cNvSpPr>
            <p:nvPr/>
          </p:nvSpPr>
          <p:spPr bwMode="auto">
            <a:xfrm>
              <a:off x="6659697" y="2997604"/>
              <a:ext cx="532570" cy="0"/>
            </a:xfrm>
            <a:prstGeom prst="line">
              <a:avLst/>
            </a:prstGeom>
            <a:noFill/>
            <a:ln w="9525">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49" name="Line 55">
              <a:extLst>
                <a:ext uri="{FF2B5EF4-FFF2-40B4-BE49-F238E27FC236}">
                  <a16:creationId xmlns:a16="http://schemas.microsoft.com/office/drawing/2014/main" id="{8172EB67-A0F2-F7E9-6ED6-9EE5F2F97F17}"/>
                </a:ext>
              </a:extLst>
            </p:cNvPr>
            <p:cNvSpPr>
              <a:spLocks noChangeShapeType="1"/>
            </p:cNvSpPr>
            <p:nvPr/>
          </p:nvSpPr>
          <p:spPr bwMode="auto">
            <a:xfrm flipV="1">
              <a:off x="5107762" y="1832662"/>
              <a:ext cx="158188" cy="313789"/>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0" name="Line 56">
              <a:extLst>
                <a:ext uri="{FF2B5EF4-FFF2-40B4-BE49-F238E27FC236}">
                  <a16:creationId xmlns:a16="http://schemas.microsoft.com/office/drawing/2014/main" id="{7797D0D7-9C73-C5F5-093F-27E348AE70AE}"/>
                </a:ext>
              </a:extLst>
            </p:cNvPr>
            <p:cNvSpPr>
              <a:spLocks noChangeShapeType="1"/>
            </p:cNvSpPr>
            <p:nvPr/>
          </p:nvSpPr>
          <p:spPr bwMode="auto">
            <a:xfrm flipH="1" flipV="1">
              <a:off x="5481244" y="1832662"/>
              <a:ext cx="73653" cy="313788"/>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1" name="Line 57">
              <a:extLst>
                <a:ext uri="{FF2B5EF4-FFF2-40B4-BE49-F238E27FC236}">
                  <a16:creationId xmlns:a16="http://schemas.microsoft.com/office/drawing/2014/main" id="{9A0D4A2C-FF5E-7906-22EA-F46D9C6C0B1B}"/>
                </a:ext>
              </a:extLst>
            </p:cNvPr>
            <p:cNvSpPr>
              <a:spLocks noChangeShapeType="1"/>
            </p:cNvSpPr>
            <p:nvPr/>
          </p:nvSpPr>
          <p:spPr bwMode="auto">
            <a:xfrm>
              <a:off x="1560623" y="3840913"/>
              <a:ext cx="611889"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2" name="Line 58">
              <a:extLst>
                <a:ext uri="{FF2B5EF4-FFF2-40B4-BE49-F238E27FC236}">
                  <a16:creationId xmlns:a16="http://schemas.microsoft.com/office/drawing/2014/main" id="{4738F3CB-D908-85D6-818F-E15C5B2C4356}"/>
                </a:ext>
              </a:extLst>
            </p:cNvPr>
            <p:cNvSpPr>
              <a:spLocks noChangeShapeType="1"/>
            </p:cNvSpPr>
            <p:nvPr/>
          </p:nvSpPr>
          <p:spPr bwMode="auto">
            <a:xfrm>
              <a:off x="2308487" y="3840913"/>
              <a:ext cx="407926"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3" name="Line 59">
              <a:extLst>
                <a:ext uri="{FF2B5EF4-FFF2-40B4-BE49-F238E27FC236}">
                  <a16:creationId xmlns:a16="http://schemas.microsoft.com/office/drawing/2014/main" id="{FB29C879-3622-4D9C-26E4-0322BAC9AFC3}"/>
                </a:ext>
              </a:extLst>
            </p:cNvPr>
            <p:cNvSpPr>
              <a:spLocks noChangeShapeType="1"/>
            </p:cNvSpPr>
            <p:nvPr/>
          </p:nvSpPr>
          <p:spPr bwMode="auto">
            <a:xfrm>
              <a:off x="3396290" y="4091944"/>
              <a:ext cx="668546" cy="0"/>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4" name="Line 60">
              <a:extLst>
                <a:ext uri="{FF2B5EF4-FFF2-40B4-BE49-F238E27FC236}">
                  <a16:creationId xmlns:a16="http://schemas.microsoft.com/office/drawing/2014/main" id="{11853A56-161A-E1EB-80B4-FE191D26781D}"/>
                </a:ext>
              </a:extLst>
            </p:cNvPr>
            <p:cNvSpPr>
              <a:spLocks noChangeShapeType="1"/>
            </p:cNvSpPr>
            <p:nvPr/>
          </p:nvSpPr>
          <p:spPr bwMode="auto">
            <a:xfrm>
              <a:off x="1437396" y="4148164"/>
              <a:ext cx="629877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5" name="Line 61">
              <a:extLst>
                <a:ext uri="{FF2B5EF4-FFF2-40B4-BE49-F238E27FC236}">
                  <a16:creationId xmlns:a16="http://schemas.microsoft.com/office/drawing/2014/main" id="{99D900A9-C0BB-7597-618A-85A061B9EBA8}"/>
                </a:ext>
              </a:extLst>
            </p:cNvPr>
            <p:cNvSpPr>
              <a:spLocks noChangeShapeType="1"/>
            </p:cNvSpPr>
            <p:nvPr/>
          </p:nvSpPr>
          <p:spPr bwMode="auto">
            <a:xfrm>
              <a:off x="1447310" y="2704734"/>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6" name="Line 62">
              <a:extLst>
                <a:ext uri="{FF2B5EF4-FFF2-40B4-BE49-F238E27FC236}">
                  <a16:creationId xmlns:a16="http://schemas.microsoft.com/office/drawing/2014/main" id="{2676B952-C13B-A2F2-3EA9-E1F2459823FA}"/>
                </a:ext>
              </a:extLst>
            </p:cNvPr>
            <p:cNvSpPr>
              <a:spLocks noChangeShapeType="1"/>
            </p:cNvSpPr>
            <p:nvPr/>
          </p:nvSpPr>
          <p:spPr bwMode="auto">
            <a:xfrm>
              <a:off x="4062002" y="2699504"/>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7" name="Line 63">
              <a:extLst>
                <a:ext uri="{FF2B5EF4-FFF2-40B4-BE49-F238E27FC236}">
                  <a16:creationId xmlns:a16="http://schemas.microsoft.com/office/drawing/2014/main" id="{A7A15CCD-9A40-596D-9B71-21A52B6DB4E1}"/>
                </a:ext>
              </a:extLst>
            </p:cNvPr>
            <p:cNvSpPr>
              <a:spLocks noChangeShapeType="1"/>
            </p:cNvSpPr>
            <p:nvPr/>
          </p:nvSpPr>
          <p:spPr bwMode="auto">
            <a:xfrm>
              <a:off x="5104480" y="2706042"/>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8" name="Line 64">
              <a:extLst>
                <a:ext uri="{FF2B5EF4-FFF2-40B4-BE49-F238E27FC236}">
                  <a16:creationId xmlns:a16="http://schemas.microsoft.com/office/drawing/2014/main" id="{58E0F422-AB7A-CFA5-1A49-943D5F51D1E4}"/>
                </a:ext>
              </a:extLst>
            </p:cNvPr>
            <p:cNvSpPr>
              <a:spLocks noChangeShapeType="1"/>
            </p:cNvSpPr>
            <p:nvPr/>
          </p:nvSpPr>
          <p:spPr bwMode="auto">
            <a:xfrm>
              <a:off x="5625718" y="2703427"/>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59" name="Line 65">
              <a:extLst>
                <a:ext uri="{FF2B5EF4-FFF2-40B4-BE49-F238E27FC236}">
                  <a16:creationId xmlns:a16="http://schemas.microsoft.com/office/drawing/2014/main" id="{968CB774-310E-D8F4-728F-4B6E9181A369}"/>
                </a:ext>
              </a:extLst>
            </p:cNvPr>
            <p:cNvSpPr>
              <a:spLocks noChangeShapeType="1"/>
            </p:cNvSpPr>
            <p:nvPr/>
          </p:nvSpPr>
          <p:spPr bwMode="auto">
            <a:xfrm>
              <a:off x="6151206" y="2704734"/>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0" name="Line 66">
              <a:extLst>
                <a:ext uri="{FF2B5EF4-FFF2-40B4-BE49-F238E27FC236}">
                  <a16:creationId xmlns:a16="http://schemas.microsoft.com/office/drawing/2014/main" id="{5D0048A3-FCE0-7572-D543-16472A9B3E00}"/>
                </a:ext>
              </a:extLst>
            </p:cNvPr>
            <p:cNvSpPr>
              <a:spLocks noChangeShapeType="1"/>
            </p:cNvSpPr>
            <p:nvPr/>
          </p:nvSpPr>
          <p:spPr bwMode="auto">
            <a:xfrm>
              <a:off x="6676695" y="2713887"/>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1" name="Line 67">
              <a:extLst>
                <a:ext uri="{FF2B5EF4-FFF2-40B4-BE49-F238E27FC236}">
                  <a16:creationId xmlns:a16="http://schemas.microsoft.com/office/drawing/2014/main" id="{D71C1F93-6770-26A6-7B06-749BA75FFE03}"/>
                </a:ext>
              </a:extLst>
            </p:cNvPr>
            <p:cNvSpPr>
              <a:spLocks noChangeShapeType="1"/>
            </p:cNvSpPr>
            <p:nvPr/>
          </p:nvSpPr>
          <p:spPr bwMode="auto">
            <a:xfrm>
              <a:off x="7197933" y="2707349"/>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2" name="Line 68">
              <a:extLst>
                <a:ext uri="{FF2B5EF4-FFF2-40B4-BE49-F238E27FC236}">
                  <a16:creationId xmlns:a16="http://schemas.microsoft.com/office/drawing/2014/main" id="{3B04207D-2483-FCB5-90C7-469ECF29FA4E}"/>
                </a:ext>
              </a:extLst>
            </p:cNvPr>
            <p:cNvSpPr>
              <a:spLocks noChangeShapeType="1"/>
            </p:cNvSpPr>
            <p:nvPr/>
          </p:nvSpPr>
          <p:spPr bwMode="auto">
            <a:xfrm>
              <a:off x="7723421" y="2704734"/>
              <a:ext cx="0" cy="14434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grpSp>
          <p:nvGrpSpPr>
            <p:cNvPr id="63" name="Group 69">
              <a:extLst>
                <a:ext uri="{FF2B5EF4-FFF2-40B4-BE49-F238E27FC236}">
                  <a16:creationId xmlns:a16="http://schemas.microsoft.com/office/drawing/2014/main" id="{8957F428-239D-576E-6B59-FE80A92C570A}"/>
                </a:ext>
              </a:extLst>
            </p:cNvPr>
            <p:cNvGrpSpPr>
              <a:grpSpLocks/>
            </p:cNvGrpSpPr>
            <p:nvPr/>
          </p:nvGrpSpPr>
          <p:grpSpPr bwMode="auto">
            <a:xfrm>
              <a:off x="676784" y="1456117"/>
              <a:ext cx="679877" cy="278488"/>
              <a:chOff x="6" y="352"/>
              <a:chExt cx="480" cy="213"/>
            </a:xfrm>
          </p:grpSpPr>
          <p:sp>
            <p:nvSpPr>
              <p:cNvPr id="91" name="Text Box 70">
                <a:extLst>
                  <a:ext uri="{FF2B5EF4-FFF2-40B4-BE49-F238E27FC236}">
                    <a16:creationId xmlns:a16="http://schemas.microsoft.com/office/drawing/2014/main" id="{BD151D5F-8A9A-ABC8-7B39-71EF3915288C}"/>
                  </a:ext>
                </a:extLst>
              </p:cNvPr>
              <p:cNvSpPr txBox="1">
                <a:spLocks noChangeArrowheads="1"/>
              </p:cNvSpPr>
              <p:nvPr/>
            </p:nvSpPr>
            <p:spPr bwMode="auto">
              <a:xfrm>
                <a:off x="127" y="353"/>
                <a:ext cx="3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(Hz)</a:t>
                </a:r>
              </a:p>
            </p:txBody>
          </p:sp>
          <p:sp>
            <p:nvSpPr>
              <p:cNvPr id="92" name="Text Box 71">
                <a:extLst>
                  <a:ext uri="{FF2B5EF4-FFF2-40B4-BE49-F238E27FC236}">
                    <a16:creationId xmlns:a16="http://schemas.microsoft.com/office/drawing/2014/main" id="{C3BD4BD4-18FC-488C-3944-AC44DB7A1E42}"/>
                  </a:ext>
                </a:extLst>
              </p:cNvPr>
              <p:cNvSpPr txBox="1">
                <a:spLocks noChangeArrowheads="1"/>
              </p:cNvSpPr>
              <p:nvPr/>
            </p:nvSpPr>
            <p:spPr bwMode="auto">
              <a:xfrm>
                <a:off x="6" y="352"/>
                <a:ext cx="1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rPr>
                  <a:t>f</a:t>
                </a:r>
              </a:p>
            </p:txBody>
          </p:sp>
        </p:grpSp>
        <p:grpSp>
          <p:nvGrpSpPr>
            <p:cNvPr id="64" name="Group 72">
              <a:extLst>
                <a:ext uri="{FF2B5EF4-FFF2-40B4-BE49-F238E27FC236}">
                  <a16:creationId xmlns:a16="http://schemas.microsoft.com/office/drawing/2014/main" id="{8B4071ED-7ECE-8A48-68E2-F85B81BB240A}"/>
                </a:ext>
              </a:extLst>
            </p:cNvPr>
            <p:cNvGrpSpPr>
              <a:grpSpLocks/>
            </p:cNvGrpSpPr>
            <p:nvPr/>
          </p:nvGrpSpPr>
          <p:grpSpPr bwMode="auto">
            <a:xfrm>
              <a:off x="682450" y="2423632"/>
              <a:ext cx="669962" cy="317711"/>
              <a:chOff x="78" y="1561"/>
              <a:chExt cx="473" cy="243"/>
            </a:xfrm>
          </p:grpSpPr>
          <p:sp>
            <p:nvSpPr>
              <p:cNvPr id="89" name="Text Box 73">
                <a:extLst>
                  <a:ext uri="{FF2B5EF4-FFF2-40B4-BE49-F238E27FC236}">
                    <a16:creationId xmlns:a16="http://schemas.microsoft.com/office/drawing/2014/main" id="{1325AADF-AB29-BEBD-EE5A-09EBDB4BF0AE}"/>
                  </a:ext>
                </a:extLst>
              </p:cNvPr>
              <p:cNvSpPr txBox="1">
                <a:spLocks noChangeArrowheads="1"/>
              </p:cNvSpPr>
              <p:nvPr/>
            </p:nvSpPr>
            <p:spPr bwMode="auto">
              <a:xfrm>
                <a:off x="159" y="1561"/>
                <a:ext cx="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 (Hz)</a:t>
                </a:r>
              </a:p>
            </p:txBody>
          </p:sp>
          <p:sp>
            <p:nvSpPr>
              <p:cNvPr id="90" name="Text Box 74">
                <a:extLst>
                  <a:ext uri="{FF2B5EF4-FFF2-40B4-BE49-F238E27FC236}">
                    <a16:creationId xmlns:a16="http://schemas.microsoft.com/office/drawing/2014/main" id="{EB3494A8-139C-6129-66E4-A9796B2ED3D5}"/>
                  </a:ext>
                </a:extLst>
              </p:cNvPr>
              <p:cNvSpPr txBox="1">
                <a:spLocks noChangeArrowheads="1"/>
              </p:cNvSpPr>
              <p:nvPr/>
            </p:nvSpPr>
            <p:spPr bwMode="auto">
              <a:xfrm>
                <a:off x="78" y="1592"/>
                <a:ext cx="17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solidFill>
                      <a:srgbClr val="0000FF"/>
                    </a:solidFill>
                    <a:latin typeface="微软雅黑" pitchFamily="34" charset="-122"/>
                    <a:ea typeface="微软雅黑" pitchFamily="34" charset="-122"/>
                  </a:rPr>
                  <a:t>f</a:t>
                </a:r>
              </a:p>
            </p:txBody>
          </p:sp>
        </p:grpSp>
        <p:sp>
          <p:nvSpPr>
            <p:cNvPr id="65" name="Line 75">
              <a:extLst>
                <a:ext uri="{FF2B5EF4-FFF2-40B4-BE49-F238E27FC236}">
                  <a16:creationId xmlns:a16="http://schemas.microsoft.com/office/drawing/2014/main" id="{96911CA0-D43F-D18D-5447-AB126E35EF20}"/>
                </a:ext>
              </a:extLst>
            </p:cNvPr>
            <p:cNvSpPr>
              <a:spLocks noChangeShapeType="1"/>
            </p:cNvSpPr>
            <p:nvPr/>
          </p:nvSpPr>
          <p:spPr bwMode="auto">
            <a:xfrm>
              <a:off x="1628610" y="4148164"/>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6" name="Line 76">
              <a:extLst>
                <a:ext uri="{FF2B5EF4-FFF2-40B4-BE49-F238E27FC236}">
                  <a16:creationId xmlns:a16="http://schemas.microsoft.com/office/drawing/2014/main" id="{04E85FA2-C91C-CE4B-1F54-79CEFDDA8824}"/>
                </a:ext>
              </a:extLst>
            </p:cNvPr>
            <p:cNvSpPr>
              <a:spLocks noChangeShapeType="1"/>
            </p:cNvSpPr>
            <p:nvPr/>
          </p:nvSpPr>
          <p:spPr bwMode="auto">
            <a:xfrm>
              <a:off x="2138518" y="4156009"/>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7" name="Line 77">
              <a:extLst>
                <a:ext uri="{FF2B5EF4-FFF2-40B4-BE49-F238E27FC236}">
                  <a16:creationId xmlns:a16="http://schemas.microsoft.com/office/drawing/2014/main" id="{48697DDB-E151-1859-1EDC-4DFB414C534C}"/>
                </a:ext>
              </a:extLst>
            </p:cNvPr>
            <p:cNvSpPr>
              <a:spLocks noChangeShapeType="1"/>
            </p:cNvSpPr>
            <p:nvPr/>
          </p:nvSpPr>
          <p:spPr bwMode="auto">
            <a:xfrm>
              <a:off x="2652675" y="4159932"/>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8" name="Line 78">
              <a:extLst>
                <a:ext uri="{FF2B5EF4-FFF2-40B4-BE49-F238E27FC236}">
                  <a16:creationId xmlns:a16="http://schemas.microsoft.com/office/drawing/2014/main" id="{2B14B96A-5A27-9941-F232-8535EC9AAE49}"/>
                </a:ext>
              </a:extLst>
            </p:cNvPr>
            <p:cNvSpPr>
              <a:spLocks noChangeShapeType="1"/>
            </p:cNvSpPr>
            <p:nvPr/>
          </p:nvSpPr>
          <p:spPr bwMode="auto">
            <a:xfrm>
              <a:off x="3183828" y="4156009"/>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69" name="Line 79">
              <a:extLst>
                <a:ext uri="{FF2B5EF4-FFF2-40B4-BE49-F238E27FC236}">
                  <a16:creationId xmlns:a16="http://schemas.microsoft.com/office/drawing/2014/main" id="{EE059517-866F-B7FD-5921-04E29A84AD6F}"/>
                </a:ext>
              </a:extLst>
            </p:cNvPr>
            <p:cNvSpPr>
              <a:spLocks noChangeShapeType="1"/>
            </p:cNvSpPr>
            <p:nvPr/>
          </p:nvSpPr>
          <p:spPr bwMode="auto">
            <a:xfrm>
              <a:off x="3689486" y="4156009"/>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0" name="Line 80">
              <a:extLst>
                <a:ext uri="{FF2B5EF4-FFF2-40B4-BE49-F238E27FC236}">
                  <a16:creationId xmlns:a16="http://schemas.microsoft.com/office/drawing/2014/main" id="{23FFF7CE-E379-2D82-FEA8-CF571867C33B}"/>
                </a:ext>
              </a:extLst>
            </p:cNvPr>
            <p:cNvSpPr>
              <a:spLocks noChangeShapeType="1"/>
            </p:cNvSpPr>
            <p:nvPr/>
          </p:nvSpPr>
          <p:spPr bwMode="auto">
            <a:xfrm>
              <a:off x="4220640" y="4156009"/>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1" name="Line 81">
              <a:extLst>
                <a:ext uri="{FF2B5EF4-FFF2-40B4-BE49-F238E27FC236}">
                  <a16:creationId xmlns:a16="http://schemas.microsoft.com/office/drawing/2014/main" id="{66AB31AF-5E96-DD9D-D0CC-29F6F5B85FCC}"/>
                </a:ext>
              </a:extLst>
            </p:cNvPr>
            <p:cNvSpPr>
              <a:spLocks noChangeShapeType="1"/>
            </p:cNvSpPr>
            <p:nvPr/>
          </p:nvSpPr>
          <p:spPr bwMode="auto">
            <a:xfrm>
              <a:off x="4747544" y="4156009"/>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2" name="Line 82">
              <a:extLst>
                <a:ext uri="{FF2B5EF4-FFF2-40B4-BE49-F238E27FC236}">
                  <a16:creationId xmlns:a16="http://schemas.microsoft.com/office/drawing/2014/main" id="{9F8E81DC-0A26-00FF-1E02-675164BE91EB}"/>
                </a:ext>
              </a:extLst>
            </p:cNvPr>
            <p:cNvSpPr>
              <a:spLocks noChangeShapeType="1"/>
            </p:cNvSpPr>
            <p:nvPr/>
          </p:nvSpPr>
          <p:spPr bwMode="auto">
            <a:xfrm>
              <a:off x="5261701" y="4156009"/>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3" name="Line 83">
              <a:extLst>
                <a:ext uri="{FF2B5EF4-FFF2-40B4-BE49-F238E27FC236}">
                  <a16:creationId xmlns:a16="http://schemas.microsoft.com/office/drawing/2014/main" id="{37E424A6-4300-4B2C-D5A3-6D624C6CE085}"/>
                </a:ext>
              </a:extLst>
            </p:cNvPr>
            <p:cNvSpPr>
              <a:spLocks noChangeShapeType="1"/>
            </p:cNvSpPr>
            <p:nvPr/>
          </p:nvSpPr>
          <p:spPr bwMode="auto">
            <a:xfrm>
              <a:off x="5797104" y="4159932"/>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4" name="Line 84">
              <a:extLst>
                <a:ext uri="{FF2B5EF4-FFF2-40B4-BE49-F238E27FC236}">
                  <a16:creationId xmlns:a16="http://schemas.microsoft.com/office/drawing/2014/main" id="{A17869A0-26FD-84DA-D1B1-D6CE5FA4E719}"/>
                </a:ext>
              </a:extLst>
            </p:cNvPr>
            <p:cNvSpPr>
              <a:spLocks noChangeShapeType="1"/>
            </p:cNvSpPr>
            <p:nvPr/>
          </p:nvSpPr>
          <p:spPr bwMode="auto">
            <a:xfrm>
              <a:off x="6319759" y="4152087"/>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5" name="Line 85">
              <a:extLst>
                <a:ext uri="{FF2B5EF4-FFF2-40B4-BE49-F238E27FC236}">
                  <a16:creationId xmlns:a16="http://schemas.microsoft.com/office/drawing/2014/main" id="{FAA88BA5-E8C0-9203-9E5B-F43D9BCB8A97}"/>
                </a:ext>
              </a:extLst>
            </p:cNvPr>
            <p:cNvSpPr>
              <a:spLocks noChangeShapeType="1"/>
            </p:cNvSpPr>
            <p:nvPr/>
          </p:nvSpPr>
          <p:spPr bwMode="auto">
            <a:xfrm>
              <a:off x="6850913" y="4159932"/>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6" name="Line 86">
              <a:extLst>
                <a:ext uri="{FF2B5EF4-FFF2-40B4-BE49-F238E27FC236}">
                  <a16:creationId xmlns:a16="http://schemas.microsoft.com/office/drawing/2014/main" id="{A1ED6797-E0CA-2ADC-0374-9C52EB9483D2}"/>
                </a:ext>
              </a:extLst>
            </p:cNvPr>
            <p:cNvSpPr>
              <a:spLocks noChangeShapeType="1"/>
            </p:cNvSpPr>
            <p:nvPr/>
          </p:nvSpPr>
          <p:spPr bwMode="auto">
            <a:xfrm>
              <a:off x="7377817" y="4152087"/>
              <a:ext cx="0" cy="627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77" name="Text Box 87">
              <a:extLst>
                <a:ext uri="{FF2B5EF4-FFF2-40B4-BE49-F238E27FC236}">
                  <a16:creationId xmlns:a16="http://schemas.microsoft.com/office/drawing/2014/main" id="{B5DA7A09-A21A-FFD8-3D9E-94D4F7BCBE1B}"/>
                </a:ext>
              </a:extLst>
            </p:cNvPr>
            <p:cNvSpPr txBox="1">
              <a:spLocks noChangeArrowheads="1"/>
            </p:cNvSpPr>
            <p:nvPr/>
          </p:nvSpPr>
          <p:spPr bwMode="auto">
            <a:xfrm>
              <a:off x="1686684" y="4156009"/>
              <a:ext cx="3561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LF</a:t>
              </a:r>
            </a:p>
          </p:txBody>
        </p:sp>
        <p:sp>
          <p:nvSpPr>
            <p:cNvPr id="78" name="Text Box 88">
              <a:extLst>
                <a:ext uri="{FF2B5EF4-FFF2-40B4-BE49-F238E27FC236}">
                  <a16:creationId xmlns:a16="http://schemas.microsoft.com/office/drawing/2014/main" id="{E88A1C59-E907-DB8D-5938-EDBE20B637AF}"/>
                </a:ext>
              </a:extLst>
            </p:cNvPr>
            <p:cNvSpPr txBox="1">
              <a:spLocks noChangeArrowheads="1"/>
            </p:cNvSpPr>
            <p:nvPr/>
          </p:nvSpPr>
          <p:spPr bwMode="auto">
            <a:xfrm>
              <a:off x="2209339" y="4156009"/>
              <a:ext cx="42992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MF</a:t>
              </a:r>
            </a:p>
          </p:txBody>
        </p:sp>
        <p:sp>
          <p:nvSpPr>
            <p:cNvPr id="79" name="Text Box 89">
              <a:extLst>
                <a:ext uri="{FF2B5EF4-FFF2-40B4-BE49-F238E27FC236}">
                  <a16:creationId xmlns:a16="http://schemas.microsoft.com/office/drawing/2014/main" id="{77DC789C-85B3-CFA0-20C5-90F32EE1E181}"/>
                </a:ext>
              </a:extLst>
            </p:cNvPr>
            <p:cNvSpPr txBox="1">
              <a:spLocks noChangeArrowheads="1"/>
            </p:cNvSpPr>
            <p:nvPr/>
          </p:nvSpPr>
          <p:spPr bwMode="auto">
            <a:xfrm>
              <a:off x="2731995" y="4156009"/>
              <a:ext cx="3978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HF</a:t>
              </a:r>
            </a:p>
          </p:txBody>
        </p:sp>
        <p:sp>
          <p:nvSpPr>
            <p:cNvPr id="80" name="Text Box 90">
              <a:extLst>
                <a:ext uri="{FF2B5EF4-FFF2-40B4-BE49-F238E27FC236}">
                  <a16:creationId xmlns:a16="http://schemas.microsoft.com/office/drawing/2014/main" id="{1A168094-9E6F-04AD-36D2-DDB16AEE2D7E}"/>
                </a:ext>
              </a:extLst>
            </p:cNvPr>
            <p:cNvSpPr txBox="1">
              <a:spLocks noChangeArrowheads="1"/>
            </p:cNvSpPr>
            <p:nvPr/>
          </p:nvSpPr>
          <p:spPr bwMode="auto">
            <a:xfrm>
              <a:off x="3195160" y="4156009"/>
              <a:ext cx="50847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VHF</a:t>
              </a:r>
            </a:p>
          </p:txBody>
        </p:sp>
        <p:sp>
          <p:nvSpPr>
            <p:cNvPr id="81" name="Text Box 91">
              <a:extLst>
                <a:ext uri="{FF2B5EF4-FFF2-40B4-BE49-F238E27FC236}">
                  <a16:creationId xmlns:a16="http://schemas.microsoft.com/office/drawing/2014/main" id="{72278EFE-9873-21DF-C30D-4B2D8DAF9BDD}"/>
                </a:ext>
              </a:extLst>
            </p:cNvPr>
            <p:cNvSpPr txBox="1">
              <a:spLocks noChangeArrowheads="1"/>
            </p:cNvSpPr>
            <p:nvPr/>
          </p:nvSpPr>
          <p:spPr bwMode="auto">
            <a:xfrm>
              <a:off x="3705067" y="4156009"/>
              <a:ext cx="5180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UHF</a:t>
              </a:r>
            </a:p>
          </p:txBody>
        </p:sp>
        <p:sp>
          <p:nvSpPr>
            <p:cNvPr id="82" name="Text Box 92">
              <a:extLst>
                <a:ext uri="{FF2B5EF4-FFF2-40B4-BE49-F238E27FC236}">
                  <a16:creationId xmlns:a16="http://schemas.microsoft.com/office/drawing/2014/main" id="{C45B436A-81CA-C713-DE6F-CDFE6DBD0C4A}"/>
                </a:ext>
              </a:extLst>
            </p:cNvPr>
            <p:cNvSpPr txBox="1">
              <a:spLocks noChangeArrowheads="1"/>
            </p:cNvSpPr>
            <p:nvPr/>
          </p:nvSpPr>
          <p:spPr bwMode="auto">
            <a:xfrm>
              <a:off x="4210727" y="4156009"/>
              <a:ext cx="4908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SHF</a:t>
              </a:r>
            </a:p>
          </p:txBody>
        </p:sp>
        <p:sp>
          <p:nvSpPr>
            <p:cNvPr id="83" name="Text Box 93">
              <a:extLst>
                <a:ext uri="{FF2B5EF4-FFF2-40B4-BE49-F238E27FC236}">
                  <a16:creationId xmlns:a16="http://schemas.microsoft.com/office/drawing/2014/main" id="{4EBB5DAC-DD9E-5396-F6AC-B01203FEB86B}"/>
                </a:ext>
              </a:extLst>
            </p:cNvPr>
            <p:cNvSpPr txBox="1">
              <a:spLocks noChangeArrowheads="1"/>
            </p:cNvSpPr>
            <p:nvPr/>
          </p:nvSpPr>
          <p:spPr bwMode="auto">
            <a:xfrm>
              <a:off x="4746128" y="4156009"/>
              <a:ext cx="4860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EHF</a:t>
              </a:r>
            </a:p>
          </p:txBody>
        </p:sp>
        <p:sp>
          <p:nvSpPr>
            <p:cNvPr id="84" name="Text Box 94">
              <a:extLst>
                <a:ext uri="{FF2B5EF4-FFF2-40B4-BE49-F238E27FC236}">
                  <a16:creationId xmlns:a16="http://schemas.microsoft.com/office/drawing/2014/main" id="{D485A32B-D2D4-38DF-642A-5D84DA5FB4BB}"/>
                </a:ext>
              </a:extLst>
            </p:cNvPr>
            <p:cNvSpPr txBox="1">
              <a:spLocks noChangeArrowheads="1"/>
            </p:cNvSpPr>
            <p:nvPr/>
          </p:nvSpPr>
          <p:spPr bwMode="auto">
            <a:xfrm>
              <a:off x="5264534" y="4156009"/>
              <a:ext cx="4940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THF</a:t>
              </a:r>
            </a:p>
          </p:txBody>
        </p:sp>
        <p:sp>
          <p:nvSpPr>
            <p:cNvPr id="85" name="Text Box 95">
              <a:extLst>
                <a:ext uri="{FF2B5EF4-FFF2-40B4-BE49-F238E27FC236}">
                  <a16:creationId xmlns:a16="http://schemas.microsoft.com/office/drawing/2014/main" id="{A950E1BA-181A-4D2F-1A70-50A9598D8476}"/>
                </a:ext>
              </a:extLst>
            </p:cNvPr>
            <p:cNvSpPr txBox="1">
              <a:spLocks noChangeArrowheads="1"/>
            </p:cNvSpPr>
            <p:nvPr/>
          </p:nvSpPr>
          <p:spPr bwMode="auto">
            <a:xfrm>
              <a:off x="858898" y="412885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波段</a:t>
              </a:r>
            </a:p>
          </p:txBody>
        </p:sp>
        <p:sp>
          <p:nvSpPr>
            <p:cNvPr id="86" name="Text Box 96">
              <a:extLst>
                <a:ext uri="{FF2B5EF4-FFF2-40B4-BE49-F238E27FC236}">
                  <a16:creationId xmlns:a16="http://schemas.microsoft.com/office/drawing/2014/main" id="{B447B30D-02A8-CC0E-C3A4-58CE3D12A735}"/>
                </a:ext>
              </a:extLst>
            </p:cNvPr>
            <p:cNvSpPr txBox="1">
              <a:spLocks noChangeArrowheads="1"/>
            </p:cNvSpPr>
            <p:nvPr/>
          </p:nvSpPr>
          <p:spPr bwMode="auto">
            <a:xfrm>
              <a:off x="1260344" y="2436706"/>
              <a:ext cx="681789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5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7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9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11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13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15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16</a:t>
              </a:r>
              <a:endParaRPr kumimoji="1" lang="en-US" altLang="zh-CN" sz="1200" b="1" dirty="0">
                <a:latin typeface="微软雅黑" pitchFamily="34" charset="-122"/>
                <a:ea typeface="微软雅黑" pitchFamily="34" charset="-122"/>
              </a:endParaRPr>
            </a:p>
          </p:txBody>
        </p:sp>
        <p:sp>
          <p:nvSpPr>
            <p:cNvPr id="87" name="Text Box 97">
              <a:extLst>
                <a:ext uri="{FF2B5EF4-FFF2-40B4-BE49-F238E27FC236}">
                  <a16:creationId xmlns:a16="http://schemas.microsoft.com/office/drawing/2014/main" id="{1DFFBBBA-E4ED-64EC-A4AD-28580B69C0AF}"/>
                </a:ext>
              </a:extLst>
            </p:cNvPr>
            <p:cNvSpPr txBox="1">
              <a:spLocks noChangeArrowheads="1"/>
            </p:cNvSpPr>
            <p:nvPr/>
          </p:nvSpPr>
          <p:spPr bwMode="auto">
            <a:xfrm>
              <a:off x="1288672" y="1429966"/>
              <a:ext cx="688041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14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16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18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20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22       </a:t>
              </a:r>
              <a:r>
                <a:rPr kumimoji="1" lang="en-US" altLang="zh-CN" sz="1200" b="1" dirty="0">
                  <a:latin typeface="微软雅黑" pitchFamily="34" charset="-122"/>
                  <a:ea typeface="微软雅黑" pitchFamily="34" charset="-122"/>
                </a:rPr>
                <a:t>10</a:t>
              </a:r>
              <a:r>
                <a:rPr kumimoji="1" lang="en-US" altLang="zh-CN" sz="1200" b="1" baseline="30000" dirty="0">
                  <a:latin typeface="微软雅黑" pitchFamily="34" charset="-122"/>
                  <a:ea typeface="微软雅黑" pitchFamily="34" charset="-122"/>
                </a:rPr>
                <a:t>24</a:t>
              </a:r>
              <a:endParaRPr kumimoji="1" lang="en-US" altLang="zh-CN" sz="1200" b="1" dirty="0">
                <a:latin typeface="微软雅黑" pitchFamily="34" charset="-122"/>
                <a:ea typeface="微软雅黑" pitchFamily="34" charset="-122"/>
              </a:endParaRPr>
            </a:p>
          </p:txBody>
        </p:sp>
        <p:sp>
          <p:nvSpPr>
            <p:cNvPr id="88" name="Line 98">
              <a:extLst>
                <a:ext uri="{FF2B5EF4-FFF2-40B4-BE49-F238E27FC236}">
                  <a16:creationId xmlns:a16="http://schemas.microsoft.com/office/drawing/2014/main" id="{D71887EE-11C7-D3A2-252C-0B2D66CC7F08}"/>
                </a:ext>
              </a:extLst>
            </p:cNvPr>
            <p:cNvSpPr>
              <a:spLocks noChangeShapeType="1"/>
            </p:cNvSpPr>
            <p:nvPr/>
          </p:nvSpPr>
          <p:spPr bwMode="auto">
            <a:xfrm flipV="1">
              <a:off x="3894866" y="3775541"/>
              <a:ext cx="318693" cy="2615"/>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grpSp>
      <p:grpSp>
        <p:nvGrpSpPr>
          <p:cNvPr id="93" name="组合 92">
            <a:extLst>
              <a:ext uri="{FF2B5EF4-FFF2-40B4-BE49-F238E27FC236}">
                <a16:creationId xmlns:a16="http://schemas.microsoft.com/office/drawing/2014/main" id="{051EEEA2-CFAF-529E-0A8E-9A375E220C47}"/>
              </a:ext>
            </a:extLst>
          </p:cNvPr>
          <p:cNvGrpSpPr/>
          <p:nvPr/>
        </p:nvGrpSpPr>
        <p:grpSpPr>
          <a:xfrm>
            <a:off x="5719969" y="3802502"/>
            <a:ext cx="808737" cy="274477"/>
            <a:chOff x="4127752" y="3072615"/>
            <a:chExt cx="808737" cy="274477"/>
          </a:xfrm>
        </p:grpSpPr>
        <p:sp>
          <p:nvSpPr>
            <p:cNvPr id="94" name="Rectangle 20">
              <a:extLst>
                <a:ext uri="{FF2B5EF4-FFF2-40B4-BE49-F238E27FC236}">
                  <a16:creationId xmlns:a16="http://schemas.microsoft.com/office/drawing/2014/main" id="{15A22726-468B-2436-DD80-A166DF7DDC61}"/>
                </a:ext>
              </a:extLst>
            </p:cNvPr>
            <p:cNvSpPr>
              <a:spLocks noChangeArrowheads="1"/>
            </p:cNvSpPr>
            <p:nvPr/>
          </p:nvSpPr>
          <p:spPr bwMode="auto">
            <a:xfrm>
              <a:off x="4127752" y="3116574"/>
              <a:ext cx="808737" cy="18655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95" name="Text Box 46">
              <a:extLst>
                <a:ext uri="{FF2B5EF4-FFF2-40B4-BE49-F238E27FC236}">
                  <a16:creationId xmlns:a16="http://schemas.microsoft.com/office/drawing/2014/main" id="{F2B86415-1E54-8DB0-CE07-D351338046AB}"/>
                </a:ext>
              </a:extLst>
            </p:cNvPr>
            <p:cNvSpPr txBox="1">
              <a:spLocks noChangeArrowheads="1"/>
            </p:cNvSpPr>
            <p:nvPr/>
          </p:nvSpPr>
          <p:spPr bwMode="auto">
            <a:xfrm>
              <a:off x="4135654" y="3072615"/>
              <a:ext cx="792932" cy="2744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地面微波</a:t>
              </a:r>
            </a:p>
          </p:txBody>
        </p:sp>
      </p:grpSp>
      <p:grpSp>
        <p:nvGrpSpPr>
          <p:cNvPr id="96" name="组合 95">
            <a:extLst>
              <a:ext uri="{FF2B5EF4-FFF2-40B4-BE49-F238E27FC236}">
                <a16:creationId xmlns:a16="http://schemas.microsoft.com/office/drawing/2014/main" id="{8635A96D-8DBE-461F-4379-6F893C1C82B5}"/>
              </a:ext>
            </a:extLst>
          </p:cNvPr>
          <p:cNvGrpSpPr/>
          <p:nvPr/>
        </p:nvGrpSpPr>
        <p:grpSpPr>
          <a:xfrm>
            <a:off x="4161630" y="3761338"/>
            <a:ext cx="808737" cy="274477"/>
            <a:chOff x="4127752" y="3072615"/>
            <a:chExt cx="808737" cy="274477"/>
          </a:xfrm>
        </p:grpSpPr>
        <p:sp>
          <p:nvSpPr>
            <p:cNvPr id="97" name="Rectangle 20">
              <a:extLst>
                <a:ext uri="{FF2B5EF4-FFF2-40B4-BE49-F238E27FC236}">
                  <a16:creationId xmlns:a16="http://schemas.microsoft.com/office/drawing/2014/main" id="{B4AB4767-1472-DDB5-C043-DB4706DC45C7}"/>
                </a:ext>
              </a:extLst>
            </p:cNvPr>
            <p:cNvSpPr>
              <a:spLocks noChangeArrowheads="1"/>
            </p:cNvSpPr>
            <p:nvPr/>
          </p:nvSpPr>
          <p:spPr bwMode="auto">
            <a:xfrm>
              <a:off x="4127752" y="3116574"/>
              <a:ext cx="808737" cy="18655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98" name="Text Box 46">
              <a:extLst>
                <a:ext uri="{FF2B5EF4-FFF2-40B4-BE49-F238E27FC236}">
                  <a16:creationId xmlns:a16="http://schemas.microsoft.com/office/drawing/2014/main" id="{74332701-84EC-858C-A0C7-8B810DBAD1EA}"/>
                </a:ext>
              </a:extLst>
            </p:cNvPr>
            <p:cNvSpPr txBox="1">
              <a:spLocks noChangeArrowheads="1"/>
            </p:cNvSpPr>
            <p:nvPr/>
          </p:nvSpPr>
          <p:spPr bwMode="auto">
            <a:xfrm>
              <a:off x="4135654" y="3072615"/>
              <a:ext cx="792932" cy="2744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同轴电缆</a:t>
              </a:r>
            </a:p>
          </p:txBody>
        </p:sp>
      </p:grpSp>
      <p:grpSp>
        <p:nvGrpSpPr>
          <p:cNvPr id="99" name="组合 98">
            <a:extLst>
              <a:ext uri="{FF2B5EF4-FFF2-40B4-BE49-F238E27FC236}">
                <a16:creationId xmlns:a16="http://schemas.microsoft.com/office/drawing/2014/main" id="{02CC9B4B-E588-A975-48BF-D5F0BD487A58}"/>
              </a:ext>
            </a:extLst>
          </p:cNvPr>
          <p:cNvGrpSpPr/>
          <p:nvPr/>
        </p:nvGrpSpPr>
        <p:grpSpPr>
          <a:xfrm>
            <a:off x="3193166" y="3484058"/>
            <a:ext cx="654233" cy="276999"/>
            <a:chOff x="4127752" y="3072615"/>
            <a:chExt cx="654233" cy="276999"/>
          </a:xfrm>
        </p:grpSpPr>
        <p:sp>
          <p:nvSpPr>
            <p:cNvPr id="100" name="Rectangle 20">
              <a:extLst>
                <a:ext uri="{FF2B5EF4-FFF2-40B4-BE49-F238E27FC236}">
                  <a16:creationId xmlns:a16="http://schemas.microsoft.com/office/drawing/2014/main" id="{0221ADFF-AFC3-C7C0-D6BA-99B729F248D5}"/>
                </a:ext>
              </a:extLst>
            </p:cNvPr>
            <p:cNvSpPr>
              <a:spLocks noChangeArrowheads="1"/>
            </p:cNvSpPr>
            <p:nvPr/>
          </p:nvSpPr>
          <p:spPr bwMode="auto">
            <a:xfrm>
              <a:off x="4127752" y="3116574"/>
              <a:ext cx="654233" cy="18655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1" name="Text Box 46">
              <a:extLst>
                <a:ext uri="{FF2B5EF4-FFF2-40B4-BE49-F238E27FC236}">
                  <a16:creationId xmlns:a16="http://schemas.microsoft.com/office/drawing/2014/main" id="{39F35909-D9FD-53E9-3F2F-0DE187269443}"/>
                </a:ext>
              </a:extLst>
            </p:cNvPr>
            <p:cNvSpPr txBox="1">
              <a:spLocks noChangeArrowheads="1"/>
            </p:cNvSpPr>
            <p:nvPr/>
          </p:nvSpPr>
          <p:spPr bwMode="auto">
            <a:xfrm>
              <a:off x="4135654" y="3072615"/>
              <a:ext cx="646331"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双绞线</a:t>
              </a:r>
            </a:p>
          </p:txBody>
        </p:sp>
      </p:grpSp>
      <p:grpSp>
        <p:nvGrpSpPr>
          <p:cNvPr id="102" name="组合 101">
            <a:extLst>
              <a:ext uri="{FF2B5EF4-FFF2-40B4-BE49-F238E27FC236}">
                <a16:creationId xmlns:a16="http://schemas.microsoft.com/office/drawing/2014/main" id="{27AB8B2B-5866-75FA-6611-8A4336E65505}"/>
              </a:ext>
            </a:extLst>
          </p:cNvPr>
          <p:cNvGrpSpPr/>
          <p:nvPr/>
        </p:nvGrpSpPr>
        <p:grpSpPr>
          <a:xfrm>
            <a:off x="3127406" y="4105802"/>
            <a:ext cx="640446" cy="420864"/>
            <a:chOff x="1585989" y="3356865"/>
            <a:chExt cx="640446" cy="420864"/>
          </a:xfrm>
        </p:grpSpPr>
        <p:sp>
          <p:nvSpPr>
            <p:cNvPr id="103" name="Rectangle 13">
              <a:extLst>
                <a:ext uri="{FF2B5EF4-FFF2-40B4-BE49-F238E27FC236}">
                  <a16:creationId xmlns:a16="http://schemas.microsoft.com/office/drawing/2014/main" id="{47CF2276-0953-8CCB-7862-503E9D916BF5}"/>
                </a:ext>
              </a:extLst>
            </p:cNvPr>
            <p:cNvSpPr>
              <a:spLocks noChangeArrowheads="1"/>
            </p:cNvSpPr>
            <p:nvPr/>
          </p:nvSpPr>
          <p:spPr bwMode="auto">
            <a:xfrm>
              <a:off x="1636738" y="3366123"/>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4" name="Text Box 50">
              <a:extLst>
                <a:ext uri="{FF2B5EF4-FFF2-40B4-BE49-F238E27FC236}">
                  <a16:creationId xmlns:a16="http://schemas.microsoft.com/office/drawing/2014/main" id="{FA3B788B-52B6-9385-353F-3E06F841D330}"/>
                </a:ext>
              </a:extLst>
            </p:cNvPr>
            <p:cNvSpPr txBox="1">
              <a:spLocks noChangeArrowheads="1"/>
            </p:cNvSpPr>
            <p:nvPr/>
          </p:nvSpPr>
          <p:spPr bwMode="auto">
            <a:xfrm>
              <a:off x="1585989" y="3356865"/>
              <a:ext cx="640446" cy="420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海事</a:t>
              </a:r>
            </a:p>
            <a:p>
              <a:pPr algn="l">
                <a:lnSpc>
                  <a:spcPct val="90000"/>
                </a:lnSpc>
              </a:pPr>
              <a:r>
                <a:rPr kumimoji="1" lang="zh-CN" altLang="en-US" sz="1200" b="1" dirty="0">
                  <a:solidFill>
                    <a:srgbClr val="0000FF"/>
                  </a:solidFill>
                  <a:latin typeface="微软雅黑" pitchFamily="34" charset="-122"/>
                  <a:ea typeface="微软雅黑" pitchFamily="34" charset="-122"/>
                </a:rPr>
                <a:t>无线电</a:t>
              </a:r>
            </a:p>
          </p:txBody>
        </p:sp>
      </p:grpSp>
      <p:grpSp>
        <p:nvGrpSpPr>
          <p:cNvPr id="105" name="组合 104">
            <a:extLst>
              <a:ext uri="{FF2B5EF4-FFF2-40B4-BE49-F238E27FC236}">
                <a16:creationId xmlns:a16="http://schemas.microsoft.com/office/drawing/2014/main" id="{5C7C5BD6-F59D-72A2-F636-DA2174C64587}"/>
              </a:ext>
            </a:extLst>
          </p:cNvPr>
          <p:cNvGrpSpPr/>
          <p:nvPr/>
        </p:nvGrpSpPr>
        <p:grpSpPr>
          <a:xfrm>
            <a:off x="3737153" y="4105802"/>
            <a:ext cx="646331" cy="424732"/>
            <a:chOff x="1585989" y="3356865"/>
            <a:chExt cx="646331" cy="424732"/>
          </a:xfrm>
        </p:grpSpPr>
        <p:sp>
          <p:nvSpPr>
            <p:cNvPr id="106" name="Rectangle 13">
              <a:extLst>
                <a:ext uri="{FF2B5EF4-FFF2-40B4-BE49-F238E27FC236}">
                  <a16:creationId xmlns:a16="http://schemas.microsoft.com/office/drawing/2014/main" id="{479B6B39-AE1F-C807-1AAB-8D869648EADD}"/>
                </a:ext>
              </a:extLst>
            </p:cNvPr>
            <p:cNvSpPr>
              <a:spLocks noChangeArrowheads="1"/>
            </p:cNvSpPr>
            <p:nvPr/>
          </p:nvSpPr>
          <p:spPr bwMode="auto">
            <a:xfrm>
              <a:off x="1636738" y="3366123"/>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07" name="Text Box 50">
              <a:extLst>
                <a:ext uri="{FF2B5EF4-FFF2-40B4-BE49-F238E27FC236}">
                  <a16:creationId xmlns:a16="http://schemas.microsoft.com/office/drawing/2014/main" id="{8F1FA9A5-1862-94D0-72FF-229AFFDB38D1}"/>
                </a:ext>
              </a:extLst>
            </p:cNvPr>
            <p:cNvSpPr txBox="1">
              <a:spLocks noChangeArrowheads="1"/>
            </p:cNvSpPr>
            <p:nvPr/>
          </p:nvSpPr>
          <p:spPr bwMode="auto">
            <a:xfrm>
              <a:off x="1585989" y="3356865"/>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200" b="1" dirty="0">
                  <a:solidFill>
                    <a:srgbClr val="0000FF"/>
                  </a:solidFill>
                  <a:latin typeface="微软雅黑" pitchFamily="34" charset="-122"/>
                  <a:ea typeface="微软雅黑" pitchFamily="34" charset="-122"/>
                </a:rPr>
                <a:t>调幅</a:t>
              </a:r>
              <a:endParaRPr kumimoji="1" lang="en-US" altLang="zh-CN" sz="1200" b="1" dirty="0">
                <a:solidFill>
                  <a:srgbClr val="0000FF"/>
                </a:solidFill>
                <a:latin typeface="微软雅黑" pitchFamily="34" charset="-122"/>
                <a:ea typeface="微软雅黑" pitchFamily="34" charset="-122"/>
              </a:endParaRP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grpSp>
      <p:grpSp>
        <p:nvGrpSpPr>
          <p:cNvPr id="108" name="组合 107">
            <a:extLst>
              <a:ext uri="{FF2B5EF4-FFF2-40B4-BE49-F238E27FC236}">
                <a16:creationId xmlns:a16="http://schemas.microsoft.com/office/drawing/2014/main" id="{8C997F49-44B5-92D9-DBB0-4C83BFA73BA0}"/>
              </a:ext>
            </a:extLst>
          </p:cNvPr>
          <p:cNvGrpSpPr/>
          <p:nvPr/>
        </p:nvGrpSpPr>
        <p:grpSpPr>
          <a:xfrm>
            <a:off x="4650270" y="4067702"/>
            <a:ext cx="646331" cy="424732"/>
            <a:chOff x="1585989" y="3356865"/>
            <a:chExt cx="646331" cy="424732"/>
          </a:xfrm>
        </p:grpSpPr>
        <p:sp>
          <p:nvSpPr>
            <p:cNvPr id="109" name="Rectangle 13">
              <a:extLst>
                <a:ext uri="{FF2B5EF4-FFF2-40B4-BE49-F238E27FC236}">
                  <a16:creationId xmlns:a16="http://schemas.microsoft.com/office/drawing/2014/main" id="{AB3C8049-3EC8-AADD-C17B-4800105E6819}"/>
                </a:ext>
              </a:extLst>
            </p:cNvPr>
            <p:cNvSpPr>
              <a:spLocks noChangeArrowheads="1"/>
            </p:cNvSpPr>
            <p:nvPr/>
          </p:nvSpPr>
          <p:spPr bwMode="auto">
            <a:xfrm>
              <a:off x="1636738" y="3366123"/>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10" name="Text Box 50">
              <a:extLst>
                <a:ext uri="{FF2B5EF4-FFF2-40B4-BE49-F238E27FC236}">
                  <a16:creationId xmlns:a16="http://schemas.microsoft.com/office/drawing/2014/main" id="{C3D029FB-2940-FF73-CE7A-A8ECFBC18EAA}"/>
                </a:ext>
              </a:extLst>
            </p:cNvPr>
            <p:cNvSpPr txBox="1">
              <a:spLocks noChangeArrowheads="1"/>
            </p:cNvSpPr>
            <p:nvPr/>
          </p:nvSpPr>
          <p:spPr bwMode="auto">
            <a:xfrm>
              <a:off x="1585989" y="3356865"/>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调频</a:t>
              </a: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grpSp>
      <p:grpSp>
        <p:nvGrpSpPr>
          <p:cNvPr id="111" name="组合 110">
            <a:extLst>
              <a:ext uri="{FF2B5EF4-FFF2-40B4-BE49-F238E27FC236}">
                <a16:creationId xmlns:a16="http://schemas.microsoft.com/office/drawing/2014/main" id="{23EAA6EE-9CCA-5CC2-2B24-C031E9AA0481}"/>
              </a:ext>
            </a:extLst>
          </p:cNvPr>
          <p:cNvGrpSpPr/>
          <p:nvPr/>
        </p:nvGrpSpPr>
        <p:grpSpPr>
          <a:xfrm>
            <a:off x="5290075" y="4067702"/>
            <a:ext cx="646331" cy="424732"/>
            <a:chOff x="1585989" y="3356865"/>
            <a:chExt cx="646331" cy="424732"/>
          </a:xfrm>
        </p:grpSpPr>
        <p:sp>
          <p:nvSpPr>
            <p:cNvPr id="112" name="Rectangle 13">
              <a:extLst>
                <a:ext uri="{FF2B5EF4-FFF2-40B4-BE49-F238E27FC236}">
                  <a16:creationId xmlns:a16="http://schemas.microsoft.com/office/drawing/2014/main" id="{6340B1E2-8C82-8A6D-0C0F-DE089BDCC817}"/>
                </a:ext>
              </a:extLst>
            </p:cNvPr>
            <p:cNvSpPr>
              <a:spLocks noChangeArrowheads="1"/>
            </p:cNvSpPr>
            <p:nvPr/>
          </p:nvSpPr>
          <p:spPr bwMode="auto">
            <a:xfrm>
              <a:off x="1636738" y="3366123"/>
              <a:ext cx="538949" cy="40234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FF"/>
                </a:solidFill>
                <a:latin typeface="微软雅黑" pitchFamily="34" charset="-122"/>
                <a:ea typeface="微软雅黑" pitchFamily="34" charset="-122"/>
              </a:endParaRPr>
            </a:p>
          </p:txBody>
        </p:sp>
        <p:sp>
          <p:nvSpPr>
            <p:cNvPr id="113" name="Text Box 50">
              <a:extLst>
                <a:ext uri="{FF2B5EF4-FFF2-40B4-BE49-F238E27FC236}">
                  <a16:creationId xmlns:a16="http://schemas.microsoft.com/office/drawing/2014/main" id="{95747C5E-ECC3-FD7E-EF11-869535E168E1}"/>
                </a:ext>
              </a:extLst>
            </p:cNvPr>
            <p:cNvSpPr txBox="1">
              <a:spLocks noChangeArrowheads="1"/>
            </p:cNvSpPr>
            <p:nvPr/>
          </p:nvSpPr>
          <p:spPr bwMode="auto">
            <a:xfrm>
              <a:off x="1585989" y="3356865"/>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200" b="1" dirty="0">
                  <a:solidFill>
                    <a:srgbClr val="0000FF"/>
                  </a:solidFill>
                  <a:latin typeface="微软雅黑" pitchFamily="34" charset="-122"/>
                  <a:ea typeface="微软雅黑" pitchFamily="34" charset="-122"/>
                </a:rPr>
                <a:t>移动</a:t>
              </a:r>
            </a:p>
            <a:p>
              <a:pPr algn="ctr">
                <a:lnSpc>
                  <a:spcPct val="90000"/>
                </a:lnSpc>
              </a:pPr>
              <a:r>
                <a:rPr kumimoji="1" lang="zh-CN" altLang="en-US" sz="1200" b="1" dirty="0">
                  <a:solidFill>
                    <a:srgbClr val="0000FF"/>
                  </a:solidFill>
                  <a:latin typeface="微软雅黑" pitchFamily="34" charset="-122"/>
                  <a:ea typeface="微软雅黑" pitchFamily="34" charset="-122"/>
                </a:rPr>
                <a:t>无线电</a:t>
              </a:r>
            </a:p>
          </p:txBody>
        </p:sp>
      </p:grpSp>
      <p:grpSp>
        <p:nvGrpSpPr>
          <p:cNvPr id="114" name="组合 113">
            <a:extLst>
              <a:ext uri="{FF2B5EF4-FFF2-40B4-BE49-F238E27FC236}">
                <a16:creationId xmlns:a16="http://schemas.microsoft.com/office/drawing/2014/main" id="{043851BD-4BBB-3CED-848C-D6C3B203815A}"/>
              </a:ext>
            </a:extLst>
          </p:cNvPr>
          <p:cNvGrpSpPr/>
          <p:nvPr/>
        </p:nvGrpSpPr>
        <p:grpSpPr>
          <a:xfrm>
            <a:off x="5631135" y="3492227"/>
            <a:ext cx="487959" cy="274477"/>
            <a:chOff x="4089718" y="2743290"/>
            <a:chExt cx="487959" cy="274477"/>
          </a:xfrm>
        </p:grpSpPr>
        <p:sp>
          <p:nvSpPr>
            <p:cNvPr id="115" name="矩形 114">
              <a:extLst>
                <a:ext uri="{FF2B5EF4-FFF2-40B4-BE49-F238E27FC236}">
                  <a16:creationId xmlns:a16="http://schemas.microsoft.com/office/drawing/2014/main" id="{51CC930E-F337-C1E7-356D-CB971E18EA17}"/>
                </a:ext>
              </a:extLst>
            </p:cNvPr>
            <p:cNvSpPr/>
            <p:nvPr/>
          </p:nvSpPr>
          <p:spPr>
            <a:xfrm>
              <a:off x="4133850" y="2779080"/>
              <a:ext cx="381000" cy="2067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Text Box 44">
              <a:extLst>
                <a:ext uri="{FF2B5EF4-FFF2-40B4-BE49-F238E27FC236}">
                  <a16:creationId xmlns:a16="http://schemas.microsoft.com/office/drawing/2014/main" id="{0DE50416-E646-3812-5339-D39D4B88785C}"/>
                </a:ext>
              </a:extLst>
            </p:cNvPr>
            <p:cNvSpPr txBox="1">
              <a:spLocks noChangeArrowheads="1"/>
            </p:cNvSpPr>
            <p:nvPr/>
          </p:nvSpPr>
          <p:spPr bwMode="auto">
            <a:xfrm>
              <a:off x="4089718" y="2743290"/>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卫星</a:t>
              </a:r>
            </a:p>
          </p:txBody>
        </p:sp>
      </p:grpSp>
      <p:grpSp>
        <p:nvGrpSpPr>
          <p:cNvPr id="117" name="组合 116">
            <a:extLst>
              <a:ext uri="{FF2B5EF4-FFF2-40B4-BE49-F238E27FC236}">
                <a16:creationId xmlns:a16="http://schemas.microsoft.com/office/drawing/2014/main" id="{5BBF08F3-7837-CB9A-58B8-AE140A03BFDE}"/>
              </a:ext>
            </a:extLst>
          </p:cNvPr>
          <p:cNvGrpSpPr/>
          <p:nvPr/>
        </p:nvGrpSpPr>
        <p:grpSpPr>
          <a:xfrm>
            <a:off x="5105677" y="4555737"/>
            <a:ext cx="487959" cy="274477"/>
            <a:chOff x="4089718" y="2743290"/>
            <a:chExt cx="487959" cy="274477"/>
          </a:xfrm>
        </p:grpSpPr>
        <p:sp>
          <p:nvSpPr>
            <p:cNvPr id="118" name="矩形 117">
              <a:extLst>
                <a:ext uri="{FF2B5EF4-FFF2-40B4-BE49-F238E27FC236}">
                  <a16:creationId xmlns:a16="http://schemas.microsoft.com/office/drawing/2014/main" id="{E88F6BFC-28F8-94F8-CB13-ED8F2C21211E}"/>
                </a:ext>
              </a:extLst>
            </p:cNvPr>
            <p:cNvSpPr/>
            <p:nvPr/>
          </p:nvSpPr>
          <p:spPr>
            <a:xfrm>
              <a:off x="4133850" y="2779080"/>
              <a:ext cx="381000" cy="2067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Text Box 44">
              <a:extLst>
                <a:ext uri="{FF2B5EF4-FFF2-40B4-BE49-F238E27FC236}">
                  <a16:creationId xmlns:a16="http://schemas.microsoft.com/office/drawing/2014/main" id="{EBE0E315-643D-B1E0-496E-CC2E4BF1C547}"/>
                </a:ext>
              </a:extLst>
            </p:cNvPr>
            <p:cNvSpPr txBox="1">
              <a:spLocks noChangeArrowheads="1"/>
            </p:cNvSpPr>
            <p:nvPr/>
          </p:nvSpPr>
          <p:spPr bwMode="auto">
            <a:xfrm>
              <a:off x="4089718" y="2743290"/>
              <a:ext cx="487959" cy="274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电视</a:t>
              </a:r>
            </a:p>
          </p:txBody>
        </p:sp>
      </p:grpSp>
    </p:spTree>
    <p:extLst>
      <p:ext uri="{BB962C8B-B14F-4D97-AF65-F5344CB8AC3E}">
        <p14:creationId xmlns:p14="http://schemas.microsoft.com/office/powerpoint/2010/main" val="256639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Guided transmission media</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273972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Twisted pair wire</a:t>
            </a:r>
            <a:r>
              <a:rPr lang="zh-CN" altLang="en-US" sz="2400" dirty="0">
                <a:solidFill>
                  <a:srgbClr val="0013A3"/>
                </a:solidFill>
                <a:latin typeface="Calibri" panose="020F0502020204030204" pitchFamily="34" charset="0"/>
                <a:cs typeface="Calibri" panose="020F0502020204030204" pitchFamily="34" charset="0"/>
              </a:rPr>
              <a:t> 双绞线</a:t>
            </a:r>
            <a:endParaRPr lang="en" altLang="zh-CN" sz="2400" dirty="0">
              <a:solidFill>
                <a:srgbClr val="0013A3"/>
              </a:solidFill>
              <a:latin typeface="Calibri" panose="020F0502020204030204" pitchFamily="34" charset="0"/>
              <a:cs typeface="Calibri" panose="020F0502020204030204" pitchFamily="34" charset="0"/>
            </a:endParaRP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most commonly used transmission medium.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Analog transmission and digital transmission can use twisted pair, the communication distance is generally a few to ten kilometers.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STP (Shielded Twisted Pair)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With metal shielding layer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Unshielded Twisted Pair (UTP)</a:t>
            </a:r>
          </a:p>
        </p:txBody>
      </p:sp>
      <p:grpSp>
        <p:nvGrpSpPr>
          <p:cNvPr id="120" name="组合 119">
            <a:extLst>
              <a:ext uri="{FF2B5EF4-FFF2-40B4-BE49-F238E27FC236}">
                <a16:creationId xmlns:a16="http://schemas.microsoft.com/office/drawing/2014/main" id="{46759183-6D75-F7B4-934B-437394BDC299}"/>
              </a:ext>
            </a:extLst>
          </p:cNvPr>
          <p:cNvGrpSpPr/>
          <p:nvPr/>
        </p:nvGrpSpPr>
        <p:grpSpPr>
          <a:xfrm>
            <a:off x="5086937" y="3309000"/>
            <a:ext cx="2708758" cy="1306864"/>
            <a:chOff x="834846" y="1686499"/>
            <a:chExt cx="3725521" cy="1723530"/>
          </a:xfrm>
        </p:grpSpPr>
        <p:pic>
          <p:nvPicPr>
            <p:cNvPr id="134" name="Picture 4" descr="223b">
              <a:extLst>
                <a:ext uri="{FF2B5EF4-FFF2-40B4-BE49-F238E27FC236}">
                  <a16:creationId xmlns:a16="http://schemas.microsoft.com/office/drawing/2014/main" id="{81DE9429-5A14-9EB3-3209-ED868947F0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24692" b="39763"/>
            <a:stretch>
              <a:fillRect/>
            </a:stretch>
          </p:blipFill>
          <p:spPr bwMode="auto">
            <a:xfrm>
              <a:off x="1280592" y="1686499"/>
              <a:ext cx="3279775" cy="885825"/>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sp>
          <p:nvSpPr>
            <p:cNvPr id="135" name="Text Box 7">
              <a:extLst>
                <a:ext uri="{FF2B5EF4-FFF2-40B4-BE49-F238E27FC236}">
                  <a16:creationId xmlns:a16="http://schemas.microsoft.com/office/drawing/2014/main" id="{BC45A8DE-7B57-9AEC-1041-92FD9EF3B9B8}"/>
                </a:ext>
              </a:extLst>
            </p:cNvPr>
            <p:cNvSpPr txBox="1">
              <a:spLocks noChangeArrowheads="1"/>
            </p:cNvSpPr>
            <p:nvPr/>
          </p:nvSpPr>
          <p:spPr bwMode="auto">
            <a:xfrm>
              <a:off x="3738312" y="2546924"/>
              <a:ext cx="747838" cy="405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solidFill>
                    <a:srgbClr val="0000FF"/>
                  </a:solidFill>
                  <a:latin typeface="微软雅黑" pitchFamily="34" charset="-122"/>
                  <a:ea typeface="微软雅黑" pitchFamily="34" charset="-122"/>
                </a:rPr>
                <a:t>铜线</a:t>
              </a:r>
            </a:p>
          </p:txBody>
        </p:sp>
        <p:sp>
          <p:nvSpPr>
            <p:cNvPr id="136" name="Text Box 9">
              <a:extLst>
                <a:ext uri="{FF2B5EF4-FFF2-40B4-BE49-F238E27FC236}">
                  <a16:creationId xmlns:a16="http://schemas.microsoft.com/office/drawing/2014/main" id="{6C51CA92-D1AB-0749-D4E7-900C0DD222A0}"/>
                </a:ext>
              </a:extLst>
            </p:cNvPr>
            <p:cNvSpPr txBox="1">
              <a:spLocks noChangeArrowheads="1"/>
            </p:cNvSpPr>
            <p:nvPr/>
          </p:nvSpPr>
          <p:spPr bwMode="auto">
            <a:xfrm>
              <a:off x="834846" y="2591042"/>
              <a:ext cx="2004053" cy="377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lnSpc>
                  <a:spcPct val="90000"/>
                </a:lnSpc>
              </a:pPr>
              <a:r>
                <a:rPr lang="zh-CN" altLang="en-US" sz="1400" b="1" dirty="0">
                  <a:solidFill>
                    <a:srgbClr val="0000FF"/>
                  </a:solidFill>
                  <a:latin typeface="微软雅黑" pitchFamily="34" charset="-122"/>
                  <a:ea typeface="微软雅黑" pitchFamily="34" charset="-122"/>
                </a:rPr>
                <a:t>聚氯乙烯套层</a:t>
              </a:r>
            </a:p>
          </p:txBody>
        </p:sp>
        <p:sp>
          <p:nvSpPr>
            <p:cNvPr id="137" name="Text Box 13">
              <a:extLst>
                <a:ext uri="{FF2B5EF4-FFF2-40B4-BE49-F238E27FC236}">
                  <a16:creationId xmlns:a16="http://schemas.microsoft.com/office/drawing/2014/main" id="{78E7FE7C-4B37-735E-53F9-B3415E3505A0}"/>
                </a:ext>
              </a:extLst>
            </p:cNvPr>
            <p:cNvSpPr txBox="1">
              <a:spLocks noChangeArrowheads="1"/>
            </p:cNvSpPr>
            <p:nvPr/>
          </p:nvSpPr>
          <p:spPr bwMode="auto">
            <a:xfrm>
              <a:off x="2776018" y="2543749"/>
              <a:ext cx="994763" cy="405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a:solidFill>
                    <a:srgbClr val="0000FF"/>
                  </a:solidFill>
                  <a:latin typeface="微软雅黑" pitchFamily="34" charset="-122"/>
                  <a:ea typeface="微软雅黑" pitchFamily="34" charset="-122"/>
                </a:rPr>
                <a:t>绝缘层</a:t>
              </a:r>
            </a:p>
          </p:txBody>
        </p:sp>
        <p:sp>
          <p:nvSpPr>
            <p:cNvPr id="138" name="Text Box 15">
              <a:extLst>
                <a:ext uri="{FF2B5EF4-FFF2-40B4-BE49-F238E27FC236}">
                  <a16:creationId xmlns:a16="http://schemas.microsoft.com/office/drawing/2014/main" id="{B1E5B7F2-F35D-1C0D-40DE-0C35DF6B4014}"/>
                </a:ext>
              </a:extLst>
            </p:cNvPr>
            <p:cNvSpPr txBox="1">
              <a:spLocks noChangeArrowheads="1"/>
            </p:cNvSpPr>
            <p:nvPr/>
          </p:nvSpPr>
          <p:spPr bwMode="auto">
            <a:xfrm>
              <a:off x="2199754" y="3004124"/>
              <a:ext cx="2145618" cy="405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400" b="1" dirty="0">
                  <a:latin typeface="微软雅黑" pitchFamily="34" charset="-122"/>
                  <a:ea typeface="微软雅黑" pitchFamily="34" charset="-122"/>
                </a:rPr>
                <a:t>(a) </a:t>
              </a:r>
              <a:r>
                <a:rPr lang="zh-CN" altLang="zh-CN" sz="1400" b="1" dirty="0">
                  <a:latin typeface="微软雅黑" pitchFamily="34" charset="-122"/>
                  <a:ea typeface="微软雅黑" pitchFamily="34" charset="-122"/>
                </a:rPr>
                <a:t>无屏蔽双绞线</a:t>
              </a:r>
              <a:endParaRPr lang="en-US" altLang="zh-CN" sz="1400" b="1" dirty="0">
                <a:latin typeface="微软雅黑" pitchFamily="34" charset="-122"/>
                <a:ea typeface="微软雅黑" pitchFamily="34" charset="-122"/>
              </a:endParaRPr>
            </a:p>
          </p:txBody>
        </p:sp>
      </p:grpSp>
      <p:grpSp>
        <p:nvGrpSpPr>
          <p:cNvPr id="121" name="组合 120">
            <a:extLst>
              <a:ext uri="{FF2B5EF4-FFF2-40B4-BE49-F238E27FC236}">
                <a16:creationId xmlns:a16="http://schemas.microsoft.com/office/drawing/2014/main" id="{56C84903-CD1B-C9D1-9D2E-3F1B1CC16EF4}"/>
              </a:ext>
            </a:extLst>
          </p:cNvPr>
          <p:cNvGrpSpPr/>
          <p:nvPr/>
        </p:nvGrpSpPr>
        <p:grpSpPr>
          <a:xfrm>
            <a:off x="8848313" y="3309000"/>
            <a:ext cx="2837458" cy="1284110"/>
            <a:chOff x="4762202" y="1710311"/>
            <a:chExt cx="3848330" cy="1701672"/>
          </a:xfrm>
        </p:grpSpPr>
        <p:pic>
          <p:nvPicPr>
            <p:cNvPr id="128" name="Picture 5" descr="223">
              <a:extLst>
                <a:ext uri="{FF2B5EF4-FFF2-40B4-BE49-F238E27FC236}">
                  <a16:creationId xmlns:a16="http://schemas.microsoft.com/office/drawing/2014/main" id="{5B585FD9-1B6E-406F-B93D-6C02A6013C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17610" b="41142"/>
            <a:stretch>
              <a:fillRect/>
            </a:stretch>
          </p:blipFill>
          <p:spPr bwMode="auto">
            <a:xfrm>
              <a:off x="5484192" y="1710311"/>
              <a:ext cx="2997200" cy="862013"/>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sp>
          <p:nvSpPr>
            <p:cNvPr id="129" name="Text Box 8">
              <a:extLst>
                <a:ext uri="{FF2B5EF4-FFF2-40B4-BE49-F238E27FC236}">
                  <a16:creationId xmlns:a16="http://schemas.microsoft.com/office/drawing/2014/main" id="{44FB5458-F6AA-54E6-E7CD-B67E1DAEC93E}"/>
                </a:ext>
              </a:extLst>
            </p:cNvPr>
            <p:cNvSpPr txBox="1">
              <a:spLocks noChangeArrowheads="1"/>
            </p:cNvSpPr>
            <p:nvPr/>
          </p:nvSpPr>
          <p:spPr bwMode="auto">
            <a:xfrm>
              <a:off x="7873082" y="2534225"/>
              <a:ext cx="737450" cy="4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solidFill>
                    <a:srgbClr val="0000FF"/>
                  </a:solidFill>
                  <a:latin typeface="微软雅黑" pitchFamily="34" charset="-122"/>
                  <a:ea typeface="微软雅黑" pitchFamily="34" charset="-122"/>
                </a:rPr>
                <a:t>铜线</a:t>
              </a:r>
            </a:p>
          </p:txBody>
        </p:sp>
        <p:sp>
          <p:nvSpPr>
            <p:cNvPr id="130" name="Text Box 10">
              <a:extLst>
                <a:ext uri="{FF2B5EF4-FFF2-40B4-BE49-F238E27FC236}">
                  <a16:creationId xmlns:a16="http://schemas.microsoft.com/office/drawing/2014/main" id="{42516F7A-AFBC-5A5A-C519-95BFFBC16A17}"/>
                </a:ext>
              </a:extLst>
            </p:cNvPr>
            <p:cNvSpPr txBox="1">
              <a:spLocks noChangeArrowheads="1"/>
            </p:cNvSpPr>
            <p:nvPr/>
          </p:nvSpPr>
          <p:spPr bwMode="auto">
            <a:xfrm>
              <a:off x="4762202" y="2546762"/>
              <a:ext cx="1960151" cy="4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r>
                <a:rPr lang="zh-CN" altLang="en-US" sz="1400" b="1" dirty="0">
                  <a:solidFill>
                    <a:srgbClr val="0000FF"/>
                  </a:solidFill>
                  <a:latin typeface="微软雅黑" pitchFamily="34" charset="-122"/>
                  <a:ea typeface="微软雅黑" pitchFamily="34" charset="-122"/>
                </a:rPr>
                <a:t>聚氯乙烯套层</a:t>
              </a:r>
            </a:p>
          </p:txBody>
        </p:sp>
        <p:sp>
          <p:nvSpPr>
            <p:cNvPr id="131" name="Text Box 11">
              <a:extLst>
                <a:ext uri="{FF2B5EF4-FFF2-40B4-BE49-F238E27FC236}">
                  <a16:creationId xmlns:a16="http://schemas.microsoft.com/office/drawing/2014/main" id="{1E953157-C479-18F4-C79C-8CBD0ACDAE9D}"/>
                </a:ext>
              </a:extLst>
            </p:cNvPr>
            <p:cNvSpPr txBox="1">
              <a:spLocks noChangeArrowheads="1"/>
            </p:cNvSpPr>
            <p:nvPr/>
          </p:nvSpPr>
          <p:spPr bwMode="auto">
            <a:xfrm>
              <a:off x="6303258" y="2525704"/>
              <a:ext cx="980947" cy="4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solidFill>
                    <a:srgbClr val="0000FF"/>
                  </a:solidFill>
                  <a:latin typeface="微软雅黑" pitchFamily="34" charset="-122"/>
                  <a:ea typeface="微软雅黑" pitchFamily="34" charset="-122"/>
                </a:rPr>
                <a:t>屏蔽层</a:t>
              </a:r>
            </a:p>
          </p:txBody>
        </p:sp>
        <p:sp>
          <p:nvSpPr>
            <p:cNvPr id="132" name="Text Box 14">
              <a:extLst>
                <a:ext uri="{FF2B5EF4-FFF2-40B4-BE49-F238E27FC236}">
                  <a16:creationId xmlns:a16="http://schemas.microsoft.com/office/drawing/2014/main" id="{7646D65B-816D-C33B-38F7-6786D62D858C}"/>
                </a:ext>
              </a:extLst>
            </p:cNvPr>
            <p:cNvSpPr txBox="1">
              <a:spLocks noChangeArrowheads="1"/>
            </p:cNvSpPr>
            <p:nvPr/>
          </p:nvSpPr>
          <p:spPr bwMode="auto">
            <a:xfrm>
              <a:off x="7101365" y="2534225"/>
              <a:ext cx="980947" cy="4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zh-CN" altLang="en-US" sz="1400" b="1" dirty="0">
                  <a:solidFill>
                    <a:srgbClr val="0000FF"/>
                  </a:solidFill>
                  <a:latin typeface="微软雅黑" pitchFamily="34" charset="-122"/>
                  <a:ea typeface="微软雅黑" pitchFamily="34" charset="-122"/>
                </a:rPr>
                <a:t>绝缘层</a:t>
              </a:r>
            </a:p>
          </p:txBody>
        </p:sp>
        <p:sp>
          <p:nvSpPr>
            <p:cNvPr id="133" name="Text Box 16">
              <a:extLst>
                <a:ext uri="{FF2B5EF4-FFF2-40B4-BE49-F238E27FC236}">
                  <a16:creationId xmlns:a16="http://schemas.microsoft.com/office/drawing/2014/main" id="{78487FFC-E45D-4C6A-9BAC-E9FD732E462E}"/>
                </a:ext>
              </a:extLst>
            </p:cNvPr>
            <p:cNvSpPr txBox="1">
              <a:spLocks noChangeArrowheads="1"/>
            </p:cNvSpPr>
            <p:nvPr/>
          </p:nvSpPr>
          <p:spPr bwMode="auto">
            <a:xfrm>
              <a:off x="6274767" y="3004124"/>
              <a:ext cx="1894061" cy="407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400" b="1" dirty="0">
                  <a:latin typeface="微软雅黑" pitchFamily="34" charset="-122"/>
                  <a:ea typeface="微软雅黑" pitchFamily="34" charset="-122"/>
                </a:rPr>
                <a:t>(b) </a:t>
              </a:r>
              <a:r>
                <a:rPr lang="zh-CN" altLang="zh-CN" sz="1400" b="1" dirty="0">
                  <a:latin typeface="微软雅黑" pitchFamily="34" charset="-122"/>
                  <a:ea typeface="微软雅黑" pitchFamily="34" charset="-122"/>
                </a:rPr>
                <a:t>屏蔽双绞线</a:t>
              </a:r>
              <a:endParaRPr lang="en-US" altLang="zh-CN" sz="1400" b="1" dirty="0">
                <a:latin typeface="微软雅黑" pitchFamily="34" charset="-122"/>
                <a:ea typeface="微软雅黑" pitchFamily="34" charset="-122"/>
              </a:endParaRPr>
            </a:p>
          </p:txBody>
        </p:sp>
      </p:grpSp>
      <p:grpSp>
        <p:nvGrpSpPr>
          <p:cNvPr id="122" name="组合 121">
            <a:extLst>
              <a:ext uri="{FF2B5EF4-FFF2-40B4-BE49-F238E27FC236}">
                <a16:creationId xmlns:a16="http://schemas.microsoft.com/office/drawing/2014/main" id="{316B40F6-C71B-8A63-6603-E1DCE443F312}"/>
              </a:ext>
            </a:extLst>
          </p:cNvPr>
          <p:cNvGrpSpPr/>
          <p:nvPr/>
        </p:nvGrpSpPr>
        <p:grpSpPr>
          <a:xfrm>
            <a:off x="6922037" y="4741053"/>
            <a:ext cx="3086900" cy="1198454"/>
            <a:chOff x="2533235" y="4175362"/>
            <a:chExt cx="4052231" cy="1421285"/>
          </a:xfrm>
        </p:grpSpPr>
        <p:pic>
          <p:nvPicPr>
            <p:cNvPr id="123" name="Picture 19" descr="3UTP">
              <a:extLst>
                <a:ext uri="{FF2B5EF4-FFF2-40B4-BE49-F238E27FC236}">
                  <a16:creationId xmlns:a16="http://schemas.microsoft.com/office/drawing/2014/main" id="{2B1D947C-64E9-6CF7-AE77-8BD16D3AEE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2864" t="5208" r="50562"/>
            <a:stretch>
              <a:fillRect/>
            </a:stretch>
          </p:blipFill>
          <p:spPr bwMode="auto">
            <a:xfrm>
              <a:off x="3446330" y="4175362"/>
              <a:ext cx="2581275" cy="433387"/>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pic>
          <p:nvPicPr>
            <p:cNvPr id="124" name="Picture 20" descr="3UTP">
              <a:extLst>
                <a:ext uri="{FF2B5EF4-FFF2-40B4-BE49-F238E27FC236}">
                  <a16:creationId xmlns:a16="http://schemas.microsoft.com/office/drawing/2014/main" id="{6D3091AC-CE03-8A5C-9AE7-764019DA428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50095" r="3209"/>
            <a:stretch>
              <a:fillRect/>
            </a:stretch>
          </p:blipFill>
          <p:spPr bwMode="auto">
            <a:xfrm>
              <a:off x="3438392" y="4771387"/>
              <a:ext cx="2587625" cy="457200"/>
            </a:xfrm>
            <a:prstGeom prst="rect">
              <a:avLst/>
            </a:prstGeom>
            <a:noFill/>
            <a:ln w="19050">
              <a:solidFill>
                <a:srgbClr val="00B050"/>
              </a:solidFill>
              <a:miter lim="800000"/>
              <a:headEnd/>
              <a:tailEnd/>
            </a:ln>
            <a:extLst>
              <a:ext uri="{909E8E84-426E-40DD-AFC4-6F175D3DCCD1}">
                <a14:hiddenFill xmlns:a14="http://schemas.microsoft.com/office/drawing/2010/main">
                  <a:solidFill>
                    <a:srgbClr val="FFFFFF"/>
                  </a:solidFill>
                </a14:hiddenFill>
              </a:ext>
            </a:extLst>
          </p:spPr>
        </p:pic>
        <p:sp>
          <p:nvSpPr>
            <p:cNvPr id="125" name="Text Box 22">
              <a:extLst>
                <a:ext uri="{FF2B5EF4-FFF2-40B4-BE49-F238E27FC236}">
                  <a16:creationId xmlns:a16="http://schemas.microsoft.com/office/drawing/2014/main" id="{DEF2F8BF-209D-E549-5472-34C180C19DCA}"/>
                </a:ext>
              </a:extLst>
            </p:cNvPr>
            <p:cNvSpPr txBox="1">
              <a:spLocks noChangeArrowheads="1"/>
            </p:cNvSpPr>
            <p:nvPr/>
          </p:nvSpPr>
          <p:spPr bwMode="auto">
            <a:xfrm>
              <a:off x="2533235" y="4207455"/>
              <a:ext cx="928414" cy="36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400" b="1" dirty="0">
                  <a:solidFill>
                    <a:srgbClr val="0000FF"/>
                  </a:solidFill>
                  <a:latin typeface="微软雅黑" pitchFamily="34" charset="-122"/>
                  <a:ea typeface="微软雅黑" pitchFamily="34" charset="-122"/>
                </a:rPr>
                <a:t>3 </a:t>
              </a:r>
              <a:r>
                <a:rPr lang="zh-CN" altLang="en-US" sz="1400" b="1" dirty="0">
                  <a:solidFill>
                    <a:srgbClr val="0000FF"/>
                  </a:solidFill>
                  <a:latin typeface="微软雅黑" pitchFamily="34" charset="-122"/>
                  <a:ea typeface="微软雅黑" pitchFamily="34" charset="-122"/>
                </a:rPr>
                <a:t>类线</a:t>
              </a:r>
            </a:p>
          </p:txBody>
        </p:sp>
        <p:sp>
          <p:nvSpPr>
            <p:cNvPr id="126" name="Text Box 23">
              <a:extLst>
                <a:ext uri="{FF2B5EF4-FFF2-40B4-BE49-F238E27FC236}">
                  <a16:creationId xmlns:a16="http://schemas.microsoft.com/office/drawing/2014/main" id="{C6A6F1A9-8BE0-C5E7-279F-865FA560B0B5}"/>
                </a:ext>
              </a:extLst>
            </p:cNvPr>
            <p:cNvSpPr txBox="1">
              <a:spLocks noChangeArrowheads="1"/>
            </p:cNvSpPr>
            <p:nvPr/>
          </p:nvSpPr>
          <p:spPr bwMode="auto">
            <a:xfrm>
              <a:off x="2560327" y="4824142"/>
              <a:ext cx="928414" cy="36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400" b="1" dirty="0">
                  <a:solidFill>
                    <a:srgbClr val="0000FF"/>
                  </a:solidFill>
                  <a:latin typeface="微软雅黑" pitchFamily="34" charset="-122"/>
                  <a:ea typeface="微软雅黑" pitchFamily="34" charset="-122"/>
                </a:rPr>
                <a:t>5 </a:t>
              </a:r>
              <a:r>
                <a:rPr lang="zh-CN" altLang="en-US" sz="1400" b="1" dirty="0">
                  <a:solidFill>
                    <a:srgbClr val="0000FF"/>
                  </a:solidFill>
                  <a:latin typeface="微软雅黑" pitchFamily="34" charset="-122"/>
                  <a:ea typeface="微软雅黑" pitchFamily="34" charset="-122"/>
                </a:rPr>
                <a:t>类线</a:t>
              </a:r>
            </a:p>
          </p:txBody>
        </p:sp>
        <p:sp>
          <p:nvSpPr>
            <p:cNvPr id="127" name="Text Box 24">
              <a:extLst>
                <a:ext uri="{FF2B5EF4-FFF2-40B4-BE49-F238E27FC236}">
                  <a16:creationId xmlns:a16="http://schemas.microsoft.com/office/drawing/2014/main" id="{54DE04E8-6A03-BDE0-0FCE-C470882BAA75}"/>
                </a:ext>
              </a:extLst>
            </p:cNvPr>
            <p:cNvSpPr txBox="1">
              <a:spLocks noChangeArrowheads="1"/>
            </p:cNvSpPr>
            <p:nvPr/>
          </p:nvSpPr>
          <p:spPr bwMode="auto">
            <a:xfrm>
              <a:off x="2844027" y="5231644"/>
              <a:ext cx="3741439" cy="36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r>
                <a:rPr lang="en-US" altLang="zh-CN" sz="1400" b="1" dirty="0">
                  <a:latin typeface="微软雅黑" pitchFamily="34" charset="-122"/>
                  <a:ea typeface="微软雅黑" pitchFamily="34" charset="-122"/>
                </a:rPr>
                <a:t>(c) </a:t>
              </a:r>
              <a:r>
                <a:rPr lang="zh-CN" altLang="zh-CN" sz="1400" b="1" dirty="0">
                  <a:latin typeface="微软雅黑" pitchFamily="34" charset="-122"/>
                  <a:ea typeface="微软雅黑" pitchFamily="34" charset="-122"/>
                </a:rPr>
                <a:t>不同的绞合度的双绞线</a:t>
              </a:r>
              <a:endParaRPr lang="en-US" altLang="zh-CN" sz="14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2950203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Guided transmission media</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2471446"/>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In 1991, the Electronic Industries Association and the Telecommunications Industry Association jointly published a standard </a:t>
            </a:r>
            <a:r>
              <a:rPr lang="en" altLang="zh-CN" sz="2400" dirty="0">
                <a:solidFill>
                  <a:srgbClr val="0013A3"/>
                </a:solidFill>
                <a:latin typeface="Calibri" panose="020F0502020204030204" pitchFamily="34" charset="0"/>
                <a:cs typeface="Calibri" panose="020F0502020204030204" pitchFamily="34" charset="0"/>
              </a:rPr>
              <a:t>EIA/TIA-568 </a:t>
            </a:r>
            <a:r>
              <a:rPr lang="en" altLang="zh-CN" sz="2400" dirty="0">
                <a:latin typeface="Calibri" panose="020F0502020204030204" pitchFamily="34" charset="0"/>
                <a:cs typeface="Calibri" panose="020F0502020204030204" pitchFamily="34" charset="0"/>
              </a:rPr>
              <a:t>for unshielded and shielded twisted-pair cables for indoor data transmission.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wiring standard was updated to </a:t>
            </a:r>
            <a:r>
              <a:rPr lang="en" altLang="zh-CN" sz="2400" dirty="0">
                <a:solidFill>
                  <a:srgbClr val="0013A3"/>
                </a:solidFill>
                <a:latin typeface="Calibri" panose="020F0502020204030204" pitchFamily="34" charset="0"/>
                <a:cs typeface="Calibri" panose="020F0502020204030204" pitchFamily="34" charset="0"/>
              </a:rPr>
              <a:t>EIA/TIA-568-A </a:t>
            </a:r>
            <a:r>
              <a:rPr lang="en" altLang="zh-CN" sz="2400" dirty="0">
                <a:latin typeface="Calibri" panose="020F0502020204030204" pitchFamily="34" charset="0"/>
                <a:cs typeface="Calibri" panose="020F0502020204030204" pitchFamily="34" charset="0"/>
              </a:rPr>
              <a:t>in 1995.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This standard specifies </a:t>
            </a:r>
            <a:r>
              <a:rPr lang="en" altLang="zh-CN" sz="2400" dirty="0">
                <a:solidFill>
                  <a:srgbClr val="0013A3"/>
                </a:solidFill>
                <a:latin typeface="Calibri" panose="020F0502020204030204" pitchFamily="34" charset="0"/>
                <a:cs typeface="Calibri" panose="020F0502020204030204" pitchFamily="34" charset="0"/>
              </a:rPr>
              <a:t>five categories of UTP standards </a:t>
            </a:r>
            <a:r>
              <a:rPr lang="en" altLang="zh-CN" sz="2400" dirty="0">
                <a:latin typeface="Calibri" panose="020F0502020204030204" pitchFamily="34" charset="0"/>
                <a:cs typeface="Calibri" panose="020F0502020204030204" pitchFamily="34" charset="0"/>
              </a:rPr>
              <a:t>(from Class 1 to Class 5).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The most commonly used UTP for transporting data today is Category 5 or CAT5.</a:t>
            </a:r>
          </a:p>
        </p:txBody>
      </p:sp>
      <p:graphicFrame>
        <p:nvGraphicFramePr>
          <p:cNvPr id="4" name="内容占位符 2">
            <a:extLst>
              <a:ext uri="{FF2B5EF4-FFF2-40B4-BE49-F238E27FC236}">
                <a16:creationId xmlns:a16="http://schemas.microsoft.com/office/drawing/2014/main" id="{47F58EEA-A745-BD1B-BDC8-ECB743FE241F}"/>
              </a:ext>
            </a:extLst>
          </p:cNvPr>
          <p:cNvGraphicFramePr>
            <a:graphicFrameLocks/>
          </p:cNvGraphicFramePr>
          <p:nvPr>
            <p:extLst>
              <p:ext uri="{D42A27DB-BD31-4B8C-83A1-F6EECF244321}">
                <p14:modId xmlns:p14="http://schemas.microsoft.com/office/powerpoint/2010/main" val="149974659"/>
              </p:ext>
            </p:extLst>
          </p:nvPr>
        </p:nvGraphicFramePr>
        <p:xfrm>
          <a:off x="1802288" y="4167431"/>
          <a:ext cx="8048777" cy="2514766"/>
        </p:xfrm>
        <a:graphic>
          <a:graphicData uri="http://schemas.openxmlformats.org/drawingml/2006/table">
            <a:tbl>
              <a:tblPr firstRow="1" firstCol="1">
                <a:effectLst/>
                <a:tableStyleId>{35758FB7-9AC5-4552-8A53-C91805E547FA}</a:tableStyleId>
              </a:tblPr>
              <a:tblGrid>
                <a:gridCol w="1295999">
                  <a:extLst>
                    <a:ext uri="{9D8B030D-6E8A-4147-A177-3AD203B41FA5}">
                      <a16:colId xmlns:a16="http://schemas.microsoft.com/office/drawing/2014/main" val="20000"/>
                    </a:ext>
                  </a:extLst>
                </a:gridCol>
                <a:gridCol w="1093482">
                  <a:extLst>
                    <a:ext uri="{9D8B030D-6E8A-4147-A177-3AD203B41FA5}">
                      <a16:colId xmlns:a16="http://schemas.microsoft.com/office/drawing/2014/main" val="20001"/>
                    </a:ext>
                  </a:extLst>
                </a:gridCol>
                <a:gridCol w="2613108">
                  <a:extLst>
                    <a:ext uri="{9D8B030D-6E8A-4147-A177-3AD203B41FA5}">
                      <a16:colId xmlns:a16="http://schemas.microsoft.com/office/drawing/2014/main" val="20002"/>
                    </a:ext>
                  </a:extLst>
                </a:gridCol>
                <a:gridCol w="3046188">
                  <a:extLst>
                    <a:ext uri="{9D8B030D-6E8A-4147-A177-3AD203B41FA5}">
                      <a16:colId xmlns:a16="http://schemas.microsoft.com/office/drawing/2014/main" val="20003"/>
                    </a:ext>
                  </a:extLst>
                </a:gridCol>
              </a:tblGrid>
              <a:tr h="290948">
                <a:tc>
                  <a:txBody>
                    <a:bodyPr/>
                    <a:lstStyle/>
                    <a:p>
                      <a:pPr algn="ctr">
                        <a:lnSpc>
                          <a:spcPct val="100000"/>
                        </a:lnSpc>
                        <a:spcAft>
                          <a:spcPts val="0"/>
                        </a:spcAft>
                      </a:pPr>
                      <a:r>
                        <a:rPr lang="zh-CN" sz="1400" b="1" dirty="0">
                          <a:effectLst/>
                          <a:latin typeface="微软雅黑" pitchFamily="34" charset="-122"/>
                          <a:ea typeface="微软雅黑" pitchFamily="34" charset="-122"/>
                        </a:rPr>
                        <a:t>绞合线类别</a:t>
                      </a:r>
                      <a:endParaRPr lang="zh-CN" sz="1400" b="1" dirty="0">
                        <a:solidFill>
                          <a:schemeClr val="tx1"/>
                        </a:solidFill>
                        <a:effectLst/>
                        <a:latin typeface="微软雅黑" pitchFamily="34" charset="-122"/>
                        <a:ea typeface="微软雅黑" pitchFamily="34" charset="-122"/>
                      </a:endParaRPr>
                    </a:p>
                  </a:txBody>
                  <a:tcPr marL="31490" marR="31490" marT="0" marB="0" anchor="ctr">
                    <a:solidFill>
                      <a:srgbClr val="0000FF"/>
                    </a:solidFill>
                  </a:tcPr>
                </a:tc>
                <a:tc>
                  <a:txBody>
                    <a:bodyPr/>
                    <a:lstStyle/>
                    <a:p>
                      <a:pPr algn="ctr">
                        <a:lnSpc>
                          <a:spcPct val="100000"/>
                        </a:lnSpc>
                        <a:spcAft>
                          <a:spcPts val="0"/>
                        </a:spcAft>
                      </a:pPr>
                      <a:r>
                        <a:rPr lang="zh-CN" sz="1400" b="1" dirty="0">
                          <a:effectLst/>
                          <a:latin typeface="微软雅黑" pitchFamily="34" charset="-122"/>
                          <a:ea typeface="微软雅黑" pitchFamily="34" charset="-122"/>
                        </a:rPr>
                        <a:t>带宽</a:t>
                      </a:r>
                      <a:endParaRPr lang="zh-CN" sz="1400" b="1" dirty="0">
                        <a:solidFill>
                          <a:schemeClr val="tx1"/>
                        </a:solidFill>
                        <a:effectLst/>
                        <a:latin typeface="微软雅黑" pitchFamily="34" charset="-122"/>
                        <a:ea typeface="微软雅黑" pitchFamily="34" charset="-122"/>
                      </a:endParaRPr>
                    </a:p>
                  </a:txBody>
                  <a:tcPr marL="31490" marR="31490" marT="0" marB="0" anchor="ctr">
                    <a:solidFill>
                      <a:srgbClr val="0000FF"/>
                    </a:solidFill>
                  </a:tcPr>
                </a:tc>
                <a:tc>
                  <a:txBody>
                    <a:bodyPr/>
                    <a:lstStyle/>
                    <a:p>
                      <a:pPr algn="ctr">
                        <a:lnSpc>
                          <a:spcPct val="100000"/>
                        </a:lnSpc>
                        <a:spcAft>
                          <a:spcPts val="0"/>
                        </a:spcAft>
                      </a:pPr>
                      <a:r>
                        <a:rPr lang="zh-CN" sz="1400" b="1" dirty="0">
                          <a:effectLst/>
                          <a:latin typeface="微软雅黑" pitchFamily="34" charset="-122"/>
                          <a:ea typeface="微软雅黑" pitchFamily="34" charset="-122"/>
                        </a:rPr>
                        <a:t>线缆特点</a:t>
                      </a:r>
                      <a:endParaRPr lang="zh-CN" sz="1400" b="1" dirty="0">
                        <a:solidFill>
                          <a:schemeClr val="tx1"/>
                        </a:solidFill>
                        <a:effectLst/>
                        <a:latin typeface="微软雅黑" pitchFamily="34" charset="-122"/>
                        <a:ea typeface="微软雅黑" pitchFamily="34" charset="-122"/>
                      </a:endParaRPr>
                    </a:p>
                  </a:txBody>
                  <a:tcPr marL="31490" marR="31490" marT="0" marB="0" anchor="ctr">
                    <a:solidFill>
                      <a:srgbClr val="0000FF"/>
                    </a:solidFill>
                  </a:tcPr>
                </a:tc>
                <a:tc>
                  <a:txBody>
                    <a:bodyPr/>
                    <a:lstStyle/>
                    <a:p>
                      <a:pPr algn="ctr">
                        <a:lnSpc>
                          <a:spcPct val="100000"/>
                        </a:lnSpc>
                        <a:spcAft>
                          <a:spcPts val="0"/>
                        </a:spcAft>
                      </a:pPr>
                      <a:r>
                        <a:rPr lang="zh-CN" sz="1400" b="1" dirty="0">
                          <a:effectLst/>
                          <a:latin typeface="微软雅黑" pitchFamily="34" charset="-122"/>
                          <a:ea typeface="微软雅黑" pitchFamily="34" charset="-122"/>
                        </a:rPr>
                        <a:t>典型应用</a:t>
                      </a:r>
                      <a:endParaRPr lang="zh-CN" sz="1400" b="1" dirty="0">
                        <a:solidFill>
                          <a:schemeClr val="tx1"/>
                        </a:solidFill>
                        <a:effectLst/>
                        <a:latin typeface="微软雅黑" pitchFamily="34" charset="-122"/>
                        <a:ea typeface="微软雅黑" pitchFamily="34" charset="-122"/>
                      </a:endParaRPr>
                    </a:p>
                  </a:txBody>
                  <a:tcPr marL="31490" marR="31490" marT="0" marB="0" anchor="ctr">
                    <a:solidFill>
                      <a:srgbClr val="0000FF"/>
                    </a:solidFill>
                  </a:tcPr>
                </a:tc>
                <a:extLst>
                  <a:ext uri="{0D108BD9-81ED-4DB2-BD59-A6C34878D82A}">
                    <a16:rowId xmlns:a16="http://schemas.microsoft.com/office/drawing/2014/main" val="10000"/>
                  </a:ext>
                </a:extLst>
              </a:tr>
              <a:tr h="484632">
                <a:tc>
                  <a:txBody>
                    <a:bodyPr/>
                    <a:lstStyle/>
                    <a:p>
                      <a:pPr algn="ctr">
                        <a:lnSpc>
                          <a:spcPct val="100000"/>
                        </a:lnSpc>
                        <a:spcAft>
                          <a:spcPts val="0"/>
                        </a:spcAft>
                      </a:pPr>
                      <a:r>
                        <a:rPr lang="en-US" sz="1400" b="1" dirty="0">
                          <a:effectLst/>
                          <a:latin typeface="微软雅黑" pitchFamily="34" charset="-122"/>
                          <a:ea typeface="微软雅黑" pitchFamily="34" charset="-122"/>
                        </a:rPr>
                        <a:t>3</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a:effectLst/>
                          <a:latin typeface="微软雅黑" pitchFamily="34" charset="-122"/>
                          <a:ea typeface="微软雅黑" pitchFamily="34" charset="-122"/>
                        </a:rPr>
                        <a:t>16 MHz</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dirty="0">
                          <a:effectLst/>
                          <a:latin typeface="微软雅黑" pitchFamily="34" charset="-122"/>
                          <a:ea typeface="微软雅黑" pitchFamily="34" charset="-122"/>
                        </a:rPr>
                        <a:t>2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芯双绞线</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模拟电话；曾用于传统以太网</a:t>
                      </a:r>
                      <a:endParaRPr lang="en-US" altLang="zh-CN" sz="1400" b="1" dirty="0">
                        <a:effectLst/>
                        <a:latin typeface="微软雅黑" pitchFamily="34" charset="-122"/>
                        <a:ea typeface="微软雅黑" pitchFamily="34" charset="-122"/>
                      </a:endParaRPr>
                    </a:p>
                    <a:p>
                      <a:pPr algn="ctr">
                        <a:lnSpc>
                          <a:spcPct val="100000"/>
                        </a:lnSpc>
                        <a:spcAft>
                          <a:spcPts val="0"/>
                        </a:spcAft>
                      </a:pPr>
                      <a:r>
                        <a:rPr lang="zh-CN" sz="1400" b="1" dirty="0">
                          <a:effectLst/>
                          <a:latin typeface="微软雅黑" pitchFamily="34" charset="-122"/>
                          <a:ea typeface="微软雅黑" pitchFamily="34" charset="-122"/>
                        </a:rPr>
                        <a:t>（</a:t>
                      </a:r>
                      <a:r>
                        <a:rPr lang="en-US" sz="1400" b="1" dirty="0">
                          <a:effectLst/>
                          <a:latin typeface="微软雅黑" pitchFamily="34" charset="-122"/>
                          <a:ea typeface="微软雅黑" pitchFamily="34" charset="-122"/>
                        </a:rPr>
                        <a:t>10 Mbit/s</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31490" marR="31490" marT="0" marB="0" anchor="ctr"/>
                </a:tc>
                <a:extLst>
                  <a:ext uri="{0D108BD9-81ED-4DB2-BD59-A6C34878D82A}">
                    <a16:rowId xmlns:a16="http://schemas.microsoft.com/office/drawing/2014/main" val="10001"/>
                  </a:ext>
                </a:extLst>
              </a:tr>
              <a:tr h="365760">
                <a:tc>
                  <a:txBody>
                    <a:bodyPr/>
                    <a:lstStyle/>
                    <a:p>
                      <a:pPr algn="ctr">
                        <a:lnSpc>
                          <a:spcPct val="100000"/>
                        </a:lnSpc>
                        <a:spcAft>
                          <a:spcPts val="0"/>
                        </a:spcAft>
                      </a:pPr>
                      <a:r>
                        <a:rPr lang="en-US" sz="1400" b="1">
                          <a:effectLst/>
                          <a:latin typeface="微软雅黑" pitchFamily="34" charset="-122"/>
                          <a:ea typeface="微软雅黑" pitchFamily="34" charset="-122"/>
                        </a:rPr>
                        <a:t>4</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a:effectLst/>
                          <a:latin typeface="微软雅黑" pitchFamily="34" charset="-122"/>
                          <a:ea typeface="微软雅黑" pitchFamily="34" charset="-122"/>
                        </a:rPr>
                        <a:t>20 MHz</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8 </a:t>
                      </a:r>
                      <a:r>
                        <a:rPr lang="zh-CN" sz="1400" b="1" dirty="0">
                          <a:effectLst/>
                          <a:latin typeface="微软雅黑" pitchFamily="34" charset="-122"/>
                          <a:ea typeface="微软雅黑" pitchFamily="34" charset="-122"/>
                        </a:rPr>
                        <a:t>芯双绞线</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a:effectLst/>
                          <a:latin typeface="微软雅黑" pitchFamily="34" charset="-122"/>
                          <a:ea typeface="微软雅黑" pitchFamily="34" charset="-122"/>
                        </a:rPr>
                        <a:t>曾用于令牌局域网</a:t>
                      </a:r>
                      <a:endParaRPr lang="zh-CN" sz="1400" b="1">
                        <a:solidFill>
                          <a:schemeClr val="tx1"/>
                        </a:solidFill>
                        <a:effectLst/>
                        <a:latin typeface="微软雅黑" pitchFamily="34" charset="-122"/>
                        <a:ea typeface="微软雅黑" pitchFamily="34" charset="-122"/>
                      </a:endParaRPr>
                    </a:p>
                  </a:txBody>
                  <a:tcPr marL="31490" marR="31490" marT="0" marB="0" anchor="ctr"/>
                </a:tc>
                <a:extLst>
                  <a:ext uri="{0D108BD9-81ED-4DB2-BD59-A6C34878D82A}">
                    <a16:rowId xmlns:a16="http://schemas.microsoft.com/office/drawing/2014/main" val="10002"/>
                  </a:ext>
                </a:extLst>
              </a:tr>
              <a:tr h="365760">
                <a:tc>
                  <a:txBody>
                    <a:bodyPr/>
                    <a:lstStyle/>
                    <a:p>
                      <a:pPr algn="ctr">
                        <a:lnSpc>
                          <a:spcPct val="100000"/>
                        </a:lnSpc>
                        <a:spcAft>
                          <a:spcPts val="0"/>
                        </a:spcAft>
                      </a:pPr>
                      <a:r>
                        <a:rPr lang="en-US" sz="1400" b="1">
                          <a:effectLst/>
                          <a:latin typeface="微软雅黑" pitchFamily="34" charset="-122"/>
                          <a:ea typeface="微软雅黑" pitchFamily="34" charset="-122"/>
                        </a:rPr>
                        <a:t>5</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a:effectLst/>
                          <a:latin typeface="微软雅黑" pitchFamily="34" charset="-122"/>
                          <a:ea typeface="微软雅黑" pitchFamily="34" charset="-122"/>
                        </a:rPr>
                        <a:t>100 MHz</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与</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类相比增加了绞合度</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传输速率不超过</a:t>
                      </a:r>
                      <a:r>
                        <a:rPr lang="en-US" sz="1400" b="1" dirty="0">
                          <a:effectLst/>
                          <a:latin typeface="微软雅黑" pitchFamily="34" charset="-122"/>
                          <a:ea typeface="微软雅黑" pitchFamily="34" charset="-122"/>
                        </a:rPr>
                        <a:t>100 Mbit/s </a:t>
                      </a:r>
                      <a:r>
                        <a:rPr lang="zh-CN" sz="1400" b="1" dirty="0">
                          <a:effectLst/>
                          <a:latin typeface="微软雅黑" pitchFamily="34" charset="-122"/>
                          <a:ea typeface="微软雅黑" pitchFamily="34" charset="-122"/>
                        </a:rPr>
                        <a:t>的应用</a:t>
                      </a:r>
                      <a:endParaRPr lang="zh-CN" sz="1400" b="1" dirty="0">
                        <a:solidFill>
                          <a:schemeClr val="tx1"/>
                        </a:solidFill>
                        <a:effectLst/>
                        <a:latin typeface="微软雅黑" pitchFamily="34" charset="-122"/>
                        <a:ea typeface="微软雅黑" pitchFamily="34" charset="-122"/>
                      </a:endParaRPr>
                    </a:p>
                  </a:txBody>
                  <a:tcPr marL="31490" marR="31490" marT="0" marB="0" anchor="ctr"/>
                </a:tc>
                <a:extLst>
                  <a:ext uri="{0D108BD9-81ED-4DB2-BD59-A6C34878D82A}">
                    <a16:rowId xmlns:a16="http://schemas.microsoft.com/office/drawing/2014/main" val="10003"/>
                  </a:ext>
                </a:extLst>
              </a:tr>
              <a:tr h="347472">
                <a:tc>
                  <a:txBody>
                    <a:bodyPr/>
                    <a:lstStyle/>
                    <a:p>
                      <a:pPr algn="ctr">
                        <a:lnSpc>
                          <a:spcPct val="100000"/>
                        </a:lnSpc>
                        <a:spcAft>
                          <a:spcPts val="0"/>
                        </a:spcAft>
                      </a:pPr>
                      <a:r>
                        <a:rPr lang="en-US" sz="1400" b="1" dirty="0">
                          <a:effectLst/>
                          <a:latin typeface="微软雅黑" pitchFamily="34" charset="-122"/>
                          <a:ea typeface="微软雅黑" pitchFamily="34" charset="-122"/>
                        </a:rPr>
                        <a:t>5E </a:t>
                      </a:r>
                      <a:r>
                        <a:rPr lang="en-US" altLang="zh-CN" sz="1400" b="1" dirty="0">
                          <a:effectLst/>
                          <a:latin typeface="微软雅黑" pitchFamily="34" charset="-122"/>
                          <a:ea typeface="微软雅黑" pitchFamily="34" charset="-122"/>
                        </a:rPr>
                        <a:t>(</a:t>
                      </a:r>
                      <a:r>
                        <a:rPr lang="zh-CN" sz="1400" b="1" dirty="0">
                          <a:effectLst/>
                          <a:latin typeface="微软雅黑" pitchFamily="34" charset="-122"/>
                          <a:ea typeface="微软雅黑" pitchFamily="34" charset="-122"/>
                        </a:rPr>
                        <a:t>超</a:t>
                      </a:r>
                      <a:r>
                        <a:rPr lang="en-US" sz="1400" b="1" dirty="0">
                          <a:effectLst/>
                          <a:latin typeface="微软雅黑" pitchFamily="34" charset="-122"/>
                          <a:ea typeface="微软雅黑" pitchFamily="34" charset="-122"/>
                        </a:rPr>
                        <a:t>5</a:t>
                      </a:r>
                      <a:r>
                        <a:rPr lang="zh-CN" sz="1400" b="1" dirty="0">
                          <a:effectLst/>
                          <a:latin typeface="微软雅黑" pitchFamily="34" charset="-122"/>
                          <a:ea typeface="微软雅黑" pitchFamily="34" charset="-122"/>
                        </a:rPr>
                        <a:t>类</a:t>
                      </a:r>
                      <a:r>
                        <a:rPr lang="en-US" alt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a:effectLst/>
                          <a:latin typeface="微软雅黑" pitchFamily="34" charset="-122"/>
                          <a:ea typeface="微软雅黑" pitchFamily="34" charset="-122"/>
                        </a:rPr>
                        <a:t>125 MHz</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与</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5 </a:t>
                      </a:r>
                      <a:r>
                        <a:rPr lang="zh-CN" sz="1400" b="1" dirty="0">
                          <a:effectLst/>
                          <a:latin typeface="微软雅黑" pitchFamily="34" charset="-122"/>
                          <a:ea typeface="微软雅黑" pitchFamily="34" charset="-122"/>
                        </a:rPr>
                        <a:t>类相比衰减更小</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传输速率不超过</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1 </a:t>
                      </a:r>
                      <a:r>
                        <a:rPr lang="en-US" sz="1400" b="1" dirty="0" err="1">
                          <a:effectLst/>
                          <a:latin typeface="微软雅黑" pitchFamily="34" charset="-122"/>
                          <a:ea typeface="微软雅黑" pitchFamily="34" charset="-122"/>
                        </a:rPr>
                        <a:t>Gbit</a:t>
                      </a:r>
                      <a:r>
                        <a:rPr lang="en-US" sz="1400" b="1" dirty="0">
                          <a:effectLst/>
                          <a:latin typeface="微软雅黑" pitchFamily="34" charset="-122"/>
                          <a:ea typeface="微软雅黑" pitchFamily="34" charset="-122"/>
                        </a:rPr>
                        <a:t>/s </a:t>
                      </a:r>
                      <a:r>
                        <a:rPr lang="zh-CN" sz="1400" b="1" dirty="0">
                          <a:effectLst/>
                          <a:latin typeface="微软雅黑" pitchFamily="34" charset="-122"/>
                          <a:ea typeface="微软雅黑" pitchFamily="34" charset="-122"/>
                        </a:rPr>
                        <a:t>的应用</a:t>
                      </a:r>
                      <a:endParaRPr lang="zh-CN" sz="1400" b="1" dirty="0">
                        <a:solidFill>
                          <a:schemeClr val="tx1"/>
                        </a:solidFill>
                        <a:effectLst/>
                        <a:latin typeface="微软雅黑" pitchFamily="34" charset="-122"/>
                        <a:ea typeface="微软雅黑" pitchFamily="34" charset="-122"/>
                      </a:endParaRPr>
                    </a:p>
                  </a:txBody>
                  <a:tcPr marL="31490" marR="31490" marT="0" marB="0" anchor="ctr"/>
                </a:tc>
                <a:extLst>
                  <a:ext uri="{0D108BD9-81ED-4DB2-BD59-A6C34878D82A}">
                    <a16:rowId xmlns:a16="http://schemas.microsoft.com/office/drawing/2014/main" val="10004"/>
                  </a:ext>
                </a:extLst>
              </a:tr>
              <a:tr h="347472">
                <a:tc>
                  <a:txBody>
                    <a:bodyPr/>
                    <a:lstStyle/>
                    <a:p>
                      <a:pPr algn="ctr">
                        <a:lnSpc>
                          <a:spcPct val="100000"/>
                        </a:lnSpc>
                        <a:spcAft>
                          <a:spcPts val="0"/>
                        </a:spcAft>
                      </a:pPr>
                      <a:r>
                        <a:rPr lang="en-US" sz="1400" b="1">
                          <a:effectLst/>
                          <a:latin typeface="微软雅黑" pitchFamily="34" charset="-122"/>
                          <a:ea typeface="微软雅黑" pitchFamily="34" charset="-122"/>
                        </a:rPr>
                        <a:t>6</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a:effectLst/>
                          <a:latin typeface="微软雅黑" pitchFamily="34" charset="-122"/>
                          <a:ea typeface="微软雅黑" pitchFamily="34" charset="-122"/>
                        </a:rPr>
                        <a:t>250 MHz</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与</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5 </a:t>
                      </a:r>
                      <a:r>
                        <a:rPr lang="zh-CN" sz="1400" b="1" dirty="0">
                          <a:effectLst/>
                          <a:latin typeface="微软雅黑" pitchFamily="34" charset="-122"/>
                          <a:ea typeface="微软雅黑" pitchFamily="34" charset="-122"/>
                        </a:rPr>
                        <a:t>类相比改善了串扰等性能</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传输速率高于</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1 </a:t>
                      </a:r>
                      <a:r>
                        <a:rPr lang="en-US" sz="1400" b="1" dirty="0" err="1">
                          <a:effectLst/>
                          <a:latin typeface="微软雅黑" pitchFamily="34" charset="-122"/>
                          <a:ea typeface="微软雅黑" pitchFamily="34" charset="-122"/>
                        </a:rPr>
                        <a:t>Gbit</a:t>
                      </a:r>
                      <a:r>
                        <a:rPr lang="en-US" sz="1400" b="1" dirty="0">
                          <a:effectLst/>
                          <a:latin typeface="微软雅黑" pitchFamily="34" charset="-122"/>
                          <a:ea typeface="微软雅黑" pitchFamily="34" charset="-122"/>
                        </a:rPr>
                        <a:t>/s </a:t>
                      </a:r>
                      <a:r>
                        <a:rPr lang="zh-CN" sz="1400" b="1" dirty="0">
                          <a:effectLst/>
                          <a:latin typeface="微软雅黑" pitchFamily="34" charset="-122"/>
                          <a:ea typeface="微软雅黑" pitchFamily="34" charset="-122"/>
                        </a:rPr>
                        <a:t>的应用</a:t>
                      </a:r>
                      <a:endParaRPr lang="zh-CN" sz="1400" b="1" dirty="0">
                        <a:solidFill>
                          <a:schemeClr val="tx1"/>
                        </a:solidFill>
                        <a:effectLst/>
                        <a:latin typeface="微软雅黑" pitchFamily="34" charset="-122"/>
                        <a:ea typeface="微软雅黑" pitchFamily="34" charset="-122"/>
                      </a:endParaRPr>
                    </a:p>
                  </a:txBody>
                  <a:tcPr marL="31490" marR="31490" marT="0" marB="0" anchor="ctr"/>
                </a:tc>
                <a:extLst>
                  <a:ext uri="{0D108BD9-81ED-4DB2-BD59-A6C34878D82A}">
                    <a16:rowId xmlns:a16="http://schemas.microsoft.com/office/drawing/2014/main" val="10005"/>
                  </a:ext>
                </a:extLst>
              </a:tr>
              <a:tr h="312722">
                <a:tc>
                  <a:txBody>
                    <a:bodyPr/>
                    <a:lstStyle/>
                    <a:p>
                      <a:pPr algn="ctr">
                        <a:lnSpc>
                          <a:spcPct val="100000"/>
                        </a:lnSpc>
                        <a:spcAft>
                          <a:spcPts val="0"/>
                        </a:spcAft>
                      </a:pPr>
                      <a:r>
                        <a:rPr lang="en-US" sz="1400" b="1" dirty="0">
                          <a:effectLst/>
                          <a:latin typeface="微软雅黑" pitchFamily="34" charset="-122"/>
                          <a:ea typeface="微软雅黑" pitchFamily="34" charset="-122"/>
                        </a:rPr>
                        <a:t>7</a:t>
                      </a:r>
                      <a:endParaRPr lang="zh-CN" sz="1400" b="1" dirty="0">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en-US" sz="1400" b="1">
                          <a:effectLst/>
                          <a:latin typeface="微软雅黑" pitchFamily="34" charset="-122"/>
                          <a:ea typeface="微软雅黑" pitchFamily="34" charset="-122"/>
                        </a:rPr>
                        <a:t>600 MHz</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a:effectLst/>
                          <a:latin typeface="微软雅黑" pitchFamily="34" charset="-122"/>
                          <a:ea typeface="微软雅黑" pitchFamily="34" charset="-122"/>
                        </a:rPr>
                        <a:t>使用屏蔽双绞线</a:t>
                      </a:r>
                      <a:endParaRPr lang="zh-CN" sz="1400" b="1">
                        <a:solidFill>
                          <a:schemeClr val="tx1"/>
                        </a:solidFill>
                        <a:effectLst/>
                        <a:latin typeface="微软雅黑" pitchFamily="34" charset="-122"/>
                        <a:ea typeface="微软雅黑" pitchFamily="34" charset="-122"/>
                      </a:endParaRPr>
                    </a:p>
                  </a:txBody>
                  <a:tcPr marL="31490" marR="31490" marT="0" marB="0" anchor="ctr"/>
                </a:tc>
                <a:tc>
                  <a:txBody>
                    <a:bodyPr/>
                    <a:lstStyle/>
                    <a:p>
                      <a:pPr algn="ctr">
                        <a:lnSpc>
                          <a:spcPct val="100000"/>
                        </a:lnSpc>
                        <a:spcAft>
                          <a:spcPts val="0"/>
                        </a:spcAft>
                      </a:pPr>
                      <a:r>
                        <a:rPr lang="zh-CN" sz="1400" b="1" dirty="0">
                          <a:effectLst/>
                          <a:latin typeface="微软雅黑" pitchFamily="34" charset="-122"/>
                          <a:ea typeface="微软雅黑" pitchFamily="34" charset="-122"/>
                        </a:rPr>
                        <a:t>传输速率高于</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10 </a:t>
                      </a:r>
                      <a:r>
                        <a:rPr lang="en-US" sz="1400" b="1" dirty="0" err="1">
                          <a:effectLst/>
                          <a:latin typeface="微软雅黑" pitchFamily="34" charset="-122"/>
                          <a:ea typeface="微软雅黑" pitchFamily="34" charset="-122"/>
                        </a:rPr>
                        <a:t>Gbit</a:t>
                      </a:r>
                      <a:r>
                        <a:rPr lang="en-US" sz="1400" b="1" dirty="0">
                          <a:effectLst/>
                          <a:latin typeface="微软雅黑" pitchFamily="34" charset="-122"/>
                          <a:ea typeface="微软雅黑" pitchFamily="34" charset="-122"/>
                        </a:rPr>
                        <a:t>/s </a:t>
                      </a:r>
                      <a:r>
                        <a:rPr lang="zh-CN" sz="1400" b="1" dirty="0">
                          <a:effectLst/>
                          <a:latin typeface="微软雅黑" pitchFamily="34" charset="-122"/>
                          <a:ea typeface="微软雅黑" pitchFamily="34" charset="-122"/>
                        </a:rPr>
                        <a:t>的应用</a:t>
                      </a:r>
                      <a:endParaRPr lang="zh-CN" sz="1400" b="1" dirty="0">
                        <a:solidFill>
                          <a:schemeClr val="tx1"/>
                        </a:solidFill>
                        <a:effectLst/>
                        <a:latin typeface="微软雅黑" pitchFamily="34" charset="-122"/>
                        <a:ea typeface="微软雅黑" pitchFamily="34" charset="-122"/>
                      </a:endParaRPr>
                    </a:p>
                  </a:txBody>
                  <a:tcPr marL="31490" marR="31490" marT="0" marB="0" anchor="ctr"/>
                </a:tc>
                <a:extLst>
                  <a:ext uri="{0D108BD9-81ED-4DB2-BD59-A6C34878D82A}">
                    <a16:rowId xmlns:a16="http://schemas.microsoft.com/office/drawing/2014/main" val="10006"/>
                  </a:ext>
                </a:extLst>
              </a:tr>
            </a:tbl>
          </a:graphicData>
        </a:graphic>
      </p:graphicFrame>
      <p:sp>
        <p:nvSpPr>
          <p:cNvPr id="5" name="矩形 4">
            <a:extLst>
              <a:ext uri="{FF2B5EF4-FFF2-40B4-BE49-F238E27FC236}">
                <a16:creationId xmlns:a16="http://schemas.microsoft.com/office/drawing/2014/main" id="{85BC042B-3610-E5F1-268C-F0132E4B0C98}"/>
              </a:ext>
            </a:extLst>
          </p:cNvPr>
          <p:cNvSpPr/>
          <p:nvPr/>
        </p:nvSpPr>
        <p:spPr>
          <a:xfrm>
            <a:off x="3400847" y="3892261"/>
            <a:ext cx="4903907" cy="261610"/>
          </a:xfrm>
          <a:prstGeom prst="rect">
            <a:avLst/>
          </a:prstGeom>
        </p:spPr>
        <p:txBody>
          <a:bodyPr wrap="none">
            <a:spAutoFit/>
          </a:bodyPr>
          <a:lstStyle/>
          <a:p>
            <a:pPr algn="ctr"/>
            <a:r>
              <a:rPr lang="en" altLang="zh-CN" sz="1100" dirty="0">
                <a:latin typeface="Calibri" panose="020F0502020204030204" pitchFamily="34" charset="0"/>
                <a:cs typeface="Calibri" panose="020F0502020204030204" pitchFamily="34" charset="0"/>
              </a:rPr>
              <a:t>Categories, bandwidths, and typical applications of commonly used stranded wires</a:t>
            </a:r>
          </a:p>
        </p:txBody>
      </p:sp>
    </p:spTree>
    <p:extLst>
      <p:ext uri="{BB962C8B-B14F-4D97-AF65-F5344CB8AC3E}">
        <p14:creationId xmlns:p14="http://schemas.microsoft.com/office/powerpoint/2010/main" val="448747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Guided transmission media</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2343206"/>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Coaxial cable</a:t>
            </a:r>
            <a:r>
              <a:rPr lang="zh-CN" altLang="en-US" sz="2400" dirty="0">
                <a:solidFill>
                  <a:srgbClr val="0013A3"/>
                </a:solidFill>
                <a:latin typeface="Calibri" panose="020F0502020204030204" pitchFamily="34" charset="0"/>
                <a:cs typeface="Calibri" panose="020F0502020204030204" pitchFamily="34" charset="0"/>
              </a:rPr>
              <a:t> 同轴电缆</a:t>
            </a:r>
            <a:endParaRPr lang="en" altLang="zh-CN" sz="2400" dirty="0">
              <a:solidFill>
                <a:srgbClr val="0013A3"/>
              </a:solidFill>
              <a:latin typeface="Calibri" panose="020F0502020204030204" pitchFamily="34" charset="0"/>
              <a:cs typeface="Calibri" panose="020F0502020204030204" pitchFamily="34" charset="0"/>
            </a:endParaRP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Coaxial cable has good anti-interference characteristics and is widely used to transmit higher rate data.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bandwidth of a coaxial cable depends on the quality of the cable.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50</a:t>
            </a:r>
            <a:r>
              <a:rPr lang="zh-CN" altLang="en-US" sz="2400" dirty="0">
                <a:solidFill>
                  <a:srgbClr val="0013A3"/>
                </a:solidFill>
                <a:latin typeface="Calibri" panose="020F0502020204030204" pitchFamily="34" charset="0"/>
                <a:cs typeface="Calibri" panose="020F0502020204030204" pitchFamily="34" charset="0"/>
              </a:rPr>
              <a:t> </a:t>
            </a:r>
            <a:r>
              <a:rPr lang="el-GR" altLang="zh-CN" sz="2400" dirty="0">
                <a:solidFill>
                  <a:srgbClr val="0013A3"/>
                </a:solidFill>
                <a:latin typeface="Calibri" panose="020F0502020204030204" pitchFamily="34" charset="0"/>
                <a:cs typeface="Calibri" panose="020F0502020204030204" pitchFamily="34" charset="0"/>
              </a:rPr>
              <a:t>Ω </a:t>
            </a:r>
            <a:r>
              <a:rPr lang="en" altLang="zh-CN" sz="2400" dirty="0">
                <a:solidFill>
                  <a:srgbClr val="0013A3"/>
                </a:solidFill>
                <a:latin typeface="Calibri" panose="020F0502020204030204" pitchFamily="34" charset="0"/>
                <a:cs typeface="Calibri" panose="020F0502020204030204" pitchFamily="34" charset="0"/>
              </a:rPr>
              <a:t>coaxial cable </a:t>
            </a:r>
            <a:r>
              <a:rPr lang="en" altLang="zh-CN" sz="2400" dirty="0">
                <a:latin typeface="Calibri" panose="020F0502020204030204" pitchFamily="34" charset="0"/>
                <a:cs typeface="Calibri" panose="020F0502020204030204" pitchFamily="34" charset="0"/>
              </a:rPr>
              <a:t>- commonly used for LAN/digital transmission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75 </a:t>
            </a:r>
            <a:r>
              <a:rPr lang="el-GR" altLang="zh-CN" sz="2400" dirty="0">
                <a:solidFill>
                  <a:srgbClr val="0013A3"/>
                </a:solidFill>
                <a:latin typeface="Calibri" panose="020F0502020204030204" pitchFamily="34" charset="0"/>
                <a:cs typeface="Calibri" panose="020F0502020204030204" pitchFamily="34" charset="0"/>
              </a:rPr>
              <a:t>Ω </a:t>
            </a:r>
            <a:r>
              <a:rPr lang="en" altLang="zh-CN" sz="2400" dirty="0">
                <a:solidFill>
                  <a:srgbClr val="0013A3"/>
                </a:solidFill>
                <a:latin typeface="Calibri" panose="020F0502020204030204" pitchFamily="34" charset="0"/>
                <a:cs typeface="Calibri" panose="020F0502020204030204" pitchFamily="34" charset="0"/>
              </a:rPr>
              <a:t>coaxial cable </a:t>
            </a:r>
            <a:r>
              <a:rPr lang="en" altLang="zh-CN" sz="2400" dirty="0">
                <a:latin typeface="Calibri" panose="020F0502020204030204" pitchFamily="34" charset="0"/>
                <a:cs typeface="Calibri" panose="020F0502020204030204" pitchFamily="34" charset="0"/>
              </a:rPr>
              <a:t>- cable TV/analog transmission commonly used</a:t>
            </a:r>
          </a:p>
        </p:txBody>
      </p:sp>
      <p:grpSp>
        <p:nvGrpSpPr>
          <p:cNvPr id="3" name="组合 2">
            <a:extLst>
              <a:ext uri="{FF2B5EF4-FFF2-40B4-BE49-F238E27FC236}">
                <a16:creationId xmlns:a16="http://schemas.microsoft.com/office/drawing/2014/main" id="{1D116014-92A4-BCCF-E66C-3BB6A297047C}"/>
              </a:ext>
            </a:extLst>
          </p:cNvPr>
          <p:cNvGrpSpPr/>
          <p:nvPr/>
        </p:nvGrpSpPr>
        <p:grpSpPr>
          <a:xfrm>
            <a:off x="3779778" y="4243070"/>
            <a:ext cx="4553426" cy="1046971"/>
            <a:chOff x="2505075" y="4020811"/>
            <a:chExt cx="4972050" cy="1327133"/>
          </a:xfrm>
        </p:grpSpPr>
        <p:pic>
          <p:nvPicPr>
            <p:cNvPr id="4" name="Picture 3" descr="D:\1xxr\1paper\Cable\222.gif">
              <a:extLst>
                <a:ext uri="{FF2B5EF4-FFF2-40B4-BE49-F238E27FC236}">
                  <a16:creationId xmlns:a16="http://schemas.microsoft.com/office/drawing/2014/main" id="{A87633A4-990B-3925-200B-E9ADFBD261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7741" r="21053" b="25261"/>
            <a:stretch>
              <a:fillRect/>
            </a:stretch>
          </p:blipFill>
          <p:spPr bwMode="auto">
            <a:xfrm>
              <a:off x="2505075" y="4408015"/>
              <a:ext cx="4114800" cy="939929"/>
            </a:xfrm>
            <a:prstGeom prst="rect">
              <a:avLst/>
            </a:prstGeom>
            <a:noFill/>
            <a:ln w="19050">
              <a:solidFill>
                <a:srgbClr val="00B050"/>
              </a:solidFill>
            </a:ln>
            <a:extLst>
              <a:ext uri="{909E8E84-426E-40DD-AFC4-6F175D3DCCD1}">
                <a14:hiddenFill xmlns:a14="http://schemas.microsoft.com/office/drawing/2010/main">
                  <a:solidFill>
                    <a:srgbClr val="FFFFFF"/>
                  </a:solidFill>
                </a14:hiddenFill>
              </a:ext>
            </a:extLst>
          </p:spPr>
        </p:pic>
        <p:sp>
          <p:nvSpPr>
            <p:cNvPr id="5" name="Text Box 4">
              <a:extLst>
                <a:ext uri="{FF2B5EF4-FFF2-40B4-BE49-F238E27FC236}">
                  <a16:creationId xmlns:a16="http://schemas.microsoft.com/office/drawing/2014/main" id="{71EAD8AA-9BCD-D317-676B-516B228252B7}"/>
                </a:ext>
              </a:extLst>
            </p:cNvPr>
            <p:cNvSpPr txBox="1">
              <a:spLocks noChangeArrowheads="1"/>
            </p:cNvSpPr>
            <p:nvPr/>
          </p:nvSpPr>
          <p:spPr bwMode="auto">
            <a:xfrm>
              <a:off x="6645275" y="4699000"/>
              <a:ext cx="831850" cy="390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内导体</a:t>
              </a:r>
            </a:p>
          </p:txBody>
        </p:sp>
        <p:sp>
          <p:nvSpPr>
            <p:cNvPr id="6" name="Text Box 5">
              <a:extLst>
                <a:ext uri="{FF2B5EF4-FFF2-40B4-BE49-F238E27FC236}">
                  <a16:creationId xmlns:a16="http://schemas.microsoft.com/office/drawing/2014/main" id="{7BBFF955-D573-7FC5-6432-783B7DEF5C1E}"/>
                </a:ext>
              </a:extLst>
            </p:cNvPr>
            <p:cNvSpPr txBox="1">
              <a:spLocks noChangeArrowheads="1"/>
            </p:cNvSpPr>
            <p:nvPr/>
          </p:nvSpPr>
          <p:spPr bwMode="auto">
            <a:xfrm>
              <a:off x="4481513" y="4044624"/>
              <a:ext cx="1730376" cy="390136"/>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外导体屏蔽层</a:t>
              </a:r>
            </a:p>
          </p:txBody>
        </p:sp>
        <p:sp>
          <p:nvSpPr>
            <p:cNvPr id="8" name="Text Box 6">
              <a:extLst>
                <a:ext uri="{FF2B5EF4-FFF2-40B4-BE49-F238E27FC236}">
                  <a16:creationId xmlns:a16="http://schemas.microsoft.com/office/drawing/2014/main" id="{0ADAAA55-65D2-1E7F-87F5-A52E44373E38}"/>
                </a:ext>
              </a:extLst>
            </p:cNvPr>
            <p:cNvSpPr txBox="1">
              <a:spLocks noChangeArrowheads="1"/>
            </p:cNvSpPr>
            <p:nvPr/>
          </p:nvSpPr>
          <p:spPr bwMode="auto">
            <a:xfrm>
              <a:off x="6284913" y="4020811"/>
              <a:ext cx="963612" cy="390136"/>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1" dirty="0">
                  <a:solidFill>
                    <a:srgbClr val="0000FF"/>
                  </a:solidFill>
                  <a:latin typeface="微软雅黑" pitchFamily="34" charset="-122"/>
                  <a:ea typeface="微软雅黑" pitchFamily="34" charset="-122"/>
                </a:rPr>
                <a:t>绝缘层</a:t>
              </a:r>
            </a:p>
          </p:txBody>
        </p:sp>
        <p:sp>
          <p:nvSpPr>
            <p:cNvPr id="9" name="Text Box 7">
              <a:extLst>
                <a:ext uri="{FF2B5EF4-FFF2-40B4-BE49-F238E27FC236}">
                  <a16:creationId xmlns:a16="http://schemas.microsoft.com/office/drawing/2014/main" id="{167FEF0D-8909-AFBD-1572-CBF99AE18FEA}"/>
                </a:ext>
              </a:extLst>
            </p:cNvPr>
            <p:cNvSpPr txBox="1">
              <a:spLocks noChangeArrowheads="1"/>
            </p:cNvSpPr>
            <p:nvPr/>
          </p:nvSpPr>
          <p:spPr bwMode="auto">
            <a:xfrm>
              <a:off x="2825752" y="4053671"/>
              <a:ext cx="1655762" cy="390136"/>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绝缘保护套层</a:t>
              </a:r>
            </a:p>
          </p:txBody>
        </p:sp>
        <p:sp>
          <p:nvSpPr>
            <p:cNvPr id="10" name="Rectangle 9">
              <a:extLst>
                <a:ext uri="{FF2B5EF4-FFF2-40B4-BE49-F238E27FC236}">
                  <a16:creationId xmlns:a16="http://schemas.microsoft.com/office/drawing/2014/main" id="{BC617591-0185-1DCD-BDD3-EAC58789A303}"/>
                </a:ext>
              </a:extLst>
            </p:cNvPr>
            <p:cNvSpPr>
              <a:spLocks noChangeArrowheads="1"/>
            </p:cNvSpPr>
            <p:nvPr/>
          </p:nvSpPr>
          <p:spPr bwMode="auto">
            <a:xfrm>
              <a:off x="6276975" y="5005105"/>
              <a:ext cx="517525" cy="276225"/>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b="1">
                <a:solidFill>
                  <a:srgbClr val="000099"/>
                </a:solidFill>
                <a:latin typeface="+mn-lt"/>
                <a:ea typeface="黑体" pitchFamily="2" charset="-122"/>
              </a:endParaRPr>
            </a:p>
          </p:txBody>
        </p:sp>
      </p:grpSp>
    </p:spTree>
    <p:extLst>
      <p:ext uri="{BB962C8B-B14F-4D97-AF65-F5344CB8AC3E}">
        <p14:creationId xmlns:p14="http://schemas.microsoft.com/office/powerpoint/2010/main" val="387378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Guided transmission media</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1882567"/>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Optical fiber cable</a:t>
            </a:r>
            <a:r>
              <a:rPr lang="zh-CN" altLang="en-US" sz="2400" dirty="0">
                <a:solidFill>
                  <a:srgbClr val="0013A3"/>
                </a:solidFill>
                <a:latin typeface="Calibri" panose="020F0502020204030204" pitchFamily="34" charset="0"/>
                <a:cs typeface="Calibri" panose="020F0502020204030204" pitchFamily="34" charset="0"/>
              </a:rPr>
              <a:t> 光纤电缆</a:t>
            </a:r>
            <a:endParaRPr lang="en" altLang="zh-CN" sz="2400" dirty="0">
              <a:solidFill>
                <a:srgbClr val="0013A3"/>
              </a:solidFill>
              <a:latin typeface="Calibri" panose="020F0502020204030204" pitchFamily="34" charset="0"/>
              <a:cs typeface="Calibri" panose="020F0502020204030204" pitchFamily="34" charset="0"/>
            </a:endParaRP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Optical fiber is the transmission medium of optical fiber communication.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Since the frequency of visible light is very high, on the order of 108 MHz, the transmission bandwidth of an optical fiber communication system is much larger than that of various other transmission media.</a:t>
            </a:r>
          </a:p>
        </p:txBody>
      </p:sp>
      <p:grpSp>
        <p:nvGrpSpPr>
          <p:cNvPr id="11" name="组合 10">
            <a:extLst>
              <a:ext uri="{FF2B5EF4-FFF2-40B4-BE49-F238E27FC236}">
                <a16:creationId xmlns:a16="http://schemas.microsoft.com/office/drawing/2014/main" id="{760A3CED-F6E7-3CF2-6C19-CF4FF851ACBF}"/>
              </a:ext>
            </a:extLst>
          </p:cNvPr>
          <p:cNvGrpSpPr/>
          <p:nvPr/>
        </p:nvGrpSpPr>
        <p:grpSpPr>
          <a:xfrm>
            <a:off x="2976879" y="3362956"/>
            <a:ext cx="6499905" cy="1562256"/>
            <a:chOff x="1299015" y="2482915"/>
            <a:chExt cx="7086690" cy="1880808"/>
          </a:xfrm>
        </p:grpSpPr>
        <p:sp>
          <p:nvSpPr>
            <p:cNvPr id="12" name="Rectangle 3">
              <a:extLst>
                <a:ext uri="{FF2B5EF4-FFF2-40B4-BE49-F238E27FC236}">
                  <a16:creationId xmlns:a16="http://schemas.microsoft.com/office/drawing/2014/main" id="{FE423CE9-E287-8467-B971-C835586B36A9}"/>
                </a:ext>
              </a:extLst>
            </p:cNvPr>
            <p:cNvSpPr>
              <a:spLocks noChangeArrowheads="1"/>
            </p:cNvSpPr>
            <p:nvPr/>
          </p:nvSpPr>
          <p:spPr bwMode="auto">
            <a:xfrm>
              <a:off x="2884091" y="3170239"/>
              <a:ext cx="5298678" cy="244475"/>
            </a:xfrm>
            <a:prstGeom prst="rect">
              <a:avLst/>
            </a:prstGeom>
            <a:solidFill>
              <a:srgbClr val="00FFCC"/>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 name="Rectangle 4">
              <a:extLst>
                <a:ext uri="{FF2B5EF4-FFF2-40B4-BE49-F238E27FC236}">
                  <a16:creationId xmlns:a16="http://schemas.microsoft.com/office/drawing/2014/main" id="{ECE47FCC-A2E5-7B84-94E6-DB11226CC0EF}"/>
                </a:ext>
              </a:extLst>
            </p:cNvPr>
            <p:cNvSpPr>
              <a:spLocks noChangeArrowheads="1"/>
            </p:cNvSpPr>
            <p:nvPr/>
          </p:nvSpPr>
          <p:spPr bwMode="auto">
            <a:xfrm>
              <a:off x="2884091" y="3414713"/>
              <a:ext cx="5298678" cy="344487"/>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4" name="Rectangle 5">
              <a:extLst>
                <a:ext uri="{FF2B5EF4-FFF2-40B4-BE49-F238E27FC236}">
                  <a16:creationId xmlns:a16="http://schemas.microsoft.com/office/drawing/2014/main" id="{7B90CC2F-3DF8-F631-B6FE-E12F2EF3A99C}"/>
                </a:ext>
              </a:extLst>
            </p:cNvPr>
            <p:cNvSpPr>
              <a:spLocks noChangeArrowheads="1"/>
            </p:cNvSpPr>
            <p:nvPr/>
          </p:nvSpPr>
          <p:spPr bwMode="auto">
            <a:xfrm>
              <a:off x="2884091" y="3759201"/>
              <a:ext cx="5298678" cy="246063"/>
            </a:xfrm>
            <a:prstGeom prst="rect">
              <a:avLst/>
            </a:prstGeom>
            <a:solidFill>
              <a:srgbClr val="00FFCC"/>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5" name="AutoShape 6">
              <a:extLst>
                <a:ext uri="{FF2B5EF4-FFF2-40B4-BE49-F238E27FC236}">
                  <a16:creationId xmlns:a16="http://schemas.microsoft.com/office/drawing/2014/main" id="{763AAB0B-3BA1-B663-9D5B-9F012A35D484}"/>
                </a:ext>
              </a:extLst>
            </p:cNvPr>
            <p:cNvSpPr>
              <a:spLocks noChangeArrowheads="1"/>
            </p:cNvSpPr>
            <p:nvPr/>
          </p:nvSpPr>
          <p:spPr bwMode="auto">
            <a:xfrm rot="5400000">
              <a:off x="1524133" y="3116528"/>
              <a:ext cx="835025" cy="942446"/>
            </a:xfrm>
            <a:prstGeom prst="can">
              <a:avLst>
                <a:gd name="adj" fmla="val 26046"/>
              </a:avLst>
            </a:prstGeom>
            <a:gradFill rotWithShape="1">
              <a:gsLst>
                <a:gs pos="0">
                  <a:schemeClr val="accent5">
                    <a:lumMod val="50000"/>
                  </a:schemeClr>
                </a:gs>
                <a:gs pos="50000">
                  <a:srgbClr val="00FFCC"/>
                </a:gs>
                <a:gs pos="100000">
                  <a:schemeClr val="accent5">
                    <a:lumMod val="50000"/>
                  </a:scheme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6" name="AutoShape 7">
              <a:extLst>
                <a:ext uri="{FF2B5EF4-FFF2-40B4-BE49-F238E27FC236}">
                  <a16:creationId xmlns:a16="http://schemas.microsoft.com/office/drawing/2014/main" id="{B4EBD43B-A816-38F3-E6C3-2CB8F1CD5802}"/>
                </a:ext>
              </a:extLst>
            </p:cNvPr>
            <p:cNvSpPr>
              <a:spLocks noChangeArrowheads="1"/>
            </p:cNvSpPr>
            <p:nvPr/>
          </p:nvSpPr>
          <p:spPr bwMode="auto">
            <a:xfrm rot="5400000">
              <a:off x="2299098" y="3351345"/>
              <a:ext cx="344487" cy="471223"/>
            </a:xfrm>
            <a:prstGeom prst="can">
              <a:avLst>
                <a:gd name="adj" fmla="val 20711"/>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grpSp>
          <p:nvGrpSpPr>
            <p:cNvPr id="17" name="Group 8">
              <a:extLst>
                <a:ext uri="{FF2B5EF4-FFF2-40B4-BE49-F238E27FC236}">
                  <a16:creationId xmlns:a16="http://schemas.microsoft.com/office/drawing/2014/main" id="{EEDB6656-1180-5065-C6EB-3D4E86B46C76}"/>
                </a:ext>
              </a:extLst>
            </p:cNvPr>
            <p:cNvGrpSpPr>
              <a:grpSpLocks/>
            </p:cNvGrpSpPr>
            <p:nvPr/>
          </p:nvGrpSpPr>
          <p:grpSpPr bwMode="auto">
            <a:xfrm>
              <a:off x="2884091" y="3170239"/>
              <a:ext cx="5298678" cy="835025"/>
              <a:chOff x="912" y="912"/>
              <a:chExt cx="4608" cy="816"/>
            </a:xfrm>
          </p:grpSpPr>
          <p:sp>
            <p:nvSpPr>
              <p:cNvPr id="24" name="Line 9">
                <a:extLst>
                  <a:ext uri="{FF2B5EF4-FFF2-40B4-BE49-F238E27FC236}">
                    <a16:creationId xmlns:a16="http://schemas.microsoft.com/office/drawing/2014/main" id="{82F2D82C-286B-005B-38B7-BACB12FB9714}"/>
                  </a:ext>
                </a:extLst>
              </p:cNvPr>
              <p:cNvSpPr>
                <a:spLocks noChangeShapeType="1"/>
              </p:cNvSpPr>
              <p:nvPr/>
            </p:nvSpPr>
            <p:spPr bwMode="auto">
              <a:xfrm>
                <a:off x="912" y="91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25" name="Line 10">
                <a:extLst>
                  <a:ext uri="{FF2B5EF4-FFF2-40B4-BE49-F238E27FC236}">
                    <a16:creationId xmlns:a16="http://schemas.microsoft.com/office/drawing/2014/main" id="{35C9C15A-51EC-4F84-8347-D28DFF18A553}"/>
                  </a:ext>
                </a:extLst>
              </p:cNvPr>
              <p:cNvSpPr>
                <a:spLocks noChangeShapeType="1"/>
              </p:cNvSpPr>
              <p:nvPr/>
            </p:nvSpPr>
            <p:spPr bwMode="auto">
              <a:xfrm>
                <a:off x="912" y="1152"/>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26" name="Line 11">
                <a:extLst>
                  <a:ext uri="{FF2B5EF4-FFF2-40B4-BE49-F238E27FC236}">
                    <a16:creationId xmlns:a16="http://schemas.microsoft.com/office/drawing/2014/main" id="{E10E6CAF-A305-3B76-6165-85EBAE979AAB}"/>
                  </a:ext>
                </a:extLst>
              </p:cNvPr>
              <p:cNvSpPr>
                <a:spLocks noChangeShapeType="1"/>
              </p:cNvSpPr>
              <p:nvPr/>
            </p:nvSpPr>
            <p:spPr bwMode="auto">
              <a:xfrm>
                <a:off x="912" y="1488"/>
                <a:ext cx="46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27" name="Line 12">
                <a:extLst>
                  <a:ext uri="{FF2B5EF4-FFF2-40B4-BE49-F238E27FC236}">
                    <a16:creationId xmlns:a16="http://schemas.microsoft.com/office/drawing/2014/main" id="{37BC0C74-0B42-4652-CCAA-7BE0CE9ADB33}"/>
                  </a:ext>
                </a:extLst>
              </p:cNvPr>
              <p:cNvSpPr>
                <a:spLocks noChangeShapeType="1"/>
              </p:cNvSpPr>
              <p:nvPr/>
            </p:nvSpPr>
            <p:spPr bwMode="auto">
              <a:xfrm>
                <a:off x="912" y="1728"/>
                <a:ext cx="4608" cy="0"/>
              </a:xfrm>
              <a:prstGeom prst="line">
                <a:avLst/>
              </a:prstGeom>
              <a:noFill/>
              <a:ln w="12700">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grpSp>
        <p:sp>
          <p:nvSpPr>
            <p:cNvPr id="18" name="Line 13">
              <a:extLst>
                <a:ext uri="{FF2B5EF4-FFF2-40B4-BE49-F238E27FC236}">
                  <a16:creationId xmlns:a16="http://schemas.microsoft.com/office/drawing/2014/main" id="{B35B6D9B-74B6-D137-93F5-292E36898E4E}"/>
                </a:ext>
              </a:extLst>
            </p:cNvPr>
            <p:cNvSpPr>
              <a:spLocks noChangeShapeType="1"/>
            </p:cNvSpPr>
            <p:nvPr/>
          </p:nvSpPr>
          <p:spPr bwMode="auto">
            <a:xfrm>
              <a:off x="2777465" y="3584576"/>
              <a:ext cx="5608240" cy="3175"/>
            </a:xfrm>
            <a:prstGeom prst="line">
              <a:avLst/>
            </a:prstGeom>
            <a:noFill/>
            <a:ln w="19050">
              <a:solidFill>
                <a:srgbClr val="333399"/>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19" name="Text Box 14">
              <a:extLst>
                <a:ext uri="{FF2B5EF4-FFF2-40B4-BE49-F238E27FC236}">
                  <a16:creationId xmlns:a16="http://schemas.microsoft.com/office/drawing/2014/main" id="{9996D16E-2755-712A-F784-82DA45A14FD2}"/>
                </a:ext>
              </a:extLst>
            </p:cNvPr>
            <p:cNvSpPr txBox="1">
              <a:spLocks noChangeArrowheads="1"/>
            </p:cNvSpPr>
            <p:nvPr/>
          </p:nvSpPr>
          <p:spPr bwMode="auto">
            <a:xfrm>
              <a:off x="2217733" y="2482915"/>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高折射率</a:t>
              </a:r>
            </a:p>
            <a:p>
              <a:pPr algn="ctr"/>
              <a:r>
                <a:rPr kumimoji="1" lang="en-US" altLang="zh-CN" sz="1400" b="1" dirty="0">
                  <a:solidFill>
                    <a:srgbClr val="0000FF"/>
                  </a:solidFill>
                  <a:latin typeface="微软雅黑" pitchFamily="34" charset="-122"/>
                  <a:ea typeface="微软雅黑" pitchFamily="34" charset="-122"/>
                </a:rPr>
                <a:t>(</a:t>
              </a:r>
              <a:r>
                <a:rPr kumimoji="1" lang="zh-CN" altLang="en-US" sz="1400" b="1" dirty="0">
                  <a:solidFill>
                    <a:srgbClr val="0000FF"/>
                  </a:solidFill>
                  <a:latin typeface="微软雅黑" pitchFamily="34" charset="-122"/>
                  <a:ea typeface="微软雅黑" pitchFamily="34" charset="-122"/>
                </a:rPr>
                <a:t>纤芯</a:t>
              </a:r>
              <a:r>
                <a:rPr kumimoji="1" lang="en-US" altLang="zh-CN" sz="1400" b="1" dirty="0">
                  <a:solidFill>
                    <a:srgbClr val="0000FF"/>
                  </a:solidFill>
                  <a:latin typeface="微软雅黑" pitchFamily="34" charset="-122"/>
                  <a:ea typeface="微软雅黑" pitchFamily="34" charset="-122"/>
                </a:rPr>
                <a:t>)</a:t>
              </a:r>
            </a:p>
          </p:txBody>
        </p:sp>
        <p:sp>
          <p:nvSpPr>
            <p:cNvPr id="20" name="Text Box 15">
              <a:extLst>
                <a:ext uri="{FF2B5EF4-FFF2-40B4-BE49-F238E27FC236}">
                  <a16:creationId xmlns:a16="http://schemas.microsoft.com/office/drawing/2014/main" id="{7360856E-9774-1772-7A58-247AD66FEFC2}"/>
                </a:ext>
              </a:extLst>
            </p:cNvPr>
            <p:cNvSpPr txBox="1">
              <a:spLocks noChangeArrowheads="1"/>
            </p:cNvSpPr>
            <p:nvPr/>
          </p:nvSpPr>
          <p:spPr bwMode="auto">
            <a:xfrm>
              <a:off x="1299015" y="2482915"/>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低折射率</a:t>
              </a:r>
            </a:p>
            <a:p>
              <a:pPr algn="ctr"/>
              <a:r>
                <a:rPr kumimoji="1" lang="en-US" altLang="zh-CN" sz="1400" b="1" dirty="0">
                  <a:solidFill>
                    <a:srgbClr val="0000FF"/>
                  </a:solidFill>
                  <a:latin typeface="微软雅黑" pitchFamily="34" charset="-122"/>
                  <a:ea typeface="微软雅黑" pitchFamily="34" charset="-122"/>
                </a:rPr>
                <a:t>(</a:t>
              </a:r>
              <a:r>
                <a:rPr kumimoji="1" lang="zh-CN" altLang="en-US" sz="1400" b="1" dirty="0">
                  <a:solidFill>
                    <a:srgbClr val="0000FF"/>
                  </a:solidFill>
                  <a:latin typeface="微软雅黑" pitchFamily="34" charset="-122"/>
                  <a:ea typeface="微软雅黑" pitchFamily="34" charset="-122"/>
                </a:rPr>
                <a:t>包层</a:t>
              </a:r>
              <a:r>
                <a:rPr kumimoji="1" lang="en-US" altLang="zh-CN" sz="1400" b="1" dirty="0">
                  <a:solidFill>
                    <a:srgbClr val="0000FF"/>
                  </a:solidFill>
                  <a:latin typeface="微软雅黑" pitchFamily="34" charset="-122"/>
                  <a:ea typeface="微软雅黑" pitchFamily="34" charset="-122"/>
                </a:rPr>
                <a:t>)</a:t>
              </a:r>
            </a:p>
          </p:txBody>
        </p:sp>
        <p:sp>
          <p:nvSpPr>
            <p:cNvPr id="21" name="Line 16">
              <a:extLst>
                <a:ext uri="{FF2B5EF4-FFF2-40B4-BE49-F238E27FC236}">
                  <a16:creationId xmlns:a16="http://schemas.microsoft.com/office/drawing/2014/main" id="{87199565-254B-0330-F301-ACFA356AD88C}"/>
                </a:ext>
              </a:extLst>
            </p:cNvPr>
            <p:cNvSpPr>
              <a:spLocks noChangeShapeType="1"/>
            </p:cNvSpPr>
            <p:nvPr/>
          </p:nvSpPr>
          <p:spPr bwMode="auto">
            <a:xfrm flipH="1">
              <a:off x="2529814" y="3006135"/>
              <a:ext cx="139324" cy="40857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22" name="Line 17">
              <a:extLst>
                <a:ext uri="{FF2B5EF4-FFF2-40B4-BE49-F238E27FC236}">
                  <a16:creationId xmlns:a16="http://schemas.microsoft.com/office/drawing/2014/main" id="{99F3A8F6-C2CA-BA04-C013-EED29103AFB8}"/>
                </a:ext>
              </a:extLst>
            </p:cNvPr>
            <p:cNvSpPr>
              <a:spLocks noChangeShapeType="1"/>
            </p:cNvSpPr>
            <p:nvPr/>
          </p:nvSpPr>
          <p:spPr bwMode="auto">
            <a:xfrm>
              <a:off x="1730971" y="3006134"/>
              <a:ext cx="0" cy="164103"/>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solidFill>
                  <a:srgbClr val="000099"/>
                </a:solidFill>
              </a:endParaRPr>
            </a:p>
          </p:txBody>
        </p:sp>
        <p:sp>
          <p:nvSpPr>
            <p:cNvPr id="23" name="Text Box 18">
              <a:extLst>
                <a:ext uri="{FF2B5EF4-FFF2-40B4-BE49-F238E27FC236}">
                  <a16:creationId xmlns:a16="http://schemas.microsoft.com/office/drawing/2014/main" id="{2C9A8A55-5588-82A0-98AA-25D7B953CB44}"/>
                </a:ext>
              </a:extLst>
            </p:cNvPr>
            <p:cNvSpPr txBox="1">
              <a:spLocks noChangeArrowheads="1"/>
            </p:cNvSpPr>
            <p:nvPr/>
          </p:nvSpPr>
          <p:spPr bwMode="auto">
            <a:xfrm>
              <a:off x="3542252" y="4025169"/>
              <a:ext cx="387798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solidFill>
                    <a:srgbClr val="CC00CC"/>
                  </a:solidFill>
                  <a:latin typeface="微软雅黑" pitchFamily="34" charset="-122"/>
                  <a:ea typeface="微软雅黑" pitchFamily="34" charset="-122"/>
                </a:rPr>
                <a:t>光线在纤芯中传输的方式是不断地全反射</a:t>
              </a:r>
            </a:p>
          </p:txBody>
        </p:sp>
      </p:grpSp>
      <p:sp>
        <p:nvSpPr>
          <p:cNvPr id="28" name="文本框 27">
            <a:extLst>
              <a:ext uri="{FF2B5EF4-FFF2-40B4-BE49-F238E27FC236}">
                <a16:creationId xmlns:a16="http://schemas.microsoft.com/office/drawing/2014/main" id="{B5C464E5-2046-7E01-ABFF-78BEFC87D46E}"/>
              </a:ext>
            </a:extLst>
          </p:cNvPr>
          <p:cNvSpPr txBox="1"/>
          <p:nvPr/>
        </p:nvSpPr>
        <p:spPr>
          <a:xfrm>
            <a:off x="653143" y="4972416"/>
            <a:ext cx="10661148" cy="1882567"/>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The band of light waves used in optical fiber communications</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centers of the three commonly used bands are located at 850 nm, 1300 nm and 1550 nm, respectively.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All these three bands have a bandwidth of 25,000 to 30,000 GHz, which shows that the communication capacity of the fiber is very large.</a:t>
            </a:r>
          </a:p>
        </p:txBody>
      </p:sp>
    </p:spTree>
    <p:extLst>
      <p:ext uri="{BB962C8B-B14F-4D97-AF65-F5344CB8AC3E}">
        <p14:creationId xmlns:p14="http://schemas.microsoft.com/office/powerpoint/2010/main" val="122508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Guided transmission media</a:t>
            </a: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2407326"/>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Optical fiber advantages</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communication capacity is very large.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transmission loss is small and the relay distance is long.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Good resistance to lightning and electromagnetic interference.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No crosstalk interference, good confidentiality.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Small size and light weight.</a:t>
            </a:r>
          </a:p>
        </p:txBody>
      </p:sp>
    </p:spTree>
    <p:extLst>
      <p:ext uri="{BB962C8B-B14F-4D97-AF65-F5344CB8AC3E}">
        <p14:creationId xmlns:p14="http://schemas.microsoft.com/office/powerpoint/2010/main" val="2946479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a:t>
            </a:r>
            <a:r>
              <a:rPr lang="en" altLang="zh-CN" b="1" dirty="0">
                <a:solidFill>
                  <a:srgbClr val="000099"/>
                </a:solidFill>
              </a:rPr>
              <a:t>Unguided transmission media </a:t>
            </a:r>
            <a:endParaRPr lang="en-US" altLang="en-US" b="1" dirty="0">
              <a:solidFill>
                <a:srgbClr val="000099"/>
              </a:solidFill>
            </a:endParaRP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2279085"/>
          </a:xfrm>
          <a:prstGeom prst="rect">
            <a:avLst/>
          </a:prstGeom>
          <a:noFill/>
        </p:spPr>
        <p:txBody>
          <a:bodyPr wrap="square">
            <a:spAutoFit/>
          </a:bodyPr>
          <a:lstStyle/>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free space is called "unguided transmission medium".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frequency band used for wireless transmission is wide.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Short wave communication (that is, high frequency communication) mainly depends on the reflection of ionosphere, but the communication quality of short wave channel is poor, and the transmission rate is low.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Microwaves travel mainly in straight lines in space. </a:t>
            </a:r>
          </a:p>
        </p:txBody>
      </p:sp>
    </p:spTree>
    <p:extLst>
      <p:ext uri="{BB962C8B-B14F-4D97-AF65-F5344CB8AC3E}">
        <p14:creationId xmlns:p14="http://schemas.microsoft.com/office/powerpoint/2010/main" val="25098905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fontScale="90000"/>
          </a:bodyPr>
          <a:lstStyle/>
          <a:p>
            <a:r>
              <a:rPr lang="en-US" altLang="en-US" b="1" dirty="0">
                <a:solidFill>
                  <a:srgbClr val="000099"/>
                </a:solidFill>
              </a:rPr>
              <a:t>The transmission medium below the physical layer- </a:t>
            </a:r>
            <a:r>
              <a:rPr lang="en" altLang="zh-CN" b="1" dirty="0">
                <a:solidFill>
                  <a:srgbClr val="000099"/>
                </a:solidFill>
              </a:rPr>
              <a:t>Unguided transmission media </a:t>
            </a:r>
            <a:endParaRPr lang="en-US" altLang="en-US" b="1" dirty="0">
              <a:solidFill>
                <a:srgbClr val="000099"/>
              </a:solidFill>
            </a:endParaRPr>
          </a:p>
        </p:txBody>
      </p:sp>
      <p:sp>
        <p:nvSpPr>
          <p:cNvPr id="7" name="文本框 6">
            <a:extLst>
              <a:ext uri="{FF2B5EF4-FFF2-40B4-BE49-F238E27FC236}">
                <a16:creationId xmlns:a16="http://schemas.microsoft.com/office/drawing/2014/main" id="{4F0C1152-6580-71BD-0C7E-9D36E3060114}"/>
              </a:ext>
            </a:extLst>
          </p:cNvPr>
          <p:cNvSpPr txBox="1"/>
          <p:nvPr/>
        </p:nvSpPr>
        <p:spPr>
          <a:xfrm>
            <a:off x="653143" y="1433186"/>
            <a:ext cx="10661148" cy="2086725"/>
          </a:xfrm>
          <a:prstGeom prst="rect">
            <a:avLst/>
          </a:prstGeom>
          <a:noFill/>
        </p:spPr>
        <p:txBody>
          <a:bodyPr wrap="square">
            <a:spAutoFit/>
          </a:bodyPr>
          <a:lstStyle/>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In order to use a certain segment of the radio spectrum for communication, it is usually necessary to obtain a license from the relevant radio spectrum management authority of the country‘s government. However, there are also some radio bands that are freely available. For example: ISM </a:t>
            </a:r>
            <a:r>
              <a:rPr lang="en-US" altLang="zh-CN" sz="2400" dirty="0">
                <a:latin typeface="Calibri" panose="020F0502020204030204" pitchFamily="34" charset="0"/>
                <a:cs typeface="Calibri" panose="020F0502020204030204" pitchFamily="34" charset="0"/>
              </a:rPr>
              <a:t>(</a:t>
            </a:r>
            <a:r>
              <a:rPr lang="en" altLang="zh-CN" sz="2400" b="0" i="0" dirty="0">
                <a:solidFill>
                  <a:srgbClr val="333333"/>
                </a:solidFill>
                <a:effectLst/>
                <a:highlight>
                  <a:srgbClr val="FFFFFF"/>
                </a:highlight>
                <a:latin typeface="Helvetica Neue" panose="02000503000000020004" pitchFamily="2" charset="0"/>
              </a:rPr>
              <a:t>Industrial Scientific Medical</a:t>
            </a:r>
            <a:r>
              <a:rPr lang="en-US" altLang="zh-CN" sz="2400" dirty="0">
                <a:latin typeface="Calibri" panose="020F0502020204030204" pitchFamily="34" charset="0"/>
                <a:cs typeface="Calibri" panose="020F0502020204030204" pitchFamily="34" charset="0"/>
              </a:rPr>
              <a:t>)</a:t>
            </a:r>
            <a:r>
              <a:rPr lang="en" altLang="zh-CN" sz="2400" dirty="0">
                <a:latin typeface="Calibri" panose="020F0502020204030204" pitchFamily="34" charset="0"/>
                <a:cs typeface="Calibri" panose="020F0502020204030204" pitchFamily="34" charset="0"/>
              </a:rPr>
              <a:t>. The ISM standards may vary slightly from country to country.</a:t>
            </a:r>
          </a:p>
        </p:txBody>
      </p:sp>
      <p:sp>
        <p:nvSpPr>
          <p:cNvPr id="3" name="矩形 2">
            <a:extLst>
              <a:ext uri="{FF2B5EF4-FFF2-40B4-BE49-F238E27FC236}">
                <a16:creationId xmlns:a16="http://schemas.microsoft.com/office/drawing/2014/main" id="{84407781-CC7F-3C83-EA7A-0F204645FE70}"/>
              </a:ext>
            </a:extLst>
          </p:cNvPr>
          <p:cNvSpPr/>
          <p:nvPr/>
        </p:nvSpPr>
        <p:spPr>
          <a:xfrm>
            <a:off x="4236614" y="5730619"/>
            <a:ext cx="3920748" cy="369332"/>
          </a:xfrm>
          <a:prstGeom prst="rect">
            <a:avLst/>
          </a:prstGeom>
        </p:spPr>
        <p:style>
          <a:lnRef idx="0">
            <a:scrgbClr r="0" g="0" b="0"/>
          </a:lnRef>
          <a:fillRef idx="0">
            <a:scrgbClr r="0" g="0" b="0"/>
          </a:fillRef>
          <a:effectRef idx="0">
            <a:scrgbClr r="0" g="0" b="0"/>
          </a:effectRef>
          <a:fontRef idx="major"/>
        </p:style>
        <p:txBody>
          <a:bodyPr wrap="square">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r>
              <a:rPr lang="zh-CN" altLang="en-US" b="1" dirty="0">
                <a:latin typeface="微软雅黑" pitchFamily="34" charset="-122"/>
                <a:ea typeface="微软雅黑" pitchFamily="34" charset="-122"/>
              </a:rPr>
              <a:t>无线局域网使用的 </a:t>
            </a:r>
            <a:r>
              <a:rPr lang="en-US" altLang="zh-CN" b="1" dirty="0">
                <a:latin typeface="微软雅黑" pitchFamily="34" charset="-122"/>
                <a:ea typeface="微软雅黑" pitchFamily="34" charset="-122"/>
              </a:rPr>
              <a:t>ISM </a:t>
            </a:r>
            <a:r>
              <a:rPr lang="zh-CN" altLang="en-US" b="1" dirty="0">
                <a:latin typeface="微软雅黑" pitchFamily="34" charset="-122"/>
                <a:ea typeface="微软雅黑" pitchFamily="34" charset="-122"/>
              </a:rPr>
              <a:t>频段</a:t>
            </a:r>
          </a:p>
        </p:txBody>
      </p:sp>
      <p:grpSp>
        <p:nvGrpSpPr>
          <p:cNvPr id="4" name="组合 3">
            <a:extLst>
              <a:ext uri="{FF2B5EF4-FFF2-40B4-BE49-F238E27FC236}">
                <a16:creationId xmlns:a16="http://schemas.microsoft.com/office/drawing/2014/main" id="{E5C84355-578E-8EC1-C075-562ACD45B988}"/>
              </a:ext>
            </a:extLst>
          </p:cNvPr>
          <p:cNvGrpSpPr/>
          <p:nvPr/>
        </p:nvGrpSpPr>
        <p:grpSpPr>
          <a:xfrm>
            <a:off x="3184786" y="3670489"/>
            <a:ext cx="5822428" cy="1851823"/>
            <a:chOff x="1619788" y="2215097"/>
            <a:chExt cx="5822428" cy="1851823"/>
          </a:xfrm>
        </p:grpSpPr>
        <p:grpSp>
          <p:nvGrpSpPr>
            <p:cNvPr id="5" name="组合 4">
              <a:extLst>
                <a:ext uri="{FF2B5EF4-FFF2-40B4-BE49-F238E27FC236}">
                  <a16:creationId xmlns:a16="http://schemas.microsoft.com/office/drawing/2014/main" id="{E247CA6C-C38C-761B-2972-5A2573562B49}"/>
                </a:ext>
              </a:extLst>
            </p:cNvPr>
            <p:cNvGrpSpPr/>
            <p:nvPr/>
          </p:nvGrpSpPr>
          <p:grpSpPr>
            <a:xfrm>
              <a:off x="1619788" y="2215097"/>
              <a:ext cx="5822428" cy="1851823"/>
              <a:chOff x="507339" y="3213083"/>
              <a:chExt cx="9327781" cy="2966700"/>
            </a:xfrm>
          </p:grpSpPr>
          <p:sp>
            <p:nvSpPr>
              <p:cNvPr id="19" name="Text Box 5">
                <a:extLst>
                  <a:ext uri="{FF2B5EF4-FFF2-40B4-BE49-F238E27FC236}">
                    <a16:creationId xmlns:a16="http://schemas.microsoft.com/office/drawing/2014/main" id="{70E3EFEA-A2C7-43CE-5019-CF0D5425F035}"/>
                  </a:ext>
                </a:extLst>
              </p:cNvPr>
              <p:cNvSpPr txBox="1">
                <a:spLocks noChangeArrowheads="1"/>
              </p:cNvSpPr>
              <p:nvPr/>
            </p:nvSpPr>
            <p:spPr bwMode="auto">
              <a:xfrm>
                <a:off x="507339" y="3213083"/>
                <a:ext cx="9054171" cy="73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85000"/>
                  </a:lnSpc>
                </a:pPr>
                <a:r>
                  <a:rPr lang="en-US" altLang="zh-CN" sz="1400" b="1" dirty="0">
                    <a:solidFill>
                      <a:srgbClr val="0000FF"/>
                    </a:solidFill>
                    <a:latin typeface="微软雅黑" pitchFamily="34" charset="-122"/>
                    <a:ea typeface="微软雅黑" pitchFamily="34" charset="-122"/>
                  </a:rPr>
                  <a:t>                26                      83.5                                    125</a:t>
                </a:r>
              </a:p>
              <a:p>
                <a:pPr algn="l">
                  <a:lnSpc>
                    <a:spcPct val="85000"/>
                  </a:lnSpc>
                </a:pPr>
                <a:r>
                  <a:rPr lang="zh-CN" altLang="en-US" sz="1400" b="1" dirty="0">
                    <a:latin typeface="微软雅黑" pitchFamily="34" charset="-122"/>
                    <a:ea typeface="微软雅黑" pitchFamily="34" charset="-122"/>
                  </a:rPr>
                  <a:t>频带</a:t>
                </a:r>
                <a:r>
                  <a:rPr lang="zh-CN" altLang="en-US" sz="1400" b="1" dirty="0">
                    <a:solidFill>
                      <a:srgbClr val="0000FF"/>
                    </a:solidFill>
                    <a:latin typeface="微软雅黑" pitchFamily="34" charset="-122"/>
                    <a:ea typeface="微软雅黑" pitchFamily="34" charset="-122"/>
                  </a:rPr>
                  <a:t>       </a:t>
                </a:r>
                <a:r>
                  <a:rPr lang="en-US" altLang="zh-CN" sz="1400" b="1" dirty="0">
                    <a:solidFill>
                      <a:srgbClr val="0000FF"/>
                    </a:solidFill>
                    <a:latin typeface="微软雅黑" pitchFamily="34" charset="-122"/>
                    <a:ea typeface="微软雅黑" pitchFamily="34" charset="-122"/>
                  </a:rPr>
                  <a:t>MHz                    </a:t>
                </a:r>
                <a:r>
                  <a:rPr lang="en-US" altLang="zh-CN" sz="1400" b="1" dirty="0" err="1">
                    <a:solidFill>
                      <a:srgbClr val="0000FF"/>
                    </a:solidFill>
                    <a:latin typeface="微软雅黑" pitchFamily="34" charset="-122"/>
                    <a:ea typeface="微软雅黑" pitchFamily="34" charset="-122"/>
                  </a:rPr>
                  <a:t>MHz</a:t>
                </a:r>
                <a:r>
                  <a:rPr lang="en-US" altLang="zh-CN" sz="1400" b="1" dirty="0">
                    <a:solidFill>
                      <a:srgbClr val="0000FF"/>
                    </a:solidFill>
                    <a:latin typeface="微软雅黑" pitchFamily="34" charset="-122"/>
                    <a:ea typeface="微软雅黑" pitchFamily="34" charset="-122"/>
                  </a:rPr>
                  <a:t>                                    </a:t>
                </a:r>
                <a:r>
                  <a:rPr lang="en-US" altLang="zh-CN" sz="1400" b="1" dirty="0" err="1">
                    <a:solidFill>
                      <a:srgbClr val="0000FF"/>
                    </a:solidFill>
                    <a:latin typeface="微软雅黑" pitchFamily="34" charset="-122"/>
                    <a:ea typeface="微软雅黑" pitchFamily="34" charset="-122"/>
                  </a:rPr>
                  <a:t>MHz</a:t>
                </a:r>
                <a:endParaRPr lang="en-US" altLang="zh-CN" sz="1400" b="1" dirty="0">
                  <a:solidFill>
                    <a:srgbClr val="0000FF"/>
                  </a:solidFill>
                  <a:latin typeface="微软雅黑" pitchFamily="34" charset="-122"/>
                  <a:ea typeface="微软雅黑" pitchFamily="34" charset="-122"/>
                </a:endParaRPr>
              </a:p>
            </p:txBody>
          </p:sp>
          <p:sp>
            <p:nvSpPr>
              <p:cNvPr id="20" name="Text Box 6">
                <a:extLst>
                  <a:ext uri="{FF2B5EF4-FFF2-40B4-BE49-F238E27FC236}">
                    <a16:creationId xmlns:a16="http://schemas.microsoft.com/office/drawing/2014/main" id="{2D82756D-8369-E420-A7A0-A38E6B63A744}"/>
                  </a:ext>
                </a:extLst>
              </p:cNvPr>
              <p:cNvSpPr txBox="1">
                <a:spLocks noChangeArrowheads="1"/>
              </p:cNvSpPr>
              <p:nvPr/>
            </p:nvSpPr>
            <p:spPr bwMode="auto">
              <a:xfrm>
                <a:off x="507339" y="5445107"/>
                <a:ext cx="9327781" cy="734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lang="zh-CN" altLang="en-US" sz="1400" b="1" dirty="0">
                    <a:latin typeface="微软雅黑" pitchFamily="34" charset="-122"/>
                    <a:ea typeface="微软雅黑" pitchFamily="34" charset="-122"/>
                  </a:rPr>
                  <a:t>频率</a:t>
                </a:r>
                <a:r>
                  <a:rPr lang="zh-CN" altLang="en-US" sz="1400" b="1" dirty="0">
                    <a:solidFill>
                      <a:srgbClr val="0000FF"/>
                    </a:solidFill>
                    <a:latin typeface="微软雅黑" pitchFamily="34" charset="-122"/>
                    <a:ea typeface="微软雅黑" pitchFamily="34" charset="-122"/>
                  </a:rPr>
                  <a:t>    </a:t>
                </a:r>
                <a:r>
                  <a:rPr lang="en-US" altLang="zh-CN" sz="1400" b="1" dirty="0">
                    <a:solidFill>
                      <a:srgbClr val="0000FF"/>
                    </a:solidFill>
                    <a:latin typeface="微软雅黑" pitchFamily="34" charset="-122"/>
                    <a:ea typeface="微软雅黑" pitchFamily="34" charset="-122"/>
                  </a:rPr>
                  <a:t>902    928       2.4            2.4835          5.725               5.850</a:t>
                </a:r>
              </a:p>
              <a:p>
                <a:pPr algn="l">
                  <a:lnSpc>
                    <a:spcPct val="85000"/>
                  </a:lnSpc>
                </a:pPr>
                <a:r>
                  <a:rPr lang="en-US" altLang="zh-CN" sz="1400" b="1" dirty="0">
                    <a:solidFill>
                      <a:srgbClr val="0000FF"/>
                    </a:solidFill>
                    <a:latin typeface="微软雅黑" pitchFamily="34" charset="-122"/>
                    <a:ea typeface="微软雅黑" pitchFamily="34" charset="-122"/>
                  </a:rPr>
                  <a:t>           MHz   </a:t>
                </a:r>
                <a:r>
                  <a:rPr lang="en-US" altLang="zh-CN" sz="1400" b="1" dirty="0" err="1">
                    <a:solidFill>
                      <a:srgbClr val="0000FF"/>
                    </a:solidFill>
                    <a:latin typeface="微软雅黑" pitchFamily="34" charset="-122"/>
                    <a:ea typeface="微软雅黑" pitchFamily="34" charset="-122"/>
                  </a:rPr>
                  <a:t>MHz</a:t>
                </a:r>
                <a:r>
                  <a:rPr lang="en-US" altLang="zh-CN" sz="1400" b="1" dirty="0">
                    <a:solidFill>
                      <a:srgbClr val="0000FF"/>
                    </a:solidFill>
                    <a:latin typeface="微软雅黑" pitchFamily="34" charset="-122"/>
                    <a:ea typeface="微软雅黑" pitchFamily="34" charset="-122"/>
                  </a:rPr>
                  <a:t>     GHz             </a:t>
                </a:r>
                <a:r>
                  <a:rPr lang="en-US" altLang="zh-CN" sz="1400" b="1" dirty="0" err="1">
                    <a:solidFill>
                      <a:srgbClr val="0000FF"/>
                    </a:solidFill>
                    <a:latin typeface="微软雅黑" pitchFamily="34" charset="-122"/>
                    <a:ea typeface="微软雅黑" pitchFamily="34" charset="-122"/>
                  </a:rPr>
                  <a:t>GHz</a:t>
                </a:r>
                <a:r>
                  <a:rPr lang="en-US" altLang="zh-CN" sz="1400" b="1" dirty="0">
                    <a:solidFill>
                      <a:srgbClr val="0000FF"/>
                    </a:solidFill>
                    <a:latin typeface="微软雅黑" pitchFamily="34" charset="-122"/>
                    <a:ea typeface="微软雅黑" pitchFamily="34" charset="-122"/>
                  </a:rPr>
                  <a:t>            </a:t>
                </a:r>
                <a:r>
                  <a:rPr lang="en-US" altLang="zh-CN" sz="1400" b="1" dirty="0" err="1">
                    <a:solidFill>
                      <a:srgbClr val="0000FF"/>
                    </a:solidFill>
                    <a:latin typeface="微软雅黑" pitchFamily="34" charset="-122"/>
                    <a:ea typeface="微软雅黑" pitchFamily="34" charset="-122"/>
                  </a:rPr>
                  <a:t>GHz</a:t>
                </a:r>
                <a:r>
                  <a:rPr lang="en-US" altLang="zh-CN" sz="1400" b="1" dirty="0">
                    <a:solidFill>
                      <a:srgbClr val="0000FF"/>
                    </a:solidFill>
                    <a:latin typeface="微软雅黑" pitchFamily="34" charset="-122"/>
                    <a:ea typeface="微软雅黑" pitchFamily="34" charset="-122"/>
                  </a:rPr>
                  <a:t>                 </a:t>
                </a:r>
                <a:r>
                  <a:rPr lang="en-US" altLang="zh-CN" sz="1400" b="1" dirty="0" err="1">
                    <a:solidFill>
                      <a:srgbClr val="0000FF"/>
                    </a:solidFill>
                    <a:latin typeface="微软雅黑" pitchFamily="34" charset="-122"/>
                    <a:ea typeface="微软雅黑" pitchFamily="34" charset="-122"/>
                  </a:rPr>
                  <a:t>GHz</a:t>
                </a:r>
                <a:endParaRPr lang="en-US" altLang="zh-CN" sz="1400" b="1" dirty="0">
                  <a:solidFill>
                    <a:srgbClr val="0000FF"/>
                  </a:solidFill>
                  <a:latin typeface="微软雅黑" pitchFamily="34" charset="-122"/>
                  <a:ea typeface="微软雅黑" pitchFamily="34" charset="-122"/>
                </a:endParaRPr>
              </a:p>
            </p:txBody>
          </p:sp>
          <p:sp>
            <p:nvSpPr>
              <p:cNvPr id="21" name="Line 7">
                <a:extLst>
                  <a:ext uri="{FF2B5EF4-FFF2-40B4-BE49-F238E27FC236}">
                    <a16:creationId xmlns:a16="http://schemas.microsoft.com/office/drawing/2014/main" id="{C77C607F-A804-CC0C-84E6-5C926A5EBECD}"/>
                  </a:ext>
                </a:extLst>
              </p:cNvPr>
              <p:cNvSpPr>
                <a:spLocks noChangeShapeType="1"/>
              </p:cNvSpPr>
              <p:nvPr/>
            </p:nvSpPr>
            <p:spPr bwMode="auto">
              <a:xfrm>
                <a:off x="1396471" y="4062395"/>
                <a:ext cx="801422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2" name="Line 8">
                <a:extLst>
                  <a:ext uri="{FF2B5EF4-FFF2-40B4-BE49-F238E27FC236}">
                    <a16:creationId xmlns:a16="http://schemas.microsoft.com/office/drawing/2014/main" id="{103AA621-0880-4D60-7C5D-B8354E835351}"/>
                  </a:ext>
                </a:extLst>
              </p:cNvPr>
              <p:cNvSpPr>
                <a:spLocks noChangeShapeType="1"/>
              </p:cNvSpPr>
              <p:nvPr/>
            </p:nvSpPr>
            <p:spPr bwMode="auto">
              <a:xfrm>
                <a:off x="1396471" y="5356207"/>
                <a:ext cx="801422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3" name="Rectangle 9">
                <a:extLst>
                  <a:ext uri="{FF2B5EF4-FFF2-40B4-BE49-F238E27FC236}">
                    <a16:creationId xmlns:a16="http://schemas.microsoft.com/office/drawing/2014/main" id="{3E56A91C-0EE4-2A91-FB74-217396CAFD9E}"/>
                  </a:ext>
                </a:extLst>
              </p:cNvPr>
              <p:cNvSpPr>
                <a:spLocks noChangeArrowheads="1"/>
              </p:cNvSpPr>
              <p:nvPr/>
            </p:nvSpPr>
            <p:spPr bwMode="auto">
              <a:xfrm>
                <a:off x="1792023" y="4062395"/>
                <a:ext cx="693077" cy="1293812"/>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4" name="Rectangle 10">
                <a:extLst>
                  <a:ext uri="{FF2B5EF4-FFF2-40B4-BE49-F238E27FC236}">
                    <a16:creationId xmlns:a16="http://schemas.microsoft.com/office/drawing/2014/main" id="{BFE87504-A168-7558-6955-09434F536EE1}"/>
                  </a:ext>
                </a:extLst>
              </p:cNvPr>
              <p:cNvSpPr>
                <a:spLocks noChangeArrowheads="1"/>
              </p:cNvSpPr>
              <p:nvPr/>
            </p:nvSpPr>
            <p:spPr bwMode="auto">
              <a:xfrm>
                <a:off x="3769783" y="4062395"/>
                <a:ext cx="1485900" cy="1293812"/>
              </a:xfrm>
              <a:prstGeom prst="rect">
                <a:avLst/>
              </a:prstGeom>
              <a:solidFill>
                <a:srgbClr val="00B05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5" name="Rectangle 11">
                <a:extLst>
                  <a:ext uri="{FF2B5EF4-FFF2-40B4-BE49-F238E27FC236}">
                    <a16:creationId xmlns:a16="http://schemas.microsoft.com/office/drawing/2014/main" id="{8DA6743A-6B95-2BAC-77A3-BD92782638C9}"/>
                  </a:ext>
                </a:extLst>
              </p:cNvPr>
              <p:cNvSpPr>
                <a:spLocks noChangeArrowheads="1"/>
              </p:cNvSpPr>
              <p:nvPr/>
            </p:nvSpPr>
            <p:spPr bwMode="auto">
              <a:xfrm>
                <a:off x="7035669" y="4062395"/>
                <a:ext cx="2079228" cy="1293812"/>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6" name="Line 12">
                <a:extLst>
                  <a:ext uri="{FF2B5EF4-FFF2-40B4-BE49-F238E27FC236}">
                    <a16:creationId xmlns:a16="http://schemas.microsoft.com/office/drawing/2014/main" id="{50C1D6EC-103D-EE56-A65C-C485C94F3B86}"/>
                  </a:ext>
                </a:extLst>
              </p:cNvPr>
              <p:cNvSpPr>
                <a:spLocks noChangeShapeType="1"/>
              </p:cNvSpPr>
              <p:nvPr/>
            </p:nvSpPr>
            <p:spPr bwMode="auto">
              <a:xfrm>
                <a:off x="1792023" y="3933807"/>
                <a:ext cx="693077" cy="0"/>
              </a:xfrm>
              <a:prstGeom prst="line">
                <a:avLst/>
              </a:prstGeom>
              <a:noFill/>
              <a:ln w="2857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7" name="Line 13">
                <a:extLst>
                  <a:ext uri="{FF2B5EF4-FFF2-40B4-BE49-F238E27FC236}">
                    <a16:creationId xmlns:a16="http://schemas.microsoft.com/office/drawing/2014/main" id="{23533BF8-ED60-7010-EB8A-A0C5A27FB8BE}"/>
                  </a:ext>
                </a:extLst>
              </p:cNvPr>
              <p:cNvSpPr>
                <a:spLocks noChangeShapeType="1"/>
              </p:cNvSpPr>
              <p:nvPr/>
            </p:nvSpPr>
            <p:spPr bwMode="auto">
              <a:xfrm>
                <a:off x="3769783" y="3933807"/>
                <a:ext cx="1485900" cy="0"/>
              </a:xfrm>
              <a:prstGeom prst="line">
                <a:avLst/>
              </a:prstGeom>
              <a:noFill/>
              <a:ln w="2857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8" name="Line 14">
                <a:extLst>
                  <a:ext uri="{FF2B5EF4-FFF2-40B4-BE49-F238E27FC236}">
                    <a16:creationId xmlns:a16="http://schemas.microsoft.com/office/drawing/2014/main" id="{CE42DFD1-D6C4-8E65-2EDC-DE99B929CE34}"/>
                  </a:ext>
                </a:extLst>
              </p:cNvPr>
              <p:cNvSpPr>
                <a:spLocks noChangeShapeType="1"/>
              </p:cNvSpPr>
              <p:nvPr/>
            </p:nvSpPr>
            <p:spPr bwMode="auto">
              <a:xfrm>
                <a:off x="7035669" y="3933807"/>
                <a:ext cx="2079228" cy="0"/>
              </a:xfrm>
              <a:prstGeom prst="line">
                <a:avLst/>
              </a:prstGeom>
              <a:noFill/>
              <a:ln w="2857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6" name="组合 5">
              <a:extLst>
                <a:ext uri="{FF2B5EF4-FFF2-40B4-BE49-F238E27FC236}">
                  <a16:creationId xmlns:a16="http://schemas.microsoft.com/office/drawing/2014/main" id="{CA5D4A4C-D059-BBB8-4A95-C297027302D5}"/>
                </a:ext>
              </a:extLst>
            </p:cNvPr>
            <p:cNvGrpSpPr/>
            <p:nvPr/>
          </p:nvGrpSpPr>
          <p:grpSpPr>
            <a:xfrm>
              <a:off x="3088814" y="3279209"/>
              <a:ext cx="415498" cy="369332"/>
              <a:chOff x="3088814" y="3270065"/>
              <a:chExt cx="415498" cy="369332"/>
            </a:xfrm>
          </p:grpSpPr>
          <p:sp>
            <p:nvSpPr>
              <p:cNvPr id="17" name="矩形 16">
                <a:extLst>
                  <a:ext uri="{FF2B5EF4-FFF2-40B4-BE49-F238E27FC236}">
                    <a16:creationId xmlns:a16="http://schemas.microsoft.com/office/drawing/2014/main" id="{63A5A040-F30C-B21E-32AF-D4F5BA445AF1}"/>
                  </a:ext>
                </a:extLst>
              </p:cNvPr>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a:p>
            </p:txBody>
          </p:sp>
          <p:sp>
            <p:nvSpPr>
              <p:cNvPr id="18" name="Text Box 16">
                <a:extLst>
                  <a:ext uri="{FF2B5EF4-FFF2-40B4-BE49-F238E27FC236}">
                    <a16:creationId xmlns:a16="http://schemas.microsoft.com/office/drawing/2014/main" id="{9D938F12-14CB-75A0-E130-72841A1F4126}"/>
                  </a:ext>
                </a:extLst>
              </p:cNvPr>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nvGrpSpPr>
            <p:cNvPr id="8" name="组合 7">
              <a:extLst>
                <a:ext uri="{FF2B5EF4-FFF2-40B4-BE49-F238E27FC236}">
                  <a16:creationId xmlns:a16="http://schemas.microsoft.com/office/drawing/2014/main" id="{C9F40C8E-CBD9-DF87-7CAC-3CC5B63146CF}"/>
                </a:ext>
              </a:extLst>
            </p:cNvPr>
            <p:cNvGrpSpPr/>
            <p:nvPr/>
          </p:nvGrpSpPr>
          <p:grpSpPr>
            <a:xfrm>
              <a:off x="3088814" y="2499742"/>
              <a:ext cx="415498" cy="369332"/>
              <a:chOff x="3088814" y="3270065"/>
              <a:chExt cx="415498" cy="369332"/>
            </a:xfrm>
          </p:grpSpPr>
          <p:sp>
            <p:nvSpPr>
              <p:cNvPr id="15" name="矩形 14">
                <a:extLst>
                  <a:ext uri="{FF2B5EF4-FFF2-40B4-BE49-F238E27FC236}">
                    <a16:creationId xmlns:a16="http://schemas.microsoft.com/office/drawing/2014/main" id="{EC747A23-5E63-1FA5-7331-7A6F791BA784}"/>
                  </a:ext>
                </a:extLst>
              </p:cNvPr>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a:p>
            </p:txBody>
          </p:sp>
          <p:sp>
            <p:nvSpPr>
              <p:cNvPr id="16" name="Text Box 16">
                <a:extLst>
                  <a:ext uri="{FF2B5EF4-FFF2-40B4-BE49-F238E27FC236}">
                    <a16:creationId xmlns:a16="http://schemas.microsoft.com/office/drawing/2014/main" id="{632685EF-C3F3-5459-7B0A-C76AF02AAB31}"/>
                  </a:ext>
                </a:extLst>
              </p:cNvPr>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nvGrpSpPr>
            <p:cNvPr id="9" name="组合 8">
              <a:extLst>
                <a:ext uri="{FF2B5EF4-FFF2-40B4-BE49-F238E27FC236}">
                  <a16:creationId xmlns:a16="http://schemas.microsoft.com/office/drawing/2014/main" id="{56C24C4A-4D2F-1FE2-513D-018747987849}"/>
                </a:ext>
              </a:extLst>
            </p:cNvPr>
            <p:cNvGrpSpPr/>
            <p:nvPr/>
          </p:nvGrpSpPr>
          <p:grpSpPr>
            <a:xfrm>
              <a:off x="4959472" y="3279209"/>
              <a:ext cx="415498" cy="369332"/>
              <a:chOff x="3088814" y="3270065"/>
              <a:chExt cx="415498" cy="369332"/>
            </a:xfrm>
          </p:grpSpPr>
          <p:sp>
            <p:nvSpPr>
              <p:cNvPr id="13" name="矩形 12">
                <a:extLst>
                  <a:ext uri="{FF2B5EF4-FFF2-40B4-BE49-F238E27FC236}">
                    <a16:creationId xmlns:a16="http://schemas.microsoft.com/office/drawing/2014/main" id="{18EFBE12-DEE8-69FD-05B0-6E3C75AB95B2}"/>
                  </a:ext>
                </a:extLst>
              </p:cNvPr>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a:p>
            </p:txBody>
          </p:sp>
          <p:sp>
            <p:nvSpPr>
              <p:cNvPr id="14" name="Text Box 16">
                <a:extLst>
                  <a:ext uri="{FF2B5EF4-FFF2-40B4-BE49-F238E27FC236}">
                    <a16:creationId xmlns:a16="http://schemas.microsoft.com/office/drawing/2014/main" id="{CD25C08D-0AD7-B55C-1128-E568BA5CB52B}"/>
                  </a:ext>
                </a:extLst>
              </p:cNvPr>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nvGrpSpPr>
            <p:cNvPr id="10" name="组合 9">
              <a:extLst>
                <a:ext uri="{FF2B5EF4-FFF2-40B4-BE49-F238E27FC236}">
                  <a16:creationId xmlns:a16="http://schemas.microsoft.com/office/drawing/2014/main" id="{3EFF6363-E6F0-0CB5-45E7-DFD7C2BFC81A}"/>
                </a:ext>
              </a:extLst>
            </p:cNvPr>
            <p:cNvGrpSpPr/>
            <p:nvPr/>
          </p:nvGrpSpPr>
          <p:grpSpPr>
            <a:xfrm>
              <a:off x="4959472" y="2499742"/>
              <a:ext cx="415498" cy="369332"/>
              <a:chOff x="3088814" y="3270065"/>
              <a:chExt cx="415498" cy="369332"/>
            </a:xfrm>
          </p:grpSpPr>
          <p:sp>
            <p:nvSpPr>
              <p:cNvPr id="11" name="矩形 10">
                <a:extLst>
                  <a:ext uri="{FF2B5EF4-FFF2-40B4-BE49-F238E27FC236}">
                    <a16:creationId xmlns:a16="http://schemas.microsoft.com/office/drawing/2014/main" id="{D1D72D0A-365E-F62B-B988-C270E06F7C8A}"/>
                  </a:ext>
                </a:extLst>
              </p:cNvPr>
              <p:cNvSpPr/>
              <p:nvPr/>
            </p:nvSpPr>
            <p:spPr>
              <a:xfrm>
                <a:off x="3101696" y="3454731"/>
                <a:ext cx="402616" cy="153602"/>
              </a:xfrm>
              <a:prstGeom prst="rect">
                <a:avLst/>
              </a:prstGeom>
              <a:solidFill>
                <a:srgbClr val="C5E5F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a:p>
            </p:txBody>
          </p:sp>
          <p:sp>
            <p:nvSpPr>
              <p:cNvPr id="12" name="Text Box 16">
                <a:extLst>
                  <a:ext uri="{FF2B5EF4-FFF2-40B4-BE49-F238E27FC236}">
                    <a16:creationId xmlns:a16="http://schemas.microsoft.com/office/drawing/2014/main" id="{1B8DAEE9-977C-87FA-C8BA-A04452EF784C}"/>
                  </a:ext>
                </a:extLst>
              </p:cNvPr>
              <p:cNvSpPr txBox="1">
                <a:spLocks noChangeArrowheads="1"/>
              </p:cNvSpPr>
              <p:nvPr/>
            </p:nvSpPr>
            <p:spPr bwMode="auto">
              <a:xfrm>
                <a:off x="3088814" y="3270065"/>
                <a:ext cx="415498" cy="369332"/>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b="1" dirty="0">
                    <a:latin typeface="微软雅黑" pitchFamily="34" charset="-122"/>
                    <a:ea typeface="微软雅黑" pitchFamily="34" charset="-122"/>
                    <a:sym typeface="Symbol" pitchFamily="18" charset="2"/>
                  </a:rPr>
                  <a:t></a:t>
                </a:r>
              </a:p>
            </p:txBody>
          </p:sp>
        </p:grpSp>
      </p:grpSp>
    </p:spTree>
    <p:extLst>
      <p:ext uri="{BB962C8B-B14F-4D97-AF65-F5344CB8AC3E}">
        <p14:creationId xmlns:p14="http://schemas.microsoft.com/office/powerpoint/2010/main" val="2032937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Physical Layer roadmap</a:t>
            </a:r>
            <a:endParaRPr lang="en-US" b="1" dirty="0">
              <a:solidFill>
                <a:srgbClr val="000099"/>
              </a:solidFill>
            </a:endParaRPr>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concepts of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knowledge of data communication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The transmission medium below the physical layer </a:t>
            </a:r>
          </a:p>
          <a:p>
            <a:pPr marL="407988" indent="-277813">
              <a:spcBef>
                <a:spcPts val="600"/>
              </a:spcBef>
              <a:buClr>
                <a:schemeClr val="bg1">
                  <a:lumMod val="75000"/>
                </a:schemeClr>
              </a:buClr>
            </a:pPr>
            <a:r>
              <a:rPr lang="en-US" altLang="en-US" sz="3200" dirty="0">
                <a:ea typeface="ＭＳ Ｐゴシック" panose="020B0600070205080204" pitchFamily="34" charset="-128"/>
                <a:cs typeface="Arial" panose="020B0604020202020204" pitchFamily="34" charset="0"/>
              </a:rPr>
              <a:t>Channel multiplexing techniques</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Broadband Access Technology</a:t>
            </a:r>
          </a:p>
          <a:p>
            <a:pPr marL="407988" indent="-277813">
              <a:spcBef>
                <a:spcPts val="600"/>
              </a:spcBef>
              <a:buClr>
                <a:schemeClr val="bg1">
                  <a:lumMod val="75000"/>
                </a:schemeClr>
              </a:buClr>
            </a:pPr>
            <a:endParaRPr lang="en-US" altLang="en-US" sz="3200" dirty="0">
              <a:solidFill>
                <a:schemeClr val="bg1">
                  <a:lumMod val="75000"/>
                </a:schemeClr>
              </a:solidFill>
              <a:ea typeface="ＭＳ Ｐゴシック" panose="020B0600070205080204" pitchFamily="34" charset="-128"/>
              <a:cs typeface="Arial" panose="020B0604020202020204" pitchFamily="34" charset="0"/>
            </a:endParaRP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Tree>
    <p:extLst>
      <p:ext uri="{BB962C8B-B14F-4D97-AF65-F5344CB8AC3E}">
        <p14:creationId xmlns:p14="http://schemas.microsoft.com/office/powerpoint/2010/main" val="4245503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88530" y="411245"/>
            <a:ext cx="10854829" cy="894622"/>
          </a:xfrm>
        </p:spPr>
        <p:txBody>
          <a:bodyPr>
            <a:normAutofit fontScale="90000"/>
          </a:bodyPr>
          <a:lstStyle/>
          <a:p>
            <a:r>
              <a:rPr lang="en-US" altLang="en-US" b="1" dirty="0">
                <a:solidFill>
                  <a:srgbClr val="000099"/>
                </a:solidFill>
              </a:rPr>
              <a:t>Frequency division multiplexing, time division multiplexing, and statistical time division multiplexing</a:t>
            </a:r>
          </a:p>
        </p:txBody>
      </p:sp>
      <p:sp>
        <p:nvSpPr>
          <p:cNvPr id="31" name="文本框 30">
            <a:extLst>
              <a:ext uri="{FF2B5EF4-FFF2-40B4-BE49-F238E27FC236}">
                <a16:creationId xmlns:a16="http://schemas.microsoft.com/office/drawing/2014/main" id="{7939F3F7-6D16-8FDF-5376-FCD9A93B466B}"/>
              </a:ext>
            </a:extLst>
          </p:cNvPr>
          <p:cNvSpPr txBox="1"/>
          <p:nvPr/>
        </p:nvSpPr>
        <p:spPr>
          <a:xfrm>
            <a:off x="602343" y="1666866"/>
            <a:ext cx="10661148" cy="1089529"/>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multiplexing</a:t>
            </a:r>
            <a:r>
              <a:rPr lang="en" altLang="zh-CN" sz="2400" dirty="0">
                <a:latin typeface="Calibri" panose="020F0502020204030204" pitchFamily="34" charset="0"/>
                <a:cs typeface="Calibri" panose="020F0502020204030204" pitchFamily="34" charset="0"/>
              </a:rPr>
              <a:t> is a fundamental concept in communication technology. It allows users to use a shared channel for communication, reducing cost and improving utilization.</a:t>
            </a:r>
          </a:p>
        </p:txBody>
      </p:sp>
      <p:grpSp>
        <p:nvGrpSpPr>
          <p:cNvPr id="32" name="组合 31">
            <a:extLst>
              <a:ext uri="{FF2B5EF4-FFF2-40B4-BE49-F238E27FC236}">
                <a16:creationId xmlns:a16="http://schemas.microsoft.com/office/drawing/2014/main" id="{18ED184C-D1B0-0A95-0AA8-25C7ED9227BD}"/>
              </a:ext>
            </a:extLst>
          </p:cNvPr>
          <p:cNvGrpSpPr/>
          <p:nvPr/>
        </p:nvGrpSpPr>
        <p:grpSpPr>
          <a:xfrm>
            <a:off x="3363409" y="3031596"/>
            <a:ext cx="5168206" cy="1317176"/>
            <a:chOff x="1442906" y="2204864"/>
            <a:chExt cx="7099300" cy="1809336"/>
          </a:xfrm>
        </p:grpSpPr>
        <p:sp>
          <p:nvSpPr>
            <p:cNvPr id="33" name="Line 39">
              <a:extLst>
                <a:ext uri="{FF2B5EF4-FFF2-40B4-BE49-F238E27FC236}">
                  <a16:creationId xmlns:a16="http://schemas.microsoft.com/office/drawing/2014/main" id="{E8C2F15F-CF8B-F106-D020-6275FF7B316A}"/>
                </a:ext>
              </a:extLst>
            </p:cNvPr>
            <p:cNvSpPr>
              <a:spLocks noChangeShapeType="1"/>
            </p:cNvSpPr>
            <p:nvPr/>
          </p:nvSpPr>
          <p:spPr bwMode="auto">
            <a:xfrm>
              <a:off x="1840178" y="2546177"/>
              <a:ext cx="6382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40">
              <a:extLst>
                <a:ext uri="{FF2B5EF4-FFF2-40B4-BE49-F238E27FC236}">
                  <a16:creationId xmlns:a16="http://schemas.microsoft.com/office/drawing/2014/main" id="{AFE2D487-07DA-A9C9-91E7-D2AFFBB606E2}"/>
                </a:ext>
              </a:extLst>
            </p:cNvPr>
            <p:cNvSpPr>
              <a:spLocks noChangeShapeType="1"/>
            </p:cNvSpPr>
            <p:nvPr/>
          </p:nvSpPr>
          <p:spPr bwMode="auto">
            <a:xfrm>
              <a:off x="1840178" y="3039889"/>
              <a:ext cx="6382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41">
              <a:extLst>
                <a:ext uri="{FF2B5EF4-FFF2-40B4-BE49-F238E27FC236}">
                  <a16:creationId xmlns:a16="http://schemas.microsoft.com/office/drawing/2014/main" id="{58D4DA6E-9823-91D7-6F53-24F6D00B19BF}"/>
                </a:ext>
              </a:extLst>
            </p:cNvPr>
            <p:cNvSpPr>
              <a:spLocks noChangeShapeType="1"/>
            </p:cNvSpPr>
            <p:nvPr/>
          </p:nvSpPr>
          <p:spPr bwMode="auto">
            <a:xfrm>
              <a:off x="1840178" y="3533602"/>
              <a:ext cx="638214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Oval 42">
              <a:extLst>
                <a:ext uri="{FF2B5EF4-FFF2-40B4-BE49-F238E27FC236}">
                  <a16:creationId xmlns:a16="http://schemas.microsoft.com/office/drawing/2014/main" id="{05CF1E9B-3D82-B62A-B5F2-88A2C61656C8}"/>
                </a:ext>
              </a:extLst>
            </p:cNvPr>
            <p:cNvSpPr>
              <a:spLocks noChangeArrowheads="1"/>
            </p:cNvSpPr>
            <p:nvPr/>
          </p:nvSpPr>
          <p:spPr bwMode="auto">
            <a:xfrm>
              <a:off x="1442906" y="2357265"/>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A</a:t>
              </a:r>
              <a:r>
                <a:rPr lang="en-US" altLang="zh-CN" sz="1400" b="1" baseline="-25000" dirty="0">
                  <a:latin typeface="微软雅黑" pitchFamily="34" charset="-122"/>
                  <a:ea typeface="微软雅黑" pitchFamily="34" charset="-122"/>
                </a:rPr>
                <a:t>1</a:t>
              </a:r>
            </a:p>
          </p:txBody>
        </p:sp>
        <p:sp>
          <p:nvSpPr>
            <p:cNvPr id="37" name="Oval 43">
              <a:extLst>
                <a:ext uri="{FF2B5EF4-FFF2-40B4-BE49-F238E27FC236}">
                  <a16:creationId xmlns:a16="http://schemas.microsoft.com/office/drawing/2014/main" id="{81190006-E365-C5F1-2DE8-1D10E74B7FDC}"/>
                </a:ext>
              </a:extLst>
            </p:cNvPr>
            <p:cNvSpPr>
              <a:spLocks noChangeArrowheads="1"/>
            </p:cNvSpPr>
            <p:nvPr/>
          </p:nvSpPr>
          <p:spPr bwMode="auto">
            <a:xfrm>
              <a:off x="8144934" y="2357265"/>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A</a:t>
              </a:r>
              <a:r>
                <a:rPr lang="en-US" altLang="zh-CN" sz="1400" b="1" baseline="-25000" dirty="0">
                  <a:latin typeface="微软雅黑" pitchFamily="34" charset="-122"/>
                  <a:ea typeface="微软雅黑" pitchFamily="34" charset="-122"/>
                </a:rPr>
                <a:t>2</a:t>
              </a:r>
            </a:p>
          </p:txBody>
        </p:sp>
        <p:sp>
          <p:nvSpPr>
            <p:cNvPr id="38" name="Oval 44">
              <a:extLst>
                <a:ext uri="{FF2B5EF4-FFF2-40B4-BE49-F238E27FC236}">
                  <a16:creationId xmlns:a16="http://schemas.microsoft.com/office/drawing/2014/main" id="{32971BA3-F057-7680-37E4-0D06BBA6AB17}"/>
                </a:ext>
              </a:extLst>
            </p:cNvPr>
            <p:cNvSpPr>
              <a:spLocks noChangeArrowheads="1"/>
            </p:cNvSpPr>
            <p:nvPr/>
          </p:nvSpPr>
          <p:spPr bwMode="auto">
            <a:xfrm>
              <a:off x="1442906" y="2850978"/>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a:latin typeface="微软雅黑" pitchFamily="34" charset="-122"/>
                  <a:ea typeface="微软雅黑" pitchFamily="34" charset="-122"/>
                </a:rPr>
                <a:t>B</a:t>
              </a:r>
              <a:r>
                <a:rPr lang="en-US" altLang="zh-CN" sz="1400" b="1" baseline="-25000">
                  <a:latin typeface="微软雅黑" pitchFamily="34" charset="-122"/>
                  <a:ea typeface="微软雅黑" pitchFamily="34" charset="-122"/>
                </a:rPr>
                <a:t>1</a:t>
              </a:r>
            </a:p>
          </p:txBody>
        </p:sp>
        <p:sp>
          <p:nvSpPr>
            <p:cNvPr id="39" name="Oval 45">
              <a:extLst>
                <a:ext uri="{FF2B5EF4-FFF2-40B4-BE49-F238E27FC236}">
                  <a16:creationId xmlns:a16="http://schemas.microsoft.com/office/drawing/2014/main" id="{0EAB23CE-EA84-FF1C-774F-0782ECAE9DC9}"/>
                </a:ext>
              </a:extLst>
            </p:cNvPr>
            <p:cNvSpPr>
              <a:spLocks noChangeArrowheads="1"/>
            </p:cNvSpPr>
            <p:nvPr/>
          </p:nvSpPr>
          <p:spPr bwMode="auto">
            <a:xfrm>
              <a:off x="8144934" y="2850978"/>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a:latin typeface="微软雅黑" pitchFamily="34" charset="-122"/>
                  <a:ea typeface="微软雅黑" pitchFamily="34" charset="-122"/>
                </a:rPr>
                <a:t>B</a:t>
              </a:r>
              <a:r>
                <a:rPr lang="en-US" altLang="zh-CN" sz="1400" b="1" baseline="-25000">
                  <a:latin typeface="微软雅黑" pitchFamily="34" charset="-122"/>
                  <a:ea typeface="微软雅黑" pitchFamily="34" charset="-122"/>
                </a:rPr>
                <a:t>2</a:t>
              </a:r>
            </a:p>
          </p:txBody>
        </p:sp>
        <p:sp>
          <p:nvSpPr>
            <p:cNvPr id="40" name="Oval 46">
              <a:extLst>
                <a:ext uri="{FF2B5EF4-FFF2-40B4-BE49-F238E27FC236}">
                  <a16:creationId xmlns:a16="http://schemas.microsoft.com/office/drawing/2014/main" id="{040CF018-068D-6910-E65B-6B86A019CA53}"/>
                </a:ext>
              </a:extLst>
            </p:cNvPr>
            <p:cNvSpPr>
              <a:spLocks noChangeArrowheads="1"/>
            </p:cNvSpPr>
            <p:nvPr/>
          </p:nvSpPr>
          <p:spPr bwMode="auto">
            <a:xfrm>
              <a:off x="1442906" y="3344689"/>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C</a:t>
              </a:r>
              <a:r>
                <a:rPr lang="en-US" altLang="zh-CN" sz="1400" b="1" baseline="-25000" dirty="0">
                  <a:latin typeface="微软雅黑" pitchFamily="34" charset="-122"/>
                  <a:ea typeface="微软雅黑" pitchFamily="34" charset="-122"/>
                </a:rPr>
                <a:t>1</a:t>
              </a:r>
            </a:p>
          </p:txBody>
        </p:sp>
        <p:sp>
          <p:nvSpPr>
            <p:cNvPr id="41" name="Oval 47">
              <a:extLst>
                <a:ext uri="{FF2B5EF4-FFF2-40B4-BE49-F238E27FC236}">
                  <a16:creationId xmlns:a16="http://schemas.microsoft.com/office/drawing/2014/main" id="{5D9AFEFF-02DF-5066-9224-E357B391D3E6}"/>
                </a:ext>
              </a:extLst>
            </p:cNvPr>
            <p:cNvSpPr>
              <a:spLocks noChangeArrowheads="1"/>
            </p:cNvSpPr>
            <p:nvPr/>
          </p:nvSpPr>
          <p:spPr bwMode="auto">
            <a:xfrm>
              <a:off x="8144934" y="3344689"/>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a:latin typeface="微软雅黑" pitchFamily="34" charset="-122"/>
                  <a:ea typeface="微软雅黑" pitchFamily="34" charset="-122"/>
                </a:rPr>
                <a:t>C</a:t>
              </a:r>
              <a:r>
                <a:rPr lang="en-US" altLang="zh-CN" sz="1400" b="1" baseline="-25000">
                  <a:latin typeface="微软雅黑" pitchFamily="34" charset="-122"/>
                  <a:ea typeface="微软雅黑" pitchFamily="34" charset="-122"/>
                </a:rPr>
                <a:t>2</a:t>
              </a:r>
            </a:p>
          </p:txBody>
        </p:sp>
        <p:sp>
          <p:nvSpPr>
            <p:cNvPr id="42" name="Text Box 60">
              <a:extLst>
                <a:ext uri="{FF2B5EF4-FFF2-40B4-BE49-F238E27FC236}">
                  <a16:creationId xmlns:a16="http://schemas.microsoft.com/office/drawing/2014/main" id="{830362CA-91E1-E1FB-BC6D-D59E4E4908D0}"/>
                </a:ext>
              </a:extLst>
            </p:cNvPr>
            <p:cNvSpPr txBox="1">
              <a:spLocks noChangeArrowheads="1"/>
            </p:cNvSpPr>
            <p:nvPr/>
          </p:nvSpPr>
          <p:spPr bwMode="auto">
            <a:xfrm>
              <a:off x="3766221" y="3591424"/>
              <a:ext cx="2389571" cy="42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使用单独的信道</a:t>
              </a:r>
            </a:p>
          </p:txBody>
        </p:sp>
        <p:sp>
          <p:nvSpPr>
            <p:cNvPr id="43" name="Line 64">
              <a:extLst>
                <a:ext uri="{FF2B5EF4-FFF2-40B4-BE49-F238E27FC236}">
                  <a16:creationId xmlns:a16="http://schemas.microsoft.com/office/drawing/2014/main" id="{97ABDE42-D4A1-0383-17C4-797283DEC8B4}"/>
                </a:ext>
              </a:extLst>
            </p:cNvPr>
            <p:cNvSpPr>
              <a:spLocks noChangeShapeType="1"/>
            </p:cNvSpPr>
            <p:nvPr/>
          </p:nvSpPr>
          <p:spPr bwMode="auto">
            <a:xfrm>
              <a:off x="3676915" y="2431877"/>
              <a:ext cx="2390510"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65">
              <a:extLst>
                <a:ext uri="{FF2B5EF4-FFF2-40B4-BE49-F238E27FC236}">
                  <a16:creationId xmlns:a16="http://schemas.microsoft.com/office/drawing/2014/main" id="{78262C0C-3F3C-CCCC-F226-158B051733C4}"/>
                </a:ext>
              </a:extLst>
            </p:cNvPr>
            <p:cNvSpPr>
              <a:spLocks noChangeShapeType="1"/>
            </p:cNvSpPr>
            <p:nvPr/>
          </p:nvSpPr>
          <p:spPr bwMode="auto">
            <a:xfrm>
              <a:off x="3676915" y="2912889"/>
              <a:ext cx="2390510"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Line 66">
              <a:extLst>
                <a:ext uri="{FF2B5EF4-FFF2-40B4-BE49-F238E27FC236}">
                  <a16:creationId xmlns:a16="http://schemas.microsoft.com/office/drawing/2014/main" id="{CC5B9302-6BC7-A429-E124-FF155BC6E0F4}"/>
                </a:ext>
              </a:extLst>
            </p:cNvPr>
            <p:cNvSpPr>
              <a:spLocks noChangeShapeType="1"/>
            </p:cNvSpPr>
            <p:nvPr/>
          </p:nvSpPr>
          <p:spPr bwMode="auto">
            <a:xfrm>
              <a:off x="3676915" y="3417714"/>
              <a:ext cx="2390510"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6" name="AutoShape 78">
              <a:extLst>
                <a:ext uri="{FF2B5EF4-FFF2-40B4-BE49-F238E27FC236}">
                  <a16:creationId xmlns:a16="http://schemas.microsoft.com/office/drawing/2014/main" id="{2DD68B9E-C739-2F65-9EF8-AB94799D3598}"/>
                </a:ext>
              </a:extLst>
            </p:cNvPr>
            <p:cNvSpPr>
              <a:spLocks noChangeArrowheads="1"/>
            </p:cNvSpPr>
            <p:nvPr/>
          </p:nvSpPr>
          <p:spPr bwMode="auto">
            <a:xfrm>
              <a:off x="4793060" y="3192289"/>
              <a:ext cx="178858" cy="171450"/>
            </a:xfrm>
            <a:prstGeom prst="star5">
              <a:avLst/>
            </a:prstGeom>
            <a:solidFill>
              <a:srgbClr val="FFFF00"/>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47" name="Oval 80">
              <a:extLst>
                <a:ext uri="{FF2B5EF4-FFF2-40B4-BE49-F238E27FC236}">
                  <a16:creationId xmlns:a16="http://schemas.microsoft.com/office/drawing/2014/main" id="{1869F540-0F26-5D0E-87CE-53BBF7D72211}"/>
                </a:ext>
              </a:extLst>
            </p:cNvPr>
            <p:cNvSpPr>
              <a:spLocks noChangeArrowheads="1"/>
            </p:cNvSpPr>
            <p:nvPr/>
          </p:nvSpPr>
          <p:spPr bwMode="auto">
            <a:xfrm>
              <a:off x="1921008" y="2357264"/>
              <a:ext cx="159940" cy="152400"/>
            </a:xfrm>
            <a:prstGeom prst="ellipse">
              <a:avLst/>
            </a:prstGeom>
            <a:solidFill>
              <a:schemeClr val="accent6"/>
            </a:solidFill>
            <a:ln w="9525">
              <a:solidFill>
                <a:srgbClr val="000099"/>
              </a:solidFill>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48" name="Oval 81">
              <a:extLst>
                <a:ext uri="{FF2B5EF4-FFF2-40B4-BE49-F238E27FC236}">
                  <a16:creationId xmlns:a16="http://schemas.microsoft.com/office/drawing/2014/main" id="{7B9A12D5-AB0F-3E54-39B7-799BB10D093F}"/>
                </a:ext>
              </a:extLst>
            </p:cNvPr>
            <p:cNvSpPr>
              <a:spLocks noChangeArrowheads="1"/>
            </p:cNvSpPr>
            <p:nvPr/>
          </p:nvSpPr>
          <p:spPr bwMode="auto">
            <a:xfrm>
              <a:off x="4801658" y="2204864"/>
              <a:ext cx="159941" cy="152400"/>
            </a:xfrm>
            <a:prstGeom prst="ellipse">
              <a:avLst/>
            </a:prstGeom>
            <a:solidFill>
              <a:schemeClr val="accent6"/>
            </a:solidFill>
            <a:ln w="9525">
              <a:solidFill>
                <a:srgbClr val="000099"/>
              </a:solidFill>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49" name="Oval 82">
              <a:extLst>
                <a:ext uri="{FF2B5EF4-FFF2-40B4-BE49-F238E27FC236}">
                  <a16:creationId xmlns:a16="http://schemas.microsoft.com/office/drawing/2014/main" id="{E43D22E2-3BBB-3914-4B0C-F3026CEE2DB3}"/>
                </a:ext>
              </a:extLst>
            </p:cNvPr>
            <p:cNvSpPr>
              <a:spLocks noChangeArrowheads="1"/>
            </p:cNvSpPr>
            <p:nvPr/>
          </p:nvSpPr>
          <p:spPr bwMode="auto">
            <a:xfrm>
              <a:off x="7904163" y="2357264"/>
              <a:ext cx="159941" cy="152400"/>
            </a:xfrm>
            <a:prstGeom prst="ellipse">
              <a:avLst/>
            </a:prstGeom>
            <a:solidFill>
              <a:schemeClr val="accent6"/>
            </a:solidFill>
            <a:ln w="9525">
              <a:solidFill>
                <a:srgbClr val="000099"/>
              </a:solidFill>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0" name="Rectangle 83">
              <a:extLst>
                <a:ext uri="{FF2B5EF4-FFF2-40B4-BE49-F238E27FC236}">
                  <a16:creationId xmlns:a16="http://schemas.microsoft.com/office/drawing/2014/main" id="{B6E49F00-DC63-6812-6195-4A41A60333FB}"/>
                </a:ext>
              </a:extLst>
            </p:cNvPr>
            <p:cNvSpPr>
              <a:spLocks noChangeArrowheads="1"/>
            </p:cNvSpPr>
            <p:nvPr/>
          </p:nvSpPr>
          <p:spPr bwMode="auto">
            <a:xfrm>
              <a:off x="7904163" y="2887489"/>
              <a:ext cx="127265"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1" name="Rectangle 84">
              <a:extLst>
                <a:ext uri="{FF2B5EF4-FFF2-40B4-BE49-F238E27FC236}">
                  <a16:creationId xmlns:a16="http://schemas.microsoft.com/office/drawing/2014/main" id="{D9DA817C-38E4-21B3-487B-0A099797EBAD}"/>
                </a:ext>
              </a:extLst>
            </p:cNvPr>
            <p:cNvSpPr>
              <a:spLocks noChangeArrowheads="1"/>
            </p:cNvSpPr>
            <p:nvPr/>
          </p:nvSpPr>
          <p:spPr bwMode="auto">
            <a:xfrm>
              <a:off x="1921008" y="2887489"/>
              <a:ext cx="128984"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2" name="Rectangle 85">
              <a:extLst>
                <a:ext uri="{FF2B5EF4-FFF2-40B4-BE49-F238E27FC236}">
                  <a16:creationId xmlns:a16="http://schemas.microsoft.com/office/drawing/2014/main" id="{932569BF-9890-1104-5A3D-82D580A2F360}"/>
                </a:ext>
              </a:extLst>
            </p:cNvPr>
            <p:cNvSpPr>
              <a:spLocks noChangeArrowheads="1"/>
            </p:cNvSpPr>
            <p:nvPr/>
          </p:nvSpPr>
          <p:spPr bwMode="auto">
            <a:xfrm>
              <a:off x="4817137" y="2736678"/>
              <a:ext cx="128984" cy="122237"/>
            </a:xfrm>
            <a:prstGeom prst="rect">
              <a:avLst/>
            </a:prstGeom>
            <a:solidFill>
              <a:srgbClr val="0000CC"/>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3" name="AutoShape 86">
              <a:extLst>
                <a:ext uri="{FF2B5EF4-FFF2-40B4-BE49-F238E27FC236}">
                  <a16:creationId xmlns:a16="http://schemas.microsoft.com/office/drawing/2014/main" id="{4FD55578-AC88-F86F-7CA2-CB7247B37459}"/>
                </a:ext>
              </a:extLst>
            </p:cNvPr>
            <p:cNvSpPr>
              <a:spLocks noChangeArrowheads="1"/>
            </p:cNvSpPr>
            <p:nvPr/>
          </p:nvSpPr>
          <p:spPr bwMode="auto">
            <a:xfrm>
              <a:off x="7905328" y="3309765"/>
              <a:ext cx="178858" cy="169863"/>
            </a:xfrm>
            <a:prstGeom prst="star5">
              <a:avLst/>
            </a:prstGeom>
            <a:solidFill>
              <a:srgbClr val="FFFF00"/>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4" name="AutoShape 87">
              <a:extLst>
                <a:ext uri="{FF2B5EF4-FFF2-40B4-BE49-F238E27FC236}">
                  <a16:creationId xmlns:a16="http://schemas.microsoft.com/office/drawing/2014/main" id="{0488367C-395C-0495-76D3-83F108A73F11}"/>
                </a:ext>
              </a:extLst>
            </p:cNvPr>
            <p:cNvSpPr>
              <a:spLocks noChangeArrowheads="1"/>
            </p:cNvSpPr>
            <p:nvPr/>
          </p:nvSpPr>
          <p:spPr bwMode="auto">
            <a:xfrm>
              <a:off x="1895211" y="3324052"/>
              <a:ext cx="178858" cy="171450"/>
            </a:xfrm>
            <a:prstGeom prst="star5">
              <a:avLst/>
            </a:prstGeom>
            <a:solidFill>
              <a:srgbClr val="FFFF00"/>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grpSp>
        <p:nvGrpSpPr>
          <p:cNvPr id="55" name="组合 54">
            <a:extLst>
              <a:ext uri="{FF2B5EF4-FFF2-40B4-BE49-F238E27FC236}">
                <a16:creationId xmlns:a16="http://schemas.microsoft.com/office/drawing/2014/main" id="{CAF1301D-F3F2-E1A4-AFE8-C989274FDDAC}"/>
              </a:ext>
            </a:extLst>
          </p:cNvPr>
          <p:cNvGrpSpPr/>
          <p:nvPr/>
        </p:nvGrpSpPr>
        <p:grpSpPr>
          <a:xfrm>
            <a:off x="3363409" y="4455403"/>
            <a:ext cx="5168206" cy="1130668"/>
            <a:chOff x="1442906" y="4221088"/>
            <a:chExt cx="7099300" cy="1553139"/>
          </a:xfrm>
        </p:grpSpPr>
        <p:sp>
          <p:nvSpPr>
            <p:cNvPr id="56" name="Text Box 92">
              <a:extLst>
                <a:ext uri="{FF2B5EF4-FFF2-40B4-BE49-F238E27FC236}">
                  <a16:creationId xmlns:a16="http://schemas.microsoft.com/office/drawing/2014/main" id="{AC86031F-C7C2-98D8-C9EF-792F1E3F9168}"/>
                </a:ext>
              </a:extLst>
            </p:cNvPr>
            <p:cNvSpPr txBox="1">
              <a:spLocks noChangeArrowheads="1"/>
            </p:cNvSpPr>
            <p:nvPr/>
          </p:nvSpPr>
          <p:spPr bwMode="auto">
            <a:xfrm>
              <a:off x="4518274" y="4421112"/>
              <a:ext cx="440834" cy="42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a:latin typeface="微软雅黑" pitchFamily="34" charset="-122"/>
                  <a:ea typeface="微软雅黑" pitchFamily="34" charset="-122"/>
                </a:rPr>
                <a:t>+</a:t>
              </a:r>
            </a:p>
          </p:txBody>
        </p:sp>
        <p:sp>
          <p:nvSpPr>
            <p:cNvPr id="57" name="Text Box 93">
              <a:extLst>
                <a:ext uri="{FF2B5EF4-FFF2-40B4-BE49-F238E27FC236}">
                  <a16:creationId xmlns:a16="http://schemas.microsoft.com/office/drawing/2014/main" id="{0B4C4167-DBC0-13D8-FD30-2951155092BC}"/>
                </a:ext>
              </a:extLst>
            </p:cNvPr>
            <p:cNvSpPr txBox="1">
              <a:spLocks noChangeArrowheads="1"/>
            </p:cNvSpPr>
            <p:nvPr/>
          </p:nvSpPr>
          <p:spPr bwMode="auto">
            <a:xfrm>
              <a:off x="3944925" y="4403926"/>
              <a:ext cx="1948046" cy="42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1400" b="1" dirty="0">
                  <a:latin typeface="微软雅黑" pitchFamily="34" charset="-122"/>
                  <a:ea typeface="微软雅黑" pitchFamily="34" charset="-122"/>
                </a:rPr>
                <a:t>(               )</a:t>
              </a:r>
            </a:p>
          </p:txBody>
        </p:sp>
        <p:sp>
          <p:nvSpPr>
            <p:cNvPr id="58" name="Text Box 37">
              <a:extLst>
                <a:ext uri="{FF2B5EF4-FFF2-40B4-BE49-F238E27FC236}">
                  <a16:creationId xmlns:a16="http://schemas.microsoft.com/office/drawing/2014/main" id="{E887ACC0-59F2-7E1B-99C5-D1E34AAF61D9}"/>
                </a:ext>
              </a:extLst>
            </p:cNvPr>
            <p:cNvSpPr txBox="1">
              <a:spLocks noChangeArrowheads="1"/>
            </p:cNvSpPr>
            <p:nvPr/>
          </p:nvSpPr>
          <p:spPr bwMode="auto">
            <a:xfrm>
              <a:off x="4925864" y="4421112"/>
              <a:ext cx="440834" cy="42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dirty="0">
                  <a:latin typeface="微软雅黑" pitchFamily="34" charset="-122"/>
                  <a:ea typeface="微软雅黑" pitchFamily="34" charset="-122"/>
                </a:rPr>
                <a:t>+</a:t>
              </a:r>
            </a:p>
          </p:txBody>
        </p:sp>
        <p:sp>
          <p:nvSpPr>
            <p:cNvPr id="59" name="Line 38">
              <a:extLst>
                <a:ext uri="{FF2B5EF4-FFF2-40B4-BE49-F238E27FC236}">
                  <a16:creationId xmlns:a16="http://schemas.microsoft.com/office/drawing/2014/main" id="{469019E4-EB12-16EB-0FFF-D81FC7325E70}"/>
                </a:ext>
              </a:extLst>
            </p:cNvPr>
            <p:cNvSpPr>
              <a:spLocks noChangeShapeType="1"/>
            </p:cNvSpPr>
            <p:nvPr/>
          </p:nvSpPr>
          <p:spPr bwMode="auto">
            <a:xfrm>
              <a:off x="1840178" y="4903712"/>
              <a:ext cx="63821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Line 48">
              <a:extLst>
                <a:ext uri="{FF2B5EF4-FFF2-40B4-BE49-F238E27FC236}">
                  <a16:creationId xmlns:a16="http://schemas.microsoft.com/office/drawing/2014/main" id="{73D0F278-CC49-1757-E9DE-F6EAA284CBAA}"/>
                </a:ext>
              </a:extLst>
            </p:cNvPr>
            <p:cNvSpPr>
              <a:spLocks noChangeShapeType="1"/>
            </p:cNvSpPr>
            <p:nvPr/>
          </p:nvSpPr>
          <p:spPr bwMode="auto">
            <a:xfrm>
              <a:off x="2717271" y="4903712"/>
              <a:ext cx="470879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1" name="Line 49">
              <a:extLst>
                <a:ext uri="{FF2B5EF4-FFF2-40B4-BE49-F238E27FC236}">
                  <a16:creationId xmlns:a16="http://schemas.microsoft.com/office/drawing/2014/main" id="{C005C4C8-4FC2-E9D1-0BC9-648354E99DA0}"/>
                </a:ext>
              </a:extLst>
            </p:cNvPr>
            <p:cNvSpPr>
              <a:spLocks noChangeShapeType="1"/>
            </p:cNvSpPr>
            <p:nvPr/>
          </p:nvSpPr>
          <p:spPr bwMode="auto">
            <a:xfrm>
              <a:off x="7426061" y="4979912"/>
              <a:ext cx="877094" cy="379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2" name="Line 50">
              <a:extLst>
                <a:ext uri="{FF2B5EF4-FFF2-40B4-BE49-F238E27FC236}">
                  <a16:creationId xmlns:a16="http://schemas.microsoft.com/office/drawing/2014/main" id="{84127B0A-74A4-DF47-18BE-11F3DB909301}"/>
                </a:ext>
              </a:extLst>
            </p:cNvPr>
            <p:cNvSpPr>
              <a:spLocks noChangeShapeType="1"/>
            </p:cNvSpPr>
            <p:nvPr/>
          </p:nvSpPr>
          <p:spPr bwMode="auto">
            <a:xfrm flipH="1">
              <a:off x="7426061" y="4448099"/>
              <a:ext cx="877094"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3" name="Line 51">
              <a:extLst>
                <a:ext uri="{FF2B5EF4-FFF2-40B4-BE49-F238E27FC236}">
                  <a16:creationId xmlns:a16="http://schemas.microsoft.com/office/drawing/2014/main" id="{F6676036-8DB2-8658-6E3D-465F2986BD67}"/>
                </a:ext>
              </a:extLst>
            </p:cNvPr>
            <p:cNvSpPr>
              <a:spLocks noChangeShapeType="1"/>
            </p:cNvSpPr>
            <p:nvPr/>
          </p:nvSpPr>
          <p:spPr bwMode="auto">
            <a:xfrm flipV="1">
              <a:off x="1759347" y="4979912"/>
              <a:ext cx="878813" cy="379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Line 52">
              <a:extLst>
                <a:ext uri="{FF2B5EF4-FFF2-40B4-BE49-F238E27FC236}">
                  <a16:creationId xmlns:a16="http://schemas.microsoft.com/office/drawing/2014/main" id="{E4922293-5FB1-5A3D-36D2-34364FA23FFF}"/>
                </a:ext>
              </a:extLst>
            </p:cNvPr>
            <p:cNvSpPr>
              <a:spLocks noChangeShapeType="1"/>
            </p:cNvSpPr>
            <p:nvPr/>
          </p:nvSpPr>
          <p:spPr bwMode="auto">
            <a:xfrm>
              <a:off x="1759347" y="4448099"/>
              <a:ext cx="878813"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5" name="Oval 53">
              <a:extLst>
                <a:ext uri="{FF2B5EF4-FFF2-40B4-BE49-F238E27FC236}">
                  <a16:creationId xmlns:a16="http://schemas.microsoft.com/office/drawing/2014/main" id="{0133AAF0-D06B-6165-58CC-637FC44B670E}"/>
                </a:ext>
              </a:extLst>
            </p:cNvPr>
            <p:cNvSpPr>
              <a:spLocks noChangeArrowheads="1"/>
            </p:cNvSpPr>
            <p:nvPr/>
          </p:nvSpPr>
          <p:spPr bwMode="auto">
            <a:xfrm>
              <a:off x="1442906" y="4221088"/>
              <a:ext cx="397271"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A</a:t>
              </a:r>
              <a:r>
                <a:rPr lang="en-US" altLang="zh-CN" sz="1400" b="1" baseline="-25000" dirty="0">
                  <a:latin typeface="微软雅黑" pitchFamily="34" charset="-122"/>
                  <a:ea typeface="微软雅黑" pitchFamily="34" charset="-122"/>
                </a:rPr>
                <a:t>1</a:t>
              </a:r>
            </a:p>
          </p:txBody>
        </p:sp>
        <p:sp>
          <p:nvSpPr>
            <p:cNvPr id="66" name="Oval 54">
              <a:extLst>
                <a:ext uri="{FF2B5EF4-FFF2-40B4-BE49-F238E27FC236}">
                  <a16:creationId xmlns:a16="http://schemas.microsoft.com/office/drawing/2014/main" id="{36112A66-C6F9-F138-AC1B-9D8E31836AEA}"/>
                </a:ext>
              </a:extLst>
            </p:cNvPr>
            <p:cNvSpPr>
              <a:spLocks noChangeArrowheads="1"/>
            </p:cNvSpPr>
            <p:nvPr/>
          </p:nvSpPr>
          <p:spPr bwMode="auto">
            <a:xfrm>
              <a:off x="8144934" y="4221088"/>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A</a:t>
              </a:r>
              <a:r>
                <a:rPr lang="en-US" altLang="zh-CN" sz="1400" b="1" baseline="-25000" dirty="0">
                  <a:latin typeface="微软雅黑" pitchFamily="34" charset="-122"/>
                  <a:ea typeface="微软雅黑" pitchFamily="34" charset="-122"/>
                </a:rPr>
                <a:t>2</a:t>
              </a:r>
            </a:p>
          </p:txBody>
        </p:sp>
        <p:sp>
          <p:nvSpPr>
            <p:cNvPr id="67" name="Oval 55">
              <a:extLst>
                <a:ext uri="{FF2B5EF4-FFF2-40B4-BE49-F238E27FC236}">
                  <a16:creationId xmlns:a16="http://schemas.microsoft.com/office/drawing/2014/main" id="{FC34A2DE-5CCB-CA78-8EAF-257732A0220D}"/>
                </a:ext>
              </a:extLst>
            </p:cNvPr>
            <p:cNvSpPr>
              <a:spLocks noChangeArrowheads="1"/>
            </p:cNvSpPr>
            <p:nvPr/>
          </p:nvSpPr>
          <p:spPr bwMode="auto">
            <a:xfrm>
              <a:off x="1442906" y="4703688"/>
              <a:ext cx="397271"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B</a:t>
              </a:r>
              <a:r>
                <a:rPr lang="en-US" altLang="zh-CN" sz="1400" b="1" baseline="-25000" dirty="0">
                  <a:latin typeface="微软雅黑" pitchFamily="34" charset="-122"/>
                  <a:ea typeface="微软雅黑" pitchFamily="34" charset="-122"/>
                </a:rPr>
                <a:t>1</a:t>
              </a:r>
            </a:p>
          </p:txBody>
        </p:sp>
        <p:sp>
          <p:nvSpPr>
            <p:cNvPr id="68" name="Oval 56">
              <a:extLst>
                <a:ext uri="{FF2B5EF4-FFF2-40B4-BE49-F238E27FC236}">
                  <a16:creationId xmlns:a16="http://schemas.microsoft.com/office/drawing/2014/main" id="{B02E3226-17FA-DC12-66EC-910133FC10B2}"/>
                </a:ext>
              </a:extLst>
            </p:cNvPr>
            <p:cNvSpPr>
              <a:spLocks noChangeArrowheads="1"/>
            </p:cNvSpPr>
            <p:nvPr/>
          </p:nvSpPr>
          <p:spPr bwMode="auto">
            <a:xfrm>
              <a:off x="8144934" y="4703688"/>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a:latin typeface="微软雅黑" pitchFamily="34" charset="-122"/>
                  <a:ea typeface="微软雅黑" pitchFamily="34" charset="-122"/>
                </a:rPr>
                <a:t>B</a:t>
              </a:r>
              <a:r>
                <a:rPr lang="en-US" altLang="zh-CN" sz="1400" b="1" baseline="-25000">
                  <a:latin typeface="微软雅黑" pitchFamily="34" charset="-122"/>
                  <a:ea typeface="微软雅黑" pitchFamily="34" charset="-122"/>
                </a:rPr>
                <a:t>2</a:t>
              </a:r>
            </a:p>
          </p:txBody>
        </p:sp>
        <p:sp>
          <p:nvSpPr>
            <p:cNvPr id="69" name="Oval 57">
              <a:extLst>
                <a:ext uri="{FF2B5EF4-FFF2-40B4-BE49-F238E27FC236}">
                  <a16:creationId xmlns:a16="http://schemas.microsoft.com/office/drawing/2014/main" id="{C3F06277-C67E-BD1D-9331-6F3B8F1B8E5D}"/>
                </a:ext>
              </a:extLst>
            </p:cNvPr>
            <p:cNvSpPr>
              <a:spLocks noChangeArrowheads="1"/>
            </p:cNvSpPr>
            <p:nvPr/>
          </p:nvSpPr>
          <p:spPr bwMode="auto">
            <a:xfrm>
              <a:off x="1442906" y="5208513"/>
              <a:ext cx="397271"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dirty="0">
                  <a:latin typeface="微软雅黑" pitchFamily="34" charset="-122"/>
                  <a:ea typeface="微软雅黑" pitchFamily="34" charset="-122"/>
                </a:rPr>
                <a:t>C</a:t>
              </a:r>
              <a:r>
                <a:rPr lang="en-US" altLang="zh-CN" sz="1400" b="1" baseline="-25000" dirty="0">
                  <a:latin typeface="微软雅黑" pitchFamily="34" charset="-122"/>
                  <a:ea typeface="微软雅黑" pitchFamily="34" charset="-122"/>
                </a:rPr>
                <a:t>1</a:t>
              </a:r>
            </a:p>
          </p:txBody>
        </p:sp>
        <p:sp>
          <p:nvSpPr>
            <p:cNvPr id="70" name="Oval 58">
              <a:extLst>
                <a:ext uri="{FF2B5EF4-FFF2-40B4-BE49-F238E27FC236}">
                  <a16:creationId xmlns:a16="http://schemas.microsoft.com/office/drawing/2014/main" id="{99CBFD6E-E852-5518-C82A-DEF50F6DE519}"/>
                </a:ext>
              </a:extLst>
            </p:cNvPr>
            <p:cNvSpPr>
              <a:spLocks noChangeArrowheads="1"/>
            </p:cNvSpPr>
            <p:nvPr/>
          </p:nvSpPr>
          <p:spPr bwMode="auto">
            <a:xfrm>
              <a:off x="8144934" y="5208513"/>
              <a:ext cx="397272" cy="377825"/>
            </a:xfrm>
            <a:prstGeom prst="ellipse">
              <a:avLst/>
            </a:prstGeom>
            <a:solidFill>
              <a:srgbClr val="99FFCC"/>
            </a:solidFill>
            <a:ln w="9525">
              <a:solidFill>
                <a:schemeClr val="tx1"/>
              </a:solidFill>
              <a:round/>
              <a:headEnd/>
              <a:tailEnd/>
            </a:ln>
            <a:effectLst/>
          </p:spPr>
          <p:txBody>
            <a:bodyPr wrap="none" anchor="ctr"/>
            <a:lstStyle/>
            <a:p>
              <a:pPr algn="ctr"/>
              <a:r>
                <a:rPr lang="en-US" altLang="zh-CN" sz="1400" b="1">
                  <a:latin typeface="微软雅黑" pitchFamily="34" charset="-122"/>
                  <a:ea typeface="微软雅黑" pitchFamily="34" charset="-122"/>
                </a:rPr>
                <a:t>C</a:t>
              </a:r>
              <a:r>
                <a:rPr lang="en-US" altLang="zh-CN" sz="1400" b="1" baseline="-25000">
                  <a:latin typeface="微软雅黑" pitchFamily="34" charset="-122"/>
                  <a:ea typeface="微软雅黑" pitchFamily="34" charset="-122"/>
                </a:rPr>
                <a:t>2</a:t>
              </a:r>
            </a:p>
          </p:txBody>
        </p:sp>
        <p:sp>
          <p:nvSpPr>
            <p:cNvPr id="71" name="Text Box 59">
              <a:extLst>
                <a:ext uri="{FF2B5EF4-FFF2-40B4-BE49-F238E27FC236}">
                  <a16:creationId xmlns:a16="http://schemas.microsoft.com/office/drawing/2014/main" id="{288816B1-57A1-463B-5DD7-52B468B40DAB}"/>
                </a:ext>
              </a:extLst>
            </p:cNvPr>
            <p:cNvSpPr txBox="1">
              <a:spLocks noChangeArrowheads="1"/>
            </p:cNvSpPr>
            <p:nvPr/>
          </p:nvSpPr>
          <p:spPr bwMode="auto">
            <a:xfrm>
              <a:off x="4328715" y="4929112"/>
              <a:ext cx="1240145" cy="42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1400" b="1" dirty="0">
                  <a:solidFill>
                    <a:srgbClr val="CC00CC"/>
                  </a:solidFill>
                  <a:latin typeface="微软雅黑" pitchFamily="34" charset="-122"/>
                  <a:ea typeface="微软雅黑" pitchFamily="34" charset="-122"/>
                </a:rPr>
                <a:t>共享信道</a:t>
              </a:r>
            </a:p>
          </p:txBody>
        </p:sp>
        <p:sp>
          <p:nvSpPr>
            <p:cNvPr id="72" name="Text Box 61">
              <a:extLst>
                <a:ext uri="{FF2B5EF4-FFF2-40B4-BE49-F238E27FC236}">
                  <a16:creationId xmlns:a16="http://schemas.microsoft.com/office/drawing/2014/main" id="{7B42B24A-15E9-33C4-44D1-E5B66262084E}"/>
                </a:ext>
              </a:extLst>
            </p:cNvPr>
            <p:cNvSpPr txBox="1">
              <a:spLocks noChangeArrowheads="1"/>
            </p:cNvSpPr>
            <p:nvPr/>
          </p:nvSpPr>
          <p:spPr bwMode="auto">
            <a:xfrm>
              <a:off x="3916411" y="5351450"/>
              <a:ext cx="2164969" cy="42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使用共享信道</a:t>
              </a:r>
            </a:p>
          </p:txBody>
        </p:sp>
        <p:sp>
          <p:nvSpPr>
            <p:cNvPr id="73" name="Oval 62">
              <a:extLst>
                <a:ext uri="{FF2B5EF4-FFF2-40B4-BE49-F238E27FC236}">
                  <a16:creationId xmlns:a16="http://schemas.microsoft.com/office/drawing/2014/main" id="{9D3E973D-849A-D440-33BC-3CAE107FF923}"/>
                </a:ext>
              </a:extLst>
            </p:cNvPr>
            <p:cNvSpPr>
              <a:spLocks noChangeArrowheads="1"/>
            </p:cNvSpPr>
            <p:nvPr/>
          </p:nvSpPr>
          <p:spPr bwMode="auto">
            <a:xfrm>
              <a:off x="2431785" y="4702100"/>
              <a:ext cx="717154" cy="379413"/>
            </a:xfrm>
            <a:prstGeom prst="ellipse">
              <a:avLst/>
            </a:prstGeom>
            <a:solidFill>
              <a:schemeClr val="bg1"/>
            </a:solidFill>
            <a:ln w="9525">
              <a:solidFill>
                <a:schemeClr val="tx1"/>
              </a:solidFill>
              <a:round/>
              <a:headEnd/>
              <a:tailEnd/>
            </a:ln>
            <a:effectLst/>
          </p:spPr>
          <p:txBody>
            <a:bodyPr wrap="none" anchor="ctr"/>
            <a:lstStyle/>
            <a:p>
              <a:pPr algn="ctr"/>
              <a:r>
                <a:rPr lang="zh-CN" altLang="en-US" sz="1400" b="1">
                  <a:solidFill>
                    <a:srgbClr val="0000FF"/>
                  </a:solidFill>
                  <a:latin typeface="微软雅黑" pitchFamily="34" charset="-122"/>
                  <a:ea typeface="微软雅黑" pitchFamily="34" charset="-122"/>
                </a:rPr>
                <a:t>复用</a:t>
              </a:r>
            </a:p>
          </p:txBody>
        </p:sp>
        <p:sp>
          <p:nvSpPr>
            <p:cNvPr id="74" name="Oval 63">
              <a:extLst>
                <a:ext uri="{FF2B5EF4-FFF2-40B4-BE49-F238E27FC236}">
                  <a16:creationId xmlns:a16="http://schemas.microsoft.com/office/drawing/2014/main" id="{BCA28C01-2A10-2EB6-376C-8522520E8B22}"/>
                </a:ext>
              </a:extLst>
            </p:cNvPr>
            <p:cNvSpPr>
              <a:spLocks noChangeArrowheads="1"/>
            </p:cNvSpPr>
            <p:nvPr/>
          </p:nvSpPr>
          <p:spPr bwMode="auto">
            <a:xfrm>
              <a:off x="7047706" y="4716387"/>
              <a:ext cx="717154" cy="379412"/>
            </a:xfrm>
            <a:prstGeom prst="ellipse">
              <a:avLst/>
            </a:prstGeom>
            <a:solidFill>
              <a:schemeClr val="bg1"/>
            </a:solidFill>
            <a:ln w="9525">
              <a:solidFill>
                <a:schemeClr val="tx1"/>
              </a:solidFill>
              <a:round/>
              <a:headEnd/>
              <a:tailEnd/>
            </a:ln>
            <a:effectLst/>
          </p:spPr>
          <p:txBody>
            <a:bodyPr wrap="none" anchor="ctr"/>
            <a:lstStyle/>
            <a:p>
              <a:pPr algn="ctr"/>
              <a:r>
                <a:rPr lang="zh-CN" altLang="en-US" sz="1400" b="1">
                  <a:solidFill>
                    <a:srgbClr val="0000FF"/>
                  </a:solidFill>
                  <a:latin typeface="微软雅黑" pitchFamily="34" charset="-122"/>
                  <a:ea typeface="微软雅黑" pitchFamily="34" charset="-122"/>
                </a:rPr>
                <a:t>分用</a:t>
              </a:r>
            </a:p>
          </p:txBody>
        </p:sp>
        <p:sp>
          <p:nvSpPr>
            <p:cNvPr id="75" name="Line 67">
              <a:extLst>
                <a:ext uri="{FF2B5EF4-FFF2-40B4-BE49-F238E27FC236}">
                  <a16:creationId xmlns:a16="http://schemas.microsoft.com/office/drawing/2014/main" id="{40E4D433-94DD-E97C-CD21-FDDF5518A5FA}"/>
                </a:ext>
              </a:extLst>
            </p:cNvPr>
            <p:cNvSpPr>
              <a:spLocks noChangeShapeType="1"/>
            </p:cNvSpPr>
            <p:nvPr/>
          </p:nvSpPr>
          <p:spPr bwMode="auto">
            <a:xfrm>
              <a:off x="3676915" y="4776712"/>
              <a:ext cx="239051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Line 68">
              <a:extLst>
                <a:ext uri="{FF2B5EF4-FFF2-40B4-BE49-F238E27FC236}">
                  <a16:creationId xmlns:a16="http://schemas.microsoft.com/office/drawing/2014/main" id="{DD2152DA-3418-715C-8FF7-C502C485F450}"/>
                </a:ext>
              </a:extLst>
            </p:cNvPr>
            <p:cNvSpPr>
              <a:spLocks noChangeShapeType="1"/>
            </p:cNvSpPr>
            <p:nvPr/>
          </p:nvSpPr>
          <p:spPr bwMode="auto">
            <a:xfrm>
              <a:off x="1910689" y="4859262"/>
              <a:ext cx="398992"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7" name="Line 69">
              <a:extLst>
                <a:ext uri="{FF2B5EF4-FFF2-40B4-BE49-F238E27FC236}">
                  <a16:creationId xmlns:a16="http://schemas.microsoft.com/office/drawing/2014/main" id="{E55F4E6B-3E92-7A5B-5A26-25458B5AEAED}"/>
                </a:ext>
              </a:extLst>
            </p:cNvPr>
            <p:cNvSpPr>
              <a:spLocks noChangeShapeType="1"/>
            </p:cNvSpPr>
            <p:nvPr/>
          </p:nvSpPr>
          <p:spPr bwMode="auto">
            <a:xfrm>
              <a:off x="7744222" y="4829099"/>
              <a:ext cx="398992"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8" name="Line 70">
              <a:extLst>
                <a:ext uri="{FF2B5EF4-FFF2-40B4-BE49-F238E27FC236}">
                  <a16:creationId xmlns:a16="http://schemas.microsoft.com/office/drawing/2014/main" id="{71EAA838-17AD-18FE-936D-7835B960FF73}"/>
                </a:ext>
              </a:extLst>
            </p:cNvPr>
            <p:cNvSpPr>
              <a:spLocks noChangeShapeType="1"/>
            </p:cNvSpPr>
            <p:nvPr/>
          </p:nvSpPr>
          <p:spPr bwMode="auto">
            <a:xfrm rot="1484370">
              <a:off x="1979481" y="4554462"/>
              <a:ext cx="398992"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9" name="Line 71">
              <a:extLst>
                <a:ext uri="{FF2B5EF4-FFF2-40B4-BE49-F238E27FC236}">
                  <a16:creationId xmlns:a16="http://schemas.microsoft.com/office/drawing/2014/main" id="{4E804D31-54FC-F848-E325-E99A9B4E692C}"/>
                </a:ext>
              </a:extLst>
            </p:cNvPr>
            <p:cNvSpPr>
              <a:spLocks noChangeShapeType="1"/>
            </p:cNvSpPr>
            <p:nvPr/>
          </p:nvSpPr>
          <p:spPr bwMode="auto">
            <a:xfrm rot="1484370">
              <a:off x="7802695" y="5171999"/>
              <a:ext cx="398992" cy="0"/>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0" name="Line 72">
              <a:extLst>
                <a:ext uri="{FF2B5EF4-FFF2-40B4-BE49-F238E27FC236}">
                  <a16:creationId xmlns:a16="http://schemas.microsoft.com/office/drawing/2014/main" id="{29408149-7A80-9FAD-C4CF-2F0F2AD30146}"/>
                </a:ext>
              </a:extLst>
            </p:cNvPr>
            <p:cNvSpPr>
              <a:spLocks noChangeShapeType="1"/>
            </p:cNvSpPr>
            <p:nvPr/>
          </p:nvSpPr>
          <p:spPr bwMode="auto">
            <a:xfrm rot="-1648508">
              <a:off x="1922727" y="5138663"/>
              <a:ext cx="398992" cy="1587"/>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1" name="Line 73">
              <a:extLst>
                <a:ext uri="{FF2B5EF4-FFF2-40B4-BE49-F238E27FC236}">
                  <a16:creationId xmlns:a16="http://schemas.microsoft.com/office/drawing/2014/main" id="{F2943147-7750-269A-883D-2700E46BCC12}"/>
                </a:ext>
              </a:extLst>
            </p:cNvPr>
            <p:cNvSpPr>
              <a:spLocks noChangeShapeType="1"/>
            </p:cNvSpPr>
            <p:nvPr/>
          </p:nvSpPr>
          <p:spPr bwMode="auto">
            <a:xfrm rot="-1648508">
              <a:off x="7659952" y="4563988"/>
              <a:ext cx="398992" cy="1587"/>
            </a:xfrm>
            <a:prstGeom prst="line">
              <a:avLst/>
            </a:prstGeom>
            <a:noFill/>
            <a:ln w="1905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2" name="Oval 74">
              <a:extLst>
                <a:ext uri="{FF2B5EF4-FFF2-40B4-BE49-F238E27FC236}">
                  <a16:creationId xmlns:a16="http://schemas.microsoft.com/office/drawing/2014/main" id="{649DBE2B-B0F1-DFC8-2834-DC3F12025683}"/>
                </a:ext>
              </a:extLst>
            </p:cNvPr>
            <p:cNvSpPr>
              <a:spLocks noChangeArrowheads="1"/>
            </p:cNvSpPr>
            <p:nvPr/>
          </p:nvSpPr>
          <p:spPr bwMode="auto">
            <a:xfrm>
              <a:off x="2098146" y="4293096"/>
              <a:ext cx="159941" cy="152400"/>
            </a:xfrm>
            <a:prstGeom prst="ellipse">
              <a:avLst/>
            </a:prstGeom>
            <a:solidFill>
              <a:schemeClr val="accent6"/>
            </a:solidFill>
            <a:ln w="9525">
              <a:solidFill>
                <a:srgbClr val="000099"/>
              </a:solidFill>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83" name="Oval 75">
              <a:extLst>
                <a:ext uri="{FF2B5EF4-FFF2-40B4-BE49-F238E27FC236}">
                  <a16:creationId xmlns:a16="http://schemas.microsoft.com/office/drawing/2014/main" id="{1D215705-F833-BC42-E85C-8F3B82524464}"/>
                </a:ext>
              </a:extLst>
            </p:cNvPr>
            <p:cNvSpPr>
              <a:spLocks noChangeArrowheads="1"/>
            </p:cNvSpPr>
            <p:nvPr/>
          </p:nvSpPr>
          <p:spPr bwMode="auto">
            <a:xfrm>
              <a:off x="7728744" y="4365104"/>
              <a:ext cx="159941" cy="150812"/>
            </a:xfrm>
            <a:prstGeom prst="ellipse">
              <a:avLst/>
            </a:prstGeom>
            <a:solidFill>
              <a:schemeClr val="accent6"/>
            </a:solidFill>
            <a:ln w="9525">
              <a:solidFill>
                <a:srgbClr val="000099"/>
              </a:solidFill>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84" name="Rectangle 76">
              <a:extLst>
                <a:ext uri="{FF2B5EF4-FFF2-40B4-BE49-F238E27FC236}">
                  <a16:creationId xmlns:a16="http://schemas.microsoft.com/office/drawing/2014/main" id="{FB7291C7-9146-253A-FC3C-92AB1A7ACE89}"/>
                </a:ext>
              </a:extLst>
            </p:cNvPr>
            <p:cNvSpPr>
              <a:spLocks noChangeArrowheads="1"/>
            </p:cNvSpPr>
            <p:nvPr/>
          </p:nvSpPr>
          <p:spPr bwMode="auto">
            <a:xfrm>
              <a:off x="2012157" y="4692574"/>
              <a:ext cx="128985"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85" name="Rectangle 77">
              <a:extLst>
                <a:ext uri="{FF2B5EF4-FFF2-40B4-BE49-F238E27FC236}">
                  <a16:creationId xmlns:a16="http://schemas.microsoft.com/office/drawing/2014/main" id="{F59C2CAA-A4AE-05B9-D030-887440E2B03A}"/>
                </a:ext>
              </a:extLst>
            </p:cNvPr>
            <p:cNvSpPr>
              <a:spLocks noChangeArrowheads="1"/>
            </p:cNvSpPr>
            <p:nvPr/>
          </p:nvSpPr>
          <p:spPr bwMode="auto">
            <a:xfrm>
              <a:off x="7874927" y="4679874"/>
              <a:ext cx="128984"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86" name="AutoShape 79">
              <a:extLst>
                <a:ext uri="{FF2B5EF4-FFF2-40B4-BE49-F238E27FC236}">
                  <a16:creationId xmlns:a16="http://schemas.microsoft.com/office/drawing/2014/main" id="{F0DD00D0-6B5E-0624-C67D-ED310BD5040B}"/>
                </a:ext>
              </a:extLst>
            </p:cNvPr>
            <p:cNvSpPr>
              <a:spLocks noChangeArrowheads="1"/>
            </p:cNvSpPr>
            <p:nvPr/>
          </p:nvSpPr>
          <p:spPr bwMode="auto">
            <a:xfrm>
              <a:off x="7919641" y="4962449"/>
              <a:ext cx="178858" cy="171450"/>
            </a:xfrm>
            <a:prstGeom prst="star5">
              <a:avLst/>
            </a:prstGeom>
            <a:solidFill>
              <a:srgbClr val="FF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7" name="AutoShape 88">
              <a:extLst>
                <a:ext uri="{FF2B5EF4-FFF2-40B4-BE49-F238E27FC236}">
                  <a16:creationId xmlns:a16="http://schemas.microsoft.com/office/drawing/2014/main" id="{9FBE32DF-20E2-6AB1-F762-1A2F463AE5E5}"/>
                </a:ext>
              </a:extLst>
            </p:cNvPr>
            <p:cNvSpPr>
              <a:spLocks noChangeArrowheads="1"/>
            </p:cNvSpPr>
            <p:nvPr/>
          </p:nvSpPr>
          <p:spPr bwMode="auto">
            <a:xfrm>
              <a:off x="1943364" y="4978325"/>
              <a:ext cx="180579" cy="169863"/>
            </a:xfrm>
            <a:prstGeom prst="star5">
              <a:avLst/>
            </a:prstGeom>
            <a:solidFill>
              <a:srgbClr val="FFFF00"/>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88" name="Oval 89">
              <a:extLst>
                <a:ext uri="{FF2B5EF4-FFF2-40B4-BE49-F238E27FC236}">
                  <a16:creationId xmlns:a16="http://schemas.microsoft.com/office/drawing/2014/main" id="{8AB47555-E5CD-B231-67A5-592CD0AD59FA}"/>
                </a:ext>
              </a:extLst>
            </p:cNvPr>
            <p:cNvSpPr>
              <a:spLocks noChangeArrowheads="1"/>
            </p:cNvSpPr>
            <p:nvPr/>
          </p:nvSpPr>
          <p:spPr bwMode="auto">
            <a:xfrm>
              <a:off x="4428845" y="4548112"/>
              <a:ext cx="159940" cy="152400"/>
            </a:xfrm>
            <a:prstGeom prst="ellipse">
              <a:avLst/>
            </a:prstGeom>
            <a:solidFill>
              <a:schemeClr val="accent6"/>
            </a:solidFill>
            <a:ln w="9525">
              <a:solidFill>
                <a:srgbClr val="000099"/>
              </a:solidFill>
              <a:round/>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89" name="Rectangle 90">
              <a:extLst>
                <a:ext uri="{FF2B5EF4-FFF2-40B4-BE49-F238E27FC236}">
                  <a16:creationId xmlns:a16="http://schemas.microsoft.com/office/drawing/2014/main" id="{939D37A3-6FCD-93A5-E3EF-1DD285A9D159}"/>
                </a:ext>
              </a:extLst>
            </p:cNvPr>
            <p:cNvSpPr>
              <a:spLocks noChangeArrowheads="1"/>
            </p:cNvSpPr>
            <p:nvPr/>
          </p:nvSpPr>
          <p:spPr bwMode="auto">
            <a:xfrm>
              <a:off x="4827836" y="4562399"/>
              <a:ext cx="128984" cy="122238"/>
            </a:xfrm>
            <a:prstGeom prst="rect">
              <a:avLst/>
            </a:prstGeom>
            <a:solidFill>
              <a:srgbClr val="0000CC"/>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90" name="AutoShape 91">
              <a:extLst>
                <a:ext uri="{FF2B5EF4-FFF2-40B4-BE49-F238E27FC236}">
                  <a16:creationId xmlns:a16="http://schemas.microsoft.com/office/drawing/2014/main" id="{0306F30D-B052-40E6-DD55-0606C1A5CE2B}"/>
                </a:ext>
              </a:extLst>
            </p:cNvPr>
            <p:cNvSpPr>
              <a:spLocks noChangeArrowheads="1"/>
            </p:cNvSpPr>
            <p:nvPr/>
          </p:nvSpPr>
          <p:spPr bwMode="auto">
            <a:xfrm>
              <a:off x="5206190" y="4536999"/>
              <a:ext cx="178858" cy="171450"/>
            </a:xfrm>
            <a:prstGeom prst="star5">
              <a:avLst/>
            </a:prstGeom>
            <a:solidFill>
              <a:srgbClr val="FFFF00"/>
            </a:solidFill>
            <a:ln w="9525">
              <a:solidFill>
                <a:srgbClr val="000099"/>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spTree>
    <p:extLst>
      <p:ext uri="{BB962C8B-B14F-4D97-AF65-F5344CB8AC3E}">
        <p14:creationId xmlns:p14="http://schemas.microsoft.com/office/powerpoint/2010/main" val="112813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88530" y="411245"/>
            <a:ext cx="10854829" cy="894622"/>
          </a:xfrm>
        </p:spPr>
        <p:txBody>
          <a:bodyPr>
            <a:normAutofit/>
          </a:bodyPr>
          <a:lstStyle/>
          <a:p>
            <a:r>
              <a:rPr lang="en-US" altLang="en-US" b="1" dirty="0">
                <a:solidFill>
                  <a:srgbClr val="000099"/>
                </a:solidFill>
              </a:rPr>
              <a:t>FDM (Frequency Division Multiplexing)</a:t>
            </a:r>
          </a:p>
        </p:txBody>
      </p:sp>
      <p:sp>
        <p:nvSpPr>
          <p:cNvPr id="3" name="文本框 2">
            <a:extLst>
              <a:ext uri="{FF2B5EF4-FFF2-40B4-BE49-F238E27FC236}">
                <a16:creationId xmlns:a16="http://schemas.microsoft.com/office/drawing/2014/main" id="{56CF88D9-C6B5-885F-59CB-7946A384FB5F}"/>
              </a:ext>
            </a:extLst>
          </p:cNvPr>
          <p:cNvSpPr txBox="1"/>
          <p:nvPr/>
        </p:nvSpPr>
        <p:spPr>
          <a:xfrm>
            <a:off x="653143" y="1433186"/>
            <a:ext cx="10661148" cy="2214965"/>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whole bandwidth is divided into several parts. After a user is allocated a certain frequency band, it will occupy this frequency band from beginning to end in the communication process.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All users of </a:t>
            </a:r>
            <a:r>
              <a:rPr lang="en" altLang="zh-CN" sz="2400" dirty="0">
                <a:solidFill>
                  <a:srgbClr val="0013A3"/>
                </a:solidFill>
                <a:latin typeface="Calibri" panose="020F0502020204030204" pitchFamily="34" charset="0"/>
                <a:cs typeface="Calibri" panose="020F0502020204030204" pitchFamily="34" charset="0"/>
              </a:rPr>
              <a:t>frequency division multiplexing </a:t>
            </a:r>
            <a:r>
              <a:rPr lang="en" altLang="zh-CN" sz="2400" dirty="0">
                <a:latin typeface="Calibri" panose="020F0502020204030204" pitchFamily="34" charset="0"/>
                <a:cs typeface="Calibri" panose="020F0502020204030204" pitchFamily="34" charset="0"/>
              </a:rPr>
              <a:t>have different bandwidth resources at the same time (note that the "bandwidth" is the frequency bandwidth and not the data sending rate).</a:t>
            </a:r>
          </a:p>
        </p:txBody>
      </p:sp>
      <p:grpSp>
        <p:nvGrpSpPr>
          <p:cNvPr id="4" name="组合 3">
            <a:extLst>
              <a:ext uri="{FF2B5EF4-FFF2-40B4-BE49-F238E27FC236}">
                <a16:creationId xmlns:a16="http://schemas.microsoft.com/office/drawing/2014/main" id="{0AF8BA5C-93E7-E0F1-8AFF-54471A6DF148}"/>
              </a:ext>
            </a:extLst>
          </p:cNvPr>
          <p:cNvGrpSpPr/>
          <p:nvPr/>
        </p:nvGrpSpPr>
        <p:grpSpPr>
          <a:xfrm>
            <a:off x="7034460" y="3429000"/>
            <a:ext cx="3967674" cy="2982879"/>
            <a:chOff x="1729417" y="3361217"/>
            <a:chExt cx="7058759" cy="2982879"/>
          </a:xfrm>
        </p:grpSpPr>
        <p:sp>
          <p:nvSpPr>
            <p:cNvPr id="5" name="Text Box 29">
              <a:extLst>
                <a:ext uri="{FF2B5EF4-FFF2-40B4-BE49-F238E27FC236}">
                  <a16:creationId xmlns:a16="http://schemas.microsoft.com/office/drawing/2014/main" id="{4D9EF97E-FA32-8F4F-3EE5-9C5969531B31}"/>
                </a:ext>
              </a:extLst>
            </p:cNvPr>
            <p:cNvSpPr txBox="1">
              <a:spLocks noChangeArrowheads="1"/>
            </p:cNvSpPr>
            <p:nvPr/>
          </p:nvSpPr>
          <p:spPr bwMode="auto">
            <a:xfrm>
              <a:off x="1729417" y="3361217"/>
              <a:ext cx="902049"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solidFill>
                    <a:srgbClr val="008000"/>
                  </a:solidFill>
                  <a:latin typeface="微软雅黑" pitchFamily="34" charset="-122"/>
                  <a:ea typeface="微软雅黑" pitchFamily="34" charset="-122"/>
                </a:rPr>
                <a:t>频率</a:t>
              </a:r>
            </a:p>
          </p:txBody>
        </p:sp>
        <p:sp>
          <p:nvSpPr>
            <p:cNvPr id="6" name="Text Box 30">
              <a:extLst>
                <a:ext uri="{FF2B5EF4-FFF2-40B4-BE49-F238E27FC236}">
                  <a16:creationId xmlns:a16="http://schemas.microsoft.com/office/drawing/2014/main" id="{935A299F-84B9-19A3-69A9-2FA4230B4885}"/>
                </a:ext>
              </a:extLst>
            </p:cNvPr>
            <p:cNvSpPr txBox="1">
              <a:spLocks noChangeArrowheads="1"/>
            </p:cNvSpPr>
            <p:nvPr/>
          </p:nvSpPr>
          <p:spPr bwMode="auto">
            <a:xfrm>
              <a:off x="7886127" y="6057864"/>
              <a:ext cx="902049"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solidFill>
                    <a:srgbClr val="008000"/>
                  </a:solidFill>
                  <a:latin typeface="微软雅黑" pitchFamily="34" charset="-122"/>
                  <a:ea typeface="微软雅黑" pitchFamily="34" charset="-122"/>
                </a:rPr>
                <a:t>时间</a:t>
              </a:r>
            </a:p>
          </p:txBody>
        </p:sp>
        <p:sp>
          <p:nvSpPr>
            <p:cNvPr id="7" name="Rectangle 31">
              <a:extLst>
                <a:ext uri="{FF2B5EF4-FFF2-40B4-BE49-F238E27FC236}">
                  <a16:creationId xmlns:a16="http://schemas.microsoft.com/office/drawing/2014/main" id="{B55A4005-B085-B564-7AD5-FC3086DCEAC6}"/>
                </a:ext>
              </a:extLst>
            </p:cNvPr>
            <p:cNvSpPr>
              <a:spLocks noChangeArrowheads="1"/>
            </p:cNvSpPr>
            <p:nvPr/>
          </p:nvSpPr>
          <p:spPr bwMode="auto">
            <a:xfrm>
              <a:off x="2192736" y="3915303"/>
              <a:ext cx="6005512" cy="387350"/>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8" name="Rectangle 32">
              <a:extLst>
                <a:ext uri="{FF2B5EF4-FFF2-40B4-BE49-F238E27FC236}">
                  <a16:creationId xmlns:a16="http://schemas.microsoft.com/office/drawing/2014/main" id="{64640A9C-8E8C-9C04-C207-4D5DE234631F}"/>
                </a:ext>
              </a:extLst>
            </p:cNvPr>
            <p:cNvSpPr>
              <a:spLocks noChangeArrowheads="1"/>
            </p:cNvSpPr>
            <p:nvPr/>
          </p:nvSpPr>
          <p:spPr bwMode="auto">
            <a:xfrm>
              <a:off x="2192736" y="4302653"/>
              <a:ext cx="6005512" cy="387350"/>
            </a:xfrm>
            <a:prstGeom prst="rect">
              <a:avLst/>
            </a:prstGeom>
            <a:solidFill>
              <a:srgbClr val="00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9" name="Rectangle 34">
              <a:extLst>
                <a:ext uri="{FF2B5EF4-FFF2-40B4-BE49-F238E27FC236}">
                  <a16:creationId xmlns:a16="http://schemas.microsoft.com/office/drawing/2014/main" id="{54471656-361D-A230-20A4-236BC3174F67}"/>
                </a:ext>
              </a:extLst>
            </p:cNvPr>
            <p:cNvSpPr>
              <a:spLocks noChangeArrowheads="1"/>
            </p:cNvSpPr>
            <p:nvPr/>
          </p:nvSpPr>
          <p:spPr bwMode="auto">
            <a:xfrm>
              <a:off x="2192736" y="5077353"/>
              <a:ext cx="6005512" cy="387350"/>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 name="Rectangle 35">
              <a:extLst>
                <a:ext uri="{FF2B5EF4-FFF2-40B4-BE49-F238E27FC236}">
                  <a16:creationId xmlns:a16="http://schemas.microsoft.com/office/drawing/2014/main" id="{24A36C4D-EB7E-A517-ABB1-A96951F4D50D}"/>
                </a:ext>
              </a:extLst>
            </p:cNvPr>
            <p:cNvSpPr>
              <a:spLocks noChangeArrowheads="1"/>
            </p:cNvSpPr>
            <p:nvPr/>
          </p:nvSpPr>
          <p:spPr bwMode="auto">
            <a:xfrm>
              <a:off x="2192736" y="5464703"/>
              <a:ext cx="6005512" cy="3873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1" name="Text Box 36">
              <a:extLst>
                <a:ext uri="{FF2B5EF4-FFF2-40B4-BE49-F238E27FC236}">
                  <a16:creationId xmlns:a16="http://schemas.microsoft.com/office/drawing/2014/main" id="{65D19F00-B926-9AD5-9DF1-A4F6833C646E}"/>
                </a:ext>
              </a:extLst>
            </p:cNvPr>
            <p:cNvSpPr txBox="1">
              <a:spLocks noChangeArrowheads="1"/>
            </p:cNvSpPr>
            <p:nvPr/>
          </p:nvSpPr>
          <p:spPr bwMode="auto">
            <a:xfrm>
              <a:off x="4765546" y="5521853"/>
              <a:ext cx="1173301"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a:latin typeface="微软雅黑" pitchFamily="34" charset="-122"/>
                  <a:ea typeface="微软雅黑" pitchFamily="34" charset="-122"/>
                </a:rPr>
                <a:t>频带 </a:t>
              </a:r>
              <a:r>
                <a:rPr kumimoji="1" lang="en-US" altLang="zh-CN" sz="1400" b="1">
                  <a:latin typeface="微软雅黑" pitchFamily="34" charset="-122"/>
                  <a:ea typeface="微软雅黑" pitchFamily="34" charset="-122"/>
                </a:rPr>
                <a:t>1</a:t>
              </a:r>
            </a:p>
          </p:txBody>
        </p:sp>
        <p:sp>
          <p:nvSpPr>
            <p:cNvPr id="12" name="Text Box 37">
              <a:extLst>
                <a:ext uri="{FF2B5EF4-FFF2-40B4-BE49-F238E27FC236}">
                  <a16:creationId xmlns:a16="http://schemas.microsoft.com/office/drawing/2014/main" id="{D58FBC2F-C7DB-735E-4592-6B98D219BE03}"/>
                </a:ext>
              </a:extLst>
            </p:cNvPr>
            <p:cNvSpPr txBox="1">
              <a:spLocks noChangeArrowheads="1"/>
            </p:cNvSpPr>
            <p:nvPr/>
          </p:nvSpPr>
          <p:spPr bwMode="auto">
            <a:xfrm>
              <a:off x="4765546" y="5132916"/>
              <a:ext cx="1173301"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a:latin typeface="微软雅黑" pitchFamily="34" charset="-122"/>
                  <a:ea typeface="微软雅黑" pitchFamily="34" charset="-122"/>
                </a:rPr>
                <a:t>频带 </a:t>
              </a:r>
              <a:r>
                <a:rPr kumimoji="1" lang="en-US" altLang="zh-CN" sz="1400" b="1">
                  <a:latin typeface="微软雅黑" pitchFamily="34" charset="-122"/>
                  <a:ea typeface="微软雅黑" pitchFamily="34" charset="-122"/>
                </a:rPr>
                <a:t>2</a:t>
              </a:r>
            </a:p>
          </p:txBody>
        </p:sp>
        <p:sp>
          <p:nvSpPr>
            <p:cNvPr id="13" name="Text Box 39">
              <a:extLst>
                <a:ext uri="{FF2B5EF4-FFF2-40B4-BE49-F238E27FC236}">
                  <a16:creationId xmlns:a16="http://schemas.microsoft.com/office/drawing/2014/main" id="{87A93AF9-D5AA-70C7-736F-654297CD4231}"/>
                </a:ext>
              </a:extLst>
            </p:cNvPr>
            <p:cNvSpPr txBox="1">
              <a:spLocks noChangeArrowheads="1"/>
            </p:cNvSpPr>
            <p:nvPr/>
          </p:nvSpPr>
          <p:spPr bwMode="auto">
            <a:xfrm>
              <a:off x="4915163" y="4307733"/>
              <a:ext cx="604202"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400" b="1" dirty="0">
                  <a:latin typeface="微软雅黑" pitchFamily="34" charset="-122"/>
                  <a:ea typeface="微软雅黑" pitchFamily="34" charset="-122"/>
                  <a:sym typeface="Symbol" pitchFamily="18" charset="2"/>
                </a:rPr>
                <a:t></a:t>
              </a:r>
              <a:endParaRPr kumimoji="1" lang="zh-CN" altLang="zh-CN" sz="1400" b="1" dirty="0">
                <a:latin typeface="微软雅黑" pitchFamily="34" charset="-122"/>
                <a:ea typeface="微软雅黑" pitchFamily="34" charset="-122"/>
                <a:sym typeface="Symbol" pitchFamily="18" charset="2"/>
              </a:endParaRPr>
            </a:p>
          </p:txBody>
        </p:sp>
        <p:sp>
          <p:nvSpPr>
            <p:cNvPr id="14" name="Text Box 40">
              <a:extLst>
                <a:ext uri="{FF2B5EF4-FFF2-40B4-BE49-F238E27FC236}">
                  <a16:creationId xmlns:a16="http://schemas.microsoft.com/office/drawing/2014/main" id="{D3BFB3EA-27CA-DD46-8A67-D026B3C9B07F}"/>
                </a:ext>
              </a:extLst>
            </p:cNvPr>
            <p:cNvSpPr txBox="1">
              <a:spLocks noChangeArrowheads="1"/>
            </p:cNvSpPr>
            <p:nvPr/>
          </p:nvSpPr>
          <p:spPr bwMode="auto">
            <a:xfrm>
              <a:off x="4765546" y="3958166"/>
              <a:ext cx="1183938"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latin typeface="微软雅黑" pitchFamily="34" charset="-122"/>
                  <a:ea typeface="微软雅黑" pitchFamily="34" charset="-122"/>
                </a:rPr>
                <a:t>频带 </a:t>
              </a:r>
              <a:r>
                <a:rPr kumimoji="1" lang="en-US" altLang="zh-CN" sz="1400" b="1" dirty="0">
                  <a:latin typeface="微软雅黑" pitchFamily="34" charset="-122"/>
                  <a:ea typeface="微软雅黑" pitchFamily="34" charset="-122"/>
                </a:rPr>
                <a:t>n</a:t>
              </a:r>
            </a:p>
          </p:txBody>
        </p:sp>
        <p:sp>
          <p:nvSpPr>
            <p:cNvPr id="15" name="Rectangle 34">
              <a:extLst>
                <a:ext uri="{FF2B5EF4-FFF2-40B4-BE49-F238E27FC236}">
                  <a16:creationId xmlns:a16="http://schemas.microsoft.com/office/drawing/2014/main" id="{C8929843-B71A-A7F0-C568-25A36C1A33B9}"/>
                </a:ext>
              </a:extLst>
            </p:cNvPr>
            <p:cNvSpPr>
              <a:spLocks noChangeArrowheads="1"/>
            </p:cNvSpPr>
            <p:nvPr/>
          </p:nvSpPr>
          <p:spPr bwMode="auto">
            <a:xfrm>
              <a:off x="2199896" y="4690002"/>
              <a:ext cx="6005512" cy="387351"/>
            </a:xfrm>
            <a:prstGeom prst="rect">
              <a:avLst/>
            </a:prstGeom>
            <a:solidFill>
              <a:srgbClr val="B1D8F9"/>
            </a:solidFill>
            <a:ln>
              <a:noFill/>
            </a:ln>
            <a:effec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6" name="Text Box 38">
              <a:extLst>
                <a:ext uri="{FF2B5EF4-FFF2-40B4-BE49-F238E27FC236}">
                  <a16:creationId xmlns:a16="http://schemas.microsoft.com/office/drawing/2014/main" id="{FD1A26B1-FC5E-EB4F-EB0B-8377F703087D}"/>
                </a:ext>
              </a:extLst>
            </p:cNvPr>
            <p:cNvSpPr txBox="1">
              <a:spLocks noChangeArrowheads="1"/>
            </p:cNvSpPr>
            <p:nvPr/>
          </p:nvSpPr>
          <p:spPr bwMode="auto">
            <a:xfrm>
              <a:off x="4765546" y="4753572"/>
              <a:ext cx="1173301"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latin typeface="微软雅黑" pitchFamily="34" charset="-122"/>
                  <a:ea typeface="微软雅黑" pitchFamily="34" charset="-122"/>
                </a:rPr>
                <a:t>频带 </a:t>
              </a:r>
              <a:r>
                <a:rPr kumimoji="1" lang="en-US" altLang="zh-CN" sz="1400" b="1" dirty="0">
                  <a:latin typeface="微软雅黑" pitchFamily="34" charset="-122"/>
                  <a:ea typeface="微软雅黑" pitchFamily="34" charset="-122"/>
                </a:rPr>
                <a:t>3</a:t>
              </a:r>
            </a:p>
          </p:txBody>
        </p:sp>
        <p:cxnSp>
          <p:nvCxnSpPr>
            <p:cNvPr id="17" name="直接箭头连接符 23">
              <a:extLst>
                <a:ext uri="{FF2B5EF4-FFF2-40B4-BE49-F238E27FC236}">
                  <a16:creationId xmlns:a16="http://schemas.microsoft.com/office/drawing/2014/main" id="{0D37E364-EDF1-5553-5A14-130DF8019F97}"/>
                </a:ext>
              </a:extLst>
            </p:cNvPr>
            <p:cNvCxnSpPr>
              <a:stCxn id="18" idx="0"/>
            </p:cNvCxnSpPr>
            <p:nvPr/>
          </p:nvCxnSpPr>
          <p:spPr bwMode="auto">
            <a:xfrm>
              <a:off x="2192735" y="6030580"/>
              <a:ext cx="6432673" cy="0"/>
            </a:xfrm>
            <a:prstGeom prst="straightConnector1">
              <a:avLst/>
            </a:prstGeom>
            <a:solidFill>
              <a:schemeClr val="accent1"/>
            </a:solidFill>
            <a:ln w="28575" cap="flat" cmpd="sng" algn="ctr">
              <a:solidFill>
                <a:srgbClr val="00B05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Line 41">
              <a:extLst>
                <a:ext uri="{FF2B5EF4-FFF2-40B4-BE49-F238E27FC236}">
                  <a16:creationId xmlns:a16="http://schemas.microsoft.com/office/drawing/2014/main" id="{DD3CDAAB-4552-8F2D-CE43-33B2CD68A19B}"/>
                </a:ext>
              </a:extLst>
            </p:cNvPr>
            <p:cNvSpPr>
              <a:spLocks noChangeShapeType="1"/>
            </p:cNvSpPr>
            <p:nvPr/>
          </p:nvSpPr>
          <p:spPr bwMode="auto">
            <a:xfrm rot="-5400000">
              <a:off x="983457" y="4821302"/>
              <a:ext cx="2418555" cy="0"/>
            </a:xfrm>
            <a:prstGeom prst="line">
              <a:avLst/>
            </a:prstGeom>
            <a:noFill/>
            <a:ln w="28575">
              <a:solidFill>
                <a:srgbClr val="00B05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70725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TDM (Time Division Multiplexing)</a:t>
            </a:r>
          </a:p>
        </p:txBody>
      </p:sp>
      <p:sp>
        <p:nvSpPr>
          <p:cNvPr id="3" name="文本框 2">
            <a:extLst>
              <a:ext uri="{FF2B5EF4-FFF2-40B4-BE49-F238E27FC236}">
                <a16:creationId xmlns:a16="http://schemas.microsoft.com/office/drawing/2014/main" id="{56CF88D9-C6B5-885F-59CB-7946A384FB5F}"/>
              </a:ext>
            </a:extLst>
          </p:cNvPr>
          <p:cNvSpPr txBox="1"/>
          <p:nvPr/>
        </p:nvSpPr>
        <p:spPr>
          <a:xfrm>
            <a:off x="623673" y="981370"/>
            <a:ext cx="10661148" cy="280384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Time division multiplexing </a:t>
            </a:r>
            <a:r>
              <a:rPr lang="en" altLang="zh-CN" sz="2400" dirty="0">
                <a:latin typeface="Calibri" panose="020F0502020204030204" pitchFamily="34" charset="0"/>
                <a:cs typeface="Calibri" panose="020F0502020204030204" pitchFamily="34" charset="0"/>
              </a:rPr>
              <a:t>divides time into </a:t>
            </a:r>
            <a:r>
              <a:rPr lang="en" altLang="zh-CN" sz="2400" dirty="0">
                <a:solidFill>
                  <a:srgbClr val="0013A3"/>
                </a:solidFill>
                <a:latin typeface="Calibri" panose="020F0502020204030204" pitchFamily="34" charset="0"/>
                <a:cs typeface="Calibri" panose="020F0502020204030204" pitchFamily="34" charset="0"/>
              </a:rPr>
              <a:t>time division multiplexing (TDM) frames</a:t>
            </a:r>
            <a:r>
              <a:rPr lang="en" altLang="zh-CN" sz="2400" dirty="0">
                <a:latin typeface="Calibri" panose="020F0502020204030204" pitchFamily="34" charset="0"/>
                <a:cs typeface="Calibri" panose="020F0502020204030204" pitchFamily="34" charset="0"/>
              </a:rPr>
              <a:t> of equal length. Each TDM user occupies a fixed sequence number of time slots in each TDM frame.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slot occupied by each user appears </a:t>
            </a:r>
            <a:r>
              <a:rPr lang="en" altLang="zh-CN" sz="2400" dirty="0">
                <a:solidFill>
                  <a:srgbClr val="0013A3"/>
                </a:solidFill>
                <a:latin typeface="Calibri" panose="020F0502020204030204" pitchFamily="34" charset="0"/>
                <a:cs typeface="Calibri" panose="020F0502020204030204" pitchFamily="34" charset="0"/>
              </a:rPr>
              <a:t>periodically</a:t>
            </a:r>
            <a:r>
              <a:rPr lang="en" altLang="zh-CN" sz="2400" dirty="0">
                <a:latin typeface="Calibri" panose="020F0502020204030204" pitchFamily="34" charset="0"/>
                <a:cs typeface="Calibri" panose="020F0502020204030204" pitchFamily="34" charset="0"/>
              </a:rPr>
              <a:t> (its period is the length of the TDM frame).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TDM signals are also called </a:t>
            </a:r>
            <a:r>
              <a:rPr lang="en" altLang="zh-CN" sz="2400" dirty="0">
                <a:solidFill>
                  <a:srgbClr val="0013A3"/>
                </a:solidFill>
                <a:latin typeface="Calibri" panose="020F0502020204030204" pitchFamily="34" charset="0"/>
                <a:cs typeface="Calibri" panose="020F0502020204030204" pitchFamily="34" charset="0"/>
              </a:rPr>
              <a:t>isochronous</a:t>
            </a:r>
            <a:r>
              <a:rPr lang="en" altLang="zh-CN" sz="2400" dirty="0">
                <a:latin typeface="Calibri" panose="020F0502020204030204" pitchFamily="34" charset="0"/>
                <a:cs typeface="Calibri" panose="020F0502020204030204" pitchFamily="34" charset="0"/>
              </a:rPr>
              <a:t> signals.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All users of TDM occupy the </a:t>
            </a:r>
            <a:r>
              <a:rPr lang="en" altLang="zh-CN" sz="2400" dirty="0">
                <a:solidFill>
                  <a:srgbClr val="0013A3"/>
                </a:solidFill>
                <a:latin typeface="Calibri" panose="020F0502020204030204" pitchFamily="34" charset="0"/>
                <a:cs typeface="Calibri" panose="020F0502020204030204" pitchFamily="34" charset="0"/>
              </a:rPr>
              <a:t>same bandwidth </a:t>
            </a:r>
            <a:r>
              <a:rPr lang="en" altLang="zh-CN" sz="2400" dirty="0">
                <a:latin typeface="Calibri" panose="020F0502020204030204" pitchFamily="34" charset="0"/>
                <a:cs typeface="Calibri" panose="020F0502020204030204" pitchFamily="34" charset="0"/>
              </a:rPr>
              <a:t>at </a:t>
            </a:r>
            <a:r>
              <a:rPr lang="en" altLang="zh-CN" sz="2400" dirty="0">
                <a:solidFill>
                  <a:srgbClr val="0013A3"/>
                </a:solidFill>
                <a:latin typeface="Calibri" panose="020F0502020204030204" pitchFamily="34" charset="0"/>
                <a:cs typeface="Calibri" panose="020F0502020204030204" pitchFamily="34" charset="0"/>
              </a:rPr>
              <a:t>different times</a:t>
            </a:r>
            <a:r>
              <a:rPr lang="en" altLang="zh-CN" sz="2400" dirty="0">
                <a:latin typeface="Calibri" panose="020F0502020204030204" pitchFamily="34" charset="0"/>
                <a:cs typeface="Calibri" panose="020F0502020204030204" pitchFamily="34" charset="0"/>
              </a:rPr>
              <a:t>.</a:t>
            </a:r>
          </a:p>
        </p:txBody>
      </p:sp>
      <p:sp>
        <p:nvSpPr>
          <p:cNvPr id="117" name="Text Box 5">
            <a:extLst>
              <a:ext uri="{FF2B5EF4-FFF2-40B4-BE49-F238E27FC236}">
                <a16:creationId xmlns:a16="http://schemas.microsoft.com/office/drawing/2014/main" id="{1B24CE29-7140-0817-EE8F-CD0441CEC3A6}"/>
              </a:ext>
            </a:extLst>
          </p:cNvPr>
          <p:cNvSpPr txBox="1">
            <a:spLocks noChangeArrowheads="1"/>
          </p:cNvSpPr>
          <p:nvPr/>
        </p:nvSpPr>
        <p:spPr bwMode="auto">
          <a:xfrm>
            <a:off x="11547817" y="6557236"/>
            <a:ext cx="543739"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latin typeface="微软雅黑" pitchFamily="34" charset="-122"/>
                <a:ea typeface="微软雅黑" pitchFamily="34" charset="-122"/>
              </a:rPr>
              <a:t>时间</a:t>
            </a:r>
          </a:p>
        </p:txBody>
      </p:sp>
      <p:sp>
        <p:nvSpPr>
          <p:cNvPr id="115" name="Line 3">
            <a:extLst>
              <a:ext uri="{FF2B5EF4-FFF2-40B4-BE49-F238E27FC236}">
                <a16:creationId xmlns:a16="http://schemas.microsoft.com/office/drawing/2014/main" id="{105E77D2-3A1B-A825-0F82-B76B839F03A9}"/>
              </a:ext>
            </a:extLst>
          </p:cNvPr>
          <p:cNvSpPr>
            <a:spLocks noChangeShapeType="1"/>
          </p:cNvSpPr>
          <p:nvPr/>
        </p:nvSpPr>
        <p:spPr bwMode="auto">
          <a:xfrm flipV="1">
            <a:off x="5494014" y="6721247"/>
            <a:ext cx="6053803" cy="10153"/>
          </a:xfrm>
          <a:prstGeom prst="line">
            <a:avLst/>
          </a:prstGeom>
          <a:noFill/>
          <a:ln w="28575">
            <a:solidFill>
              <a:srgbClr val="00B05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16" name="Text Box 4">
            <a:extLst>
              <a:ext uri="{FF2B5EF4-FFF2-40B4-BE49-F238E27FC236}">
                <a16:creationId xmlns:a16="http://schemas.microsoft.com/office/drawing/2014/main" id="{BA6262F0-93DB-4C75-FAE8-B7E07647FA38}"/>
              </a:ext>
            </a:extLst>
          </p:cNvPr>
          <p:cNvSpPr txBox="1">
            <a:spLocks noChangeArrowheads="1"/>
          </p:cNvSpPr>
          <p:nvPr/>
        </p:nvSpPr>
        <p:spPr bwMode="auto">
          <a:xfrm>
            <a:off x="4991858" y="3977166"/>
            <a:ext cx="543739"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a:latin typeface="微软雅黑" pitchFamily="34" charset="-122"/>
                <a:ea typeface="微软雅黑" pitchFamily="34" charset="-122"/>
              </a:rPr>
              <a:t>频率</a:t>
            </a:r>
          </a:p>
        </p:txBody>
      </p:sp>
      <p:sp>
        <p:nvSpPr>
          <p:cNvPr id="118" name="Rectangle 6">
            <a:extLst>
              <a:ext uri="{FF2B5EF4-FFF2-40B4-BE49-F238E27FC236}">
                <a16:creationId xmlns:a16="http://schemas.microsoft.com/office/drawing/2014/main" id="{B71E36AE-7394-5E2B-0DA1-B17ED7509F09}"/>
              </a:ext>
            </a:extLst>
          </p:cNvPr>
          <p:cNvSpPr>
            <a:spLocks noChangeArrowheads="1"/>
          </p:cNvSpPr>
          <p:nvPr/>
        </p:nvSpPr>
        <p:spPr bwMode="auto">
          <a:xfrm>
            <a:off x="5778401" y="4428273"/>
            <a:ext cx="284385" cy="1709940"/>
          </a:xfrm>
          <a:prstGeom prst="rect">
            <a:avLst/>
          </a:prstGeom>
          <a:solidFill>
            <a:srgbClr val="FFFF00"/>
          </a:solidFill>
          <a:ln>
            <a:noFill/>
          </a:ln>
          <a:effectLst/>
        </p:spPr>
        <p:txBody>
          <a:bodyPr wrap="none" anchor="ctr"/>
          <a:lstStyle/>
          <a:p>
            <a:r>
              <a:rPr lang="en-US" altLang="zh-CN" sz="1400" b="1">
                <a:latin typeface="微软雅黑" pitchFamily="34" charset="-122"/>
                <a:ea typeface="微软雅黑" pitchFamily="34" charset="-122"/>
              </a:rPr>
              <a:t>B</a:t>
            </a:r>
          </a:p>
        </p:txBody>
      </p:sp>
      <p:sp>
        <p:nvSpPr>
          <p:cNvPr id="119" name="Rectangle 7">
            <a:extLst>
              <a:ext uri="{FF2B5EF4-FFF2-40B4-BE49-F238E27FC236}">
                <a16:creationId xmlns:a16="http://schemas.microsoft.com/office/drawing/2014/main" id="{9096A8C5-04B3-1E68-ECCC-0639F79A4ABC}"/>
              </a:ext>
            </a:extLst>
          </p:cNvPr>
          <p:cNvSpPr>
            <a:spLocks noChangeArrowheads="1"/>
          </p:cNvSpPr>
          <p:nvPr/>
        </p:nvSpPr>
        <p:spPr bwMode="auto">
          <a:xfrm>
            <a:off x="6064358" y="4428273"/>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C</a:t>
            </a:r>
          </a:p>
        </p:txBody>
      </p:sp>
      <p:sp>
        <p:nvSpPr>
          <p:cNvPr id="120" name="Rectangle 8">
            <a:extLst>
              <a:ext uri="{FF2B5EF4-FFF2-40B4-BE49-F238E27FC236}">
                <a16:creationId xmlns:a16="http://schemas.microsoft.com/office/drawing/2014/main" id="{88DDB67F-C328-B04D-07D0-1157B25F321D}"/>
              </a:ext>
            </a:extLst>
          </p:cNvPr>
          <p:cNvSpPr>
            <a:spLocks noChangeArrowheads="1"/>
          </p:cNvSpPr>
          <p:nvPr/>
        </p:nvSpPr>
        <p:spPr bwMode="auto">
          <a:xfrm>
            <a:off x="6348743" y="4428273"/>
            <a:ext cx="284386" cy="1709940"/>
          </a:xfrm>
          <a:prstGeom prst="rect">
            <a:avLst/>
          </a:prstGeom>
          <a:solidFill>
            <a:srgbClr val="00B0F0"/>
          </a:solidFill>
          <a:ln>
            <a:noFill/>
          </a:ln>
          <a:effectLst/>
        </p:spPr>
        <p:txBody>
          <a:bodyPr wrap="none" anchor="ctr"/>
          <a:lstStyle/>
          <a:p>
            <a:r>
              <a:rPr lang="en-US" altLang="zh-CN" sz="1400" b="1">
                <a:latin typeface="微软雅黑" pitchFamily="34" charset="-122"/>
                <a:ea typeface="微软雅黑" pitchFamily="34" charset="-122"/>
              </a:rPr>
              <a:t>D</a:t>
            </a:r>
          </a:p>
        </p:txBody>
      </p:sp>
      <p:sp>
        <p:nvSpPr>
          <p:cNvPr id="121" name="Rectangle 9">
            <a:extLst>
              <a:ext uri="{FF2B5EF4-FFF2-40B4-BE49-F238E27FC236}">
                <a16:creationId xmlns:a16="http://schemas.microsoft.com/office/drawing/2014/main" id="{122E93B4-DE46-A79F-D0CC-3688662F602C}"/>
              </a:ext>
            </a:extLst>
          </p:cNvPr>
          <p:cNvSpPr>
            <a:spLocks noChangeArrowheads="1"/>
          </p:cNvSpPr>
          <p:nvPr/>
        </p:nvSpPr>
        <p:spPr bwMode="auto">
          <a:xfrm>
            <a:off x="6919086" y="4428273"/>
            <a:ext cx="284385" cy="1709940"/>
          </a:xfrm>
          <a:prstGeom prst="rect">
            <a:avLst/>
          </a:prstGeom>
          <a:solidFill>
            <a:srgbClr val="FFFF00"/>
          </a:solidFill>
          <a:ln>
            <a:noFill/>
          </a:ln>
          <a:effectLst/>
        </p:spPr>
        <p:txBody>
          <a:bodyPr wrap="none" anchor="ctr"/>
          <a:lstStyle/>
          <a:p>
            <a:r>
              <a:rPr lang="en-US" altLang="zh-CN" sz="1400" b="1">
                <a:latin typeface="微软雅黑" pitchFamily="34" charset="-122"/>
                <a:ea typeface="微软雅黑" pitchFamily="34" charset="-122"/>
              </a:rPr>
              <a:t>B</a:t>
            </a:r>
          </a:p>
        </p:txBody>
      </p:sp>
      <p:sp>
        <p:nvSpPr>
          <p:cNvPr id="122" name="Rectangle 10">
            <a:extLst>
              <a:ext uri="{FF2B5EF4-FFF2-40B4-BE49-F238E27FC236}">
                <a16:creationId xmlns:a16="http://schemas.microsoft.com/office/drawing/2014/main" id="{2B4BDE19-1A65-1AB4-3780-987D2F17A6B8}"/>
              </a:ext>
            </a:extLst>
          </p:cNvPr>
          <p:cNvSpPr>
            <a:spLocks noChangeArrowheads="1"/>
          </p:cNvSpPr>
          <p:nvPr/>
        </p:nvSpPr>
        <p:spPr bwMode="auto">
          <a:xfrm>
            <a:off x="7205043" y="4428273"/>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C</a:t>
            </a:r>
          </a:p>
        </p:txBody>
      </p:sp>
      <p:sp>
        <p:nvSpPr>
          <p:cNvPr id="123" name="Rectangle 11">
            <a:extLst>
              <a:ext uri="{FF2B5EF4-FFF2-40B4-BE49-F238E27FC236}">
                <a16:creationId xmlns:a16="http://schemas.microsoft.com/office/drawing/2014/main" id="{D15C208D-581C-0F85-45D7-3AC056F60A56}"/>
              </a:ext>
            </a:extLst>
          </p:cNvPr>
          <p:cNvSpPr>
            <a:spLocks noChangeArrowheads="1"/>
          </p:cNvSpPr>
          <p:nvPr/>
        </p:nvSpPr>
        <p:spPr bwMode="auto">
          <a:xfrm>
            <a:off x="7489428" y="4428273"/>
            <a:ext cx="284386" cy="1709940"/>
          </a:xfrm>
          <a:prstGeom prst="rect">
            <a:avLst/>
          </a:prstGeom>
          <a:solidFill>
            <a:srgbClr val="00B0F0"/>
          </a:solidFill>
          <a:ln>
            <a:noFill/>
          </a:ln>
          <a:effectLst/>
        </p:spPr>
        <p:txBody>
          <a:bodyPr wrap="none" anchor="ctr"/>
          <a:lstStyle/>
          <a:p>
            <a:r>
              <a:rPr lang="en-US" altLang="zh-CN" sz="1400" b="1">
                <a:latin typeface="微软雅黑" pitchFamily="34" charset="-122"/>
                <a:ea typeface="微软雅黑" pitchFamily="34" charset="-122"/>
              </a:rPr>
              <a:t>D</a:t>
            </a:r>
          </a:p>
        </p:txBody>
      </p:sp>
      <p:sp>
        <p:nvSpPr>
          <p:cNvPr id="124" name="Rectangle 12">
            <a:extLst>
              <a:ext uri="{FF2B5EF4-FFF2-40B4-BE49-F238E27FC236}">
                <a16:creationId xmlns:a16="http://schemas.microsoft.com/office/drawing/2014/main" id="{E9ED91E3-F959-5FDC-FB38-4EBE82705107}"/>
              </a:ext>
            </a:extLst>
          </p:cNvPr>
          <p:cNvSpPr>
            <a:spLocks noChangeArrowheads="1"/>
          </p:cNvSpPr>
          <p:nvPr/>
        </p:nvSpPr>
        <p:spPr bwMode="auto">
          <a:xfrm>
            <a:off x="8059771" y="4428273"/>
            <a:ext cx="284385" cy="1709940"/>
          </a:xfrm>
          <a:prstGeom prst="rect">
            <a:avLst/>
          </a:prstGeom>
          <a:solidFill>
            <a:srgbClr val="FFFF00"/>
          </a:solidFill>
          <a:ln>
            <a:noFill/>
          </a:ln>
          <a:effectLst/>
        </p:spPr>
        <p:txBody>
          <a:bodyPr wrap="none" anchor="ctr"/>
          <a:lstStyle/>
          <a:p>
            <a:r>
              <a:rPr lang="en-US" altLang="zh-CN" sz="1400" b="1">
                <a:latin typeface="微软雅黑" pitchFamily="34" charset="-122"/>
                <a:ea typeface="微软雅黑" pitchFamily="34" charset="-122"/>
              </a:rPr>
              <a:t>B</a:t>
            </a:r>
          </a:p>
        </p:txBody>
      </p:sp>
      <p:sp>
        <p:nvSpPr>
          <p:cNvPr id="125" name="Rectangle 13">
            <a:extLst>
              <a:ext uri="{FF2B5EF4-FFF2-40B4-BE49-F238E27FC236}">
                <a16:creationId xmlns:a16="http://schemas.microsoft.com/office/drawing/2014/main" id="{2A3DDD56-9986-9C4F-E04E-86DFA7E65B9D}"/>
              </a:ext>
            </a:extLst>
          </p:cNvPr>
          <p:cNvSpPr>
            <a:spLocks noChangeArrowheads="1"/>
          </p:cNvSpPr>
          <p:nvPr/>
        </p:nvSpPr>
        <p:spPr bwMode="auto">
          <a:xfrm>
            <a:off x="8345728" y="4428273"/>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C</a:t>
            </a:r>
          </a:p>
        </p:txBody>
      </p:sp>
      <p:sp>
        <p:nvSpPr>
          <p:cNvPr id="126" name="Rectangle 14">
            <a:extLst>
              <a:ext uri="{FF2B5EF4-FFF2-40B4-BE49-F238E27FC236}">
                <a16:creationId xmlns:a16="http://schemas.microsoft.com/office/drawing/2014/main" id="{AEA5CDE0-03CF-A606-1C7B-6059D8E5EC44}"/>
              </a:ext>
            </a:extLst>
          </p:cNvPr>
          <p:cNvSpPr>
            <a:spLocks noChangeArrowheads="1"/>
          </p:cNvSpPr>
          <p:nvPr/>
        </p:nvSpPr>
        <p:spPr bwMode="auto">
          <a:xfrm>
            <a:off x="8630113" y="4428273"/>
            <a:ext cx="284386" cy="1709940"/>
          </a:xfrm>
          <a:prstGeom prst="rect">
            <a:avLst/>
          </a:prstGeom>
          <a:solidFill>
            <a:srgbClr val="00B0F0"/>
          </a:solidFill>
          <a:ln>
            <a:noFill/>
          </a:ln>
          <a:effectLst/>
        </p:spPr>
        <p:txBody>
          <a:bodyPr wrap="none" anchor="ctr"/>
          <a:lstStyle/>
          <a:p>
            <a:r>
              <a:rPr lang="en-US" altLang="zh-CN" sz="1400" b="1">
                <a:latin typeface="微软雅黑" pitchFamily="34" charset="-122"/>
                <a:ea typeface="微软雅黑" pitchFamily="34" charset="-122"/>
              </a:rPr>
              <a:t>D</a:t>
            </a:r>
          </a:p>
        </p:txBody>
      </p:sp>
      <p:sp>
        <p:nvSpPr>
          <p:cNvPr id="127" name="Rectangle 15">
            <a:extLst>
              <a:ext uri="{FF2B5EF4-FFF2-40B4-BE49-F238E27FC236}">
                <a16:creationId xmlns:a16="http://schemas.microsoft.com/office/drawing/2014/main" id="{DF947B01-3654-441E-F1F3-C1CCC55329D4}"/>
              </a:ext>
            </a:extLst>
          </p:cNvPr>
          <p:cNvSpPr>
            <a:spLocks noChangeArrowheads="1"/>
          </p:cNvSpPr>
          <p:nvPr/>
        </p:nvSpPr>
        <p:spPr bwMode="auto">
          <a:xfrm>
            <a:off x="9200457" y="4428273"/>
            <a:ext cx="284385" cy="1709940"/>
          </a:xfrm>
          <a:prstGeom prst="rect">
            <a:avLst/>
          </a:prstGeom>
          <a:solidFill>
            <a:srgbClr val="FFFF00"/>
          </a:solidFill>
          <a:ln>
            <a:noFill/>
          </a:ln>
          <a:effectLst/>
        </p:spPr>
        <p:txBody>
          <a:bodyPr wrap="none" anchor="ctr"/>
          <a:lstStyle/>
          <a:p>
            <a:r>
              <a:rPr lang="en-US" altLang="zh-CN" sz="1400" b="1">
                <a:latin typeface="微软雅黑" pitchFamily="34" charset="-122"/>
                <a:ea typeface="微软雅黑" pitchFamily="34" charset="-122"/>
              </a:rPr>
              <a:t>B</a:t>
            </a:r>
          </a:p>
        </p:txBody>
      </p:sp>
      <p:sp>
        <p:nvSpPr>
          <p:cNvPr id="128" name="Rectangle 16">
            <a:extLst>
              <a:ext uri="{FF2B5EF4-FFF2-40B4-BE49-F238E27FC236}">
                <a16:creationId xmlns:a16="http://schemas.microsoft.com/office/drawing/2014/main" id="{6EC7FF1B-A1DB-490C-248D-E50863713CD2}"/>
              </a:ext>
            </a:extLst>
          </p:cNvPr>
          <p:cNvSpPr>
            <a:spLocks noChangeArrowheads="1"/>
          </p:cNvSpPr>
          <p:nvPr/>
        </p:nvSpPr>
        <p:spPr bwMode="auto">
          <a:xfrm>
            <a:off x="9486414" y="4428273"/>
            <a:ext cx="284385" cy="170994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C</a:t>
            </a:r>
          </a:p>
        </p:txBody>
      </p:sp>
      <p:sp>
        <p:nvSpPr>
          <p:cNvPr id="129" name="Rectangle 17">
            <a:extLst>
              <a:ext uri="{FF2B5EF4-FFF2-40B4-BE49-F238E27FC236}">
                <a16:creationId xmlns:a16="http://schemas.microsoft.com/office/drawing/2014/main" id="{63B18B88-5154-1530-D273-8F540577A3A3}"/>
              </a:ext>
            </a:extLst>
          </p:cNvPr>
          <p:cNvSpPr>
            <a:spLocks noChangeArrowheads="1"/>
          </p:cNvSpPr>
          <p:nvPr/>
        </p:nvSpPr>
        <p:spPr bwMode="auto">
          <a:xfrm>
            <a:off x="9770798" y="4428273"/>
            <a:ext cx="284386" cy="1709940"/>
          </a:xfrm>
          <a:prstGeom prst="rect">
            <a:avLst/>
          </a:prstGeom>
          <a:solidFill>
            <a:srgbClr val="00B0F0"/>
          </a:solidFill>
          <a:ln>
            <a:noFill/>
          </a:ln>
          <a:effectLst/>
        </p:spPr>
        <p:txBody>
          <a:bodyPr wrap="none" anchor="ctr"/>
          <a:lstStyle/>
          <a:p>
            <a:r>
              <a:rPr lang="en-US" altLang="zh-CN" sz="1400" b="1">
                <a:latin typeface="微软雅黑" pitchFamily="34" charset="-122"/>
                <a:ea typeface="微软雅黑" pitchFamily="34" charset="-122"/>
              </a:rPr>
              <a:t>D</a:t>
            </a:r>
          </a:p>
        </p:txBody>
      </p:sp>
      <p:grpSp>
        <p:nvGrpSpPr>
          <p:cNvPr id="130" name="Group 18">
            <a:extLst>
              <a:ext uri="{FF2B5EF4-FFF2-40B4-BE49-F238E27FC236}">
                <a16:creationId xmlns:a16="http://schemas.microsoft.com/office/drawing/2014/main" id="{7CC8ABBD-0F74-6D42-9B54-5811CCF44A7D}"/>
              </a:ext>
            </a:extLst>
          </p:cNvPr>
          <p:cNvGrpSpPr>
            <a:grpSpLocks/>
          </p:cNvGrpSpPr>
          <p:nvPr/>
        </p:nvGrpSpPr>
        <p:grpSpPr bwMode="auto">
          <a:xfrm>
            <a:off x="5494015" y="4428273"/>
            <a:ext cx="3706442" cy="1709940"/>
            <a:chOff x="930" y="1661"/>
            <a:chExt cx="2359" cy="1179"/>
          </a:xfrm>
        </p:grpSpPr>
        <p:sp>
          <p:nvSpPr>
            <p:cNvPr id="131" name="Rectangle 19">
              <a:extLst>
                <a:ext uri="{FF2B5EF4-FFF2-40B4-BE49-F238E27FC236}">
                  <a16:creationId xmlns:a16="http://schemas.microsoft.com/office/drawing/2014/main" id="{5E90BDC0-9379-8E7B-76FB-8438C367BAC3}"/>
                </a:ext>
              </a:extLst>
            </p:cNvPr>
            <p:cNvSpPr>
              <a:spLocks noChangeArrowheads="1"/>
            </p:cNvSpPr>
            <p:nvPr/>
          </p:nvSpPr>
          <p:spPr bwMode="auto">
            <a:xfrm>
              <a:off x="930" y="1661"/>
              <a:ext cx="181" cy="1179"/>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dirty="0">
                  <a:latin typeface="微软雅黑" pitchFamily="34" charset="-122"/>
                  <a:ea typeface="微软雅黑" pitchFamily="34" charset="-122"/>
                </a:rPr>
                <a:t>A</a:t>
              </a:r>
            </a:p>
          </p:txBody>
        </p:sp>
        <p:sp>
          <p:nvSpPr>
            <p:cNvPr id="132" name="Rectangle 20">
              <a:extLst>
                <a:ext uri="{FF2B5EF4-FFF2-40B4-BE49-F238E27FC236}">
                  <a16:creationId xmlns:a16="http://schemas.microsoft.com/office/drawing/2014/main" id="{086ABD0D-9A2B-649D-BAF9-BFDAD5504745}"/>
                </a:ext>
              </a:extLst>
            </p:cNvPr>
            <p:cNvSpPr>
              <a:spLocks noChangeArrowheads="1"/>
            </p:cNvSpPr>
            <p:nvPr/>
          </p:nvSpPr>
          <p:spPr bwMode="auto">
            <a:xfrm>
              <a:off x="1656" y="1661"/>
              <a:ext cx="181" cy="1179"/>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A</a:t>
              </a:r>
            </a:p>
          </p:txBody>
        </p:sp>
        <p:sp>
          <p:nvSpPr>
            <p:cNvPr id="133" name="Rectangle 21">
              <a:extLst>
                <a:ext uri="{FF2B5EF4-FFF2-40B4-BE49-F238E27FC236}">
                  <a16:creationId xmlns:a16="http://schemas.microsoft.com/office/drawing/2014/main" id="{C380671B-4158-F84E-031F-47BBB4006D87}"/>
                </a:ext>
              </a:extLst>
            </p:cNvPr>
            <p:cNvSpPr>
              <a:spLocks noChangeArrowheads="1"/>
            </p:cNvSpPr>
            <p:nvPr/>
          </p:nvSpPr>
          <p:spPr bwMode="auto">
            <a:xfrm>
              <a:off x="2382" y="1661"/>
              <a:ext cx="181" cy="1179"/>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A</a:t>
              </a:r>
            </a:p>
          </p:txBody>
        </p:sp>
        <p:sp>
          <p:nvSpPr>
            <p:cNvPr id="134" name="Rectangle 22">
              <a:extLst>
                <a:ext uri="{FF2B5EF4-FFF2-40B4-BE49-F238E27FC236}">
                  <a16:creationId xmlns:a16="http://schemas.microsoft.com/office/drawing/2014/main" id="{43F77503-EEE4-63EA-9E15-65F3B9A60D8E}"/>
                </a:ext>
              </a:extLst>
            </p:cNvPr>
            <p:cNvSpPr>
              <a:spLocks noChangeArrowheads="1"/>
            </p:cNvSpPr>
            <p:nvPr/>
          </p:nvSpPr>
          <p:spPr bwMode="auto">
            <a:xfrm>
              <a:off x="3108" y="1661"/>
              <a:ext cx="181" cy="1179"/>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sz="1400" b="1">
                  <a:latin typeface="微软雅黑" pitchFamily="34" charset="-122"/>
                  <a:ea typeface="微软雅黑" pitchFamily="34" charset="-122"/>
                </a:rPr>
                <a:t>A</a:t>
              </a:r>
            </a:p>
          </p:txBody>
        </p:sp>
      </p:grpSp>
      <p:grpSp>
        <p:nvGrpSpPr>
          <p:cNvPr id="135" name="Group 30">
            <a:extLst>
              <a:ext uri="{FF2B5EF4-FFF2-40B4-BE49-F238E27FC236}">
                <a16:creationId xmlns:a16="http://schemas.microsoft.com/office/drawing/2014/main" id="{D6866B7A-3BB2-EAD4-F64A-A8C9FC14E1FD}"/>
              </a:ext>
            </a:extLst>
          </p:cNvPr>
          <p:cNvGrpSpPr>
            <a:grpSpLocks/>
          </p:cNvGrpSpPr>
          <p:nvPr/>
        </p:nvGrpSpPr>
        <p:grpSpPr bwMode="auto">
          <a:xfrm>
            <a:off x="5494014" y="6204929"/>
            <a:ext cx="1139115" cy="416246"/>
            <a:chOff x="930" y="2886"/>
            <a:chExt cx="725" cy="287"/>
          </a:xfrm>
        </p:grpSpPr>
        <p:sp>
          <p:nvSpPr>
            <p:cNvPr id="136" name="Text Box 31">
              <a:extLst>
                <a:ext uri="{FF2B5EF4-FFF2-40B4-BE49-F238E27FC236}">
                  <a16:creationId xmlns:a16="http://schemas.microsoft.com/office/drawing/2014/main" id="{32B38B74-70A4-A014-0116-8E8B0D177848}"/>
                </a:ext>
              </a:extLst>
            </p:cNvPr>
            <p:cNvSpPr txBox="1">
              <a:spLocks noChangeArrowheads="1"/>
            </p:cNvSpPr>
            <p:nvPr/>
          </p:nvSpPr>
          <p:spPr bwMode="auto">
            <a:xfrm>
              <a:off x="1017" y="2976"/>
              <a:ext cx="54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400" b="1" dirty="0">
                  <a:solidFill>
                    <a:srgbClr val="CC00CC"/>
                  </a:solidFill>
                  <a:latin typeface="微软雅黑" pitchFamily="34" charset="-122"/>
                  <a:ea typeface="微软雅黑" pitchFamily="34" charset="-122"/>
                </a:rPr>
                <a:t>TDM </a:t>
              </a:r>
              <a:r>
                <a:rPr kumimoji="1" lang="zh-CN" altLang="en-US" sz="1400" b="1" dirty="0">
                  <a:solidFill>
                    <a:srgbClr val="CC00CC"/>
                  </a:solidFill>
                  <a:latin typeface="微软雅黑" pitchFamily="34" charset="-122"/>
                  <a:ea typeface="微软雅黑" pitchFamily="34" charset="-122"/>
                </a:rPr>
                <a:t>帧</a:t>
              </a:r>
            </a:p>
          </p:txBody>
        </p:sp>
        <p:sp>
          <p:nvSpPr>
            <p:cNvPr id="137" name="AutoShape 32">
              <a:extLst>
                <a:ext uri="{FF2B5EF4-FFF2-40B4-BE49-F238E27FC236}">
                  <a16:creationId xmlns:a16="http://schemas.microsoft.com/office/drawing/2014/main" id="{BD7EDA4C-2B13-109B-0111-13CF46340D47}"/>
                </a:ext>
              </a:extLst>
            </p:cNvPr>
            <p:cNvSpPr>
              <a:spLocks/>
            </p:cNvSpPr>
            <p:nvPr/>
          </p:nvSpPr>
          <p:spPr bwMode="auto">
            <a:xfrm rot="16200000" flipV="1">
              <a:off x="1248"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grpSp>
        <p:nvGrpSpPr>
          <p:cNvPr id="138" name="Group 33">
            <a:extLst>
              <a:ext uri="{FF2B5EF4-FFF2-40B4-BE49-F238E27FC236}">
                <a16:creationId xmlns:a16="http://schemas.microsoft.com/office/drawing/2014/main" id="{F9A85FBA-3665-F8BA-DAFA-9C1844964B43}"/>
              </a:ext>
            </a:extLst>
          </p:cNvPr>
          <p:cNvGrpSpPr>
            <a:grpSpLocks/>
          </p:cNvGrpSpPr>
          <p:nvPr/>
        </p:nvGrpSpPr>
        <p:grpSpPr bwMode="auto">
          <a:xfrm>
            <a:off x="6633130" y="6204929"/>
            <a:ext cx="1139113" cy="416246"/>
            <a:chOff x="1655" y="2886"/>
            <a:chExt cx="725" cy="287"/>
          </a:xfrm>
        </p:grpSpPr>
        <p:sp>
          <p:nvSpPr>
            <p:cNvPr id="139" name="Text Box 34">
              <a:extLst>
                <a:ext uri="{FF2B5EF4-FFF2-40B4-BE49-F238E27FC236}">
                  <a16:creationId xmlns:a16="http://schemas.microsoft.com/office/drawing/2014/main" id="{7BD7C082-E697-BB9B-81E1-8043C74B6A38}"/>
                </a:ext>
              </a:extLst>
            </p:cNvPr>
            <p:cNvSpPr txBox="1">
              <a:spLocks noChangeArrowheads="1"/>
            </p:cNvSpPr>
            <p:nvPr/>
          </p:nvSpPr>
          <p:spPr bwMode="auto">
            <a:xfrm>
              <a:off x="1748" y="2976"/>
              <a:ext cx="54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400" b="1" dirty="0">
                  <a:solidFill>
                    <a:srgbClr val="CC00CC"/>
                  </a:solidFill>
                  <a:latin typeface="微软雅黑" pitchFamily="34" charset="-122"/>
                  <a:ea typeface="微软雅黑" pitchFamily="34" charset="-122"/>
                </a:rPr>
                <a:t>TDM </a:t>
              </a:r>
              <a:r>
                <a:rPr kumimoji="1" lang="zh-CN" altLang="en-US" sz="1400" b="1" dirty="0">
                  <a:solidFill>
                    <a:srgbClr val="CC00CC"/>
                  </a:solidFill>
                  <a:latin typeface="微软雅黑" pitchFamily="34" charset="-122"/>
                  <a:ea typeface="微软雅黑" pitchFamily="34" charset="-122"/>
                </a:rPr>
                <a:t>帧</a:t>
              </a:r>
            </a:p>
          </p:txBody>
        </p:sp>
        <p:sp>
          <p:nvSpPr>
            <p:cNvPr id="140" name="AutoShape 35">
              <a:extLst>
                <a:ext uri="{FF2B5EF4-FFF2-40B4-BE49-F238E27FC236}">
                  <a16:creationId xmlns:a16="http://schemas.microsoft.com/office/drawing/2014/main" id="{6185BB81-02A2-0960-C03D-668008481EF8}"/>
                </a:ext>
              </a:extLst>
            </p:cNvPr>
            <p:cNvSpPr>
              <a:spLocks/>
            </p:cNvSpPr>
            <p:nvPr/>
          </p:nvSpPr>
          <p:spPr bwMode="auto">
            <a:xfrm rot="16200000" flipV="1">
              <a:off x="197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grpSp>
        <p:nvGrpSpPr>
          <p:cNvPr id="141" name="Group 36">
            <a:extLst>
              <a:ext uri="{FF2B5EF4-FFF2-40B4-BE49-F238E27FC236}">
                <a16:creationId xmlns:a16="http://schemas.microsoft.com/office/drawing/2014/main" id="{A7F45890-72E2-AFAC-4DC3-AFF148157D32}"/>
              </a:ext>
            </a:extLst>
          </p:cNvPr>
          <p:cNvGrpSpPr>
            <a:grpSpLocks/>
          </p:cNvGrpSpPr>
          <p:nvPr/>
        </p:nvGrpSpPr>
        <p:grpSpPr bwMode="auto">
          <a:xfrm>
            <a:off x="7772242" y="6204929"/>
            <a:ext cx="1139115" cy="416246"/>
            <a:chOff x="2380" y="2886"/>
            <a:chExt cx="725" cy="287"/>
          </a:xfrm>
        </p:grpSpPr>
        <p:sp>
          <p:nvSpPr>
            <p:cNvPr id="142" name="Text Box 37">
              <a:extLst>
                <a:ext uri="{FF2B5EF4-FFF2-40B4-BE49-F238E27FC236}">
                  <a16:creationId xmlns:a16="http://schemas.microsoft.com/office/drawing/2014/main" id="{7E09E804-04B5-48F0-6299-FA0CBF83D855}"/>
                </a:ext>
              </a:extLst>
            </p:cNvPr>
            <p:cNvSpPr txBox="1">
              <a:spLocks noChangeArrowheads="1"/>
            </p:cNvSpPr>
            <p:nvPr/>
          </p:nvSpPr>
          <p:spPr bwMode="auto">
            <a:xfrm>
              <a:off x="2474" y="2976"/>
              <a:ext cx="54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400" b="1" dirty="0">
                  <a:solidFill>
                    <a:srgbClr val="CC00CC"/>
                  </a:solidFill>
                  <a:latin typeface="微软雅黑" pitchFamily="34" charset="-122"/>
                  <a:ea typeface="微软雅黑" pitchFamily="34" charset="-122"/>
                </a:rPr>
                <a:t>TDM </a:t>
              </a:r>
              <a:r>
                <a:rPr kumimoji="1" lang="zh-CN" altLang="en-US" sz="1400" b="1" dirty="0">
                  <a:solidFill>
                    <a:srgbClr val="CC00CC"/>
                  </a:solidFill>
                  <a:latin typeface="微软雅黑" pitchFamily="34" charset="-122"/>
                  <a:ea typeface="微软雅黑" pitchFamily="34" charset="-122"/>
                </a:rPr>
                <a:t>帧</a:t>
              </a:r>
            </a:p>
          </p:txBody>
        </p:sp>
        <p:sp>
          <p:nvSpPr>
            <p:cNvPr id="143" name="AutoShape 38">
              <a:extLst>
                <a:ext uri="{FF2B5EF4-FFF2-40B4-BE49-F238E27FC236}">
                  <a16:creationId xmlns:a16="http://schemas.microsoft.com/office/drawing/2014/main" id="{C837181F-F09E-A4F0-376C-D8173D75C21E}"/>
                </a:ext>
              </a:extLst>
            </p:cNvPr>
            <p:cNvSpPr>
              <a:spLocks/>
            </p:cNvSpPr>
            <p:nvPr/>
          </p:nvSpPr>
          <p:spPr bwMode="auto">
            <a:xfrm rot="16200000" flipV="1">
              <a:off x="2698"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grpSp>
        <p:nvGrpSpPr>
          <p:cNvPr id="144" name="Group 39">
            <a:extLst>
              <a:ext uri="{FF2B5EF4-FFF2-40B4-BE49-F238E27FC236}">
                <a16:creationId xmlns:a16="http://schemas.microsoft.com/office/drawing/2014/main" id="{3EF64417-81FC-8FCD-599B-A557AD58B612}"/>
              </a:ext>
            </a:extLst>
          </p:cNvPr>
          <p:cNvGrpSpPr>
            <a:grpSpLocks/>
          </p:cNvGrpSpPr>
          <p:nvPr/>
        </p:nvGrpSpPr>
        <p:grpSpPr bwMode="auto">
          <a:xfrm>
            <a:off x="8911357" y="6204929"/>
            <a:ext cx="1139113" cy="416246"/>
            <a:chOff x="3105" y="2886"/>
            <a:chExt cx="725" cy="287"/>
          </a:xfrm>
        </p:grpSpPr>
        <p:sp>
          <p:nvSpPr>
            <p:cNvPr id="145" name="Text Box 40">
              <a:extLst>
                <a:ext uri="{FF2B5EF4-FFF2-40B4-BE49-F238E27FC236}">
                  <a16:creationId xmlns:a16="http://schemas.microsoft.com/office/drawing/2014/main" id="{7EFA206C-5559-4EF8-F9A8-4C1FB4FA27E9}"/>
                </a:ext>
              </a:extLst>
            </p:cNvPr>
            <p:cNvSpPr txBox="1">
              <a:spLocks noChangeArrowheads="1"/>
            </p:cNvSpPr>
            <p:nvPr/>
          </p:nvSpPr>
          <p:spPr bwMode="auto">
            <a:xfrm>
              <a:off x="3200" y="2976"/>
              <a:ext cx="54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400" b="1" dirty="0">
                  <a:solidFill>
                    <a:srgbClr val="CC00CC"/>
                  </a:solidFill>
                  <a:latin typeface="微软雅黑" pitchFamily="34" charset="-122"/>
                  <a:ea typeface="微软雅黑" pitchFamily="34" charset="-122"/>
                </a:rPr>
                <a:t>TDM </a:t>
              </a:r>
              <a:r>
                <a:rPr kumimoji="1" lang="zh-CN" altLang="en-US" sz="1400" b="1" dirty="0">
                  <a:solidFill>
                    <a:srgbClr val="CC00CC"/>
                  </a:solidFill>
                  <a:latin typeface="微软雅黑" pitchFamily="34" charset="-122"/>
                  <a:ea typeface="微软雅黑" pitchFamily="34" charset="-122"/>
                </a:rPr>
                <a:t>帧</a:t>
              </a:r>
            </a:p>
          </p:txBody>
        </p:sp>
        <p:sp>
          <p:nvSpPr>
            <p:cNvPr id="146" name="AutoShape 41">
              <a:extLst>
                <a:ext uri="{FF2B5EF4-FFF2-40B4-BE49-F238E27FC236}">
                  <a16:creationId xmlns:a16="http://schemas.microsoft.com/office/drawing/2014/main" id="{E7CF863B-0148-1496-2CEE-A0D80154D077}"/>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147" name="Rectangle 42">
            <a:extLst>
              <a:ext uri="{FF2B5EF4-FFF2-40B4-BE49-F238E27FC236}">
                <a16:creationId xmlns:a16="http://schemas.microsoft.com/office/drawing/2014/main" id="{EC45FC39-AD27-43F4-B886-B0F46F336CF6}"/>
              </a:ext>
            </a:extLst>
          </p:cNvPr>
          <p:cNvSpPr>
            <a:spLocks noChangeArrowheads="1"/>
          </p:cNvSpPr>
          <p:nvPr/>
        </p:nvSpPr>
        <p:spPr bwMode="auto">
          <a:xfrm>
            <a:off x="10423319" y="5053060"/>
            <a:ext cx="355868"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762000" eaLnBrk="0" hangingPunct="0"/>
            <a:r>
              <a:rPr kumimoji="1" lang="en-US" altLang="zh-CN" sz="1400" b="1">
                <a:latin typeface="微软雅黑" pitchFamily="34" charset="-122"/>
                <a:ea typeface="微软雅黑" pitchFamily="34" charset="-122"/>
              </a:rPr>
              <a:t>…</a:t>
            </a:r>
          </a:p>
        </p:txBody>
      </p:sp>
      <p:sp>
        <p:nvSpPr>
          <p:cNvPr id="148" name="Line 43">
            <a:extLst>
              <a:ext uri="{FF2B5EF4-FFF2-40B4-BE49-F238E27FC236}">
                <a16:creationId xmlns:a16="http://schemas.microsoft.com/office/drawing/2014/main" id="{251D69BD-877D-113C-FD00-C4B889094863}"/>
              </a:ext>
            </a:extLst>
          </p:cNvPr>
          <p:cNvSpPr>
            <a:spLocks noChangeShapeType="1"/>
          </p:cNvSpPr>
          <p:nvPr/>
        </p:nvSpPr>
        <p:spPr bwMode="auto">
          <a:xfrm rot="16200000">
            <a:off x="4137955" y="5370989"/>
            <a:ext cx="2712119" cy="0"/>
          </a:xfrm>
          <a:prstGeom prst="line">
            <a:avLst/>
          </a:prstGeom>
          <a:noFill/>
          <a:ln w="28575">
            <a:solidFill>
              <a:srgbClr val="00B05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149" name="Group 44">
            <a:extLst>
              <a:ext uri="{FF2B5EF4-FFF2-40B4-BE49-F238E27FC236}">
                <a16:creationId xmlns:a16="http://schemas.microsoft.com/office/drawing/2014/main" id="{1EE87A4D-5055-B2ED-DBAE-3602CD0FB0B1}"/>
              </a:ext>
            </a:extLst>
          </p:cNvPr>
          <p:cNvGrpSpPr>
            <a:grpSpLocks/>
          </p:cNvGrpSpPr>
          <p:nvPr/>
        </p:nvGrpSpPr>
        <p:grpSpPr bwMode="auto">
          <a:xfrm>
            <a:off x="10055185" y="6204929"/>
            <a:ext cx="1139113" cy="416246"/>
            <a:chOff x="3105" y="2886"/>
            <a:chExt cx="725" cy="287"/>
          </a:xfrm>
        </p:grpSpPr>
        <p:sp>
          <p:nvSpPr>
            <p:cNvPr id="150" name="Text Box 45">
              <a:extLst>
                <a:ext uri="{FF2B5EF4-FFF2-40B4-BE49-F238E27FC236}">
                  <a16:creationId xmlns:a16="http://schemas.microsoft.com/office/drawing/2014/main" id="{C5441130-90E2-994C-4580-B383341FF7F7}"/>
                </a:ext>
              </a:extLst>
            </p:cNvPr>
            <p:cNvSpPr txBox="1">
              <a:spLocks noChangeArrowheads="1"/>
            </p:cNvSpPr>
            <p:nvPr/>
          </p:nvSpPr>
          <p:spPr bwMode="auto">
            <a:xfrm>
              <a:off x="3200" y="2976"/>
              <a:ext cx="54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en-US" altLang="zh-CN" sz="1400" b="1" dirty="0">
                  <a:solidFill>
                    <a:srgbClr val="CC00CC"/>
                  </a:solidFill>
                  <a:latin typeface="微软雅黑" pitchFamily="34" charset="-122"/>
                  <a:ea typeface="微软雅黑" pitchFamily="34" charset="-122"/>
                </a:rPr>
                <a:t>TDM </a:t>
              </a:r>
              <a:r>
                <a:rPr kumimoji="1" lang="zh-CN" altLang="en-US" sz="1400" b="1" dirty="0">
                  <a:solidFill>
                    <a:srgbClr val="CC00CC"/>
                  </a:solidFill>
                  <a:latin typeface="微软雅黑" pitchFamily="34" charset="-122"/>
                  <a:ea typeface="微软雅黑" pitchFamily="34" charset="-122"/>
                </a:rPr>
                <a:t>帧</a:t>
              </a:r>
            </a:p>
          </p:txBody>
        </p:sp>
        <p:sp>
          <p:nvSpPr>
            <p:cNvPr id="151" name="AutoShape 46">
              <a:extLst>
                <a:ext uri="{FF2B5EF4-FFF2-40B4-BE49-F238E27FC236}">
                  <a16:creationId xmlns:a16="http://schemas.microsoft.com/office/drawing/2014/main" id="{79CD34A9-52D9-5570-C91F-6C3E7641154E}"/>
                </a:ext>
              </a:extLst>
            </p:cNvPr>
            <p:cNvSpPr>
              <a:spLocks/>
            </p:cNvSpPr>
            <p:nvPr/>
          </p:nvSpPr>
          <p:spPr bwMode="auto">
            <a:xfrm rot="16200000" flipV="1">
              <a:off x="3423" y="2568"/>
              <a:ext cx="90" cy="725"/>
            </a:xfrm>
            <a:prstGeom prst="leftBrace">
              <a:avLst>
                <a:gd name="adj1" fmla="val 67130"/>
                <a:gd name="adj2" fmla="val 50000"/>
              </a:avLst>
            </a:prstGeom>
            <a:noFill/>
            <a:ln w="1905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grpSp>
        <p:nvGrpSpPr>
          <p:cNvPr id="152" name="Group 52">
            <a:extLst>
              <a:ext uri="{FF2B5EF4-FFF2-40B4-BE49-F238E27FC236}">
                <a16:creationId xmlns:a16="http://schemas.microsoft.com/office/drawing/2014/main" id="{353E8AFC-3A98-016C-6DFB-40AA4D5AD9CA}"/>
              </a:ext>
            </a:extLst>
          </p:cNvPr>
          <p:cNvGrpSpPr>
            <a:grpSpLocks/>
          </p:cNvGrpSpPr>
          <p:nvPr/>
        </p:nvGrpSpPr>
        <p:grpSpPr bwMode="auto">
          <a:xfrm>
            <a:off x="6633129" y="4296293"/>
            <a:ext cx="4562741" cy="2171146"/>
            <a:chOff x="1655" y="1570"/>
            <a:chExt cx="2904" cy="1497"/>
          </a:xfrm>
        </p:grpSpPr>
        <p:sp>
          <p:nvSpPr>
            <p:cNvPr id="153" name="Line 47">
              <a:extLst>
                <a:ext uri="{FF2B5EF4-FFF2-40B4-BE49-F238E27FC236}">
                  <a16:creationId xmlns:a16="http://schemas.microsoft.com/office/drawing/2014/main" id="{09048575-2428-1FB4-D8CB-45DF1E9068F0}"/>
                </a:ext>
              </a:extLst>
            </p:cNvPr>
            <p:cNvSpPr>
              <a:spLocks noChangeShapeType="1"/>
            </p:cNvSpPr>
            <p:nvPr/>
          </p:nvSpPr>
          <p:spPr bwMode="auto">
            <a:xfrm>
              <a:off x="1655"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4" name="Line 48">
              <a:extLst>
                <a:ext uri="{FF2B5EF4-FFF2-40B4-BE49-F238E27FC236}">
                  <a16:creationId xmlns:a16="http://schemas.microsoft.com/office/drawing/2014/main" id="{7057F1A5-E308-332C-8D1D-8502086E4D6B}"/>
                </a:ext>
              </a:extLst>
            </p:cNvPr>
            <p:cNvSpPr>
              <a:spLocks noChangeShapeType="1"/>
            </p:cNvSpPr>
            <p:nvPr/>
          </p:nvSpPr>
          <p:spPr bwMode="auto">
            <a:xfrm>
              <a:off x="2381"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5" name="Line 49">
              <a:extLst>
                <a:ext uri="{FF2B5EF4-FFF2-40B4-BE49-F238E27FC236}">
                  <a16:creationId xmlns:a16="http://schemas.microsoft.com/office/drawing/2014/main" id="{E39497E9-0190-2359-5233-F2FB59223CDD}"/>
                </a:ext>
              </a:extLst>
            </p:cNvPr>
            <p:cNvSpPr>
              <a:spLocks noChangeShapeType="1"/>
            </p:cNvSpPr>
            <p:nvPr/>
          </p:nvSpPr>
          <p:spPr bwMode="auto">
            <a:xfrm>
              <a:off x="3107"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6" name="Line 50">
              <a:extLst>
                <a:ext uri="{FF2B5EF4-FFF2-40B4-BE49-F238E27FC236}">
                  <a16:creationId xmlns:a16="http://schemas.microsoft.com/office/drawing/2014/main" id="{A91D7418-F3A6-367B-7AAD-0AC9BA2B484F}"/>
                </a:ext>
              </a:extLst>
            </p:cNvPr>
            <p:cNvSpPr>
              <a:spLocks noChangeShapeType="1"/>
            </p:cNvSpPr>
            <p:nvPr/>
          </p:nvSpPr>
          <p:spPr bwMode="auto">
            <a:xfrm>
              <a:off x="3833"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7" name="Line 51">
              <a:extLst>
                <a:ext uri="{FF2B5EF4-FFF2-40B4-BE49-F238E27FC236}">
                  <a16:creationId xmlns:a16="http://schemas.microsoft.com/office/drawing/2014/main" id="{95029A85-9BD4-EC30-697A-CD2594825412}"/>
                </a:ext>
              </a:extLst>
            </p:cNvPr>
            <p:cNvSpPr>
              <a:spLocks noChangeShapeType="1"/>
            </p:cNvSpPr>
            <p:nvPr/>
          </p:nvSpPr>
          <p:spPr bwMode="auto">
            <a:xfrm>
              <a:off x="4559" y="1570"/>
              <a:ext cx="0" cy="1497"/>
            </a:xfrm>
            <a:prstGeom prst="line">
              <a:avLst/>
            </a:prstGeom>
            <a:noFill/>
            <a:ln w="28575">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158" name="Text Box 53">
            <a:extLst>
              <a:ext uri="{FF2B5EF4-FFF2-40B4-BE49-F238E27FC236}">
                <a16:creationId xmlns:a16="http://schemas.microsoft.com/office/drawing/2014/main" id="{BB38AEED-98D4-66C6-D78D-293DE8E822C5}"/>
              </a:ext>
            </a:extLst>
          </p:cNvPr>
          <p:cNvSpPr txBox="1">
            <a:spLocks noChangeArrowheads="1"/>
          </p:cNvSpPr>
          <p:nvPr/>
        </p:nvSpPr>
        <p:spPr bwMode="auto">
          <a:xfrm>
            <a:off x="6829840" y="3785214"/>
            <a:ext cx="1082349"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90000"/>
              </a:lnSpc>
            </a:pPr>
            <a:r>
              <a:rPr kumimoji="1" lang="zh-CN" altLang="en-US" sz="1400" b="1" dirty="0">
                <a:latin typeface="微软雅黑" pitchFamily="34" charset="-122"/>
                <a:ea typeface="微软雅黑" pitchFamily="34" charset="-122"/>
              </a:rPr>
              <a:t>周期性出现</a:t>
            </a:r>
          </a:p>
        </p:txBody>
      </p:sp>
      <p:sp>
        <p:nvSpPr>
          <p:cNvPr id="159" name="Line 26">
            <a:extLst>
              <a:ext uri="{FF2B5EF4-FFF2-40B4-BE49-F238E27FC236}">
                <a16:creationId xmlns:a16="http://schemas.microsoft.com/office/drawing/2014/main" id="{AFBDA43A-A091-0927-6DD2-67B5B21F9BCE}"/>
              </a:ext>
            </a:extLst>
          </p:cNvPr>
          <p:cNvSpPr>
            <a:spLocks noChangeShapeType="1"/>
          </p:cNvSpPr>
          <p:nvPr/>
        </p:nvSpPr>
        <p:spPr bwMode="auto">
          <a:xfrm flipH="1">
            <a:off x="5635421" y="4033783"/>
            <a:ext cx="1711814" cy="329225"/>
          </a:xfrm>
          <a:prstGeom prst="line">
            <a:avLst/>
          </a:prstGeom>
          <a:noFill/>
          <a:ln w="28575">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0" name="Line 27">
            <a:extLst>
              <a:ext uri="{FF2B5EF4-FFF2-40B4-BE49-F238E27FC236}">
                <a16:creationId xmlns:a16="http://schemas.microsoft.com/office/drawing/2014/main" id="{EAA928B7-F459-F875-C2C1-555C16C2DA45}"/>
              </a:ext>
            </a:extLst>
          </p:cNvPr>
          <p:cNvSpPr>
            <a:spLocks noChangeShapeType="1"/>
          </p:cNvSpPr>
          <p:nvPr/>
        </p:nvSpPr>
        <p:spPr bwMode="auto">
          <a:xfrm flipH="1">
            <a:off x="6769820" y="4033783"/>
            <a:ext cx="577414" cy="329226"/>
          </a:xfrm>
          <a:prstGeom prst="line">
            <a:avLst/>
          </a:prstGeom>
          <a:noFill/>
          <a:ln w="28575">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1" name="Line 28">
            <a:extLst>
              <a:ext uri="{FF2B5EF4-FFF2-40B4-BE49-F238E27FC236}">
                <a16:creationId xmlns:a16="http://schemas.microsoft.com/office/drawing/2014/main" id="{EE0946D0-868D-593B-E90D-E233ADE54F37}"/>
              </a:ext>
            </a:extLst>
          </p:cNvPr>
          <p:cNvSpPr>
            <a:spLocks noChangeShapeType="1"/>
          </p:cNvSpPr>
          <p:nvPr/>
        </p:nvSpPr>
        <p:spPr bwMode="auto">
          <a:xfrm>
            <a:off x="7347235" y="4033783"/>
            <a:ext cx="558559" cy="329225"/>
          </a:xfrm>
          <a:prstGeom prst="line">
            <a:avLst/>
          </a:prstGeom>
          <a:noFill/>
          <a:ln w="28575">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2" name="Line 29">
            <a:extLst>
              <a:ext uri="{FF2B5EF4-FFF2-40B4-BE49-F238E27FC236}">
                <a16:creationId xmlns:a16="http://schemas.microsoft.com/office/drawing/2014/main" id="{8834DC32-0D7D-351F-13F7-0C0F9EF31165}"/>
              </a:ext>
            </a:extLst>
          </p:cNvPr>
          <p:cNvSpPr>
            <a:spLocks noChangeShapeType="1"/>
          </p:cNvSpPr>
          <p:nvPr/>
        </p:nvSpPr>
        <p:spPr bwMode="auto">
          <a:xfrm>
            <a:off x="7347235" y="4033783"/>
            <a:ext cx="1692960" cy="329225"/>
          </a:xfrm>
          <a:prstGeom prst="line">
            <a:avLst/>
          </a:prstGeom>
          <a:noFill/>
          <a:ln w="28575">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Tree>
    <p:extLst>
      <p:ext uri="{BB962C8B-B14F-4D97-AF65-F5344CB8AC3E}">
        <p14:creationId xmlns:p14="http://schemas.microsoft.com/office/powerpoint/2010/main" val="368608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6" grpId="0"/>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47" grpId="0"/>
      <p:bldP spid="148" grpId="0" animBg="1"/>
      <p:bldP spid="158" grpId="0"/>
      <p:bldP spid="159" grpId="0" animBg="1"/>
      <p:bldP spid="160" grpId="0" animBg="1"/>
      <p:bldP spid="161" grpId="0" animBg="1"/>
      <p:bldP spid="16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TDM (Time Division Multiplexing)</a:t>
            </a:r>
          </a:p>
        </p:txBody>
      </p:sp>
      <p:sp>
        <p:nvSpPr>
          <p:cNvPr id="3" name="文本框 2">
            <a:extLst>
              <a:ext uri="{FF2B5EF4-FFF2-40B4-BE49-F238E27FC236}">
                <a16:creationId xmlns:a16="http://schemas.microsoft.com/office/drawing/2014/main" id="{56CF88D9-C6B5-885F-59CB-7946A384FB5F}"/>
              </a:ext>
            </a:extLst>
          </p:cNvPr>
          <p:cNvSpPr txBox="1"/>
          <p:nvPr/>
        </p:nvSpPr>
        <p:spPr>
          <a:xfrm>
            <a:off x="623673" y="981370"/>
            <a:ext cx="10661148" cy="1089529"/>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When using time Division multiplexing (TDM) system to transmit computer data, because of the burst nature of computer data, the user's utilization of the assigned subchannels is generally not high.</a:t>
            </a:r>
          </a:p>
        </p:txBody>
      </p:sp>
      <p:sp>
        <p:nvSpPr>
          <p:cNvPr id="4" name="矩形 3">
            <a:extLst>
              <a:ext uri="{FF2B5EF4-FFF2-40B4-BE49-F238E27FC236}">
                <a16:creationId xmlns:a16="http://schemas.microsoft.com/office/drawing/2014/main" id="{7AE82864-8FFA-F025-0864-F5E94811D276}"/>
              </a:ext>
            </a:extLst>
          </p:cNvPr>
          <p:cNvSpPr/>
          <p:nvPr/>
        </p:nvSpPr>
        <p:spPr>
          <a:xfrm>
            <a:off x="4283577" y="5124120"/>
            <a:ext cx="3877985" cy="369332"/>
          </a:xfrm>
          <a:prstGeom prst="rect">
            <a:avLst/>
          </a:prstGeom>
        </p:spPr>
        <p:txBody>
          <a:bodyPr wrap="none">
            <a:spAutoFit/>
          </a:bodyPr>
          <a:lstStyle/>
          <a:p>
            <a:pPr algn="ctr"/>
            <a:r>
              <a:rPr lang="zh-CN" altLang="zh-CN" b="1" dirty="0">
                <a:latin typeface="微软雅黑" pitchFamily="34" charset="-122"/>
                <a:ea typeface="微软雅黑" pitchFamily="34" charset="-122"/>
              </a:rPr>
              <a:t>时分复用可能会造成线路资源的浪费</a:t>
            </a:r>
            <a:endParaRPr lang="zh-CN" altLang="en-US" b="1" dirty="0">
              <a:latin typeface="微软雅黑" pitchFamily="34" charset="-122"/>
              <a:ea typeface="微软雅黑" pitchFamily="34" charset="-122"/>
            </a:endParaRPr>
          </a:p>
        </p:txBody>
      </p:sp>
      <p:grpSp>
        <p:nvGrpSpPr>
          <p:cNvPr id="5" name="组合 4">
            <a:extLst>
              <a:ext uri="{FF2B5EF4-FFF2-40B4-BE49-F238E27FC236}">
                <a16:creationId xmlns:a16="http://schemas.microsoft.com/office/drawing/2014/main" id="{D11D93E7-3AE3-3440-0599-C2087F61C744}"/>
              </a:ext>
            </a:extLst>
          </p:cNvPr>
          <p:cNvGrpSpPr/>
          <p:nvPr/>
        </p:nvGrpSpPr>
        <p:grpSpPr>
          <a:xfrm>
            <a:off x="2217488" y="2813900"/>
            <a:ext cx="8061238" cy="2289027"/>
            <a:chOff x="518863" y="1990305"/>
            <a:chExt cx="8061238" cy="2289027"/>
          </a:xfrm>
        </p:grpSpPr>
        <p:sp>
          <p:nvSpPr>
            <p:cNvPr id="6" name="Freeform 3">
              <a:extLst>
                <a:ext uri="{FF2B5EF4-FFF2-40B4-BE49-F238E27FC236}">
                  <a16:creationId xmlns:a16="http://schemas.microsoft.com/office/drawing/2014/main" id="{7D4C5BE8-6094-32A7-A125-31CD1A729D0F}"/>
                </a:ext>
              </a:extLst>
            </p:cNvPr>
            <p:cNvSpPr>
              <a:spLocks/>
            </p:cNvSpPr>
            <p:nvPr/>
          </p:nvSpPr>
          <p:spPr bwMode="auto">
            <a:xfrm>
              <a:off x="6024015" y="2934795"/>
              <a:ext cx="211025" cy="302442"/>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7" name="Freeform 4">
              <a:extLst>
                <a:ext uri="{FF2B5EF4-FFF2-40B4-BE49-F238E27FC236}">
                  <a16:creationId xmlns:a16="http://schemas.microsoft.com/office/drawing/2014/main" id="{E2DCDCB1-5D19-E0EC-8B5C-0C46C710F8C8}"/>
                </a:ext>
              </a:extLst>
            </p:cNvPr>
            <p:cNvSpPr>
              <a:spLocks/>
            </p:cNvSpPr>
            <p:nvPr/>
          </p:nvSpPr>
          <p:spPr bwMode="auto">
            <a:xfrm>
              <a:off x="6866730" y="2934795"/>
              <a:ext cx="209638" cy="302442"/>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00FFCC"/>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8" name="Freeform 5">
              <a:extLst>
                <a:ext uri="{FF2B5EF4-FFF2-40B4-BE49-F238E27FC236}">
                  <a16:creationId xmlns:a16="http://schemas.microsoft.com/office/drawing/2014/main" id="{D50C456D-6B01-7ABA-F9AB-5F6DB7D60B49}"/>
                </a:ext>
              </a:extLst>
            </p:cNvPr>
            <p:cNvSpPr>
              <a:spLocks/>
            </p:cNvSpPr>
            <p:nvPr/>
          </p:nvSpPr>
          <p:spPr bwMode="auto">
            <a:xfrm>
              <a:off x="7287393" y="2934795"/>
              <a:ext cx="211025" cy="302442"/>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Freeform 6">
              <a:extLst>
                <a:ext uri="{FF2B5EF4-FFF2-40B4-BE49-F238E27FC236}">
                  <a16:creationId xmlns:a16="http://schemas.microsoft.com/office/drawing/2014/main" id="{2C75AA78-6DD1-6BD1-2B15-84CFE7A7CEDE}"/>
                </a:ext>
              </a:extLst>
            </p:cNvPr>
            <p:cNvSpPr>
              <a:spLocks/>
            </p:cNvSpPr>
            <p:nvPr/>
          </p:nvSpPr>
          <p:spPr bwMode="auto">
            <a:xfrm>
              <a:off x="7919082" y="2934795"/>
              <a:ext cx="209638" cy="302442"/>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66FF33"/>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Freeform 7">
              <a:extLst>
                <a:ext uri="{FF2B5EF4-FFF2-40B4-BE49-F238E27FC236}">
                  <a16:creationId xmlns:a16="http://schemas.microsoft.com/office/drawing/2014/main" id="{CF8D48E9-1C88-A8AA-DAF9-4D25D3431FBF}"/>
                </a:ext>
              </a:extLst>
            </p:cNvPr>
            <p:cNvSpPr>
              <a:spLocks/>
            </p:cNvSpPr>
            <p:nvPr/>
          </p:nvSpPr>
          <p:spPr bwMode="auto">
            <a:xfrm>
              <a:off x="5814378" y="2934795"/>
              <a:ext cx="209638" cy="302442"/>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Freeform 8">
              <a:extLst>
                <a:ext uri="{FF2B5EF4-FFF2-40B4-BE49-F238E27FC236}">
                  <a16:creationId xmlns:a16="http://schemas.microsoft.com/office/drawing/2014/main" id="{AE5EE020-8C2F-C85A-B354-EC99F3C0EEDE}"/>
                </a:ext>
              </a:extLst>
            </p:cNvPr>
            <p:cNvSpPr>
              <a:spLocks/>
            </p:cNvSpPr>
            <p:nvPr/>
          </p:nvSpPr>
          <p:spPr bwMode="auto">
            <a:xfrm>
              <a:off x="4971663" y="2937359"/>
              <a:ext cx="211025" cy="303723"/>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FF66"/>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12" name="Freeform 9">
              <a:extLst>
                <a:ext uri="{FF2B5EF4-FFF2-40B4-BE49-F238E27FC236}">
                  <a16:creationId xmlns:a16="http://schemas.microsoft.com/office/drawing/2014/main" id="{6F51EA68-3760-A401-B59E-B6925DE6CBAC}"/>
                </a:ext>
              </a:extLst>
            </p:cNvPr>
            <p:cNvSpPr>
              <a:spLocks/>
            </p:cNvSpPr>
            <p:nvPr/>
          </p:nvSpPr>
          <p:spPr bwMode="auto">
            <a:xfrm>
              <a:off x="4762026" y="2937359"/>
              <a:ext cx="209638" cy="303723"/>
            </a:xfrm>
            <a:custGeom>
              <a:avLst/>
              <a:gdLst>
                <a:gd name="T0" fmla="*/ 0 w 96"/>
                <a:gd name="T1" fmla="*/ 192 h 192"/>
                <a:gd name="T2" fmla="*/ 0 w 96"/>
                <a:gd name="T3" fmla="*/ 0 h 192"/>
                <a:gd name="T4" fmla="*/ 96 w 96"/>
                <a:gd name="T5" fmla="*/ 0 h 192"/>
                <a:gd name="T6" fmla="*/ 96 w 96"/>
                <a:gd name="T7" fmla="*/ 192 h 192"/>
              </a:gdLst>
              <a:ahLst/>
              <a:cxnLst>
                <a:cxn ang="0">
                  <a:pos x="T0" y="T1"/>
                </a:cxn>
                <a:cxn ang="0">
                  <a:pos x="T2" y="T3"/>
                </a:cxn>
                <a:cxn ang="0">
                  <a:pos x="T4" y="T5"/>
                </a:cxn>
                <a:cxn ang="0">
                  <a:pos x="T6" y="T7"/>
                </a:cxn>
              </a:cxnLst>
              <a:rect l="0" t="0" r="r" b="b"/>
              <a:pathLst>
                <a:path w="96" h="192">
                  <a:moveTo>
                    <a:pt x="0" y="192"/>
                  </a:moveTo>
                  <a:lnTo>
                    <a:pt x="0" y="0"/>
                  </a:lnTo>
                  <a:lnTo>
                    <a:pt x="96" y="0"/>
                  </a:lnTo>
                  <a:lnTo>
                    <a:pt x="96"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 name="Freeform 10">
              <a:extLst>
                <a:ext uri="{FF2B5EF4-FFF2-40B4-BE49-F238E27FC236}">
                  <a16:creationId xmlns:a16="http://schemas.microsoft.com/office/drawing/2014/main" id="{4196B1D5-C1A6-E6F9-C13B-01200B970BCB}"/>
                </a:ext>
              </a:extLst>
            </p:cNvPr>
            <p:cNvSpPr>
              <a:spLocks/>
            </p:cNvSpPr>
            <p:nvPr/>
          </p:nvSpPr>
          <p:spPr bwMode="auto">
            <a:xfrm>
              <a:off x="2796154" y="2023625"/>
              <a:ext cx="491468" cy="30372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Freeform 11">
              <a:extLst>
                <a:ext uri="{FF2B5EF4-FFF2-40B4-BE49-F238E27FC236}">
                  <a16:creationId xmlns:a16="http://schemas.microsoft.com/office/drawing/2014/main" id="{907E160B-7BEB-FA6E-B1E9-ACDD15D40524}"/>
                </a:ext>
              </a:extLst>
            </p:cNvPr>
            <p:cNvSpPr>
              <a:spLocks/>
            </p:cNvSpPr>
            <p:nvPr/>
          </p:nvSpPr>
          <p:spPr bwMode="auto">
            <a:xfrm>
              <a:off x="1323139" y="2631071"/>
              <a:ext cx="982936" cy="30372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FF66"/>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Freeform 12">
              <a:extLst>
                <a:ext uri="{FF2B5EF4-FFF2-40B4-BE49-F238E27FC236}">
                  <a16:creationId xmlns:a16="http://schemas.microsoft.com/office/drawing/2014/main" id="{8A9B08D2-BC57-1D3E-943B-DCF2416C143B}"/>
                </a:ext>
              </a:extLst>
            </p:cNvPr>
            <p:cNvSpPr>
              <a:spLocks/>
            </p:cNvSpPr>
            <p:nvPr/>
          </p:nvSpPr>
          <p:spPr bwMode="auto">
            <a:xfrm>
              <a:off x="1814606" y="3237237"/>
              <a:ext cx="981547" cy="303723"/>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00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Freeform 13">
              <a:extLst>
                <a:ext uri="{FF2B5EF4-FFF2-40B4-BE49-F238E27FC236}">
                  <a16:creationId xmlns:a16="http://schemas.microsoft.com/office/drawing/2014/main" id="{0DB4FD4D-DEB8-FC3E-0DD2-CE2356B2A086}"/>
                </a:ext>
              </a:extLst>
            </p:cNvPr>
            <p:cNvSpPr>
              <a:spLocks/>
            </p:cNvSpPr>
            <p:nvPr/>
          </p:nvSpPr>
          <p:spPr bwMode="auto">
            <a:xfrm>
              <a:off x="2796154" y="3844684"/>
              <a:ext cx="491468" cy="303723"/>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66FF33"/>
            </a:solidFill>
            <a:ln w="19050">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Text Box 14">
              <a:extLst>
                <a:ext uri="{FF2B5EF4-FFF2-40B4-BE49-F238E27FC236}">
                  <a16:creationId xmlns:a16="http://schemas.microsoft.com/office/drawing/2014/main" id="{15B84D81-3F0B-1C56-A5DA-21DA39677264}"/>
                </a:ext>
              </a:extLst>
            </p:cNvPr>
            <p:cNvSpPr txBox="1">
              <a:spLocks noChangeArrowheads="1"/>
            </p:cNvSpPr>
            <p:nvPr/>
          </p:nvSpPr>
          <p:spPr bwMode="auto">
            <a:xfrm>
              <a:off x="949678" y="2005686"/>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A</a:t>
              </a:r>
            </a:p>
          </p:txBody>
        </p:sp>
        <p:sp>
          <p:nvSpPr>
            <p:cNvPr id="18" name="Text Box 15">
              <a:extLst>
                <a:ext uri="{FF2B5EF4-FFF2-40B4-BE49-F238E27FC236}">
                  <a16:creationId xmlns:a16="http://schemas.microsoft.com/office/drawing/2014/main" id="{029DA710-82FC-1590-4662-424A8A03C0A1}"/>
                </a:ext>
              </a:extLst>
            </p:cNvPr>
            <p:cNvSpPr txBox="1">
              <a:spLocks noChangeArrowheads="1"/>
            </p:cNvSpPr>
            <p:nvPr/>
          </p:nvSpPr>
          <p:spPr bwMode="auto">
            <a:xfrm>
              <a:off x="949678" y="2613131"/>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B</a:t>
              </a:r>
            </a:p>
          </p:txBody>
        </p:sp>
        <p:sp>
          <p:nvSpPr>
            <p:cNvPr id="19" name="Text Box 16">
              <a:extLst>
                <a:ext uri="{FF2B5EF4-FFF2-40B4-BE49-F238E27FC236}">
                  <a16:creationId xmlns:a16="http://schemas.microsoft.com/office/drawing/2014/main" id="{41A8E226-2A0D-8440-A996-4A0E98D8492B}"/>
                </a:ext>
              </a:extLst>
            </p:cNvPr>
            <p:cNvSpPr txBox="1">
              <a:spLocks noChangeArrowheads="1"/>
            </p:cNvSpPr>
            <p:nvPr/>
          </p:nvSpPr>
          <p:spPr bwMode="auto">
            <a:xfrm>
              <a:off x="949678" y="3220578"/>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C</a:t>
              </a:r>
            </a:p>
          </p:txBody>
        </p:sp>
        <p:sp>
          <p:nvSpPr>
            <p:cNvPr id="20" name="Text Box 17">
              <a:extLst>
                <a:ext uri="{FF2B5EF4-FFF2-40B4-BE49-F238E27FC236}">
                  <a16:creationId xmlns:a16="http://schemas.microsoft.com/office/drawing/2014/main" id="{C69ED65E-98C4-9BB1-2B45-4D6E5EFBA0C4}"/>
                </a:ext>
              </a:extLst>
            </p:cNvPr>
            <p:cNvSpPr txBox="1">
              <a:spLocks noChangeArrowheads="1"/>
            </p:cNvSpPr>
            <p:nvPr/>
          </p:nvSpPr>
          <p:spPr bwMode="auto">
            <a:xfrm>
              <a:off x="949678" y="3828022"/>
              <a:ext cx="3273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99"/>
                  </a:solidFill>
                  <a:latin typeface="微软雅黑" pitchFamily="34" charset="-122"/>
                  <a:ea typeface="微软雅黑" pitchFamily="34" charset="-122"/>
                </a:rPr>
                <a:t>D</a:t>
              </a:r>
            </a:p>
          </p:txBody>
        </p:sp>
        <p:sp>
          <p:nvSpPr>
            <p:cNvPr id="21" name="Line 18">
              <a:extLst>
                <a:ext uri="{FF2B5EF4-FFF2-40B4-BE49-F238E27FC236}">
                  <a16:creationId xmlns:a16="http://schemas.microsoft.com/office/drawing/2014/main" id="{7CBFD90C-D9DE-4C1A-7CA4-AD0B2736F0EE}"/>
                </a:ext>
              </a:extLst>
            </p:cNvPr>
            <p:cNvSpPr>
              <a:spLocks noChangeShapeType="1"/>
            </p:cNvSpPr>
            <p:nvPr/>
          </p:nvSpPr>
          <p:spPr bwMode="auto">
            <a:xfrm>
              <a:off x="4620416" y="3237237"/>
              <a:ext cx="371932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2" name="Line 19">
              <a:extLst>
                <a:ext uri="{FF2B5EF4-FFF2-40B4-BE49-F238E27FC236}">
                  <a16:creationId xmlns:a16="http://schemas.microsoft.com/office/drawing/2014/main" id="{53E8A470-D44C-3118-9AF9-997655CEE2FB}"/>
                </a:ext>
              </a:extLst>
            </p:cNvPr>
            <p:cNvSpPr>
              <a:spLocks noChangeShapeType="1"/>
            </p:cNvSpPr>
            <p:nvPr/>
          </p:nvSpPr>
          <p:spPr bwMode="auto">
            <a:xfrm>
              <a:off x="5182689" y="3161627"/>
              <a:ext cx="0" cy="756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Text Box 20">
              <a:extLst>
                <a:ext uri="{FF2B5EF4-FFF2-40B4-BE49-F238E27FC236}">
                  <a16:creationId xmlns:a16="http://schemas.microsoft.com/office/drawing/2014/main" id="{6C1438A1-6E8F-0424-9DFD-5E953AFFBB26}"/>
                </a:ext>
              </a:extLst>
            </p:cNvPr>
            <p:cNvSpPr txBox="1">
              <a:spLocks noChangeArrowheads="1"/>
            </p:cNvSpPr>
            <p:nvPr/>
          </p:nvSpPr>
          <p:spPr bwMode="auto">
            <a:xfrm>
              <a:off x="2901665" y="1992868"/>
              <a:ext cx="3032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a</a:t>
              </a:r>
            </a:p>
          </p:txBody>
        </p:sp>
        <p:sp>
          <p:nvSpPr>
            <p:cNvPr id="24" name="Text Box 23">
              <a:extLst>
                <a:ext uri="{FF2B5EF4-FFF2-40B4-BE49-F238E27FC236}">
                  <a16:creationId xmlns:a16="http://schemas.microsoft.com/office/drawing/2014/main" id="{506EBC10-4F84-6026-2827-892DF5C1CCEA}"/>
                </a:ext>
              </a:extLst>
            </p:cNvPr>
            <p:cNvSpPr txBox="1">
              <a:spLocks noChangeArrowheads="1"/>
            </p:cNvSpPr>
            <p:nvPr/>
          </p:nvSpPr>
          <p:spPr bwMode="auto">
            <a:xfrm>
              <a:off x="1413380" y="2628510"/>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b</a:t>
              </a:r>
            </a:p>
          </p:txBody>
        </p:sp>
        <p:sp>
          <p:nvSpPr>
            <p:cNvPr id="25" name="Text Box 24">
              <a:extLst>
                <a:ext uri="{FF2B5EF4-FFF2-40B4-BE49-F238E27FC236}">
                  <a16:creationId xmlns:a16="http://schemas.microsoft.com/office/drawing/2014/main" id="{2FA4D356-2092-4316-F431-F861B0F976FE}"/>
                </a:ext>
              </a:extLst>
            </p:cNvPr>
            <p:cNvSpPr txBox="1">
              <a:spLocks noChangeArrowheads="1"/>
            </p:cNvSpPr>
            <p:nvPr/>
          </p:nvSpPr>
          <p:spPr bwMode="auto">
            <a:xfrm>
              <a:off x="2422695" y="3212888"/>
              <a:ext cx="2904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c</a:t>
              </a:r>
            </a:p>
          </p:txBody>
        </p:sp>
        <p:sp>
          <p:nvSpPr>
            <p:cNvPr id="26" name="Text Box 25">
              <a:extLst>
                <a:ext uri="{FF2B5EF4-FFF2-40B4-BE49-F238E27FC236}">
                  <a16:creationId xmlns:a16="http://schemas.microsoft.com/office/drawing/2014/main" id="{639AD0DF-C098-5E19-003F-57B7D3F66FB9}"/>
                </a:ext>
              </a:extLst>
            </p:cNvPr>
            <p:cNvSpPr txBox="1">
              <a:spLocks noChangeArrowheads="1"/>
            </p:cNvSpPr>
            <p:nvPr/>
          </p:nvSpPr>
          <p:spPr bwMode="auto">
            <a:xfrm>
              <a:off x="2872513" y="3824181"/>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d</a:t>
              </a:r>
            </a:p>
          </p:txBody>
        </p:sp>
        <p:sp>
          <p:nvSpPr>
            <p:cNvPr id="27" name="Text Box 29">
              <a:extLst>
                <a:ext uri="{FF2B5EF4-FFF2-40B4-BE49-F238E27FC236}">
                  <a16:creationId xmlns:a16="http://schemas.microsoft.com/office/drawing/2014/main" id="{E9702F68-3EEF-9B9D-346C-9336BECFEFBF}"/>
                </a:ext>
              </a:extLst>
            </p:cNvPr>
            <p:cNvSpPr txBox="1">
              <a:spLocks noChangeArrowheads="1"/>
            </p:cNvSpPr>
            <p:nvPr/>
          </p:nvSpPr>
          <p:spPr bwMode="auto">
            <a:xfrm>
              <a:off x="3480599" y="2005686"/>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99"/>
                  </a:solidFill>
                  <a:latin typeface="微软雅黑" pitchFamily="34" charset="-122"/>
                  <a:ea typeface="微软雅黑" pitchFamily="34" charset="-122"/>
                </a:rPr>
                <a:t>t</a:t>
              </a:r>
            </a:p>
          </p:txBody>
        </p:sp>
        <p:sp>
          <p:nvSpPr>
            <p:cNvPr id="28" name="Text Box 30">
              <a:extLst>
                <a:ext uri="{FF2B5EF4-FFF2-40B4-BE49-F238E27FC236}">
                  <a16:creationId xmlns:a16="http://schemas.microsoft.com/office/drawing/2014/main" id="{C5B4ED4B-A040-BECC-051B-A173012B956F}"/>
                </a:ext>
              </a:extLst>
            </p:cNvPr>
            <p:cNvSpPr txBox="1">
              <a:spLocks noChangeArrowheads="1"/>
            </p:cNvSpPr>
            <p:nvPr/>
          </p:nvSpPr>
          <p:spPr bwMode="auto">
            <a:xfrm>
              <a:off x="3480599" y="2627227"/>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t</a:t>
              </a:r>
            </a:p>
          </p:txBody>
        </p:sp>
        <p:sp>
          <p:nvSpPr>
            <p:cNvPr id="29" name="Text Box 31">
              <a:extLst>
                <a:ext uri="{FF2B5EF4-FFF2-40B4-BE49-F238E27FC236}">
                  <a16:creationId xmlns:a16="http://schemas.microsoft.com/office/drawing/2014/main" id="{F33AE023-696B-EC53-E4B5-A6D85A216D64}"/>
                </a:ext>
              </a:extLst>
            </p:cNvPr>
            <p:cNvSpPr txBox="1">
              <a:spLocks noChangeArrowheads="1"/>
            </p:cNvSpPr>
            <p:nvPr/>
          </p:nvSpPr>
          <p:spPr bwMode="auto">
            <a:xfrm>
              <a:off x="3480599" y="3248771"/>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t</a:t>
              </a:r>
            </a:p>
          </p:txBody>
        </p:sp>
        <p:sp>
          <p:nvSpPr>
            <p:cNvPr id="30" name="Text Box 32">
              <a:extLst>
                <a:ext uri="{FF2B5EF4-FFF2-40B4-BE49-F238E27FC236}">
                  <a16:creationId xmlns:a16="http://schemas.microsoft.com/office/drawing/2014/main" id="{03920FE6-B1C1-81BD-DF16-9509AC18D349}"/>
                </a:ext>
              </a:extLst>
            </p:cNvPr>
            <p:cNvSpPr txBox="1">
              <a:spLocks noChangeArrowheads="1"/>
            </p:cNvSpPr>
            <p:nvPr/>
          </p:nvSpPr>
          <p:spPr bwMode="auto">
            <a:xfrm>
              <a:off x="3480599" y="387031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t</a:t>
              </a:r>
            </a:p>
          </p:txBody>
        </p:sp>
        <p:sp>
          <p:nvSpPr>
            <p:cNvPr id="31" name="Text Box 33">
              <a:extLst>
                <a:ext uri="{FF2B5EF4-FFF2-40B4-BE49-F238E27FC236}">
                  <a16:creationId xmlns:a16="http://schemas.microsoft.com/office/drawing/2014/main" id="{115F6765-A644-790D-7450-A6F8778B4358}"/>
                </a:ext>
              </a:extLst>
            </p:cNvPr>
            <p:cNvSpPr txBox="1">
              <a:spLocks noChangeArrowheads="1"/>
            </p:cNvSpPr>
            <p:nvPr/>
          </p:nvSpPr>
          <p:spPr bwMode="auto">
            <a:xfrm>
              <a:off x="8321697" y="3170678"/>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99"/>
                  </a:solidFill>
                  <a:latin typeface="微软雅黑" pitchFamily="34" charset="-122"/>
                  <a:ea typeface="微软雅黑" pitchFamily="34" charset="-122"/>
                </a:rPr>
                <a:t>t</a:t>
              </a:r>
            </a:p>
          </p:txBody>
        </p:sp>
        <p:sp>
          <p:nvSpPr>
            <p:cNvPr id="32" name="Line 34">
              <a:extLst>
                <a:ext uri="{FF2B5EF4-FFF2-40B4-BE49-F238E27FC236}">
                  <a16:creationId xmlns:a16="http://schemas.microsoft.com/office/drawing/2014/main" id="{B2EF007B-8F81-1F5B-B91E-11BCDF02D05C}"/>
                </a:ext>
              </a:extLst>
            </p:cNvPr>
            <p:cNvSpPr>
              <a:spLocks noChangeShapeType="1"/>
            </p:cNvSpPr>
            <p:nvPr/>
          </p:nvSpPr>
          <p:spPr bwMode="auto">
            <a:xfrm>
              <a:off x="6655703" y="3161627"/>
              <a:ext cx="0" cy="756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35">
              <a:extLst>
                <a:ext uri="{FF2B5EF4-FFF2-40B4-BE49-F238E27FC236}">
                  <a16:creationId xmlns:a16="http://schemas.microsoft.com/office/drawing/2014/main" id="{8E93B09B-B372-E67C-9E9D-D29BDCE4D621}"/>
                </a:ext>
              </a:extLst>
            </p:cNvPr>
            <p:cNvSpPr>
              <a:spLocks noChangeShapeType="1"/>
            </p:cNvSpPr>
            <p:nvPr/>
          </p:nvSpPr>
          <p:spPr bwMode="auto">
            <a:xfrm>
              <a:off x="1814606" y="2857903"/>
              <a:ext cx="0" cy="768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36">
              <a:extLst>
                <a:ext uri="{FF2B5EF4-FFF2-40B4-BE49-F238E27FC236}">
                  <a16:creationId xmlns:a16="http://schemas.microsoft.com/office/drawing/2014/main" id="{7650B428-E62A-F929-77B6-73C2C8847141}"/>
                </a:ext>
              </a:extLst>
            </p:cNvPr>
            <p:cNvSpPr>
              <a:spLocks noChangeShapeType="1"/>
            </p:cNvSpPr>
            <p:nvPr/>
          </p:nvSpPr>
          <p:spPr bwMode="auto">
            <a:xfrm>
              <a:off x="2306075" y="3465349"/>
              <a:ext cx="0" cy="756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Line 37">
              <a:extLst>
                <a:ext uri="{FF2B5EF4-FFF2-40B4-BE49-F238E27FC236}">
                  <a16:creationId xmlns:a16="http://schemas.microsoft.com/office/drawing/2014/main" id="{A41F58C4-8E73-6DE9-AE8C-D0954524E792}"/>
                </a:ext>
              </a:extLst>
            </p:cNvPr>
            <p:cNvSpPr>
              <a:spLocks noChangeShapeType="1"/>
            </p:cNvSpPr>
            <p:nvPr/>
          </p:nvSpPr>
          <p:spPr bwMode="auto">
            <a:xfrm>
              <a:off x="2796153" y="2857903"/>
              <a:ext cx="0" cy="768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Line 38">
              <a:extLst>
                <a:ext uri="{FF2B5EF4-FFF2-40B4-BE49-F238E27FC236}">
                  <a16:creationId xmlns:a16="http://schemas.microsoft.com/office/drawing/2014/main" id="{4BD463BA-E4AF-E395-4F97-C83255858D44}"/>
                </a:ext>
              </a:extLst>
            </p:cNvPr>
            <p:cNvSpPr>
              <a:spLocks noChangeShapeType="1"/>
            </p:cNvSpPr>
            <p:nvPr/>
          </p:nvSpPr>
          <p:spPr bwMode="auto">
            <a:xfrm>
              <a:off x="1814606" y="4072796"/>
              <a:ext cx="0" cy="756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Line 39">
              <a:extLst>
                <a:ext uri="{FF2B5EF4-FFF2-40B4-BE49-F238E27FC236}">
                  <a16:creationId xmlns:a16="http://schemas.microsoft.com/office/drawing/2014/main" id="{A5C65B28-FA66-A6BE-DEE7-8A7348ECD6C9}"/>
                </a:ext>
              </a:extLst>
            </p:cNvPr>
            <p:cNvSpPr>
              <a:spLocks noChangeShapeType="1"/>
            </p:cNvSpPr>
            <p:nvPr/>
          </p:nvSpPr>
          <p:spPr bwMode="auto">
            <a:xfrm>
              <a:off x="3287622" y="3465349"/>
              <a:ext cx="0" cy="756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Line 40">
              <a:extLst>
                <a:ext uri="{FF2B5EF4-FFF2-40B4-BE49-F238E27FC236}">
                  <a16:creationId xmlns:a16="http://schemas.microsoft.com/office/drawing/2014/main" id="{AE7B54A1-AE1D-8A84-45AC-B22163384F52}"/>
                </a:ext>
              </a:extLst>
            </p:cNvPr>
            <p:cNvSpPr>
              <a:spLocks noChangeShapeType="1"/>
            </p:cNvSpPr>
            <p:nvPr/>
          </p:nvSpPr>
          <p:spPr bwMode="auto">
            <a:xfrm>
              <a:off x="2796153" y="4072796"/>
              <a:ext cx="0" cy="756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Line 41">
              <a:extLst>
                <a:ext uri="{FF2B5EF4-FFF2-40B4-BE49-F238E27FC236}">
                  <a16:creationId xmlns:a16="http://schemas.microsoft.com/office/drawing/2014/main" id="{4F3F3B43-4449-838A-9FE2-3207A441274B}"/>
                </a:ext>
              </a:extLst>
            </p:cNvPr>
            <p:cNvSpPr>
              <a:spLocks noChangeShapeType="1"/>
            </p:cNvSpPr>
            <p:nvPr/>
          </p:nvSpPr>
          <p:spPr bwMode="auto">
            <a:xfrm>
              <a:off x="4762025" y="3314129"/>
              <a:ext cx="0" cy="1512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Line 42">
              <a:extLst>
                <a:ext uri="{FF2B5EF4-FFF2-40B4-BE49-F238E27FC236}">
                  <a16:creationId xmlns:a16="http://schemas.microsoft.com/office/drawing/2014/main" id="{A698F07C-D9F1-8D69-7B36-6BEE3A91B92F}"/>
                </a:ext>
              </a:extLst>
            </p:cNvPr>
            <p:cNvSpPr>
              <a:spLocks noChangeShapeType="1"/>
            </p:cNvSpPr>
            <p:nvPr/>
          </p:nvSpPr>
          <p:spPr bwMode="auto">
            <a:xfrm>
              <a:off x="5603351" y="3314129"/>
              <a:ext cx="0" cy="1512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1" name="Line 43">
              <a:extLst>
                <a:ext uri="{FF2B5EF4-FFF2-40B4-BE49-F238E27FC236}">
                  <a16:creationId xmlns:a16="http://schemas.microsoft.com/office/drawing/2014/main" id="{A46919F2-DF3F-A011-5B4D-CBA3E653E63A}"/>
                </a:ext>
              </a:extLst>
            </p:cNvPr>
            <p:cNvSpPr>
              <a:spLocks noChangeShapeType="1"/>
            </p:cNvSpPr>
            <p:nvPr/>
          </p:nvSpPr>
          <p:spPr bwMode="auto">
            <a:xfrm>
              <a:off x="6444678" y="3314129"/>
              <a:ext cx="0" cy="1512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Line 44">
              <a:extLst>
                <a:ext uri="{FF2B5EF4-FFF2-40B4-BE49-F238E27FC236}">
                  <a16:creationId xmlns:a16="http://schemas.microsoft.com/office/drawing/2014/main" id="{C56EB1B9-F0A2-6B2E-EF6B-ED694AA2F866}"/>
                </a:ext>
              </a:extLst>
            </p:cNvPr>
            <p:cNvSpPr>
              <a:spLocks noChangeShapeType="1"/>
            </p:cNvSpPr>
            <p:nvPr/>
          </p:nvSpPr>
          <p:spPr bwMode="auto">
            <a:xfrm>
              <a:off x="7287393" y="3314129"/>
              <a:ext cx="0" cy="1512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45">
              <a:extLst>
                <a:ext uri="{FF2B5EF4-FFF2-40B4-BE49-F238E27FC236}">
                  <a16:creationId xmlns:a16="http://schemas.microsoft.com/office/drawing/2014/main" id="{5588F703-8C41-60EE-4F71-267FCC0FD432}"/>
                </a:ext>
              </a:extLst>
            </p:cNvPr>
            <p:cNvSpPr>
              <a:spLocks noChangeShapeType="1"/>
            </p:cNvSpPr>
            <p:nvPr/>
          </p:nvSpPr>
          <p:spPr bwMode="auto">
            <a:xfrm>
              <a:off x="4762026" y="3389739"/>
              <a:ext cx="841327"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4" name="Line 46">
              <a:extLst>
                <a:ext uri="{FF2B5EF4-FFF2-40B4-BE49-F238E27FC236}">
                  <a16:creationId xmlns:a16="http://schemas.microsoft.com/office/drawing/2014/main" id="{94AB7138-6487-9CF0-F713-B606CA512D45}"/>
                </a:ext>
              </a:extLst>
            </p:cNvPr>
            <p:cNvSpPr>
              <a:spLocks noChangeShapeType="1"/>
            </p:cNvSpPr>
            <p:nvPr/>
          </p:nvSpPr>
          <p:spPr bwMode="auto">
            <a:xfrm>
              <a:off x="5603352" y="3389739"/>
              <a:ext cx="841327"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7">
              <a:extLst>
                <a:ext uri="{FF2B5EF4-FFF2-40B4-BE49-F238E27FC236}">
                  <a16:creationId xmlns:a16="http://schemas.microsoft.com/office/drawing/2014/main" id="{9BEAAA94-E85D-482C-B2BA-4C98E0573E34}"/>
                </a:ext>
              </a:extLst>
            </p:cNvPr>
            <p:cNvSpPr>
              <a:spLocks noChangeShapeType="1"/>
            </p:cNvSpPr>
            <p:nvPr/>
          </p:nvSpPr>
          <p:spPr bwMode="auto">
            <a:xfrm>
              <a:off x="6444679" y="3389739"/>
              <a:ext cx="842715"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6" name="Text Box 48">
              <a:extLst>
                <a:ext uri="{FF2B5EF4-FFF2-40B4-BE49-F238E27FC236}">
                  <a16:creationId xmlns:a16="http://schemas.microsoft.com/office/drawing/2014/main" id="{6224BFAF-0AFA-81F2-CA7F-E9F0CC131E43}"/>
                </a:ext>
              </a:extLst>
            </p:cNvPr>
            <p:cNvSpPr txBox="1">
              <a:spLocks noChangeArrowheads="1"/>
            </p:cNvSpPr>
            <p:nvPr/>
          </p:nvSpPr>
          <p:spPr bwMode="auto">
            <a:xfrm>
              <a:off x="5747700" y="3971555"/>
              <a:ext cx="14253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FF"/>
                  </a:solidFill>
                  <a:latin typeface="微软雅黑" pitchFamily="34" charset="-122"/>
                  <a:ea typeface="微软雅黑" pitchFamily="34" charset="-122"/>
                </a:rPr>
                <a:t>4 </a:t>
              </a:r>
              <a:r>
                <a:rPr kumimoji="1" lang="zh-CN" altLang="en-US" sz="1400" b="1" dirty="0">
                  <a:solidFill>
                    <a:srgbClr val="0000FF"/>
                  </a:solidFill>
                  <a:latin typeface="微软雅黑" pitchFamily="34" charset="-122"/>
                  <a:ea typeface="微软雅黑" pitchFamily="34" charset="-122"/>
                </a:rPr>
                <a:t>个时分复用帧</a:t>
              </a:r>
            </a:p>
          </p:txBody>
        </p:sp>
        <p:sp>
          <p:nvSpPr>
            <p:cNvPr id="47" name="Text Box 49">
              <a:extLst>
                <a:ext uri="{FF2B5EF4-FFF2-40B4-BE49-F238E27FC236}">
                  <a16:creationId xmlns:a16="http://schemas.microsoft.com/office/drawing/2014/main" id="{5C480DC6-A062-0751-2037-397FAEE26AE2}"/>
                </a:ext>
              </a:extLst>
            </p:cNvPr>
            <p:cNvSpPr txBox="1">
              <a:spLocks noChangeArrowheads="1"/>
            </p:cNvSpPr>
            <p:nvPr/>
          </p:nvSpPr>
          <p:spPr bwMode="auto">
            <a:xfrm>
              <a:off x="4971663" y="3348731"/>
              <a:ext cx="4106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FF"/>
                  </a:solidFill>
                  <a:latin typeface="微软雅黑" pitchFamily="34" charset="-122"/>
                  <a:ea typeface="微软雅黑" pitchFamily="34" charset="-122"/>
                </a:rPr>
                <a:t>#1</a:t>
              </a:r>
            </a:p>
          </p:txBody>
        </p:sp>
        <p:sp>
          <p:nvSpPr>
            <p:cNvPr id="48" name="Line 50">
              <a:extLst>
                <a:ext uri="{FF2B5EF4-FFF2-40B4-BE49-F238E27FC236}">
                  <a16:creationId xmlns:a16="http://schemas.microsoft.com/office/drawing/2014/main" id="{181B8569-FA37-8F33-B464-A81408ACAA1B}"/>
                </a:ext>
              </a:extLst>
            </p:cNvPr>
            <p:cNvSpPr>
              <a:spLocks noChangeShapeType="1"/>
            </p:cNvSpPr>
            <p:nvPr/>
          </p:nvSpPr>
          <p:spPr bwMode="auto">
            <a:xfrm>
              <a:off x="3631927" y="2370921"/>
              <a:ext cx="919073" cy="563874"/>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9" name="Line 51">
              <a:extLst>
                <a:ext uri="{FF2B5EF4-FFF2-40B4-BE49-F238E27FC236}">
                  <a16:creationId xmlns:a16="http://schemas.microsoft.com/office/drawing/2014/main" id="{49EF64C9-F12F-CD8A-4947-438B59BBA673}"/>
                </a:ext>
              </a:extLst>
            </p:cNvPr>
            <p:cNvSpPr>
              <a:spLocks noChangeShapeType="1"/>
            </p:cNvSpPr>
            <p:nvPr/>
          </p:nvSpPr>
          <p:spPr bwMode="auto">
            <a:xfrm>
              <a:off x="3631927" y="2952736"/>
              <a:ext cx="848268" cy="133279"/>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52">
              <a:extLst>
                <a:ext uri="{FF2B5EF4-FFF2-40B4-BE49-F238E27FC236}">
                  <a16:creationId xmlns:a16="http://schemas.microsoft.com/office/drawing/2014/main" id="{06F9DFF5-E995-14AD-DDEC-4CA8D7C5943E}"/>
                </a:ext>
              </a:extLst>
            </p:cNvPr>
            <p:cNvSpPr>
              <a:spLocks noChangeShapeType="1"/>
            </p:cNvSpPr>
            <p:nvPr/>
          </p:nvSpPr>
          <p:spPr bwMode="auto">
            <a:xfrm flipV="1">
              <a:off x="3694402" y="3237237"/>
              <a:ext cx="785793" cy="296034"/>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53">
              <a:extLst>
                <a:ext uri="{FF2B5EF4-FFF2-40B4-BE49-F238E27FC236}">
                  <a16:creationId xmlns:a16="http://schemas.microsoft.com/office/drawing/2014/main" id="{50CA2C32-8D0B-264F-DABB-D1957B397223}"/>
                </a:ext>
              </a:extLst>
            </p:cNvPr>
            <p:cNvSpPr>
              <a:spLocks noChangeShapeType="1"/>
            </p:cNvSpPr>
            <p:nvPr/>
          </p:nvSpPr>
          <p:spPr bwMode="auto">
            <a:xfrm flipV="1">
              <a:off x="3708285" y="3389739"/>
              <a:ext cx="842714" cy="683057"/>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54">
              <a:extLst>
                <a:ext uri="{FF2B5EF4-FFF2-40B4-BE49-F238E27FC236}">
                  <a16:creationId xmlns:a16="http://schemas.microsoft.com/office/drawing/2014/main" id="{2735607F-616B-56F2-1CB4-F85EC1EBA22F}"/>
                </a:ext>
              </a:extLst>
            </p:cNvPr>
            <p:cNvSpPr txBox="1">
              <a:spLocks noChangeArrowheads="1"/>
            </p:cNvSpPr>
            <p:nvPr/>
          </p:nvSpPr>
          <p:spPr bwMode="auto">
            <a:xfrm>
              <a:off x="3694401" y="3592222"/>
              <a:ext cx="3642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99"/>
                  </a:solidFill>
                  <a:latin typeface="微软雅黑" pitchFamily="34" charset="-122"/>
                  <a:ea typeface="微软雅黑" pitchFamily="34" charset="-122"/>
                </a:rPr>
                <a:t>④</a:t>
              </a:r>
            </a:p>
          </p:txBody>
        </p:sp>
        <p:sp>
          <p:nvSpPr>
            <p:cNvPr id="53" name="Text Box 55">
              <a:extLst>
                <a:ext uri="{FF2B5EF4-FFF2-40B4-BE49-F238E27FC236}">
                  <a16:creationId xmlns:a16="http://schemas.microsoft.com/office/drawing/2014/main" id="{D067AC9A-7BBC-962E-F9CF-45EEAD0AC786}"/>
                </a:ext>
              </a:extLst>
            </p:cNvPr>
            <p:cNvSpPr txBox="1">
              <a:spLocks noChangeArrowheads="1"/>
            </p:cNvSpPr>
            <p:nvPr/>
          </p:nvSpPr>
          <p:spPr bwMode="auto">
            <a:xfrm>
              <a:off x="3694401" y="3146594"/>
              <a:ext cx="3642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99"/>
                  </a:solidFill>
                  <a:latin typeface="微软雅黑" pitchFamily="34" charset="-122"/>
                  <a:ea typeface="微软雅黑" pitchFamily="34" charset="-122"/>
                </a:rPr>
                <a:t>③</a:t>
              </a:r>
            </a:p>
          </p:txBody>
        </p:sp>
        <p:sp>
          <p:nvSpPr>
            <p:cNvPr id="54" name="Text Box 56">
              <a:extLst>
                <a:ext uri="{FF2B5EF4-FFF2-40B4-BE49-F238E27FC236}">
                  <a16:creationId xmlns:a16="http://schemas.microsoft.com/office/drawing/2014/main" id="{B48DFFFC-A3C2-15F7-C3BA-59E489B6B8FD}"/>
                </a:ext>
              </a:extLst>
            </p:cNvPr>
            <p:cNvSpPr txBox="1">
              <a:spLocks noChangeArrowheads="1"/>
            </p:cNvSpPr>
            <p:nvPr/>
          </p:nvSpPr>
          <p:spPr bwMode="auto">
            <a:xfrm>
              <a:off x="3694401" y="2661829"/>
              <a:ext cx="3642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99"/>
                  </a:solidFill>
                  <a:latin typeface="微软雅黑" pitchFamily="34" charset="-122"/>
                  <a:ea typeface="微软雅黑" pitchFamily="34" charset="-122"/>
                </a:rPr>
                <a:t>②</a:t>
              </a:r>
            </a:p>
          </p:txBody>
        </p:sp>
        <p:sp>
          <p:nvSpPr>
            <p:cNvPr id="55" name="Text Box 57">
              <a:extLst>
                <a:ext uri="{FF2B5EF4-FFF2-40B4-BE49-F238E27FC236}">
                  <a16:creationId xmlns:a16="http://schemas.microsoft.com/office/drawing/2014/main" id="{835D2522-5D5B-4E57-A666-FEAADB7E5BD3}"/>
                </a:ext>
              </a:extLst>
            </p:cNvPr>
            <p:cNvSpPr txBox="1">
              <a:spLocks noChangeArrowheads="1"/>
            </p:cNvSpPr>
            <p:nvPr/>
          </p:nvSpPr>
          <p:spPr bwMode="auto">
            <a:xfrm>
              <a:off x="3694401" y="2196631"/>
              <a:ext cx="36420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solidFill>
                    <a:srgbClr val="000099"/>
                  </a:solidFill>
                  <a:latin typeface="微软雅黑" pitchFamily="34" charset="-122"/>
                  <a:ea typeface="微软雅黑" pitchFamily="34" charset="-122"/>
                </a:rPr>
                <a:t>①</a:t>
              </a:r>
            </a:p>
          </p:txBody>
        </p:sp>
        <p:sp>
          <p:nvSpPr>
            <p:cNvPr id="56" name="Freeform 58">
              <a:extLst>
                <a:ext uri="{FF2B5EF4-FFF2-40B4-BE49-F238E27FC236}">
                  <a16:creationId xmlns:a16="http://schemas.microsoft.com/office/drawing/2014/main" id="{3BF1ACA9-831D-1DA0-E839-FB7B652D4207}"/>
                </a:ext>
              </a:extLst>
            </p:cNvPr>
            <p:cNvSpPr>
              <a:spLocks/>
            </p:cNvSpPr>
            <p:nvPr/>
          </p:nvSpPr>
          <p:spPr bwMode="auto">
            <a:xfrm>
              <a:off x="1323139" y="2023625"/>
              <a:ext cx="491468" cy="303724"/>
            </a:xfrm>
            <a:custGeom>
              <a:avLst/>
              <a:gdLst>
                <a:gd name="T0" fmla="*/ 0 w 1008"/>
                <a:gd name="T1" fmla="*/ 192 h 192"/>
                <a:gd name="T2" fmla="*/ 0 w 1008"/>
                <a:gd name="T3" fmla="*/ 0 h 192"/>
                <a:gd name="T4" fmla="*/ 1008 w 1008"/>
                <a:gd name="T5" fmla="*/ 0 h 192"/>
                <a:gd name="T6" fmla="*/ 1008 w 1008"/>
                <a:gd name="T7" fmla="*/ 192 h 192"/>
              </a:gdLst>
              <a:ahLst/>
              <a:cxnLst>
                <a:cxn ang="0">
                  <a:pos x="T0" y="T1"/>
                </a:cxn>
                <a:cxn ang="0">
                  <a:pos x="T2" y="T3"/>
                </a:cxn>
                <a:cxn ang="0">
                  <a:pos x="T4" y="T5"/>
                </a:cxn>
                <a:cxn ang="0">
                  <a:pos x="T6" y="T7"/>
                </a:cxn>
              </a:cxnLst>
              <a:rect l="0" t="0" r="r" b="b"/>
              <a:pathLst>
                <a:path w="1008" h="192">
                  <a:moveTo>
                    <a:pt x="0" y="192"/>
                  </a:moveTo>
                  <a:lnTo>
                    <a:pt x="0" y="0"/>
                  </a:lnTo>
                  <a:lnTo>
                    <a:pt x="1008" y="0"/>
                  </a:lnTo>
                  <a:lnTo>
                    <a:pt x="1008" y="192"/>
                  </a:lnTo>
                </a:path>
              </a:pathLst>
            </a:custGeom>
            <a:solidFill>
              <a:srgbClr val="FFCC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Line 59">
              <a:extLst>
                <a:ext uri="{FF2B5EF4-FFF2-40B4-BE49-F238E27FC236}">
                  <a16:creationId xmlns:a16="http://schemas.microsoft.com/office/drawing/2014/main" id="{74F8F7B7-5334-1A20-3361-8FDD8A370C96}"/>
                </a:ext>
              </a:extLst>
            </p:cNvPr>
            <p:cNvSpPr>
              <a:spLocks noChangeShapeType="1"/>
            </p:cNvSpPr>
            <p:nvPr/>
          </p:nvSpPr>
          <p:spPr bwMode="auto">
            <a:xfrm>
              <a:off x="3287622" y="2857903"/>
              <a:ext cx="0" cy="768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60">
              <a:extLst>
                <a:ext uri="{FF2B5EF4-FFF2-40B4-BE49-F238E27FC236}">
                  <a16:creationId xmlns:a16="http://schemas.microsoft.com/office/drawing/2014/main" id="{3D739AEB-C70F-5561-81F6-958802DE5A80}"/>
                </a:ext>
              </a:extLst>
            </p:cNvPr>
            <p:cNvSpPr>
              <a:spLocks noChangeShapeType="1"/>
            </p:cNvSpPr>
            <p:nvPr/>
          </p:nvSpPr>
          <p:spPr bwMode="auto">
            <a:xfrm>
              <a:off x="1323139" y="4057417"/>
              <a:ext cx="0" cy="7561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Text Box 61">
              <a:extLst>
                <a:ext uri="{FF2B5EF4-FFF2-40B4-BE49-F238E27FC236}">
                  <a16:creationId xmlns:a16="http://schemas.microsoft.com/office/drawing/2014/main" id="{FA91FA51-A4BA-2CE4-32B9-441F78D132ED}"/>
                </a:ext>
              </a:extLst>
            </p:cNvPr>
            <p:cNvSpPr txBox="1">
              <a:spLocks noChangeArrowheads="1"/>
            </p:cNvSpPr>
            <p:nvPr/>
          </p:nvSpPr>
          <p:spPr bwMode="auto">
            <a:xfrm>
              <a:off x="1413380" y="1990305"/>
              <a:ext cx="3032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dirty="0">
                  <a:latin typeface="微软雅黑" pitchFamily="34" charset="-122"/>
                  <a:ea typeface="微软雅黑" pitchFamily="34" charset="-122"/>
                </a:rPr>
                <a:t>a</a:t>
              </a:r>
            </a:p>
          </p:txBody>
        </p:sp>
        <p:sp>
          <p:nvSpPr>
            <p:cNvPr id="60" name="Text Box 62">
              <a:extLst>
                <a:ext uri="{FF2B5EF4-FFF2-40B4-BE49-F238E27FC236}">
                  <a16:creationId xmlns:a16="http://schemas.microsoft.com/office/drawing/2014/main" id="{200023C4-CCD0-B627-3346-02D7CEBC8FF0}"/>
                </a:ext>
              </a:extLst>
            </p:cNvPr>
            <p:cNvSpPr txBox="1">
              <a:spLocks noChangeArrowheads="1"/>
            </p:cNvSpPr>
            <p:nvPr/>
          </p:nvSpPr>
          <p:spPr bwMode="auto">
            <a:xfrm>
              <a:off x="1928449" y="3202636"/>
              <a:ext cx="2904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c</a:t>
              </a:r>
            </a:p>
          </p:txBody>
        </p:sp>
        <p:sp>
          <p:nvSpPr>
            <p:cNvPr id="61" name="Text Box 63">
              <a:extLst>
                <a:ext uri="{FF2B5EF4-FFF2-40B4-BE49-F238E27FC236}">
                  <a16:creationId xmlns:a16="http://schemas.microsoft.com/office/drawing/2014/main" id="{C19F1520-C35C-F7A2-8D2B-EA20B1C0E0ED}"/>
                </a:ext>
              </a:extLst>
            </p:cNvPr>
            <p:cNvSpPr txBox="1">
              <a:spLocks noChangeArrowheads="1"/>
            </p:cNvSpPr>
            <p:nvPr/>
          </p:nvSpPr>
          <p:spPr bwMode="auto">
            <a:xfrm>
              <a:off x="1952050" y="2631073"/>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b</a:t>
              </a:r>
            </a:p>
          </p:txBody>
        </p:sp>
        <p:sp>
          <p:nvSpPr>
            <p:cNvPr id="62" name="Line 64">
              <a:extLst>
                <a:ext uri="{FF2B5EF4-FFF2-40B4-BE49-F238E27FC236}">
                  <a16:creationId xmlns:a16="http://schemas.microsoft.com/office/drawing/2014/main" id="{37F7A06E-AED3-F39D-2208-07037D281927}"/>
                </a:ext>
              </a:extLst>
            </p:cNvPr>
            <p:cNvSpPr>
              <a:spLocks noChangeShapeType="1"/>
            </p:cNvSpPr>
            <p:nvPr/>
          </p:nvSpPr>
          <p:spPr bwMode="auto">
            <a:xfrm>
              <a:off x="5392326" y="3161627"/>
              <a:ext cx="0" cy="756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3" name="Line 65">
              <a:extLst>
                <a:ext uri="{FF2B5EF4-FFF2-40B4-BE49-F238E27FC236}">
                  <a16:creationId xmlns:a16="http://schemas.microsoft.com/office/drawing/2014/main" id="{B7881DF5-9E46-19A2-530F-60B04C08416C}"/>
                </a:ext>
              </a:extLst>
            </p:cNvPr>
            <p:cNvSpPr>
              <a:spLocks noChangeShapeType="1"/>
            </p:cNvSpPr>
            <p:nvPr/>
          </p:nvSpPr>
          <p:spPr bwMode="auto">
            <a:xfrm>
              <a:off x="5603351" y="3161627"/>
              <a:ext cx="0" cy="756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Line 66">
              <a:extLst>
                <a:ext uri="{FF2B5EF4-FFF2-40B4-BE49-F238E27FC236}">
                  <a16:creationId xmlns:a16="http://schemas.microsoft.com/office/drawing/2014/main" id="{C14C1ABA-74B3-3B90-1F87-5BE589A6233B}"/>
                </a:ext>
              </a:extLst>
            </p:cNvPr>
            <p:cNvSpPr>
              <a:spLocks noChangeShapeType="1"/>
            </p:cNvSpPr>
            <p:nvPr/>
          </p:nvSpPr>
          <p:spPr bwMode="auto">
            <a:xfrm>
              <a:off x="7287393" y="3389739"/>
              <a:ext cx="841327"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5" name="Line 67">
              <a:extLst>
                <a:ext uri="{FF2B5EF4-FFF2-40B4-BE49-F238E27FC236}">
                  <a16:creationId xmlns:a16="http://schemas.microsoft.com/office/drawing/2014/main" id="{7C111F87-2F54-2B12-AC03-7A5762151003}"/>
                </a:ext>
              </a:extLst>
            </p:cNvPr>
            <p:cNvSpPr>
              <a:spLocks noChangeShapeType="1"/>
            </p:cNvSpPr>
            <p:nvPr/>
          </p:nvSpPr>
          <p:spPr bwMode="auto">
            <a:xfrm>
              <a:off x="8128720" y="3314129"/>
              <a:ext cx="0" cy="1512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6" name="Line 68">
              <a:extLst>
                <a:ext uri="{FF2B5EF4-FFF2-40B4-BE49-F238E27FC236}">
                  <a16:creationId xmlns:a16="http://schemas.microsoft.com/office/drawing/2014/main" id="{3850A98C-3B1B-4FBA-0E7B-A0903384F5B5}"/>
                </a:ext>
              </a:extLst>
            </p:cNvPr>
            <p:cNvSpPr>
              <a:spLocks noChangeShapeType="1"/>
            </p:cNvSpPr>
            <p:nvPr/>
          </p:nvSpPr>
          <p:spPr bwMode="auto">
            <a:xfrm>
              <a:off x="7708056" y="3161627"/>
              <a:ext cx="0" cy="756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5" name="Line 69">
              <a:extLst>
                <a:ext uri="{FF2B5EF4-FFF2-40B4-BE49-F238E27FC236}">
                  <a16:creationId xmlns:a16="http://schemas.microsoft.com/office/drawing/2014/main" id="{48FDF9D4-FDDB-76BF-BBA5-0EAED5FD7DC8}"/>
                </a:ext>
              </a:extLst>
            </p:cNvPr>
            <p:cNvSpPr>
              <a:spLocks noChangeShapeType="1"/>
            </p:cNvSpPr>
            <p:nvPr/>
          </p:nvSpPr>
          <p:spPr bwMode="auto">
            <a:xfrm>
              <a:off x="6444678" y="3161627"/>
              <a:ext cx="0" cy="7561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6" name="Text Box 72">
              <a:extLst>
                <a:ext uri="{FF2B5EF4-FFF2-40B4-BE49-F238E27FC236}">
                  <a16:creationId xmlns:a16="http://schemas.microsoft.com/office/drawing/2014/main" id="{11DDA9E1-F348-8458-988A-123DB8E5C66C}"/>
                </a:ext>
              </a:extLst>
            </p:cNvPr>
            <p:cNvSpPr txBox="1">
              <a:spLocks noChangeArrowheads="1"/>
            </p:cNvSpPr>
            <p:nvPr/>
          </p:nvSpPr>
          <p:spPr bwMode="auto">
            <a:xfrm>
              <a:off x="3807039" y="391890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CC00CC"/>
                  </a:solidFill>
                  <a:latin typeface="微软雅黑" pitchFamily="34" charset="-122"/>
                  <a:ea typeface="微软雅黑" pitchFamily="34" charset="-122"/>
                </a:rPr>
                <a:t>时分复用</a:t>
              </a:r>
            </a:p>
          </p:txBody>
        </p:sp>
        <p:sp>
          <p:nvSpPr>
            <p:cNvPr id="117" name="Text Box 73">
              <a:extLst>
                <a:ext uri="{FF2B5EF4-FFF2-40B4-BE49-F238E27FC236}">
                  <a16:creationId xmlns:a16="http://schemas.microsoft.com/office/drawing/2014/main" id="{E5439F13-8991-DC70-79A5-B24C4D310BF3}"/>
                </a:ext>
              </a:extLst>
            </p:cNvPr>
            <p:cNvSpPr txBox="1">
              <a:spLocks noChangeArrowheads="1"/>
            </p:cNvSpPr>
            <p:nvPr/>
          </p:nvSpPr>
          <p:spPr bwMode="auto">
            <a:xfrm>
              <a:off x="5814378" y="3348731"/>
              <a:ext cx="4106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FF"/>
                  </a:solidFill>
                  <a:latin typeface="微软雅黑" pitchFamily="34" charset="-122"/>
                  <a:ea typeface="微软雅黑" pitchFamily="34" charset="-122"/>
                </a:rPr>
                <a:t>#2</a:t>
              </a:r>
            </a:p>
          </p:txBody>
        </p:sp>
        <p:sp>
          <p:nvSpPr>
            <p:cNvPr id="118" name="Text Box 74">
              <a:extLst>
                <a:ext uri="{FF2B5EF4-FFF2-40B4-BE49-F238E27FC236}">
                  <a16:creationId xmlns:a16="http://schemas.microsoft.com/office/drawing/2014/main" id="{471D933C-7B5E-9080-BC2F-0D43FCA94786}"/>
                </a:ext>
              </a:extLst>
            </p:cNvPr>
            <p:cNvSpPr txBox="1">
              <a:spLocks noChangeArrowheads="1"/>
            </p:cNvSpPr>
            <p:nvPr/>
          </p:nvSpPr>
          <p:spPr bwMode="auto">
            <a:xfrm>
              <a:off x="6697353" y="3348731"/>
              <a:ext cx="4106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FF"/>
                  </a:solidFill>
                  <a:latin typeface="微软雅黑" pitchFamily="34" charset="-122"/>
                  <a:ea typeface="微软雅黑" pitchFamily="34" charset="-122"/>
                </a:rPr>
                <a:t>#3</a:t>
              </a:r>
            </a:p>
          </p:txBody>
        </p:sp>
        <p:sp>
          <p:nvSpPr>
            <p:cNvPr id="119" name="Text Box 75">
              <a:extLst>
                <a:ext uri="{FF2B5EF4-FFF2-40B4-BE49-F238E27FC236}">
                  <a16:creationId xmlns:a16="http://schemas.microsoft.com/office/drawing/2014/main" id="{A5637931-DC1B-C9E4-F3C2-C98D4FBCC156}"/>
                </a:ext>
              </a:extLst>
            </p:cNvPr>
            <p:cNvSpPr txBox="1">
              <a:spLocks noChangeArrowheads="1"/>
            </p:cNvSpPr>
            <p:nvPr/>
          </p:nvSpPr>
          <p:spPr bwMode="auto">
            <a:xfrm>
              <a:off x="7538680" y="3348731"/>
              <a:ext cx="4106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solidFill>
                    <a:srgbClr val="0000FF"/>
                  </a:solidFill>
                  <a:latin typeface="微软雅黑" pitchFamily="34" charset="-122"/>
                  <a:ea typeface="微软雅黑" pitchFamily="34" charset="-122"/>
                </a:rPr>
                <a:t>#4</a:t>
              </a:r>
            </a:p>
          </p:txBody>
        </p:sp>
        <p:sp>
          <p:nvSpPr>
            <p:cNvPr id="120" name="Line 76">
              <a:extLst>
                <a:ext uri="{FF2B5EF4-FFF2-40B4-BE49-F238E27FC236}">
                  <a16:creationId xmlns:a16="http://schemas.microsoft.com/office/drawing/2014/main" id="{20815DB4-55A7-C4EC-39D2-435DB36A4FA3}"/>
                </a:ext>
              </a:extLst>
            </p:cNvPr>
            <p:cNvSpPr>
              <a:spLocks noChangeShapeType="1"/>
            </p:cNvSpPr>
            <p:nvPr/>
          </p:nvSpPr>
          <p:spPr bwMode="auto">
            <a:xfrm>
              <a:off x="5252106" y="3669113"/>
              <a:ext cx="1052352" cy="303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1" name="Line 77">
              <a:extLst>
                <a:ext uri="{FF2B5EF4-FFF2-40B4-BE49-F238E27FC236}">
                  <a16:creationId xmlns:a16="http://schemas.microsoft.com/office/drawing/2014/main" id="{20980411-533B-3A79-3B1A-854CD58C9380}"/>
                </a:ext>
              </a:extLst>
            </p:cNvPr>
            <p:cNvSpPr>
              <a:spLocks noChangeShapeType="1"/>
            </p:cNvSpPr>
            <p:nvPr/>
          </p:nvSpPr>
          <p:spPr bwMode="auto">
            <a:xfrm>
              <a:off x="6024015" y="3669113"/>
              <a:ext cx="420662" cy="303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2" name="Line 78">
              <a:extLst>
                <a:ext uri="{FF2B5EF4-FFF2-40B4-BE49-F238E27FC236}">
                  <a16:creationId xmlns:a16="http://schemas.microsoft.com/office/drawing/2014/main" id="{45A33463-A430-6C60-27B1-A1DF0DD82C88}"/>
                </a:ext>
              </a:extLst>
            </p:cNvPr>
            <p:cNvSpPr>
              <a:spLocks noChangeShapeType="1"/>
            </p:cNvSpPr>
            <p:nvPr/>
          </p:nvSpPr>
          <p:spPr bwMode="auto">
            <a:xfrm flipH="1">
              <a:off x="6515483" y="3669113"/>
              <a:ext cx="351247" cy="303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3" name="Line 79">
              <a:extLst>
                <a:ext uri="{FF2B5EF4-FFF2-40B4-BE49-F238E27FC236}">
                  <a16:creationId xmlns:a16="http://schemas.microsoft.com/office/drawing/2014/main" id="{000D7B0F-3077-E2E4-0E6D-7431D61B5D9B}"/>
                </a:ext>
              </a:extLst>
            </p:cNvPr>
            <p:cNvSpPr>
              <a:spLocks noChangeShapeType="1"/>
            </p:cNvSpPr>
            <p:nvPr/>
          </p:nvSpPr>
          <p:spPr bwMode="auto">
            <a:xfrm flipV="1">
              <a:off x="6655704" y="3669113"/>
              <a:ext cx="1052352" cy="303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4" name="Text Box 80">
              <a:extLst>
                <a:ext uri="{FF2B5EF4-FFF2-40B4-BE49-F238E27FC236}">
                  <a16:creationId xmlns:a16="http://schemas.microsoft.com/office/drawing/2014/main" id="{79C6F7D1-2999-E657-C634-172FFBDCB8CB}"/>
                </a:ext>
              </a:extLst>
            </p:cNvPr>
            <p:cNvSpPr txBox="1">
              <a:spLocks noChangeArrowheads="1"/>
            </p:cNvSpPr>
            <p:nvPr/>
          </p:nvSpPr>
          <p:spPr bwMode="auto">
            <a:xfrm>
              <a:off x="518863" y="199317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99"/>
                  </a:solidFill>
                  <a:latin typeface="微软雅黑" pitchFamily="34" charset="-122"/>
                  <a:ea typeface="微软雅黑" pitchFamily="34" charset="-122"/>
                </a:rPr>
                <a:t>用户</a:t>
              </a:r>
            </a:p>
          </p:txBody>
        </p:sp>
        <p:sp>
          <p:nvSpPr>
            <p:cNvPr id="125" name="Line 81">
              <a:extLst>
                <a:ext uri="{FF2B5EF4-FFF2-40B4-BE49-F238E27FC236}">
                  <a16:creationId xmlns:a16="http://schemas.microsoft.com/office/drawing/2014/main" id="{3F079DF1-17D9-12E6-7D85-CE7BBEA03BBB}"/>
                </a:ext>
              </a:extLst>
            </p:cNvPr>
            <p:cNvSpPr>
              <a:spLocks noChangeShapeType="1"/>
            </p:cNvSpPr>
            <p:nvPr/>
          </p:nvSpPr>
          <p:spPr bwMode="auto">
            <a:xfrm>
              <a:off x="1253723" y="2327349"/>
              <a:ext cx="231434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6" name="Line 82">
              <a:extLst>
                <a:ext uri="{FF2B5EF4-FFF2-40B4-BE49-F238E27FC236}">
                  <a16:creationId xmlns:a16="http://schemas.microsoft.com/office/drawing/2014/main" id="{9E83FAB6-D289-2A60-1433-CDF59FF7A69D}"/>
                </a:ext>
              </a:extLst>
            </p:cNvPr>
            <p:cNvSpPr>
              <a:spLocks noChangeShapeType="1"/>
            </p:cNvSpPr>
            <p:nvPr/>
          </p:nvSpPr>
          <p:spPr bwMode="auto">
            <a:xfrm>
              <a:off x="1253723" y="2934795"/>
              <a:ext cx="231434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7" name="Line 83">
              <a:extLst>
                <a:ext uri="{FF2B5EF4-FFF2-40B4-BE49-F238E27FC236}">
                  <a16:creationId xmlns:a16="http://schemas.microsoft.com/office/drawing/2014/main" id="{A5E7F042-B0E5-8D70-644B-DCC68CE60993}"/>
                </a:ext>
              </a:extLst>
            </p:cNvPr>
            <p:cNvSpPr>
              <a:spLocks noChangeShapeType="1"/>
            </p:cNvSpPr>
            <p:nvPr/>
          </p:nvSpPr>
          <p:spPr bwMode="auto">
            <a:xfrm>
              <a:off x="1253723" y="3540959"/>
              <a:ext cx="231434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8" name="Line 84">
              <a:extLst>
                <a:ext uri="{FF2B5EF4-FFF2-40B4-BE49-F238E27FC236}">
                  <a16:creationId xmlns:a16="http://schemas.microsoft.com/office/drawing/2014/main" id="{52544414-E554-E237-DF9F-615E19B257B5}"/>
                </a:ext>
              </a:extLst>
            </p:cNvPr>
            <p:cNvSpPr>
              <a:spLocks noChangeShapeType="1"/>
            </p:cNvSpPr>
            <p:nvPr/>
          </p:nvSpPr>
          <p:spPr bwMode="auto">
            <a:xfrm>
              <a:off x="1253723" y="4148406"/>
              <a:ext cx="231434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129" name="Group 85">
              <a:extLst>
                <a:ext uri="{FF2B5EF4-FFF2-40B4-BE49-F238E27FC236}">
                  <a16:creationId xmlns:a16="http://schemas.microsoft.com/office/drawing/2014/main" id="{2B3D2FD9-B3B3-E1F3-A1AE-2F12CB1D816D}"/>
                </a:ext>
              </a:extLst>
            </p:cNvPr>
            <p:cNvGrpSpPr>
              <a:grpSpLocks/>
            </p:cNvGrpSpPr>
            <p:nvPr/>
          </p:nvGrpSpPr>
          <p:grpSpPr bwMode="auto">
            <a:xfrm>
              <a:off x="4764802" y="2778448"/>
              <a:ext cx="3367338" cy="871442"/>
              <a:chOff x="1655" y="1570"/>
              <a:chExt cx="2919" cy="1497"/>
            </a:xfrm>
          </p:grpSpPr>
          <p:sp>
            <p:nvSpPr>
              <p:cNvPr id="138" name="Line 86">
                <a:extLst>
                  <a:ext uri="{FF2B5EF4-FFF2-40B4-BE49-F238E27FC236}">
                    <a16:creationId xmlns:a16="http://schemas.microsoft.com/office/drawing/2014/main" id="{FFE9A60A-BB5C-FCE0-F957-AD021BC0A0AC}"/>
                  </a:ext>
                </a:extLst>
              </p:cNvPr>
              <p:cNvSpPr>
                <a:spLocks noChangeShapeType="1"/>
              </p:cNvSpPr>
              <p:nvPr/>
            </p:nvSpPr>
            <p:spPr bwMode="auto">
              <a:xfrm>
                <a:off x="1655"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9" name="Line 87">
                <a:extLst>
                  <a:ext uri="{FF2B5EF4-FFF2-40B4-BE49-F238E27FC236}">
                    <a16:creationId xmlns:a16="http://schemas.microsoft.com/office/drawing/2014/main" id="{A24BD723-7D9E-F5CA-DE57-222F4CB9CA75}"/>
                  </a:ext>
                </a:extLst>
              </p:cNvPr>
              <p:cNvSpPr>
                <a:spLocks noChangeShapeType="1"/>
              </p:cNvSpPr>
              <p:nvPr/>
            </p:nvSpPr>
            <p:spPr bwMode="auto">
              <a:xfrm>
                <a:off x="2381"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0" name="Line 88">
                <a:extLst>
                  <a:ext uri="{FF2B5EF4-FFF2-40B4-BE49-F238E27FC236}">
                    <a16:creationId xmlns:a16="http://schemas.microsoft.com/office/drawing/2014/main" id="{8132EDFF-A5ED-AF3A-F385-94ADB2788120}"/>
                  </a:ext>
                </a:extLst>
              </p:cNvPr>
              <p:cNvSpPr>
                <a:spLocks noChangeShapeType="1"/>
              </p:cNvSpPr>
              <p:nvPr/>
            </p:nvSpPr>
            <p:spPr bwMode="auto">
              <a:xfrm>
                <a:off x="3107"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1" name="Line 89">
                <a:extLst>
                  <a:ext uri="{FF2B5EF4-FFF2-40B4-BE49-F238E27FC236}">
                    <a16:creationId xmlns:a16="http://schemas.microsoft.com/office/drawing/2014/main" id="{222B6458-BDD9-B43A-3F53-109552C69604}"/>
                  </a:ext>
                </a:extLst>
              </p:cNvPr>
              <p:cNvSpPr>
                <a:spLocks noChangeShapeType="1"/>
              </p:cNvSpPr>
              <p:nvPr/>
            </p:nvSpPr>
            <p:spPr bwMode="auto">
              <a:xfrm>
                <a:off x="3833"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2" name="Line 90">
                <a:extLst>
                  <a:ext uri="{FF2B5EF4-FFF2-40B4-BE49-F238E27FC236}">
                    <a16:creationId xmlns:a16="http://schemas.microsoft.com/office/drawing/2014/main" id="{601993F7-F93E-5B16-1F8E-790B5387951F}"/>
                  </a:ext>
                </a:extLst>
              </p:cNvPr>
              <p:cNvSpPr>
                <a:spLocks noChangeShapeType="1"/>
              </p:cNvSpPr>
              <p:nvPr/>
            </p:nvSpPr>
            <p:spPr bwMode="auto">
              <a:xfrm>
                <a:off x="4574" y="1570"/>
                <a:ext cx="0" cy="1497"/>
              </a:xfrm>
              <a:prstGeom prst="line">
                <a:avLst/>
              </a:prstGeom>
              <a:noFill/>
              <a:ln w="28575">
                <a:solidFill>
                  <a:srgbClr val="0099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130" name="矩形 129">
              <a:extLst>
                <a:ext uri="{FF2B5EF4-FFF2-40B4-BE49-F238E27FC236}">
                  <a16:creationId xmlns:a16="http://schemas.microsoft.com/office/drawing/2014/main" id="{0807602B-3F0F-938B-3F3B-456E78C0F6A9}"/>
                </a:ext>
              </a:extLst>
            </p:cNvPr>
            <p:cNvSpPr/>
            <p:nvPr/>
          </p:nvSpPr>
          <p:spPr>
            <a:xfrm>
              <a:off x="4660026" y="2061335"/>
              <a:ext cx="3679183" cy="533818"/>
            </a:xfrm>
            <a:prstGeom prst="rect">
              <a:avLst/>
            </a:prstGeom>
            <a:solidFill>
              <a:schemeClr val="bg1"/>
            </a:solidFill>
            <a:ln>
              <a:noFill/>
            </a:ln>
          </p:spPr>
          <p:txBody>
            <a:bodyPr wrap="square">
              <a:spAutoFit/>
            </a:bodyPr>
            <a:lstStyle/>
            <a:p>
              <a:r>
                <a:rPr lang="zh-CN" altLang="zh-CN" sz="1400" b="1" dirty="0">
                  <a:solidFill>
                    <a:srgbClr val="008000"/>
                  </a:solidFill>
                  <a:latin typeface="微软雅黑" pitchFamily="34" charset="-122"/>
                  <a:ea typeface="微软雅黑" pitchFamily="34" charset="-122"/>
                </a:rPr>
                <a:t>当某用户暂时无数据发送时，在时分复用帧中分配给该用户的时隙只能处于空闲状态</a:t>
              </a:r>
              <a:r>
                <a:rPr lang="zh-CN" altLang="en-US" sz="1400" b="1" dirty="0">
                  <a:solidFill>
                    <a:srgbClr val="008000"/>
                  </a:solidFill>
                  <a:latin typeface="微软雅黑" pitchFamily="34" charset="-122"/>
                  <a:ea typeface="微软雅黑" pitchFamily="34" charset="-122"/>
                </a:rPr>
                <a:t>。</a:t>
              </a:r>
            </a:p>
          </p:txBody>
        </p:sp>
        <p:sp>
          <p:nvSpPr>
            <p:cNvPr id="131" name="Text Box 21">
              <a:extLst>
                <a:ext uri="{FF2B5EF4-FFF2-40B4-BE49-F238E27FC236}">
                  <a16:creationId xmlns:a16="http://schemas.microsoft.com/office/drawing/2014/main" id="{5F03B99B-4CFD-E078-E281-13D942DFC67C}"/>
                </a:ext>
              </a:extLst>
            </p:cNvPr>
            <p:cNvSpPr txBox="1">
              <a:spLocks noChangeArrowheads="1"/>
            </p:cNvSpPr>
            <p:nvPr/>
          </p:nvSpPr>
          <p:spPr bwMode="auto">
            <a:xfrm>
              <a:off x="7261014" y="2923261"/>
              <a:ext cx="3032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a</a:t>
              </a:r>
            </a:p>
          </p:txBody>
        </p:sp>
        <p:sp>
          <p:nvSpPr>
            <p:cNvPr id="132" name="Text Box 22">
              <a:extLst>
                <a:ext uri="{FF2B5EF4-FFF2-40B4-BE49-F238E27FC236}">
                  <a16:creationId xmlns:a16="http://schemas.microsoft.com/office/drawing/2014/main" id="{7E952B18-3609-3E3A-A0E9-53C06AD8AB15}"/>
                </a:ext>
              </a:extLst>
            </p:cNvPr>
            <p:cNvSpPr txBox="1">
              <a:spLocks noChangeArrowheads="1"/>
            </p:cNvSpPr>
            <p:nvPr/>
          </p:nvSpPr>
          <p:spPr bwMode="auto">
            <a:xfrm>
              <a:off x="4936955" y="2923261"/>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dirty="0">
                  <a:latin typeface="微软雅黑" pitchFamily="34" charset="-122"/>
                  <a:ea typeface="微软雅黑" pitchFamily="34" charset="-122"/>
                </a:rPr>
                <a:t>b</a:t>
              </a:r>
            </a:p>
          </p:txBody>
        </p:sp>
        <p:sp>
          <p:nvSpPr>
            <p:cNvPr id="133" name="Text Box 26">
              <a:extLst>
                <a:ext uri="{FF2B5EF4-FFF2-40B4-BE49-F238E27FC236}">
                  <a16:creationId xmlns:a16="http://schemas.microsoft.com/office/drawing/2014/main" id="{9513A351-8D58-E493-9D37-876A47343224}"/>
                </a:ext>
              </a:extLst>
            </p:cNvPr>
            <p:cNvSpPr txBox="1">
              <a:spLocks noChangeArrowheads="1"/>
            </p:cNvSpPr>
            <p:nvPr/>
          </p:nvSpPr>
          <p:spPr bwMode="auto">
            <a:xfrm>
              <a:off x="5785222" y="2923261"/>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dirty="0">
                  <a:latin typeface="微软雅黑" pitchFamily="34" charset="-122"/>
                  <a:ea typeface="微软雅黑" pitchFamily="34" charset="-122"/>
                </a:rPr>
                <a:t>b</a:t>
              </a:r>
            </a:p>
          </p:txBody>
        </p:sp>
        <p:sp>
          <p:nvSpPr>
            <p:cNvPr id="134" name="Text Box 28">
              <a:extLst>
                <a:ext uri="{FF2B5EF4-FFF2-40B4-BE49-F238E27FC236}">
                  <a16:creationId xmlns:a16="http://schemas.microsoft.com/office/drawing/2014/main" id="{21CF9AB5-2851-A8DA-AD1D-F169566C3477}"/>
                </a:ext>
              </a:extLst>
            </p:cNvPr>
            <p:cNvSpPr txBox="1">
              <a:spLocks noChangeArrowheads="1"/>
            </p:cNvSpPr>
            <p:nvPr/>
          </p:nvSpPr>
          <p:spPr bwMode="auto">
            <a:xfrm>
              <a:off x="4738425" y="2923261"/>
              <a:ext cx="3032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a</a:t>
              </a:r>
            </a:p>
          </p:txBody>
        </p:sp>
        <p:sp>
          <p:nvSpPr>
            <p:cNvPr id="135" name="Text Box 71">
              <a:extLst>
                <a:ext uri="{FF2B5EF4-FFF2-40B4-BE49-F238E27FC236}">
                  <a16:creationId xmlns:a16="http://schemas.microsoft.com/office/drawing/2014/main" id="{54B1230B-0CA8-2552-4C4A-9BFEC9530225}"/>
                </a:ext>
              </a:extLst>
            </p:cNvPr>
            <p:cNvSpPr txBox="1">
              <a:spLocks noChangeArrowheads="1"/>
            </p:cNvSpPr>
            <p:nvPr/>
          </p:nvSpPr>
          <p:spPr bwMode="auto">
            <a:xfrm>
              <a:off x="7884375" y="2923261"/>
              <a:ext cx="3209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a:latin typeface="微软雅黑" pitchFamily="34" charset="-122"/>
                  <a:ea typeface="微软雅黑" pitchFamily="34" charset="-122"/>
                </a:rPr>
                <a:t>d</a:t>
              </a:r>
            </a:p>
          </p:txBody>
        </p:sp>
        <p:sp>
          <p:nvSpPr>
            <p:cNvPr id="136" name="Text Box 27">
              <a:extLst>
                <a:ext uri="{FF2B5EF4-FFF2-40B4-BE49-F238E27FC236}">
                  <a16:creationId xmlns:a16="http://schemas.microsoft.com/office/drawing/2014/main" id="{54EB7C53-FC8D-DB50-3222-B59C50AC1E80}"/>
                </a:ext>
              </a:extLst>
            </p:cNvPr>
            <p:cNvSpPr txBox="1">
              <a:spLocks noChangeArrowheads="1"/>
            </p:cNvSpPr>
            <p:nvPr/>
          </p:nvSpPr>
          <p:spPr bwMode="auto">
            <a:xfrm>
              <a:off x="5998832" y="2923261"/>
              <a:ext cx="2904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dirty="0">
                  <a:latin typeface="微软雅黑" pitchFamily="34" charset="-122"/>
                  <a:ea typeface="微软雅黑" pitchFamily="34" charset="-122"/>
                </a:rPr>
                <a:t>c</a:t>
              </a:r>
            </a:p>
          </p:txBody>
        </p:sp>
        <p:sp>
          <p:nvSpPr>
            <p:cNvPr id="137" name="Text Box 70">
              <a:extLst>
                <a:ext uri="{FF2B5EF4-FFF2-40B4-BE49-F238E27FC236}">
                  <a16:creationId xmlns:a16="http://schemas.microsoft.com/office/drawing/2014/main" id="{6FE9744D-BEE8-9FCB-7E08-9777DE03947E}"/>
                </a:ext>
              </a:extLst>
            </p:cNvPr>
            <p:cNvSpPr txBox="1">
              <a:spLocks noChangeArrowheads="1"/>
            </p:cNvSpPr>
            <p:nvPr/>
          </p:nvSpPr>
          <p:spPr bwMode="auto">
            <a:xfrm>
              <a:off x="6829632" y="2923261"/>
              <a:ext cx="2904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600" b="1" dirty="0">
                  <a:latin typeface="微软雅黑" pitchFamily="34" charset="-122"/>
                  <a:ea typeface="微软雅黑" pitchFamily="34" charset="-122"/>
                </a:rPr>
                <a:t>c</a:t>
              </a:r>
            </a:p>
          </p:txBody>
        </p:sp>
      </p:grpSp>
    </p:spTree>
    <p:extLst>
      <p:ext uri="{BB962C8B-B14F-4D97-AF65-F5344CB8AC3E}">
        <p14:creationId xmlns:p14="http://schemas.microsoft.com/office/powerpoint/2010/main" val="95157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CDM  (Code Division Multiplexing)</a:t>
            </a:r>
          </a:p>
        </p:txBody>
      </p:sp>
      <p:sp>
        <p:nvSpPr>
          <p:cNvPr id="3" name="文本框 2">
            <a:extLst>
              <a:ext uri="{FF2B5EF4-FFF2-40B4-BE49-F238E27FC236}">
                <a16:creationId xmlns:a16="http://schemas.microsoft.com/office/drawing/2014/main" id="{56CF88D9-C6B5-885F-59CB-7946A384FB5F}"/>
              </a:ext>
            </a:extLst>
          </p:cNvPr>
          <p:cNvSpPr txBox="1"/>
          <p:nvPr/>
        </p:nvSpPr>
        <p:spPr>
          <a:xfrm>
            <a:off x="623673" y="981370"/>
            <a:ext cx="10661148" cy="2279085"/>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CDM</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common term is </a:t>
            </a:r>
            <a:r>
              <a:rPr lang="en" altLang="zh-CN" sz="2400" dirty="0">
                <a:solidFill>
                  <a:srgbClr val="0013A3"/>
                </a:solidFill>
                <a:latin typeface="Calibri" panose="020F0502020204030204" pitchFamily="34" charset="0"/>
                <a:cs typeface="Calibri" panose="020F0502020204030204" pitchFamily="34" charset="0"/>
              </a:rPr>
              <a:t>Code Division Multiple Access </a:t>
            </a:r>
            <a:r>
              <a:rPr lang="en" altLang="zh-CN" sz="2400" dirty="0">
                <a:latin typeface="Calibri" panose="020F0502020204030204" pitchFamily="34" charset="0"/>
                <a:cs typeface="Calibri" panose="020F0502020204030204" pitchFamily="34" charset="0"/>
              </a:rPr>
              <a:t>(CDMA).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Each user uses a different code that has been specially selected so that it does not interfere with each other.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The signal sent by such a system has strong anti-jamming ability, and its spectrum is similar to white noise, which is not easy to be found by the enemy.</a:t>
            </a:r>
          </a:p>
        </p:txBody>
      </p:sp>
      <p:sp>
        <p:nvSpPr>
          <p:cNvPr id="67" name="文本框 66">
            <a:extLst>
              <a:ext uri="{FF2B5EF4-FFF2-40B4-BE49-F238E27FC236}">
                <a16:creationId xmlns:a16="http://schemas.microsoft.com/office/drawing/2014/main" id="{1D27B7D6-FD56-5115-08CC-F5076EE0811B}"/>
              </a:ext>
            </a:extLst>
          </p:cNvPr>
          <p:cNvSpPr txBox="1"/>
          <p:nvPr/>
        </p:nvSpPr>
        <p:spPr>
          <a:xfrm>
            <a:off x="623673" y="3261118"/>
            <a:ext cx="10661148" cy="3596882"/>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Chip Sequence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Each bit time is divided into m short intervals called </a:t>
            </a:r>
            <a:r>
              <a:rPr lang="en" altLang="zh-CN" sz="2400" dirty="0">
                <a:solidFill>
                  <a:srgbClr val="0013A3"/>
                </a:solidFill>
                <a:latin typeface="Calibri" panose="020F0502020204030204" pitchFamily="34" charset="0"/>
                <a:cs typeface="Calibri" panose="020F0502020204030204" pitchFamily="34" charset="0"/>
              </a:rPr>
              <a:t>chips</a:t>
            </a:r>
            <a:r>
              <a:rPr lang="en" altLang="zh-CN" sz="2400" dirty="0">
                <a:latin typeface="Calibri" panose="020F0502020204030204" pitchFamily="34" charset="0"/>
                <a:cs typeface="Calibri" panose="020F0502020204030204" pitchFamily="34" charset="0"/>
              </a:rPr>
              <a:t>.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Each station is assigned a unique sequence of m bit chip slices.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If bit 1 is sent, its own sequence of m bit chip slices is sent.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If bit 0 is sent, the binary inverse of the sequence of chip slices is sent.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For example, the 8-bit chip slice sequence of station S is 00011011.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When bit 1 is sent, the sequence 00011011 is sent,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When bit 0 is sent, the sequence 11100100 is sent.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Chip slice sequence of S station: (-1-1-1 +1 + 1-1 +1 +1)</a:t>
            </a:r>
          </a:p>
        </p:txBody>
      </p:sp>
    </p:spTree>
    <p:extLst>
      <p:ext uri="{BB962C8B-B14F-4D97-AF65-F5344CB8AC3E}">
        <p14:creationId xmlns:p14="http://schemas.microsoft.com/office/powerpoint/2010/main" val="3586766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CDM  (Code Division Multiplexing)</a:t>
            </a:r>
          </a:p>
        </p:txBody>
      </p:sp>
      <p:sp>
        <p:nvSpPr>
          <p:cNvPr id="3" name="文本框 2">
            <a:extLst>
              <a:ext uri="{FF2B5EF4-FFF2-40B4-BE49-F238E27FC236}">
                <a16:creationId xmlns:a16="http://schemas.microsoft.com/office/drawing/2014/main" id="{56CF88D9-C6B5-885F-59CB-7946A384FB5F}"/>
              </a:ext>
            </a:extLst>
          </p:cNvPr>
          <p:cNvSpPr txBox="1"/>
          <p:nvPr/>
        </p:nvSpPr>
        <p:spPr>
          <a:xfrm>
            <a:off x="623673" y="981370"/>
            <a:ext cx="10661148" cy="1550168"/>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Let vector S denote the slice vector of station S and let T denote the slice vector of any other station.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sequence of code slices at two different stations is orthogonal, which means that the normalized </a:t>
            </a:r>
            <a:r>
              <a:rPr lang="en" altLang="zh-CN" sz="2400" dirty="0">
                <a:solidFill>
                  <a:srgbClr val="0013A3"/>
                </a:solidFill>
                <a:latin typeface="Calibri" panose="020F0502020204030204" pitchFamily="34" charset="0"/>
                <a:cs typeface="Calibri" panose="020F0502020204030204" pitchFamily="34" charset="0"/>
              </a:rPr>
              <a:t>inner product </a:t>
            </a:r>
            <a:r>
              <a:rPr lang="en" altLang="zh-CN" sz="2400" dirty="0">
                <a:latin typeface="Calibri" panose="020F0502020204030204" pitchFamily="34" charset="0"/>
                <a:cs typeface="Calibri" panose="020F0502020204030204" pitchFamily="34" charset="0"/>
              </a:rPr>
              <a:t>of vectors S and T is equal to 0:</a:t>
            </a:r>
          </a:p>
        </p:txBody>
      </p:sp>
      <p:graphicFrame>
        <p:nvGraphicFramePr>
          <p:cNvPr id="5" name="对象 4">
            <a:extLst>
              <a:ext uri="{FF2B5EF4-FFF2-40B4-BE49-F238E27FC236}">
                <a16:creationId xmlns:a16="http://schemas.microsoft.com/office/drawing/2014/main" id="{AB4DE5E2-6BF1-5F34-9CC4-93F2902574EF}"/>
              </a:ext>
            </a:extLst>
          </p:cNvPr>
          <p:cNvGraphicFramePr>
            <a:graphicFrameLocks noChangeAspect="1"/>
          </p:cNvGraphicFramePr>
          <p:nvPr>
            <p:extLst>
              <p:ext uri="{D42A27DB-BD31-4B8C-83A1-F6EECF244321}">
                <p14:modId xmlns:p14="http://schemas.microsoft.com/office/powerpoint/2010/main" val="852069812"/>
              </p:ext>
            </p:extLst>
          </p:nvPr>
        </p:nvGraphicFramePr>
        <p:xfrm>
          <a:off x="4813927" y="2531538"/>
          <a:ext cx="2564145" cy="794916"/>
        </p:xfrm>
        <a:graphic>
          <a:graphicData uri="http://schemas.openxmlformats.org/presentationml/2006/ole">
            <mc:AlternateContent xmlns:mc="http://schemas.openxmlformats.org/markup-compatibility/2006">
              <mc:Choice xmlns:v="urn:schemas-microsoft-com:vml" Requires="v">
                <p:oleObj name="公式" r:id="rId3" imgW="1282700" imgH="431800" progId="Equation.3">
                  <p:embed/>
                </p:oleObj>
              </mc:Choice>
              <mc:Fallback>
                <p:oleObj name="公式" r:id="rId3" imgW="1282700" imgH="431800" progId="Equation.3">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3927" y="2531538"/>
                        <a:ext cx="2564145" cy="794916"/>
                      </a:xfrm>
                      <a:prstGeom prst="rect">
                        <a:avLst/>
                      </a:prstGeom>
                      <a:solidFill>
                        <a:srgbClr val="99FFCC"/>
                      </a:solidFill>
                      <a:ln w="9525">
                        <a:solidFill>
                          <a:schemeClr val="tx1"/>
                        </a:solidFill>
                        <a:miter lim="800000"/>
                        <a:headEnd/>
                        <a:tailEnd/>
                      </a:ln>
                    </p:spPr>
                  </p:pic>
                </p:oleObj>
              </mc:Fallback>
            </mc:AlternateContent>
          </a:graphicData>
        </a:graphic>
      </p:graphicFrame>
      <p:sp>
        <p:nvSpPr>
          <p:cNvPr id="6" name="文本框 5">
            <a:extLst>
              <a:ext uri="{FF2B5EF4-FFF2-40B4-BE49-F238E27FC236}">
                <a16:creationId xmlns:a16="http://schemas.microsoft.com/office/drawing/2014/main" id="{6FBDC05E-1FEB-CC06-9823-9B7C91762FD0}"/>
              </a:ext>
            </a:extLst>
          </p:cNvPr>
          <p:cNvSpPr txBox="1"/>
          <p:nvPr/>
        </p:nvSpPr>
        <p:spPr>
          <a:xfrm>
            <a:off x="623673" y="3429000"/>
            <a:ext cx="10661148" cy="424732"/>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normalized inner product of any slice vector and the slice vector itself is one.</a:t>
            </a:r>
          </a:p>
        </p:txBody>
      </p:sp>
      <p:graphicFrame>
        <p:nvGraphicFramePr>
          <p:cNvPr id="7" name="对象 6">
            <a:extLst>
              <a:ext uri="{FF2B5EF4-FFF2-40B4-BE49-F238E27FC236}">
                <a16:creationId xmlns:a16="http://schemas.microsoft.com/office/drawing/2014/main" id="{5440B8BB-4F8A-923F-F5DF-8367FD4CA293}"/>
              </a:ext>
            </a:extLst>
          </p:cNvPr>
          <p:cNvGraphicFramePr>
            <a:graphicFrameLocks noChangeAspect="1"/>
          </p:cNvGraphicFramePr>
          <p:nvPr>
            <p:extLst>
              <p:ext uri="{D42A27DB-BD31-4B8C-83A1-F6EECF244321}">
                <p14:modId xmlns:p14="http://schemas.microsoft.com/office/powerpoint/2010/main" val="4003801143"/>
              </p:ext>
            </p:extLst>
          </p:nvPr>
        </p:nvGraphicFramePr>
        <p:xfrm>
          <a:off x="3903005" y="3956278"/>
          <a:ext cx="4475813" cy="638404"/>
        </p:xfrm>
        <a:graphic>
          <a:graphicData uri="http://schemas.openxmlformats.org/presentationml/2006/ole">
            <mc:AlternateContent xmlns:mc="http://schemas.openxmlformats.org/markup-compatibility/2006">
              <mc:Choice xmlns:v="urn:schemas-microsoft-com:vml" Requires="v">
                <p:oleObj name="公式" r:id="rId5" imgW="2781300" imgH="431800" progId="Equation.3">
                  <p:embed/>
                </p:oleObj>
              </mc:Choice>
              <mc:Fallback>
                <p:oleObj name="公式" r:id="rId5" imgW="2781300" imgH="431800" progId="Equation.3">
                  <p:embed/>
                  <p:pic>
                    <p:nvPicPr>
                      <p:cNvPr id="18" name="对象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3005" y="3956278"/>
                        <a:ext cx="4475813" cy="638404"/>
                      </a:xfrm>
                      <a:prstGeom prst="rect">
                        <a:avLst/>
                      </a:prstGeom>
                      <a:solidFill>
                        <a:srgbClr val="99FFCC"/>
                      </a:solidFill>
                      <a:ln w="9525">
                        <a:solidFill>
                          <a:schemeClr val="tx1"/>
                        </a:solidFill>
                        <a:miter lim="800000"/>
                        <a:headEnd/>
                        <a:tailEnd/>
                      </a:ln>
                    </p:spPr>
                  </p:pic>
                </p:oleObj>
              </mc:Fallback>
            </mc:AlternateContent>
          </a:graphicData>
        </a:graphic>
      </p:graphicFrame>
      <p:sp>
        <p:nvSpPr>
          <p:cNvPr id="8" name="文本框 7">
            <a:extLst>
              <a:ext uri="{FF2B5EF4-FFF2-40B4-BE49-F238E27FC236}">
                <a16:creationId xmlns:a16="http://schemas.microsoft.com/office/drawing/2014/main" id="{4E09E92A-7CFA-680C-8179-ED159A6CCF5D}"/>
              </a:ext>
            </a:extLst>
          </p:cNvPr>
          <p:cNvSpPr txBox="1"/>
          <p:nvPr/>
        </p:nvSpPr>
        <p:spPr>
          <a:xfrm>
            <a:off x="623673" y="4697228"/>
            <a:ext cx="10661148" cy="757130"/>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normalized inner product of a vector of code slices and the vector of its inverse is -1.</a:t>
            </a:r>
          </a:p>
        </p:txBody>
      </p:sp>
    </p:spTree>
    <p:extLst>
      <p:ext uri="{BB962C8B-B14F-4D97-AF65-F5344CB8AC3E}">
        <p14:creationId xmlns:p14="http://schemas.microsoft.com/office/powerpoint/2010/main" val="29577934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CDM  (Code Division Multiplexing)</a:t>
            </a:r>
          </a:p>
        </p:txBody>
      </p:sp>
      <p:sp>
        <p:nvSpPr>
          <p:cNvPr id="3" name="文本框 2">
            <a:extLst>
              <a:ext uri="{FF2B5EF4-FFF2-40B4-BE49-F238E27FC236}">
                <a16:creationId xmlns:a16="http://schemas.microsoft.com/office/drawing/2014/main" id="{56CF88D9-C6B5-885F-59CB-7946A384FB5F}"/>
              </a:ext>
            </a:extLst>
          </p:cNvPr>
          <p:cNvSpPr txBox="1"/>
          <p:nvPr/>
        </p:nvSpPr>
        <p:spPr>
          <a:xfrm>
            <a:off x="713498" y="1062838"/>
            <a:ext cx="10661148" cy="424732"/>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How CDMA works</a:t>
            </a:r>
          </a:p>
        </p:txBody>
      </p:sp>
      <p:sp>
        <p:nvSpPr>
          <p:cNvPr id="4" name="Rectangle 6">
            <a:extLst>
              <a:ext uri="{FF2B5EF4-FFF2-40B4-BE49-F238E27FC236}">
                <a16:creationId xmlns:a16="http://schemas.microsoft.com/office/drawing/2014/main" id="{EFD7AF6D-5527-4091-133A-11913025538B}"/>
              </a:ext>
            </a:extLst>
          </p:cNvPr>
          <p:cNvSpPr>
            <a:spLocks noChangeArrowheads="1"/>
          </p:cNvSpPr>
          <p:nvPr/>
        </p:nvSpPr>
        <p:spPr bwMode="auto">
          <a:xfrm>
            <a:off x="2839829" y="2960452"/>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sz="1400" b="1">
              <a:solidFill>
                <a:srgbClr val="000099"/>
              </a:solidFill>
              <a:latin typeface="微软雅黑" pitchFamily="34" charset="-122"/>
              <a:ea typeface="微软雅黑" pitchFamily="34" charset="-122"/>
            </a:endParaRPr>
          </a:p>
        </p:txBody>
      </p:sp>
      <p:sp>
        <p:nvSpPr>
          <p:cNvPr id="9" name="Line 10">
            <a:extLst>
              <a:ext uri="{FF2B5EF4-FFF2-40B4-BE49-F238E27FC236}">
                <a16:creationId xmlns:a16="http://schemas.microsoft.com/office/drawing/2014/main" id="{DE722E1B-C0C2-5174-6CE3-598EDD21EAD1}"/>
              </a:ext>
            </a:extLst>
          </p:cNvPr>
          <p:cNvSpPr>
            <a:spLocks noChangeShapeType="1"/>
          </p:cNvSpPr>
          <p:nvPr/>
        </p:nvSpPr>
        <p:spPr bwMode="auto">
          <a:xfrm>
            <a:off x="5324976" y="2705285"/>
            <a:ext cx="116635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Text Box 11">
            <a:extLst>
              <a:ext uri="{FF2B5EF4-FFF2-40B4-BE49-F238E27FC236}">
                <a16:creationId xmlns:a16="http://schemas.microsoft.com/office/drawing/2014/main" id="{E0884D3F-D47C-E15C-D495-D1D762E08E3B}"/>
              </a:ext>
            </a:extLst>
          </p:cNvPr>
          <p:cNvSpPr txBox="1">
            <a:spLocks noChangeArrowheads="1"/>
          </p:cNvSpPr>
          <p:nvPr/>
        </p:nvSpPr>
        <p:spPr bwMode="auto">
          <a:xfrm>
            <a:off x="3563039" y="2834001"/>
            <a:ext cx="1582484" cy="275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1400" b="1" dirty="0">
                <a:latin typeface="微软雅黑" pitchFamily="34" charset="-122"/>
                <a:ea typeface="微软雅黑" pitchFamily="34" charset="-122"/>
              </a:rPr>
              <a:t>S </a:t>
            </a:r>
            <a:r>
              <a:rPr kumimoji="1" lang="zh-CN" altLang="en-US" sz="1400" b="1" dirty="0">
                <a:latin typeface="微软雅黑" pitchFamily="34" charset="-122"/>
                <a:ea typeface="微软雅黑" pitchFamily="34" charset="-122"/>
              </a:rPr>
              <a:t>站的码片序列 </a:t>
            </a:r>
            <a:r>
              <a:rPr kumimoji="1" lang="en-US" altLang="zh-CN" sz="1400" b="1" i="1" dirty="0">
                <a:latin typeface="微软雅黑" pitchFamily="34" charset="-122"/>
                <a:ea typeface="微软雅黑" pitchFamily="34" charset="-122"/>
              </a:rPr>
              <a:t>S</a:t>
            </a:r>
          </a:p>
        </p:txBody>
      </p:sp>
      <p:sp>
        <p:nvSpPr>
          <p:cNvPr id="11" name="Line 12">
            <a:extLst>
              <a:ext uri="{FF2B5EF4-FFF2-40B4-BE49-F238E27FC236}">
                <a16:creationId xmlns:a16="http://schemas.microsoft.com/office/drawing/2014/main" id="{0DB153EC-5289-9AC9-35F5-84F297537417}"/>
              </a:ext>
            </a:extLst>
          </p:cNvPr>
          <p:cNvSpPr>
            <a:spLocks noChangeShapeType="1"/>
          </p:cNvSpPr>
          <p:nvPr/>
        </p:nvSpPr>
        <p:spPr bwMode="auto">
          <a:xfrm>
            <a:off x="5326157" y="2224236"/>
            <a:ext cx="0" cy="297846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2" name="Line 13">
            <a:extLst>
              <a:ext uri="{FF2B5EF4-FFF2-40B4-BE49-F238E27FC236}">
                <a16:creationId xmlns:a16="http://schemas.microsoft.com/office/drawing/2014/main" id="{5E41ADD2-E1D2-03BA-50DA-FBC4546AA683}"/>
              </a:ext>
            </a:extLst>
          </p:cNvPr>
          <p:cNvSpPr>
            <a:spLocks noChangeShapeType="1"/>
          </p:cNvSpPr>
          <p:nvPr/>
        </p:nvSpPr>
        <p:spPr bwMode="auto">
          <a:xfrm>
            <a:off x="6500782" y="2224236"/>
            <a:ext cx="0" cy="297846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 name="Line 14">
            <a:extLst>
              <a:ext uri="{FF2B5EF4-FFF2-40B4-BE49-F238E27FC236}">
                <a16:creationId xmlns:a16="http://schemas.microsoft.com/office/drawing/2014/main" id="{792AF89D-30B5-F62C-94AD-7F0EFDCA886D}"/>
              </a:ext>
            </a:extLst>
          </p:cNvPr>
          <p:cNvSpPr>
            <a:spLocks noChangeShapeType="1"/>
          </p:cNvSpPr>
          <p:nvPr/>
        </p:nvSpPr>
        <p:spPr bwMode="auto">
          <a:xfrm>
            <a:off x="7675407" y="2224235"/>
            <a:ext cx="0" cy="2978467"/>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Line 15">
            <a:extLst>
              <a:ext uri="{FF2B5EF4-FFF2-40B4-BE49-F238E27FC236}">
                <a16:creationId xmlns:a16="http://schemas.microsoft.com/office/drawing/2014/main" id="{0B6D577B-6429-A616-1F6F-72D17581926B}"/>
              </a:ext>
            </a:extLst>
          </p:cNvPr>
          <p:cNvSpPr>
            <a:spLocks noChangeShapeType="1"/>
          </p:cNvSpPr>
          <p:nvPr/>
        </p:nvSpPr>
        <p:spPr bwMode="auto">
          <a:xfrm>
            <a:off x="8850031" y="2224235"/>
            <a:ext cx="0" cy="2978467"/>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Freeform 16">
            <a:extLst>
              <a:ext uri="{FF2B5EF4-FFF2-40B4-BE49-F238E27FC236}">
                <a16:creationId xmlns:a16="http://schemas.microsoft.com/office/drawing/2014/main" id="{C71978AB-D1B4-C0BE-39CE-B12EEB7FF892}"/>
              </a:ext>
            </a:extLst>
          </p:cNvPr>
          <p:cNvSpPr>
            <a:spLocks/>
          </p:cNvSpPr>
          <p:nvPr/>
        </p:nvSpPr>
        <p:spPr bwMode="auto">
          <a:xfrm>
            <a:off x="5326157" y="2864544"/>
            <a:ext cx="1174625" cy="219253"/>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Freeform 17">
            <a:extLst>
              <a:ext uri="{FF2B5EF4-FFF2-40B4-BE49-F238E27FC236}">
                <a16:creationId xmlns:a16="http://schemas.microsoft.com/office/drawing/2014/main" id="{B62F8C3C-F698-D9E3-7EE0-C2B540D18B7F}"/>
              </a:ext>
            </a:extLst>
          </p:cNvPr>
          <p:cNvSpPr>
            <a:spLocks/>
          </p:cNvSpPr>
          <p:nvPr/>
        </p:nvSpPr>
        <p:spPr bwMode="auto">
          <a:xfrm>
            <a:off x="6500782" y="2864544"/>
            <a:ext cx="1174625" cy="219253"/>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Freeform 18">
            <a:extLst>
              <a:ext uri="{FF2B5EF4-FFF2-40B4-BE49-F238E27FC236}">
                <a16:creationId xmlns:a16="http://schemas.microsoft.com/office/drawing/2014/main" id="{E9DFC7B7-A96F-8686-C193-40EB00159A0F}"/>
              </a:ext>
            </a:extLst>
          </p:cNvPr>
          <p:cNvSpPr>
            <a:spLocks/>
          </p:cNvSpPr>
          <p:nvPr/>
        </p:nvSpPr>
        <p:spPr bwMode="auto">
          <a:xfrm>
            <a:off x="5326157" y="3613932"/>
            <a:ext cx="1174625" cy="213800"/>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Freeform 19">
            <a:extLst>
              <a:ext uri="{FF2B5EF4-FFF2-40B4-BE49-F238E27FC236}">
                <a16:creationId xmlns:a16="http://schemas.microsoft.com/office/drawing/2014/main" id="{F63C4F18-299B-DA73-47E0-D136DD64CF53}"/>
              </a:ext>
            </a:extLst>
          </p:cNvPr>
          <p:cNvSpPr>
            <a:spLocks/>
          </p:cNvSpPr>
          <p:nvPr/>
        </p:nvSpPr>
        <p:spPr bwMode="auto">
          <a:xfrm>
            <a:off x="6500782" y="3613932"/>
            <a:ext cx="1174625" cy="213800"/>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00FF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Freeform 20">
            <a:extLst>
              <a:ext uri="{FF2B5EF4-FFF2-40B4-BE49-F238E27FC236}">
                <a16:creationId xmlns:a16="http://schemas.microsoft.com/office/drawing/2014/main" id="{455C70F7-77A9-CFA4-26CE-153070C27FF2}"/>
              </a:ext>
            </a:extLst>
          </p:cNvPr>
          <p:cNvSpPr>
            <a:spLocks/>
          </p:cNvSpPr>
          <p:nvPr/>
        </p:nvSpPr>
        <p:spPr bwMode="auto">
          <a:xfrm flipV="1">
            <a:off x="7675407" y="3613932"/>
            <a:ext cx="1174625" cy="213800"/>
          </a:xfrm>
          <a:custGeom>
            <a:avLst/>
            <a:gdLst>
              <a:gd name="T0" fmla="*/ 0 w 768"/>
              <a:gd name="T1" fmla="*/ 96 h 192"/>
              <a:gd name="T2" fmla="*/ 0 w 768"/>
              <a:gd name="T3" fmla="*/ 192 h 192"/>
              <a:gd name="T4" fmla="*/ 192 w 768"/>
              <a:gd name="T5" fmla="*/ 192 h 192"/>
              <a:gd name="T6" fmla="*/ 192 w 768"/>
              <a:gd name="T7" fmla="*/ 0 h 192"/>
              <a:gd name="T8" fmla="*/ 288 w 768"/>
              <a:gd name="T9" fmla="*/ 0 h 192"/>
              <a:gd name="T10" fmla="*/ 288 w 768"/>
              <a:gd name="T11" fmla="*/ 192 h 192"/>
              <a:gd name="T12" fmla="*/ 384 w 768"/>
              <a:gd name="T13" fmla="*/ 192 h 192"/>
              <a:gd name="T14" fmla="*/ 384 w 768"/>
              <a:gd name="T15" fmla="*/ 0 h 192"/>
              <a:gd name="T16" fmla="*/ 672 w 768"/>
              <a:gd name="T17" fmla="*/ 0 h 192"/>
              <a:gd name="T18" fmla="*/ 672 w 768"/>
              <a:gd name="T19" fmla="*/ 192 h 192"/>
              <a:gd name="T20" fmla="*/ 768 w 768"/>
              <a:gd name="T21" fmla="*/ 192 h 192"/>
              <a:gd name="T22" fmla="*/ 768 w 768"/>
              <a:gd name="T23"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68" h="192">
                <a:moveTo>
                  <a:pt x="0" y="96"/>
                </a:moveTo>
                <a:lnTo>
                  <a:pt x="0" y="192"/>
                </a:lnTo>
                <a:lnTo>
                  <a:pt x="192" y="192"/>
                </a:lnTo>
                <a:lnTo>
                  <a:pt x="192" y="0"/>
                </a:lnTo>
                <a:lnTo>
                  <a:pt x="288" y="0"/>
                </a:lnTo>
                <a:lnTo>
                  <a:pt x="288" y="192"/>
                </a:lnTo>
                <a:lnTo>
                  <a:pt x="384" y="192"/>
                </a:lnTo>
                <a:lnTo>
                  <a:pt x="384" y="0"/>
                </a:lnTo>
                <a:lnTo>
                  <a:pt x="672" y="0"/>
                </a:lnTo>
                <a:lnTo>
                  <a:pt x="672" y="192"/>
                </a:lnTo>
                <a:lnTo>
                  <a:pt x="768" y="192"/>
                </a:lnTo>
                <a:lnTo>
                  <a:pt x="768" y="96"/>
                </a:lnTo>
              </a:path>
            </a:pathLst>
          </a:custGeom>
          <a:solidFill>
            <a:srgbClr val="66FFFF"/>
          </a:solidFill>
          <a:ln w="19050" cmpd="sng">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Freeform 21">
            <a:extLst>
              <a:ext uri="{FF2B5EF4-FFF2-40B4-BE49-F238E27FC236}">
                <a16:creationId xmlns:a16="http://schemas.microsoft.com/office/drawing/2014/main" id="{2B74718E-B2B6-5E33-7494-3AD9D4564A1E}"/>
              </a:ext>
            </a:extLst>
          </p:cNvPr>
          <p:cNvSpPr>
            <a:spLocks/>
          </p:cNvSpPr>
          <p:nvPr/>
        </p:nvSpPr>
        <p:spPr bwMode="auto">
          <a:xfrm>
            <a:off x="5326157" y="4832372"/>
            <a:ext cx="1174625" cy="214890"/>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008000"/>
          </a:solidFill>
          <a:ln w="19050" cmpd="sng">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Freeform 22">
            <a:extLst>
              <a:ext uri="{FF2B5EF4-FFF2-40B4-BE49-F238E27FC236}">
                <a16:creationId xmlns:a16="http://schemas.microsoft.com/office/drawing/2014/main" id="{455AD1C8-B1EB-9433-4098-B89D9DD39FF9}"/>
              </a:ext>
            </a:extLst>
          </p:cNvPr>
          <p:cNvSpPr>
            <a:spLocks/>
          </p:cNvSpPr>
          <p:nvPr/>
        </p:nvSpPr>
        <p:spPr bwMode="auto">
          <a:xfrm>
            <a:off x="6500782" y="4832372"/>
            <a:ext cx="1174625" cy="214890"/>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008000"/>
          </a:solidFill>
          <a:ln w="19050" cmpd="sng">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22" name="Freeform 23">
            <a:extLst>
              <a:ext uri="{FF2B5EF4-FFF2-40B4-BE49-F238E27FC236}">
                <a16:creationId xmlns:a16="http://schemas.microsoft.com/office/drawing/2014/main" id="{2AB88A26-6EA9-389B-1021-617B12A72024}"/>
              </a:ext>
            </a:extLst>
          </p:cNvPr>
          <p:cNvSpPr>
            <a:spLocks/>
          </p:cNvSpPr>
          <p:nvPr/>
        </p:nvSpPr>
        <p:spPr bwMode="auto">
          <a:xfrm flipV="1">
            <a:off x="7675407" y="4832372"/>
            <a:ext cx="1174625" cy="214890"/>
          </a:xfrm>
          <a:custGeom>
            <a:avLst/>
            <a:gdLst>
              <a:gd name="T0" fmla="*/ 0 w 768"/>
              <a:gd name="T1" fmla="*/ 96 h 192"/>
              <a:gd name="T2" fmla="*/ 0 w 768"/>
              <a:gd name="T3" fmla="*/ 0 h 192"/>
              <a:gd name="T4" fmla="*/ 192 w 768"/>
              <a:gd name="T5" fmla="*/ 0 h 192"/>
              <a:gd name="T6" fmla="*/ 192 w 768"/>
              <a:gd name="T7" fmla="*/ 192 h 192"/>
              <a:gd name="T8" fmla="*/ 384 w 768"/>
              <a:gd name="T9" fmla="*/ 192 h 192"/>
              <a:gd name="T10" fmla="*/ 384 w 768"/>
              <a:gd name="T11" fmla="*/ 0 h 192"/>
              <a:gd name="T12" fmla="*/ 480 w 768"/>
              <a:gd name="T13" fmla="*/ 0 h 192"/>
              <a:gd name="T14" fmla="*/ 480 w 768"/>
              <a:gd name="T15" fmla="*/ 192 h 192"/>
              <a:gd name="T16" fmla="*/ 576 w 768"/>
              <a:gd name="T17" fmla="*/ 192 h 192"/>
              <a:gd name="T18" fmla="*/ 576 w 768"/>
              <a:gd name="T19" fmla="*/ 0 h 192"/>
              <a:gd name="T20" fmla="*/ 672 w 768"/>
              <a:gd name="T21" fmla="*/ 0 h 192"/>
              <a:gd name="T22" fmla="*/ 672 w 768"/>
              <a:gd name="T23" fmla="*/ 192 h 192"/>
              <a:gd name="T24" fmla="*/ 768 w 768"/>
              <a:gd name="T25" fmla="*/ 192 h 192"/>
              <a:gd name="T26" fmla="*/ 768 w 768"/>
              <a:gd name="T27" fmla="*/ 9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192">
                <a:moveTo>
                  <a:pt x="0" y="96"/>
                </a:moveTo>
                <a:lnTo>
                  <a:pt x="0" y="0"/>
                </a:lnTo>
                <a:lnTo>
                  <a:pt x="192" y="0"/>
                </a:lnTo>
                <a:lnTo>
                  <a:pt x="192" y="192"/>
                </a:lnTo>
                <a:lnTo>
                  <a:pt x="384" y="192"/>
                </a:lnTo>
                <a:lnTo>
                  <a:pt x="384" y="0"/>
                </a:lnTo>
                <a:lnTo>
                  <a:pt x="480" y="0"/>
                </a:lnTo>
                <a:lnTo>
                  <a:pt x="480" y="192"/>
                </a:lnTo>
                <a:lnTo>
                  <a:pt x="576" y="192"/>
                </a:lnTo>
                <a:lnTo>
                  <a:pt x="576" y="0"/>
                </a:lnTo>
                <a:lnTo>
                  <a:pt x="672" y="0"/>
                </a:lnTo>
                <a:lnTo>
                  <a:pt x="672" y="192"/>
                </a:lnTo>
                <a:lnTo>
                  <a:pt x="768" y="192"/>
                </a:lnTo>
                <a:lnTo>
                  <a:pt x="768" y="93"/>
                </a:lnTo>
              </a:path>
            </a:pathLst>
          </a:custGeom>
          <a:solidFill>
            <a:srgbClr val="FF9900"/>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Freeform 24">
            <a:extLst>
              <a:ext uri="{FF2B5EF4-FFF2-40B4-BE49-F238E27FC236}">
                <a16:creationId xmlns:a16="http://schemas.microsoft.com/office/drawing/2014/main" id="{6E9F3B68-DA8E-4FF8-74A6-D14D2DB0D66C}"/>
              </a:ext>
            </a:extLst>
          </p:cNvPr>
          <p:cNvSpPr>
            <a:spLocks/>
          </p:cNvSpPr>
          <p:nvPr/>
        </p:nvSpPr>
        <p:spPr bwMode="auto">
          <a:xfrm>
            <a:off x="5326157" y="4469131"/>
            <a:ext cx="3523874" cy="215981"/>
          </a:xfrm>
          <a:custGeom>
            <a:avLst/>
            <a:gdLst>
              <a:gd name="T0" fmla="*/ 0 w 2827"/>
              <a:gd name="T1" fmla="*/ 96 h 194"/>
              <a:gd name="T2" fmla="*/ 0 w 2827"/>
              <a:gd name="T3" fmla="*/ 0 h 194"/>
              <a:gd name="T4" fmla="*/ 1886 w 2827"/>
              <a:gd name="T5" fmla="*/ 2 h 194"/>
              <a:gd name="T6" fmla="*/ 1886 w 2827"/>
              <a:gd name="T7" fmla="*/ 194 h 194"/>
              <a:gd name="T8" fmla="*/ 2826 w 2827"/>
              <a:gd name="T9" fmla="*/ 192 h 194"/>
              <a:gd name="T10" fmla="*/ 2827 w 2827"/>
              <a:gd name="T11" fmla="*/ 96 h 194"/>
            </a:gdLst>
            <a:ahLst/>
            <a:cxnLst>
              <a:cxn ang="0">
                <a:pos x="T0" y="T1"/>
              </a:cxn>
              <a:cxn ang="0">
                <a:pos x="T2" y="T3"/>
              </a:cxn>
              <a:cxn ang="0">
                <a:pos x="T4" y="T5"/>
              </a:cxn>
              <a:cxn ang="0">
                <a:pos x="T6" y="T7"/>
              </a:cxn>
              <a:cxn ang="0">
                <a:pos x="T8" y="T9"/>
              </a:cxn>
              <a:cxn ang="0">
                <a:pos x="T10" y="T11"/>
              </a:cxn>
            </a:cxnLst>
            <a:rect l="0" t="0" r="r" b="b"/>
            <a:pathLst>
              <a:path w="2827" h="194">
                <a:moveTo>
                  <a:pt x="0" y="96"/>
                </a:moveTo>
                <a:lnTo>
                  <a:pt x="0" y="0"/>
                </a:lnTo>
                <a:lnTo>
                  <a:pt x="1886" y="2"/>
                </a:lnTo>
                <a:lnTo>
                  <a:pt x="1886" y="194"/>
                </a:lnTo>
                <a:lnTo>
                  <a:pt x="2826" y="192"/>
                </a:lnTo>
                <a:lnTo>
                  <a:pt x="2827" y="96"/>
                </a:lnTo>
              </a:path>
            </a:pathLst>
          </a:custGeom>
          <a:solidFill>
            <a:srgbClr val="00FFCC"/>
          </a:solidFill>
          <a:ln w="19050" cmpd="sng">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Freeform 25">
            <a:extLst>
              <a:ext uri="{FF2B5EF4-FFF2-40B4-BE49-F238E27FC236}">
                <a16:creationId xmlns:a16="http://schemas.microsoft.com/office/drawing/2014/main" id="{F5C3FF8C-2C44-0709-4412-E1BDB9D154F3}"/>
              </a:ext>
            </a:extLst>
          </p:cNvPr>
          <p:cNvSpPr>
            <a:spLocks/>
          </p:cNvSpPr>
          <p:nvPr/>
        </p:nvSpPr>
        <p:spPr bwMode="auto">
          <a:xfrm>
            <a:off x="5326157" y="2383494"/>
            <a:ext cx="3523874" cy="214891"/>
          </a:xfrm>
          <a:custGeom>
            <a:avLst/>
            <a:gdLst>
              <a:gd name="T0" fmla="*/ 0 w 2304"/>
              <a:gd name="T1" fmla="*/ 96 h 192"/>
              <a:gd name="T2" fmla="*/ 0 w 2304"/>
              <a:gd name="T3" fmla="*/ 0 h 192"/>
              <a:gd name="T4" fmla="*/ 1536 w 2304"/>
              <a:gd name="T5" fmla="*/ 0 h 192"/>
              <a:gd name="T6" fmla="*/ 1536 w 2304"/>
              <a:gd name="T7" fmla="*/ 192 h 192"/>
              <a:gd name="T8" fmla="*/ 2304 w 2304"/>
              <a:gd name="T9" fmla="*/ 192 h 192"/>
              <a:gd name="T10" fmla="*/ 2304 w 2304"/>
              <a:gd name="T11" fmla="*/ 96 h 192"/>
            </a:gdLst>
            <a:ahLst/>
            <a:cxnLst>
              <a:cxn ang="0">
                <a:pos x="T0" y="T1"/>
              </a:cxn>
              <a:cxn ang="0">
                <a:pos x="T2" y="T3"/>
              </a:cxn>
              <a:cxn ang="0">
                <a:pos x="T4" y="T5"/>
              </a:cxn>
              <a:cxn ang="0">
                <a:pos x="T6" y="T7"/>
              </a:cxn>
              <a:cxn ang="0">
                <a:pos x="T8" y="T9"/>
              </a:cxn>
              <a:cxn ang="0">
                <a:pos x="T10" y="T11"/>
              </a:cxn>
            </a:cxnLst>
            <a:rect l="0" t="0" r="r" b="b"/>
            <a:pathLst>
              <a:path w="2304" h="192">
                <a:moveTo>
                  <a:pt x="0" y="96"/>
                </a:moveTo>
                <a:lnTo>
                  <a:pt x="0" y="0"/>
                </a:lnTo>
                <a:lnTo>
                  <a:pt x="1536" y="0"/>
                </a:lnTo>
                <a:lnTo>
                  <a:pt x="1536" y="192"/>
                </a:lnTo>
                <a:lnTo>
                  <a:pt x="2304" y="192"/>
                </a:lnTo>
                <a:lnTo>
                  <a:pt x="2304" y="96"/>
                </a:lnTo>
              </a:path>
            </a:pathLst>
          </a:custGeom>
          <a:solidFill>
            <a:srgbClr val="FFFF00"/>
          </a:solidFill>
          <a:ln w="19050" cmpd="sng">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6">
            <a:extLst>
              <a:ext uri="{FF2B5EF4-FFF2-40B4-BE49-F238E27FC236}">
                <a16:creationId xmlns:a16="http://schemas.microsoft.com/office/drawing/2014/main" id="{BC0359D3-ED4F-5263-6B7F-5060FE04D643}"/>
              </a:ext>
            </a:extLst>
          </p:cNvPr>
          <p:cNvSpPr>
            <a:spLocks noChangeShapeType="1"/>
          </p:cNvSpPr>
          <p:nvPr/>
        </p:nvSpPr>
        <p:spPr bwMode="auto">
          <a:xfrm>
            <a:off x="6500782" y="2303866"/>
            <a:ext cx="0" cy="106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27">
            <a:extLst>
              <a:ext uri="{FF2B5EF4-FFF2-40B4-BE49-F238E27FC236}">
                <a16:creationId xmlns:a16="http://schemas.microsoft.com/office/drawing/2014/main" id="{8836692D-CA3B-83FB-95E3-CD3539142A51}"/>
              </a:ext>
            </a:extLst>
          </p:cNvPr>
          <p:cNvSpPr txBox="1">
            <a:spLocks noChangeArrowheads="1"/>
          </p:cNvSpPr>
          <p:nvPr/>
        </p:nvSpPr>
        <p:spPr bwMode="auto">
          <a:xfrm>
            <a:off x="5768119" y="215660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1</a:t>
            </a:r>
          </a:p>
        </p:txBody>
      </p:sp>
      <p:sp>
        <p:nvSpPr>
          <p:cNvPr id="27" name="Line 28">
            <a:extLst>
              <a:ext uri="{FF2B5EF4-FFF2-40B4-BE49-F238E27FC236}">
                <a16:creationId xmlns:a16="http://schemas.microsoft.com/office/drawing/2014/main" id="{B64C5810-07AA-D4B5-5639-211142A63541}"/>
              </a:ext>
            </a:extLst>
          </p:cNvPr>
          <p:cNvSpPr>
            <a:spLocks noChangeShapeType="1"/>
          </p:cNvSpPr>
          <p:nvPr/>
        </p:nvSpPr>
        <p:spPr bwMode="auto">
          <a:xfrm>
            <a:off x="5210349" y="3719742"/>
            <a:ext cx="3933929" cy="0"/>
          </a:xfrm>
          <a:prstGeom prst="line">
            <a:avLst/>
          </a:prstGeom>
          <a:noFill/>
          <a:ln w="28575">
            <a:solidFill>
              <a:srgbClr val="0000FF"/>
            </a:solidFill>
            <a:round/>
            <a:headE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Line 29">
            <a:extLst>
              <a:ext uri="{FF2B5EF4-FFF2-40B4-BE49-F238E27FC236}">
                <a16:creationId xmlns:a16="http://schemas.microsoft.com/office/drawing/2014/main" id="{BE9C943E-ACCC-361F-784C-E708F89DFB1A}"/>
              </a:ext>
            </a:extLst>
          </p:cNvPr>
          <p:cNvSpPr>
            <a:spLocks noChangeShapeType="1"/>
          </p:cNvSpPr>
          <p:nvPr/>
        </p:nvSpPr>
        <p:spPr bwMode="auto">
          <a:xfrm>
            <a:off x="5210349" y="4576030"/>
            <a:ext cx="3933929"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30">
            <a:extLst>
              <a:ext uri="{FF2B5EF4-FFF2-40B4-BE49-F238E27FC236}">
                <a16:creationId xmlns:a16="http://schemas.microsoft.com/office/drawing/2014/main" id="{CDF2528B-4E34-4940-53FD-82933C795280}"/>
              </a:ext>
            </a:extLst>
          </p:cNvPr>
          <p:cNvSpPr>
            <a:spLocks noChangeShapeType="1"/>
          </p:cNvSpPr>
          <p:nvPr/>
        </p:nvSpPr>
        <p:spPr bwMode="auto">
          <a:xfrm flipV="1">
            <a:off x="5210349" y="4940362"/>
            <a:ext cx="3933929" cy="9818"/>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Freeform 31">
            <a:extLst>
              <a:ext uri="{FF2B5EF4-FFF2-40B4-BE49-F238E27FC236}">
                <a16:creationId xmlns:a16="http://schemas.microsoft.com/office/drawing/2014/main" id="{373CA67D-D98B-CCF0-9873-F51092CA237C}"/>
              </a:ext>
            </a:extLst>
          </p:cNvPr>
          <p:cNvSpPr>
            <a:spLocks/>
          </p:cNvSpPr>
          <p:nvPr/>
        </p:nvSpPr>
        <p:spPr bwMode="auto">
          <a:xfrm>
            <a:off x="5326157" y="3934631"/>
            <a:ext cx="1174625" cy="427599"/>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2">
            <a:extLst>
              <a:ext uri="{FF2B5EF4-FFF2-40B4-BE49-F238E27FC236}">
                <a16:creationId xmlns:a16="http://schemas.microsoft.com/office/drawing/2014/main" id="{5843A8F7-3A14-DB0B-9556-4F9B41F2617B}"/>
              </a:ext>
            </a:extLst>
          </p:cNvPr>
          <p:cNvSpPr>
            <a:spLocks/>
          </p:cNvSpPr>
          <p:nvPr/>
        </p:nvSpPr>
        <p:spPr bwMode="auto">
          <a:xfrm>
            <a:off x="6500782" y="3934631"/>
            <a:ext cx="1174625" cy="427599"/>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660033"/>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3">
            <a:extLst>
              <a:ext uri="{FF2B5EF4-FFF2-40B4-BE49-F238E27FC236}">
                <a16:creationId xmlns:a16="http://schemas.microsoft.com/office/drawing/2014/main" id="{EFE61705-2B27-02DE-7AF2-0ECADA46BD82}"/>
              </a:ext>
            </a:extLst>
          </p:cNvPr>
          <p:cNvSpPr>
            <a:spLocks/>
          </p:cNvSpPr>
          <p:nvPr/>
        </p:nvSpPr>
        <p:spPr bwMode="auto">
          <a:xfrm flipV="1">
            <a:off x="7675407" y="3934631"/>
            <a:ext cx="1174625" cy="427599"/>
          </a:xfrm>
          <a:custGeom>
            <a:avLst/>
            <a:gdLst>
              <a:gd name="T0" fmla="*/ 0 w 768"/>
              <a:gd name="T1" fmla="*/ 192 h 384"/>
              <a:gd name="T2" fmla="*/ 0 w 768"/>
              <a:gd name="T3" fmla="*/ 384 h 384"/>
              <a:gd name="T4" fmla="*/ 192 w 768"/>
              <a:gd name="T5" fmla="*/ 384 h 384"/>
              <a:gd name="T6" fmla="*/ 192 w 768"/>
              <a:gd name="T7" fmla="*/ 192 h 384"/>
              <a:gd name="T8" fmla="*/ 384 w 768"/>
              <a:gd name="T9" fmla="*/ 192 h 384"/>
              <a:gd name="T10" fmla="*/ 384 w 768"/>
              <a:gd name="T11" fmla="*/ 0 h 384"/>
              <a:gd name="T12" fmla="*/ 480 w 768"/>
              <a:gd name="T13" fmla="*/ 0 h 384"/>
              <a:gd name="T14" fmla="*/ 480 w 768"/>
              <a:gd name="T15" fmla="*/ 192 h 384"/>
              <a:gd name="T16" fmla="*/ 576 w 768"/>
              <a:gd name="T17" fmla="*/ 192 h 384"/>
              <a:gd name="T18" fmla="*/ 576 w 768"/>
              <a:gd name="T19" fmla="*/ 0 h 384"/>
              <a:gd name="T20" fmla="*/ 672 w 768"/>
              <a:gd name="T21" fmla="*/ 0 h 384"/>
              <a:gd name="T22" fmla="*/ 672 w 768"/>
              <a:gd name="T23" fmla="*/ 192 h 384"/>
              <a:gd name="T24" fmla="*/ 768 w 768"/>
              <a:gd name="T25" fmla="*/ 192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68" h="384">
                <a:moveTo>
                  <a:pt x="0" y="192"/>
                </a:moveTo>
                <a:lnTo>
                  <a:pt x="0" y="384"/>
                </a:lnTo>
                <a:lnTo>
                  <a:pt x="192" y="384"/>
                </a:lnTo>
                <a:lnTo>
                  <a:pt x="192" y="192"/>
                </a:lnTo>
                <a:lnTo>
                  <a:pt x="384" y="192"/>
                </a:lnTo>
                <a:lnTo>
                  <a:pt x="384" y="0"/>
                </a:lnTo>
                <a:lnTo>
                  <a:pt x="480" y="0"/>
                </a:lnTo>
                <a:lnTo>
                  <a:pt x="480" y="192"/>
                </a:lnTo>
                <a:lnTo>
                  <a:pt x="576" y="192"/>
                </a:lnTo>
                <a:lnTo>
                  <a:pt x="576" y="0"/>
                </a:lnTo>
                <a:lnTo>
                  <a:pt x="672" y="0"/>
                </a:lnTo>
                <a:lnTo>
                  <a:pt x="672" y="192"/>
                </a:lnTo>
                <a:lnTo>
                  <a:pt x="768" y="192"/>
                </a:lnTo>
              </a:path>
            </a:pathLst>
          </a:custGeom>
          <a:solidFill>
            <a:srgbClr val="CC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34">
            <a:extLst>
              <a:ext uri="{FF2B5EF4-FFF2-40B4-BE49-F238E27FC236}">
                <a16:creationId xmlns:a16="http://schemas.microsoft.com/office/drawing/2014/main" id="{DEBE6674-1AFA-8A83-345D-96C70D3586A2}"/>
              </a:ext>
            </a:extLst>
          </p:cNvPr>
          <p:cNvSpPr>
            <a:spLocks noChangeShapeType="1"/>
          </p:cNvSpPr>
          <p:nvPr/>
        </p:nvSpPr>
        <p:spPr bwMode="auto">
          <a:xfrm>
            <a:off x="5210349" y="4147341"/>
            <a:ext cx="393392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35">
            <a:extLst>
              <a:ext uri="{FF2B5EF4-FFF2-40B4-BE49-F238E27FC236}">
                <a16:creationId xmlns:a16="http://schemas.microsoft.com/office/drawing/2014/main" id="{BEB462DE-A1BF-144C-16E9-41E61C8FD474}"/>
              </a:ext>
            </a:extLst>
          </p:cNvPr>
          <p:cNvSpPr>
            <a:spLocks noChangeShapeType="1"/>
          </p:cNvSpPr>
          <p:nvPr/>
        </p:nvSpPr>
        <p:spPr bwMode="auto">
          <a:xfrm>
            <a:off x="5225712" y="2491485"/>
            <a:ext cx="3918567"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Text Box 36">
            <a:extLst>
              <a:ext uri="{FF2B5EF4-FFF2-40B4-BE49-F238E27FC236}">
                <a16:creationId xmlns:a16="http://schemas.microsoft.com/office/drawing/2014/main" id="{2EF33FF7-8383-EC73-3398-26406E017A94}"/>
              </a:ext>
            </a:extLst>
          </p:cNvPr>
          <p:cNvSpPr txBox="1">
            <a:spLocks noChangeArrowheads="1"/>
          </p:cNvSpPr>
          <p:nvPr/>
        </p:nvSpPr>
        <p:spPr bwMode="auto">
          <a:xfrm>
            <a:off x="6949833" y="215660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1</a:t>
            </a:r>
          </a:p>
        </p:txBody>
      </p:sp>
      <p:sp>
        <p:nvSpPr>
          <p:cNvPr id="36" name="Text Box 37">
            <a:extLst>
              <a:ext uri="{FF2B5EF4-FFF2-40B4-BE49-F238E27FC236}">
                <a16:creationId xmlns:a16="http://schemas.microsoft.com/office/drawing/2014/main" id="{F1832C73-4354-06F6-E46F-473569BC3088}"/>
              </a:ext>
            </a:extLst>
          </p:cNvPr>
          <p:cNvSpPr txBox="1">
            <a:spLocks noChangeArrowheads="1"/>
          </p:cNvSpPr>
          <p:nvPr/>
        </p:nvSpPr>
        <p:spPr bwMode="auto">
          <a:xfrm>
            <a:off x="8128004" y="215660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0</a:t>
            </a:r>
          </a:p>
        </p:txBody>
      </p:sp>
      <p:sp>
        <p:nvSpPr>
          <p:cNvPr id="37" name="Text Box 38">
            <a:extLst>
              <a:ext uri="{FF2B5EF4-FFF2-40B4-BE49-F238E27FC236}">
                <a16:creationId xmlns:a16="http://schemas.microsoft.com/office/drawing/2014/main" id="{8EB96197-5CAD-FB47-C2BF-31B92F687741}"/>
              </a:ext>
            </a:extLst>
          </p:cNvPr>
          <p:cNvSpPr txBox="1">
            <a:spLocks noChangeArrowheads="1"/>
          </p:cNvSpPr>
          <p:nvPr/>
        </p:nvSpPr>
        <p:spPr bwMode="auto">
          <a:xfrm>
            <a:off x="9145460" y="2313683"/>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i="1" dirty="0">
                <a:latin typeface="微软雅黑" pitchFamily="34" charset="-122"/>
                <a:ea typeface="微软雅黑" pitchFamily="34" charset="-122"/>
              </a:rPr>
              <a:t>t</a:t>
            </a:r>
          </a:p>
        </p:txBody>
      </p:sp>
      <p:sp>
        <p:nvSpPr>
          <p:cNvPr id="38" name="Text Box 39">
            <a:extLst>
              <a:ext uri="{FF2B5EF4-FFF2-40B4-BE49-F238E27FC236}">
                <a16:creationId xmlns:a16="http://schemas.microsoft.com/office/drawing/2014/main" id="{83BD2B86-2027-1A60-4B4A-C1BB399887CE}"/>
              </a:ext>
            </a:extLst>
          </p:cNvPr>
          <p:cNvSpPr txBox="1">
            <a:spLocks noChangeArrowheads="1"/>
          </p:cNvSpPr>
          <p:nvPr/>
        </p:nvSpPr>
        <p:spPr bwMode="auto">
          <a:xfrm>
            <a:off x="9145460" y="280345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i="1" dirty="0">
                <a:latin typeface="微软雅黑" pitchFamily="34" charset="-122"/>
                <a:ea typeface="微软雅黑" pitchFamily="34" charset="-122"/>
              </a:rPr>
              <a:t>t</a:t>
            </a:r>
          </a:p>
        </p:txBody>
      </p:sp>
      <p:sp>
        <p:nvSpPr>
          <p:cNvPr id="39" name="Text Box 40">
            <a:extLst>
              <a:ext uri="{FF2B5EF4-FFF2-40B4-BE49-F238E27FC236}">
                <a16:creationId xmlns:a16="http://schemas.microsoft.com/office/drawing/2014/main" id="{ED5E662B-5CC6-E8E3-7C8D-0E7B27C24CFA}"/>
              </a:ext>
            </a:extLst>
          </p:cNvPr>
          <p:cNvSpPr txBox="1">
            <a:spLocks noChangeArrowheads="1"/>
          </p:cNvSpPr>
          <p:nvPr/>
        </p:nvSpPr>
        <p:spPr bwMode="auto">
          <a:xfrm>
            <a:off x="9145460" y="3562665"/>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latin typeface="微软雅黑" pitchFamily="34" charset="-122"/>
                <a:ea typeface="微软雅黑" pitchFamily="34" charset="-122"/>
              </a:rPr>
              <a:t>t</a:t>
            </a:r>
          </a:p>
        </p:txBody>
      </p:sp>
      <p:sp>
        <p:nvSpPr>
          <p:cNvPr id="40" name="Text Box 41">
            <a:extLst>
              <a:ext uri="{FF2B5EF4-FFF2-40B4-BE49-F238E27FC236}">
                <a16:creationId xmlns:a16="http://schemas.microsoft.com/office/drawing/2014/main" id="{73243CDF-B8E2-672E-25AD-4B710C5DA187}"/>
              </a:ext>
            </a:extLst>
          </p:cNvPr>
          <p:cNvSpPr txBox="1">
            <a:spLocks noChangeArrowheads="1"/>
          </p:cNvSpPr>
          <p:nvPr/>
        </p:nvSpPr>
        <p:spPr bwMode="auto">
          <a:xfrm>
            <a:off x="9145460" y="3980446"/>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latin typeface="微软雅黑" pitchFamily="34" charset="-122"/>
                <a:ea typeface="微软雅黑" pitchFamily="34" charset="-122"/>
              </a:rPr>
              <a:t>t</a:t>
            </a:r>
          </a:p>
        </p:txBody>
      </p:sp>
      <p:sp>
        <p:nvSpPr>
          <p:cNvPr id="41" name="Text Box 42">
            <a:extLst>
              <a:ext uri="{FF2B5EF4-FFF2-40B4-BE49-F238E27FC236}">
                <a16:creationId xmlns:a16="http://schemas.microsoft.com/office/drawing/2014/main" id="{8DEC2602-D27F-B02F-1228-ABABE96FD151}"/>
              </a:ext>
            </a:extLst>
          </p:cNvPr>
          <p:cNvSpPr txBox="1">
            <a:spLocks noChangeArrowheads="1"/>
          </p:cNvSpPr>
          <p:nvPr/>
        </p:nvSpPr>
        <p:spPr bwMode="auto">
          <a:xfrm>
            <a:off x="9145460" y="4408045"/>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latin typeface="微软雅黑" pitchFamily="34" charset="-122"/>
                <a:ea typeface="微软雅黑" pitchFamily="34" charset="-122"/>
              </a:rPr>
              <a:t>t</a:t>
            </a:r>
          </a:p>
        </p:txBody>
      </p:sp>
      <p:sp>
        <p:nvSpPr>
          <p:cNvPr id="42" name="Text Box 43">
            <a:extLst>
              <a:ext uri="{FF2B5EF4-FFF2-40B4-BE49-F238E27FC236}">
                <a16:creationId xmlns:a16="http://schemas.microsoft.com/office/drawing/2014/main" id="{FB7AE832-2C67-3C8E-3224-6BECAF1274CA}"/>
              </a:ext>
            </a:extLst>
          </p:cNvPr>
          <p:cNvSpPr txBox="1">
            <a:spLocks noChangeArrowheads="1"/>
          </p:cNvSpPr>
          <p:nvPr/>
        </p:nvSpPr>
        <p:spPr bwMode="auto">
          <a:xfrm>
            <a:off x="9145460" y="4771287"/>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latin typeface="微软雅黑" pitchFamily="34" charset="-122"/>
                <a:ea typeface="微软雅黑" pitchFamily="34" charset="-122"/>
              </a:rPr>
              <a:t>t</a:t>
            </a:r>
          </a:p>
        </p:txBody>
      </p:sp>
      <p:sp>
        <p:nvSpPr>
          <p:cNvPr id="43" name="Rectangle 44">
            <a:extLst>
              <a:ext uri="{FF2B5EF4-FFF2-40B4-BE49-F238E27FC236}">
                <a16:creationId xmlns:a16="http://schemas.microsoft.com/office/drawing/2014/main" id="{510FA912-8F82-AEB9-3194-50A45D0C0CB7}"/>
              </a:ext>
            </a:extLst>
          </p:cNvPr>
          <p:cNvSpPr>
            <a:spLocks noChangeArrowheads="1"/>
          </p:cNvSpPr>
          <p:nvPr/>
        </p:nvSpPr>
        <p:spPr bwMode="auto">
          <a:xfrm>
            <a:off x="5524686" y="2598385"/>
            <a:ext cx="787022" cy="1876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Text Box 45">
            <a:extLst>
              <a:ext uri="{FF2B5EF4-FFF2-40B4-BE49-F238E27FC236}">
                <a16:creationId xmlns:a16="http://schemas.microsoft.com/office/drawing/2014/main" id="{54F7B9F6-17B1-C9C3-FDE1-204DFD7BAF0B}"/>
              </a:ext>
            </a:extLst>
          </p:cNvPr>
          <p:cNvSpPr txBox="1">
            <a:spLocks noChangeArrowheads="1"/>
          </p:cNvSpPr>
          <p:nvPr/>
        </p:nvSpPr>
        <p:spPr bwMode="auto">
          <a:xfrm>
            <a:off x="5516414" y="2531846"/>
            <a:ext cx="843501" cy="321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ts val="1800"/>
              </a:lnSpc>
            </a:pPr>
            <a:r>
              <a:rPr kumimoji="1" lang="en-US" altLang="zh-CN" sz="1200" b="1" i="1" dirty="0">
                <a:solidFill>
                  <a:srgbClr val="0000FF"/>
                </a:solidFill>
                <a:latin typeface="微软雅黑" pitchFamily="34" charset="-122"/>
                <a:ea typeface="微软雅黑" pitchFamily="34" charset="-122"/>
              </a:rPr>
              <a:t>m</a:t>
            </a: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个码片</a:t>
            </a:r>
          </a:p>
        </p:txBody>
      </p:sp>
      <p:sp>
        <p:nvSpPr>
          <p:cNvPr id="45" name="Freeform 46">
            <a:extLst>
              <a:ext uri="{FF2B5EF4-FFF2-40B4-BE49-F238E27FC236}">
                <a16:creationId xmlns:a16="http://schemas.microsoft.com/office/drawing/2014/main" id="{C46C5505-28C1-CB11-9137-8DF75209651D}"/>
              </a:ext>
            </a:extLst>
          </p:cNvPr>
          <p:cNvSpPr>
            <a:spLocks/>
          </p:cNvSpPr>
          <p:nvPr/>
        </p:nvSpPr>
        <p:spPr bwMode="auto">
          <a:xfrm>
            <a:off x="5326157" y="3235420"/>
            <a:ext cx="1174625" cy="218163"/>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6" name="Freeform 47">
            <a:extLst>
              <a:ext uri="{FF2B5EF4-FFF2-40B4-BE49-F238E27FC236}">
                <a16:creationId xmlns:a16="http://schemas.microsoft.com/office/drawing/2014/main" id="{64C8C384-4A5C-6589-AE82-AC04DFAD1969}"/>
              </a:ext>
            </a:extLst>
          </p:cNvPr>
          <p:cNvSpPr>
            <a:spLocks/>
          </p:cNvSpPr>
          <p:nvPr/>
        </p:nvSpPr>
        <p:spPr bwMode="auto">
          <a:xfrm>
            <a:off x="6500782" y="3235420"/>
            <a:ext cx="1174625" cy="218163"/>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Freeform 48">
            <a:extLst>
              <a:ext uri="{FF2B5EF4-FFF2-40B4-BE49-F238E27FC236}">
                <a16:creationId xmlns:a16="http://schemas.microsoft.com/office/drawing/2014/main" id="{89C92863-7AE8-5668-FC8E-23260ED83F7E}"/>
              </a:ext>
            </a:extLst>
          </p:cNvPr>
          <p:cNvSpPr>
            <a:spLocks/>
          </p:cNvSpPr>
          <p:nvPr/>
        </p:nvSpPr>
        <p:spPr bwMode="auto">
          <a:xfrm flipV="1">
            <a:off x="7675407" y="3235420"/>
            <a:ext cx="1174625" cy="218163"/>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rgbClr val="FF6699"/>
          </a:solidFill>
          <a:ln w="19050" cmpd="sng">
            <a:solidFill>
              <a:schemeClr val="tx1"/>
            </a:solidFill>
            <a:round/>
            <a:headEnd/>
            <a:tailEnd/>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Line 49">
            <a:extLst>
              <a:ext uri="{FF2B5EF4-FFF2-40B4-BE49-F238E27FC236}">
                <a16:creationId xmlns:a16="http://schemas.microsoft.com/office/drawing/2014/main" id="{38ADB1F1-AD19-1528-DABA-20E5B4DB8980}"/>
              </a:ext>
            </a:extLst>
          </p:cNvPr>
          <p:cNvSpPr>
            <a:spLocks noChangeShapeType="1"/>
          </p:cNvSpPr>
          <p:nvPr/>
        </p:nvSpPr>
        <p:spPr bwMode="auto">
          <a:xfrm flipV="1">
            <a:off x="5210349" y="3342320"/>
            <a:ext cx="3933929" cy="4363"/>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9" name="Text Box 50">
            <a:extLst>
              <a:ext uri="{FF2B5EF4-FFF2-40B4-BE49-F238E27FC236}">
                <a16:creationId xmlns:a16="http://schemas.microsoft.com/office/drawing/2014/main" id="{630F20F7-CAE3-C81C-7C55-AF6FFCEF7505}"/>
              </a:ext>
            </a:extLst>
          </p:cNvPr>
          <p:cNvSpPr txBox="1">
            <a:spLocks noChangeArrowheads="1"/>
          </p:cNvSpPr>
          <p:nvPr/>
        </p:nvSpPr>
        <p:spPr bwMode="auto">
          <a:xfrm>
            <a:off x="9145460" y="3172153"/>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a:latin typeface="微软雅黑" pitchFamily="34" charset="-122"/>
                <a:ea typeface="微软雅黑" pitchFamily="34" charset="-122"/>
              </a:rPr>
              <a:t>t</a:t>
            </a:r>
          </a:p>
        </p:txBody>
      </p:sp>
      <p:sp>
        <p:nvSpPr>
          <p:cNvPr id="50" name="Freeform 51">
            <a:extLst>
              <a:ext uri="{FF2B5EF4-FFF2-40B4-BE49-F238E27FC236}">
                <a16:creationId xmlns:a16="http://schemas.microsoft.com/office/drawing/2014/main" id="{BA1A140B-F107-FC42-20A6-563FD5F49625}"/>
              </a:ext>
            </a:extLst>
          </p:cNvPr>
          <p:cNvSpPr>
            <a:spLocks/>
          </p:cNvSpPr>
          <p:nvPr/>
        </p:nvSpPr>
        <p:spPr bwMode="auto">
          <a:xfrm>
            <a:off x="7678952" y="2864544"/>
            <a:ext cx="1174625" cy="219253"/>
          </a:xfrm>
          <a:custGeom>
            <a:avLst/>
            <a:gdLst>
              <a:gd name="T0" fmla="*/ 0 w 768"/>
              <a:gd name="T1" fmla="*/ 96 h 196"/>
              <a:gd name="T2" fmla="*/ 0 w 768"/>
              <a:gd name="T3" fmla="*/ 196 h 196"/>
              <a:gd name="T4" fmla="*/ 288 w 768"/>
              <a:gd name="T5" fmla="*/ 192 h 196"/>
              <a:gd name="T6" fmla="*/ 288 w 768"/>
              <a:gd name="T7" fmla="*/ 0 h 196"/>
              <a:gd name="T8" fmla="*/ 480 w 768"/>
              <a:gd name="T9" fmla="*/ 0 h 196"/>
              <a:gd name="T10" fmla="*/ 480 w 768"/>
              <a:gd name="T11" fmla="*/ 192 h 196"/>
              <a:gd name="T12" fmla="*/ 576 w 768"/>
              <a:gd name="T13" fmla="*/ 192 h 196"/>
              <a:gd name="T14" fmla="*/ 576 w 768"/>
              <a:gd name="T15" fmla="*/ 0 h 196"/>
              <a:gd name="T16" fmla="*/ 768 w 768"/>
              <a:gd name="T17" fmla="*/ 0 h 196"/>
              <a:gd name="T18" fmla="*/ 768 w 768"/>
              <a:gd name="T19" fmla="*/ 9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8" h="196">
                <a:moveTo>
                  <a:pt x="0" y="96"/>
                </a:moveTo>
                <a:lnTo>
                  <a:pt x="0" y="196"/>
                </a:lnTo>
                <a:lnTo>
                  <a:pt x="288" y="192"/>
                </a:lnTo>
                <a:lnTo>
                  <a:pt x="288" y="0"/>
                </a:lnTo>
                <a:lnTo>
                  <a:pt x="480" y="0"/>
                </a:lnTo>
                <a:lnTo>
                  <a:pt x="480" y="192"/>
                </a:lnTo>
                <a:lnTo>
                  <a:pt x="576" y="192"/>
                </a:lnTo>
                <a:lnTo>
                  <a:pt x="576" y="0"/>
                </a:lnTo>
                <a:lnTo>
                  <a:pt x="768" y="0"/>
                </a:lnTo>
                <a:lnTo>
                  <a:pt x="768" y="96"/>
                </a:lnTo>
              </a:path>
            </a:pathLst>
          </a:custGeom>
          <a:solidFill>
            <a:schemeClr val="hlink"/>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52">
            <a:extLst>
              <a:ext uri="{FF2B5EF4-FFF2-40B4-BE49-F238E27FC236}">
                <a16:creationId xmlns:a16="http://schemas.microsoft.com/office/drawing/2014/main" id="{BE01956A-05E7-40AA-5FA6-C554665E734F}"/>
              </a:ext>
            </a:extLst>
          </p:cNvPr>
          <p:cNvSpPr>
            <a:spLocks noChangeShapeType="1"/>
          </p:cNvSpPr>
          <p:nvPr/>
        </p:nvSpPr>
        <p:spPr bwMode="auto">
          <a:xfrm>
            <a:off x="5225712" y="2972534"/>
            <a:ext cx="3918567"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53">
            <a:extLst>
              <a:ext uri="{FF2B5EF4-FFF2-40B4-BE49-F238E27FC236}">
                <a16:creationId xmlns:a16="http://schemas.microsoft.com/office/drawing/2014/main" id="{BC8CC5B5-9995-1B89-3995-D489A12F36A1}"/>
              </a:ext>
            </a:extLst>
          </p:cNvPr>
          <p:cNvSpPr txBox="1">
            <a:spLocks noChangeArrowheads="1"/>
          </p:cNvSpPr>
          <p:nvPr/>
        </p:nvSpPr>
        <p:spPr bwMode="auto">
          <a:xfrm>
            <a:off x="3563038" y="3163426"/>
            <a:ext cx="165301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latin typeface="微软雅黑" pitchFamily="34" charset="-122"/>
                <a:ea typeface="微软雅黑" pitchFamily="34" charset="-122"/>
              </a:rPr>
              <a:t>S </a:t>
            </a:r>
            <a:r>
              <a:rPr kumimoji="1" lang="zh-CN" altLang="en-US" sz="1400" b="1" dirty="0">
                <a:latin typeface="微软雅黑" pitchFamily="34" charset="-122"/>
                <a:ea typeface="微软雅黑" pitchFamily="34" charset="-122"/>
              </a:rPr>
              <a:t>站发送的信号 </a:t>
            </a:r>
            <a:r>
              <a:rPr kumimoji="1" lang="en-US" altLang="zh-CN" sz="1400" b="1" i="1" dirty="0" err="1">
                <a:latin typeface="微软雅黑" pitchFamily="34" charset="-122"/>
                <a:ea typeface="微软雅黑" pitchFamily="34" charset="-122"/>
              </a:rPr>
              <a:t>S</a:t>
            </a:r>
            <a:r>
              <a:rPr kumimoji="1" lang="en-US" altLang="zh-CN" sz="1400" b="1" i="1" baseline="-25000" dirty="0" err="1">
                <a:latin typeface="微软雅黑" pitchFamily="34" charset="-122"/>
                <a:ea typeface="微软雅黑" pitchFamily="34" charset="-122"/>
              </a:rPr>
              <a:t>x</a:t>
            </a:r>
            <a:endParaRPr kumimoji="1" lang="en-US" altLang="zh-CN" sz="1400" b="1" i="1" baseline="-25000" dirty="0">
              <a:latin typeface="微软雅黑" pitchFamily="34" charset="-122"/>
              <a:ea typeface="微软雅黑" pitchFamily="34" charset="-122"/>
            </a:endParaRPr>
          </a:p>
        </p:txBody>
      </p:sp>
      <p:sp>
        <p:nvSpPr>
          <p:cNvPr id="53" name="Text Box 54">
            <a:extLst>
              <a:ext uri="{FF2B5EF4-FFF2-40B4-BE49-F238E27FC236}">
                <a16:creationId xmlns:a16="http://schemas.microsoft.com/office/drawing/2014/main" id="{C1E337BD-AE25-1CF0-28F7-68F930FADD86}"/>
              </a:ext>
            </a:extLst>
          </p:cNvPr>
          <p:cNvSpPr txBox="1">
            <a:spLocks noChangeArrowheads="1"/>
          </p:cNvSpPr>
          <p:nvPr/>
        </p:nvSpPr>
        <p:spPr bwMode="auto">
          <a:xfrm>
            <a:off x="3563039" y="3541939"/>
            <a:ext cx="164872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latin typeface="微软雅黑" pitchFamily="34" charset="-122"/>
                <a:ea typeface="微软雅黑" pitchFamily="34" charset="-122"/>
              </a:rPr>
              <a:t>T </a:t>
            </a:r>
            <a:r>
              <a:rPr kumimoji="1" lang="zh-CN" altLang="en-US" sz="1400" b="1" dirty="0">
                <a:latin typeface="微软雅黑" pitchFamily="34" charset="-122"/>
                <a:ea typeface="微软雅黑" pitchFamily="34" charset="-122"/>
              </a:rPr>
              <a:t>站发送的信号 </a:t>
            </a:r>
            <a:r>
              <a:rPr kumimoji="1" lang="en-US" altLang="zh-CN" sz="1400" b="1" i="1" dirty="0" err="1">
                <a:latin typeface="微软雅黑" pitchFamily="34" charset="-122"/>
                <a:ea typeface="微软雅黑" pitchFamily="34" charset="-122"/>
              </a:rPr>
              <a:t>T</a:t>
            </a:r>
            <a:r>
              <a:rPr kumimoji="1" lang="en-US" altLang="zh-CN" sz="1400" b="1" i="1" baseline="-25000" dirty="0" err="1">
                <a:latin typeface="微软雅黑" pitchFamily="34" charset="-122"/>
                <a:ea typeface="微软雅黑" pitchFamily="34" charset="-122"/>
              </a:rPr>
              <a:t>x</a:t>
            </a:r>
            <a:endParaRPr kumimoji="1" lang="en-US" altLang="zh-CN" sz="1400" b="1" i="1" baseline="-25000" dirty="0">
              <a:latin typeface="微软雅黑" pitchFamily="34" charset="-122"/>
              <a:ea typeface="微软雅黑" pitchFamily="34" charset="-122"/>
            </a:endParaRPr>
          </a:p>
        </p:txBody>
      </p:sp>
      <p:sp>
        <p:nvSpPr>
          <p:cNvPr id="54" name="Text Box 55">
            <a:extLst>
              <a:ext uri="{FF2B5EF4-FFF2-40B4-BE49-F238E27FC236}">
                <a16:creationId xmlns:a16="http://schemas.microsoft.com/office/drawing/2014/main" id="{BB7E065E-0353-C1D0-20CF-9AD3C1ADE913}"/>
              </a:ext>
            </a:extLst>
          </p:cNvPr>
          <p:cNvSpPr txBox="1">
            <a:spLocks noChangeArrowheads="1"/>
          </p:cNvSpPr>
          <p:nvPr/>
        </p:nvSpPr>
        <p:spPr bwMode="auto">
          <a:xfrm>
            <a:off x="3349149" y="3980446"/>
            <a:ext cx="19035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latin typeface="微软雅黑" pitchFamily="34" charset="-122"/>
                <a:ea typeface="微软雅黑" pitchFamily="34" charset="-122"/>
              </a:rPr>
              <a:t>总的发送信号 </a:t>
            </a:r>
            <a:r>
              <a:rPr kumimoji="1" lang="en-US" altLang="zh-CN" sz="1400" b="1" i="1" dirty="0" err="1">
                <a:latin typeface="微软雅黑" pitchFamily="34" charset="-122"/>
                <a:ea typeface="微软雅黑" pitchFamily="34" charset="-122"/>
              </a:rPr>
              <a:t>S</a:t>
            </a:r>
            <a:r>
              <a:rPr kumimoji="1" lang="en-US" altLang="zh-CN" sz="1400" b="1" i="1" baseline="-25000" dirty="0" err="1">
                <a:latin typeface="微软雅黑" pitchFamily="34" charset="-122"/>
                <a:ea typeface="微软雅黑" pitchFamily="34" charset="-122"/>
              </a:rPr>
              <a:t>x</a:t>
            </a:r>
            <a:r>
              <a:rPr kumimoji="1" lang="en-US" altLang="zh-CN" sz="1400" b="1" dirty="0">
                <a:latin typeface="微软雅黑" pitchFamily="34" charset="-122"/>
                <a:ea typeface="微软雅黑" pitchFamily="34" charset="-122"/>
              </a:rPr>
              <a:t> + </a:t>
            </a:r>
            <a:r>
              <a:rPr kumimoji="1" lang="en-US" altLang="zh-CN" sz="1400" b="1" i="1" dirty="0" err="1">
                <a:latin typeface="微软雅黑" pitchFamily="34" charset="-122"/>
                <a:ea typeface="微软雅黑" pitchFamily="34" charset="-122"/>
              </a:rPr>
              <a:t>T</a:t>
            </a:r>
            <a:r>
              <a:rPr kumimoji="1" lang="en-US" altLang="zh-CN" sz="1400" b="1" i="1" baseline="-25000" dirty="0" err="1">
                <a:latin typeface="微软雅黑" pitchFamily="34" charset="-122"/>
                <a:ea typeface="微软雅黑" pitchFamily="34" charset="-122"/>
              </a:rPr>
              <a:t>x</a:t>
            </a:r>
            <a:endParaRPr kumimoji="1" lang="en-US" altLang="zh-CN" sz="1400" b="1" i="1" baseline="-25000" dirty="0">
              <a:latin typeface="微软雅黑" pitchFamily="34" charset="-122"/>
              <a:ea typeface="微软雅黑" pitchFamily="34" charset="-122"/>
            </a:endParaRPr>
          </a:p>
        </p:txBody>
      </p:sp>
      <p:sp>
        <p:nvSpPr>
          <p:cNvPr id="55" name="Text Box 56">
            <a:extLst>
              <a:ext uri="{FF2B5EF4-FFF2-40B4-BE49-F238E27FC236}">
                <a16:creationId xmlns:a16="http://schemas.microsoft.com/office/drawing/2014/main" id="{A0C0CDA1-6E52-C64D-3DFB-B58909C66038}"/>
              </a:ext>
            </a:extLst>
          </p:cNvPr>
          <p:cNvSpPr txBox="1">
            <a:spLocks noChangeArrowheads="1"/>
          </p:cNvSpPr>
          <p:nvPr/>
        </p:nvSpPr>
        <p:spPr bwMode="auto">
          <a:xfrm>
            <a:off x="3616216" y="4406955"/>
            <a:ext cx="160813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latin typeface="微软雅黑" pitchFamily="34" charset="-122"/>
                <a:ea typeface="微软雅黑" pitchFamily="34" charset="-122"/>
              </a:rPr>
              <a:t>规格化内积 </a:t>
            </a:r>
            <a:r>
              <a:rPr kumimoji="1" lang="en-US" altLang="zh-CN" sz="1400" b="1" i="1" dirty="0">
                <a:latin typeface="微软雅黑" pitchFamily="34" charset="-122"/>
                <a:ea typeface="微软雅黑" pitchFamily="34" charset="-122"/>
              </a:rPr>
              <a:t>S</a:t>
            </a:r>
            <a:r>
              <a:rPr kumimoji="1" lang="en-US" altLang="zh-CN" sz="1400" b="1" dirty="0">
                <a:latin typeface="微软雅黑" pitchFamily="34" charset="-122"/>
                <a:ea typeface="微软雅黑" pitchFamily="34" charset="-122"/>
                <a:sym typeface="Symbol" pitchFamily="18" charset="2"/>
              </a:rPr>
              <a:t> </a:t>
            </a:r>
            <a:r>
              <a:rPr kumimoji="1" lang="en-US" altLang="zh-CN" sz="1400" b="1" dirty="0">
                <a:latin typeface="微软雅黑" pitchFamily="34" charset="-122"/>
                <a:ea typeface="微软雅黑" pitchFamily="34" charset="-122"/>
                <a:sym typeface="Wingdings" pitchFamily="2" charset="2"/>
              </a:rPr>
              <a:t> </a:t>
            </a:r>
            <a:r>
              <a:rPr kumimoji="1" lang="en-US" altLang="zh-CN" sz="1400" b="1" i="1" dirty="0" err="1">
                <a:latin typeface="微软雅黑" pitchFamily="34" charset="-122"/>
                <a:ea typeface="微软雅黑" pitchFamily="34" charset="-122"/>
              </a:rPr>
              <a:t>S</a:t>
            </a:r>
            <a:r>
              <a:rPr kumimoji="1" lang="en-US" altLang="zh-CN" sz="1400" b="1" i="1" baseline="-25000" dirty="0" err="1">
                <a:latin typeface="微软雅黑" pitchFamily="34" charset="-122"/>
                <a:ea typeface="微软雅黑" pitchFamily="34" charset="-122"/>
              </a:rPr>
              <a:t>x</a:t>
            </a:r>
            <a:endParaRPr kumimoji="1" lang="en-US" altLang="zh-CN" sz="1400" b="1" i="1" baseline="-25000" dirty="0">
              <a:latin typeface="微软雅黑" pitchFamily="34" charset="-122"/>
              <a:ea typeface="微软雅黑" pitchFamily="34" charset="-122"/>
            </a:endParaRPr>
          </a:p>
        </p:txBody>
      </p:sp>
      <p:sp>
        <p:nvSpPr>
          <p:cNvPr id="56" name="Text Box 57">
            <a:extLst>
              <a:ext uri="{FF2B5EF4-FFF2-40B4-BE49-F238E27FC236}">
                <a16:creationId xmlns:a16="http://schemas.microsoft.com/office/drawing/2014/main" id="{EA685401-7693-C77F-E5C7-23630B05FDF2}"/>
              </a:ext>
            </a:extLst>
          </p:cNvPr>
          <p:cNvSpPr txBox="1">
            <a:spLocks noChangeArrowheads="1"/>
          </p:cNvSpPr>
          <p:nvPr/>
        </p:nvSpPr>
        <p:spPr bwMode="auto">
          <a:xfrm>
            <a:off x="3616216" y="4772377"/>
            <a:ext cx="15990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latin typeface="微软雅黑" pitchFamily="34" charset="-122"/>
                <a:ea typeface="微软雅黑" pitchFamily="34" charset="-122"/>
              </a:rPr>
              <a:t>规格化内积 </a:t>
            </a:r>
            <a:r>
              <a:rPr kumimoji="1" lang="en-US" altLang="zh-CN" sz="1400" b="1" i="1" dirty="0">
                <a:latin typeface="微软雅黑" pitchFamily="34" charset="-122"/>
                <a:ea typeface="微软雅黑" pitchFamily="34" charset="-122"/>
              </a:rPr>
              <a:t>S</a:t>
            </a:r>
            <a:r>
              <a:rPr kumimoji="1" lang="en-US" altLang="zh-CN" sz="1400" b="1" dirty="0">
                <a:latin typeface="微软雅黑" pitchFamily="34" charset="-122"/>
                <a:ea typeface="微软雅黑" pitchFamily="34" charset="-122"/>
                <a:sym typeface="Symbol" pitchFamily="18" charset="2"/>
              </a:rPr>
              <a:t> </a:t>
            </a:r>
            <a:r>
              <a:rPr kumimoji="1" lang="en-US" altLang="zh-CN" sz="1400" b="1" dirty="0">
                <a:latin typeface="微软雅黑" pitchFamily="34" charset="-122"/>
                <a:ea typeface="微软雅黑" pitchFamily="34" charset="-122"/>
                <a:sym typeface="Wingdings" pitchFamily="2" charset="2"/>
              </a:rPr>
              <a:t> </a:t>
            </a:r>
            <a:r>
              <a:rPr kumimoji="1" lang="en-US" altLang="zh-CN" sz="1400" b="1" i="1" dirty="0" err="1">
                <a:latin typeface="微软雅黑" pitchFamily="34" charset="-122"/>
                <a:ea typeface="微软雅黑" pitchFamily="34" charset="-122"/>
              </a:rPr>
              <a:t>T</a:t>
            </a:r>
            <a:r>
              <a:rPr kumimoji="1" lang="en-US" altLang="zh-CN" sz="1400" b="1" i="1" baseline="-25000" dirty="0" err="1">
                <a:latin typeface="微软雅黑" pitchFamily="34" charset="-122"/>
                <a:ea typeface="微软雅黑" pitchFamily="34" charset="-122"/>
              </a:rPr>
              <a:t>x</a:t>
            </a:r>
            <a:endParaRPr kumimoji="1" lang="en-US" altLang="zh-CN" sz="1400" b="1" i="1" baseline="-25000" dirty="0">
              <a:latin typeface="微软雅黑" pitchFamily="34" charset="-122"/>
              <a:ea typeface="微软雅黑" pitchFamily="34" charset="-122"/>
            </a:endParaRPr>
          </a:p>
        </p:txBody>
      </p:sp>
      <p:sp>
        <p:nvSpPr>
          <p:cNvPr id="57" name="Line 58">
            <a:extLst>
              <a:ext uri="{FF2B5EF4-FFF2-40B4-BE49-F238E27FC236}">
                <a16:creationId xmlns:a16="http://schemas.microsoft.com/office/drawing/2014/main" id="{E5CB5B9F-57ED-F156-8430-593B3771E507}"/>
              </a:ext>
            </a:extLst>
          </p:cNvPr>
          <p:cNvSpPr>
            <a:spLocks noChangeShapeType="1"/>
          </p:cNvSpPr>
          <p:nvPr/>
        </p:nvSpPr>
        <p:spPr bwMode="auto">
          <a:xfrm flipV="1">
            <a:off x="5225713" y="4576030"/>
            <a:ext cx="3889024" cy="109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Text Box 59">
            <a:extLst>
              <a:ext uri="{FF2B5EF4-FFF2-40B4-BE49-F238E27FC236}">
                <a16:creationId xmlns:a16="http://schemas.microsoft.com/office/drawing/2014/main" id="{CD5CF094-9CA6-39CB-457A-C7E62F1BDE52}"/>
              </a:ext>
            </a:extLst>
          </p:cNvPr>
          <p:cNvSpPr txBox="1">
            <a:spLocks noChangeArrowheads="1"/>
          </p:cNvSpPr>
          <p:nvPr/>
        </p:nvSpPr>
        <p:spPr bwMode="auto">
          <a:xfrm>
            <a:off x="3889192" y="2250415"/>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a:latin typeface="微软雅黑" pitchFamily="34" charset="-122"/>
                <a:ea typeface="微软雅黑" pitchFamily="34" charset="-122"/>
              </a:rPr>
              <a:t>数据码元比特</a:t>
            </a:r>
          </a:p>
        </p:txBody>
      </p:sp>
      <p:sp>
        <p:nvSpPr>
          <p:cNvPr id="59" name="Text Box 60">
            <a:extLst>
              <a:ext uri="{FF2B5EF4-FFF2-40B4-BE49-F238E27FC236}">
                <a16:creationId xmlns:a16="http://schemas.microsoft.com/office/drawing/2014/main" id="{EF438A2D-7627-E032-44E2-E4F7ED43DB96}"/>
              </a:ext>
            </a:extLst>
          </p:cNvPr>
          <p:cNvSpPr txBox="1">
            <a:spLocks noChangeArrowheads="1"/>
          </p:cNvSpPr>
          <p:nvPr/>
        </p:nvSpPr>
        <p:spPr bwMode="auto">
          <a:xfrm>
            <a:off x="3022995" y="2997623"/>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rgbClr val="0000FF"/>
                </a:solidFill>
                <a:latin typeface="微软雅黑" pitchFamily="34" charset="-122"/>
                <a:ea typeface="微软雅黑" pitchFamily="34" charset="-122"/>
              </a:rPr>
              <a:t>发</a:t>
            </a:r>
          </a:p>
          <a:p>
            <a:pPr algn="l"/>
            <a:r>
              <a:rPr kumimoji="1" lang="zh-CN" altLang="en-US" sz="1400" b="1" dirty="0">
                <a:solidFill>
                  <a:srgbClr val="0000FF"/>
                </a:solidFill>
                <a:latin typeface="微软雅黑" pitchFamily="34" charset="-122"/>
                <a:ea typeface="微软雅黑" pitchFamily="34" charset="-122"/>
              </a:rPr>
              <a:t>送</a:t>
            </a:r>
          </a:p>
          <a:p>
            <a:pPr algn="l"/>
            <a:r>
              <a:rPr kumimoji="1" lang="zh-CN" altLang="en-US" sz="1400" b="1" dirty="0">
                <a:solidFill>
                  <a:srgbClr val="0000FF"/>
                </a:solidFill>
                <a:latin typeface="微软雅黑" pitchFamily="34" charset="-122"/>
                <a:ea typeface="微软雅黑" pitchFamily="34" charset="-122"/>
              </a:rPr>
              <a:t>端</a:t>
            </a:r>
          </a:p>
        </p:txBody>
      </p:sp>
      <p:sp>
        <p:nvSpPr>
          <p:cNvPr id="60" name="Text Box 61">
            <a:extLst>
              <a:ext uri="{FF2B5EF4-FFF2-40B4-BE49-F238E27FC236}">
                <a16:creationId xmlns:a16="http://schemas.microsoft.com/office/drawing/2014/main" id="{A9C39F6E-BBFF-0087-AC56-8E23D1C7E18F}"/>
              </a:ext>
            </a:extLst>
          </p:cNvPr>
          <p:cNvSpPr txBox="1">
            <a:spLocks noChangeArrowheads="1"/>
          </p:cNvSpPr>
          <p:nvPr/>
        </p:nvSpPr>
        <p:spPr bwMode="auto">
          <a:xfrm>
            <a:off x="3129349" y="438295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kumimoji="1" lang="zh-CN" altLang="en-US" sz="1400" b="1">
                <a:solidFill>
                  <a:srgbClr val="0000FF"/>
                </a:solidFill>
                <a:latin typeface="微软雅黑" pitchFamily="34" charset="-122"/>
                <a:ea typeface="微软雅黑" pitchFamily="34" charset="-122"/>
              </a:rPr>
              <a:t>接</a:t>
            </a:r>
          </a:p>
          <a:p>
            <a:pPr algn="l" eaLnBrk="0" hangingPunct="0"/>
            <a:r>
              <a:rPr kumimoji="1" lang="zh-CN" altLang="en-US" sz="1400" b="1">
                <a:solidFill>
                  <a:srgbClr val="0000FF"/>
                </a:solidFill>
                <a:latin typeface="微软雅黑" pitchFamily="34" charset="-122"/>
                <a:ea typeface="微软雅黑" pitchFamily="34" charset="-122"/>
              </a:rPr>
              <a:t>收</a:t>
            </a:r>
          </a:p>
          <a:p>
            <a:pPr algn="l" eaLnBrk="0" hangingPunct="0"/>
            <a:r>
              <a:rPr kumimoji="1" lang="zh-CN" altLang="en-US" sz="1400" b="1">
                <a:solidFill>
                  <a:srgbClr val="0000FF"/>
                </a:solidFill>
                <a:latin typeface="微软雅黑" pitchFamily="34" charset="-122"/>
                <a:ea typeface="微软雅黑" pitchFamily="34" charset="-122"/>
              </a:rPr>
              <a:t>端</a:t>
            </a:r>
          </a:p>
        </p:txBody>
      </p:sp>
      <p:sp>
        <p:nvSpPr>
          <p:cNvPr id="61" name="AutoShape 62">
            <a:extLst>
              <a:ext uri="{FF2B5EF4-FFF2-40B4-BE49-F238E27FC236}">
                <a16:creationId xmlns:a16="http://schemas.microsoft.com/office/drawing/2014/main" id="{3CEACF87-64A4-8717-7511-DEE4BD651993}"/>
              </a:ext>
            </a:extLst>
          </p:cNvPr>
          <p:cNvSpPr>
            <a:spLocks/>
          </p:cNvSpPr>
          <p:nvPr/>
        </p:nvSpPr>
        <p:spPr bwMode="auto">
          <a:xfrm>
            <a:off x="3349149" y="2304956"/>
            <a:ext cx="107536" cy="2078001"/>
          </a:xfrm>
          <a:prstGeom prst="leftBracket">
            <a:avLst>
              <a:gd name="adj" fmla="val 174451"/>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AutoShape 63">
            <a:extLst>
              <a:ext uri="{FF2B5EF4-FFF2-40B4-BE49-F238E27FC236}">
                <a16:creationId xmlns:a16="http://schemas.microsoft.com/office/drawing/2014/main" id="{A36060AA-1EA0-58F7-EE09-0753D424A8B4}"/>
              </a:ext>
            </a:extLst>
          </p:cNvPr>
          <p:cNvSpPr>
            <a:spLocks/>
          </p:cNvSpPr>
          <p:nvPr/>
        </p:nvSpPr>
        <p:spPr bwMode="auto">
          <a:xfrm>
            <a:off x="3509862" y="4482221"/>
            <a:ext cx="57903" cy="544316"/>
          </a:xfrm>
          <a:prstGeom prst="leftBracket">
            <a:avLst>
              <a:gd name="adj" fmla="val 84865"/>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1087498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b="1" dirty="0">
                <a:solidFill>
                  <a:srgbClr val="000099"/>
                </a:solidFill>
              </a:rPr>
              <a:t>Physical Layer roadmap</a:t>
            </a:r>
            <a:endParaRPr lang="en-US" b="1" dirty="0">
              <a:solidFill>
                <a:srgbClr val="000099"/>
              </a:solidFill>
            </a:endParaRPr>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concepts of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Basic knowledge of data communication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The transmission medium below the physical layer </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Channel multiplexing techniques</a:t>
            </a:r>
          </a:p>
          <a:p>
            <a:pPr marL="407988" indent="-277813">
              <a:spcBef>
                <a:spcPts val="600"/>
              </a:spcBef>
              <a:buClr>
                <a:schemeClr val="bg1">
                  <a:lumMod val="75000"/>
                </a:schemeClr>
              </a:buClr>
            </a:pPr>
            <a:r>
              <a:rPr lang="en-US" altLang="en-US" sz="3200" dirty="0">
                <a:ea typeface="ＭＳ Ｐゴシック" panose="020B0600070205080204" pitchFamily="34" charset="-128"/>
                <a:cs typeface="Arial" panose="020B0604020202020204" pitchFamily="34" charset="0"/>
              </a:rPr>
              <a:t>Broadband Access Technology</a:t>
            </a:r>
          </a:p>
          <a:p>
            <a:pPr marL="407988" indent="-277813">
              <a:spcBef>
                <a:spcPts val="600"/>
              </a:spcBef>
              <a:buClr>
                <a:schemeClr val="bg1">
                  <a:lumMod val="75000"/>
                </a:schemeClr>
              </a:buClr>
            </a:pPr>
            <a:endParaRPr lang="en-US" altLang="en-US" sz="3200" dirty="0">
              <a:solidFill>
                <a:schemeClr val="bg1">
                  <a:lumMod val="75000"/>
                </a:schemeClr>
              </a:solidFill>
              <a:ea typeface="ＭＳ Ｐゴシック" panose="020B0600070205080204" pitchFamily="34" charset="-128"/>
              <a:cs typeface="Arial" panose="020B0604020202020204" pitchFamily="34" charset="0"/>
            </a:endParaRP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Tree>
    <p:extLst>
      <p:ext uri="{BB962C8B-B14F-4D97-AF65-F5344CB8AC3E}">
        <p14:creationId xmlns:p14="http://schemas.microsoft.com/office/powerpoint/2010/main" val="1253122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Broadband Access Technology</a:t>
            </a:r>
          </a:p>
        </p:txBody>
      </p:sp>
      <p:sp>
        <p:nvSpPr>
          <p:cNvPr id="5" name="文本框 4">
            <a:extLst>
              <a:ext uri="{FF2B5EF4-FFF2-40B4-BE49-F238E27FC236}">
                <a16:creationId xmlns:a16="http://schemas.microsoft.com/office/drawing/2014/main" id="{92E3DC36-B90B-FCE7-DC5E-8D3F61E93B89}"/>
              </a:ext>
            </a:extLst>
          </p:cNvPr>
          <p:cNvSpPr txBox="1"/>
          <p:nvPr/>
        </p:nvSpPr>
        <p:spPr>
          <a:xfrm>
            <a:off x="623673" y="981370"/>
            <a:ext cx="10661148" cy="3136243"/>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To connect to the Internet, a user must first connect to an ISP.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In the early days of the Internet, users connected to their ISPs through modems using telephone subscriber lines, which could only access the Internet at a maximum rate of 56 kbit/s.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FCC used to consider broadband as long as the sum of two-way data rates exceeded 200 kbit/s. But in 2015 it was redefined to: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Broadband downlink speed reach 25 MBPS</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Broadband uplink speed reach 3 MBPS</a:t>
            </a:r>
          </a:p>
        </p:txBody>
      </p:sp>
      <p:sp>
        <p:nvSpPr>
          <p:cNvPr id="6" name="文本框 5">
            <a:extLst>
              <a:ext uri="{FF2B5EF4-FFF2-40B4-BE49-F238E27FC236}">
                <a16:creationId xmlns:a16="http://schemas.microsoft.com/office/drawing/2014/main" id="{77A91444-1644-8106-A9A3-072E583D8CBA}"/>
              </a:ext>
            </a:extLst>
          </p:cNvPr>
          <p:cNvSpPr txBox="1"/>
          <p:nvPr/>
        </p:nvSpPr>
        <p:spPr>
          <a:xfrm>
            <a:off x="623673" y="4326462"/>
            <a:ext cx="10661148" cy="1550168"/>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From the perspective of broadband access media, it can be divided into two main categories: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Wired broadband access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Wireless broadband access </a:t>
            </a:r>
          </a:p>
        </p:txBody>
      </p:sp>
    </p:spTree>
    <p:extLst>
      <p:ext uri="{BB962C8B-B14F-4D97-AF65-F5344CB8AC3E}">
        <p14:creationId xmlns:p14="http://schemas.microsoft.com/office/powerpoint/2010/main" val="1742922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ADSL </a:t>
            </a:r>
            <a:r>
              <a:rPr lang="zh-CN" altLang="en-US" b="1" dirty="0">
                <a:solidFill>
                  <a:srgbClr val="000099"/>
                </a:solidFill>
              </a:rPr>
              <a:t>非对称数字用户线路</a:t>
            </a:r>
            <a:endParaRPr lang="en-US" altLang="en-US" b="1" dirty="0">
              <a:solidFill>
                <a:srgbClr val="000099"/>
              </a:solidFill>
            </a:endParaRPr>
          </a:p>
        </p:txBody>
      </p:sp>
      <p:sp>
        <p:nvSpPr>
          <p:cNvPr id="3" name="文本框 2">
            <a:extLst>
              <a:ext uri="{FF2B5EF4-FFF2-40B4-BE49-F238E27FC236}">
                <a16:creationId xmlns:a16="http://schemas.microsoft.com/office/drawing/2014/main" id="{E2DBB76F-61AF-9604-F173-37C593C4A212}"/>
              </a:ext>
            </a:extLst>
          </p:cNvPr>
          <p:cNvSpPr txBox="1"/>
          <p:nvPr/>
        </p:nvSpPr>
        <p:spPr>
          <a:xfrm>
            <a:off x="623673" y="981370"/>
            <a:ext cx="10661148" cy="3801041"/>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ADSL</a:t>
            </a:r>
            <a:r>
              <a:rPr lang="en" altLang="zh-CN" sz="2400" dirty="0">
                <a:latin typeface="Calibri" panose="020F0502020204030204" pitchFamily="34" charset="0"/>
                <a:cs typeface="Calibri" panose="020F0502020204030204" pitchFamily="34" charset="0"/>
              </a:rPr>
              <a:t> (Asymmetric Digital Subscriber Line) technology is to use digital technology to transform the existing analog telephone subscriber line, so that it can carry broadband services.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frequency band of standard analog telephone signals is limited to 300 to 3400 Hz, but the actual signal frequency that can be passed through the subscriber line itself is still more than 1 </a:t>
            </a:r>
            <a:r>
              <a:rPr lang="en" altLang="zh-CN" sz="2400" dirty="0" err="1">
                <a:latin typeface="Calibri" panose="020F0502020204030204" pitchFamily="34" charset="0"/>
                <a:cs typeface="Calibri" panose="020F0502020204030204" pitchFamily="34" charset="0"/>
              </a:rPr>
              <a:t>MHz.</a:t>
            </a:r>
            <a:r>
              <a:rPr lang="en" altLang="zh-CN" sz="2400" dirty="0">
                <a:latin typeface="Calibri" panose="020F0502020204030204" pitchFamily="34" charset="0"/>
                <a:cs typeface="Calibri" panose="020F0502020204030204" pitchFamily="34" charset="0"/>
              </a:rPr>
              <a:t>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ADSL technology leaves the 0-4 kHz low-end spectrum for traditional telephone use, and </a:t>
            </a:r>
            <a:r>
              <a:rPr lang="en" altLang="zh-CN" sz="2400" dirty="0">
                <a:solidFill>
                  <a:srgbClr val="0013A3"/>
                </a:solidFill>
                <a:latin typeface="Calibri" panose="020F0502020204030204" pitchFamily="34" charset="0"/>
                <a:cs typeface="Calibri" panose="020F0502020204030204" pitchFamily="34" charset="0"/>
              </a:rPr>
              <a:t>leaves the original unused high-end spectrum for users to use the Internet.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DSL stands for </a:t>
            </a:r>
            <a:r>
              <a:rPr lang="en" altLang="zh-CN" sz="2400" dirty="0">
                <a:solidFill>
                  <a:srgbClr val="0013A3"/>
                </a:solidFill>
                <a:latin typeface="Calibri" panose="020F0502020204030204" pitchFamily="34" charset="0"/>
                <a:cs typeface="Calibri" panose="020F0502020204030204" pitchFamily="34" charset="0"/>
              </a:rPr>
              <a:t>Digital Subscriber Line</a:t>
            </a:r>
            <a:r>
              <a:rPr lang="en" altLang="zh-CN" sz="2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4061247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Several types of ADSL</a:t>
            </a:r>
          </a:p>
        </p:txBody>
      </p:sp>
      <p:sp>
        <p:nvSpPr>
          <p:cNvPr id="3" name="文本框 2">
            <a:extLst>
              <a:ext uri="{FF2B5EF4-FFF2-40B4-BE49-F238E27FC236}">
                <a16:creationId xmlns:a16="http://schemas.microsoft.com/office/drawing/2014/main" id="{E2DBB76F-61AF-9604-F173-37C593C4A212}"/>
              </a:ext>
            </a:extLst>
          </p:cNvPr>
          <p:cNvSpPr txBox="1"/>
          <p:nvPr/>
        </p:nvSpPr>
        <p:spPr>
          <a:xfrm>
            <a:off x="623673" y="981370"/>
            <a:ext cx="10661148" cy="3060325"/>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ADSL</a:t>
            </a:r>
            <a:r>
              <a:rPr lang="en" altLang="zh-CN" sz="2400" dirty="0">
                <a:latin typeface="Calibri" panose="020F0502020204030204" pitchFamily="34" charset="0"/>
                <a:cs typeface="Calibri" panose="020F0502020204030204" pitchFamily="34" charset="0"/>
              </a:rPr>
              <a:t> stands for Asymmetric Digital Subscriber Line (ADSL)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HDSL</a:t>
            </a:r>
            <a:r>
              <a:rPr lang="en" altLang="zh-CN" sz="2400" dirty="0">
                <a:latin typeface="Calibri" panose="020F0502020204030204" pitchFamily="34" charset="0"/>
                <a:cs typeface="Calibri" panose="020F0502020204030204" pitchFamily="34" charset="0"/>
              </a:rPr>
              <a:t> (High speed DSL) : High speed digital subscriber line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SDSL</a:t>
            </a:r>
            <a:r>
              <a:rPr lang="en" altLang="zh-CN" sz="2400" dirty="0">
                <a:latin typeface="Calibri" panose="020F0502020204030204" pitchFamily="34" charset="0"/>
                <a:cs typeface="Calibri" panose="020F0502020204030204" pitchFamily="34" charset="0"/>
              </a:rPr>
              <a:t> (Single-line DSL) : A digital subscriber line with one pair of lines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VDSL </a:t>
            </a:r>
            <a:r>
              <a:rPr lang="en" altLang="zh-CN" sz="2400" dirty="0">
                <a:latin typeface="Calibri" panose="020F0502020204030204" pitchFamily="34" charset="0"/>
                <a:cs typeface="Calibri" panose="020F0502020204030204" pitchFamily="34" charset="0"/>
              </a:rPr>
              <a:t>(Very high speed DSL) : Very high speed digital subscriber line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DSL </a:t>
            </a:r>
            <a:r>
              <a:rPr lang="en" altLang="zh-CN" sz="2400" dirty="0">
                <a:latin typeface="Calibri" panose="020F0502020204030204" pitchFamily="34" charset="0"/>
                <a:cs typeface="Calibri" panose="020F0502020204030204" pitchFamily="34" charset="0"/>
              </a:rPr>
              <a:t>(Digital Subscriber Line)</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Rate-adaptive DSL (</a:t>
            </a:r>
            <a:r>
              <a:rPr lang="en" altLang="zh-CN" sz="2400" dirty="0">
                <a:solidFill>
                  <a:srgbClr val="0013A3"/>
                </a:solidFill>
                <a:latin typeface="Calibri" panose="020F0502020204030204" pitchFamily="34" charset="0"/>
                <a:cs typeface="Calibri" panose="020F0502020204030204" pitchFamily="34" charset="0"/>
              </a:rPr>
              <a:t>RADSL)</a:t>
            </a:r>
            <a:r>
              <a:rPr lang="en" altLang="zh-CN" sz="2400" dirty="0">
                <a:latin typeface="Calibri" panose="020F0502020204030204" pitchFamily="34" charset="0"/>
                <a:cs typeface="Calibri" panose="020F0502020204030204" pitchFamily="34" charset="0"/>
              </a:rPr>
              <a:t> : Rate-adaptive DSL, a subset of ADSL that adjusts the line Rate automatically)</a:t>
            </a:r>
          </a:p>
        </p:txBody>
      </p:sp>
    </p:spTree>
    <p:extLst>
      <p:ext uri="{BB962C8B-B14F-4D97-AF65-F5344CB8AC3E}">
        <p14:creationId xmlns:p14="http://schemas.microsoft.com/office/powerpoint/2010/main" val="1071385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Transmission distance of ADSL</a:t>
            </a:r>
          </a:p>
        </p:txBody>
      </p:sp>
      <p:sp>
        <p:nvSpPr>
          <p:cNvPr id="3" name="文本框 2">
            <a:extLst>
              <a:ext uri="{FF2B5EF4-FFF2-40B4-BE49-F238E27FC236}">
                <a16:creationId xmlns:a16="http://schemas.microsoft.com/office/drawing/2014/main" id="{E2DBB76F-61AF-9604-F173-37C593C4A212}"/>
              </a:ext>
            </a:extLst>
          </p:cNvPr>
          <p:cNvSpPr txBox="1"/>
          <p:nvPr/>
        </p:nvSpPr>
        <p:spPr>
          <a:xfrm>
            <a:off x="623673" y="981370"/>
            <a:ext cx="10661148" cy="4261679"/>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transmission distance of ADSL depends on the data rate and the diameter of the subscriber line (the thinner the subscriber line, the greater the attenuation of the signal transmission).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highest data rate that ADSL can achieve is closely related to the signal-to-noise ratio (SNR) at the actual subscriber line.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For example: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A subscriber line with a diameter of 0.5 mm can travel 5.5 km at a rate of 1.5 to 2.0 Mbit/s, but when the transmission rate is increased to 6.1 Mbit/s, the transmission distance is reduced to 3.7 km.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If we reduce the diameter of the subscriber wire to 0.4 mm, we can only travel 2.7 km at 6.1 MBPS.</a:t>
            </a:r>
          </a:p>
        </p:txBody>
      </p:sp>
    </p:spTree>
    <p:extLst>
      <p:ext uri="{BB962C8B-B14F-4D97-AF65-F5344CB8AC3E}">
        <p14:creationId xmlns:p14="http://schemas.microsoft.com/office/powerpoint/2010/main" val="2336714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Features of ADSL</a:t>
            </a:r>
          </a:p>
        </p:txBody>
      </p:sp>
      <p:sp>
        <p:nvSpPr>
          <p:cNvPr id="3" name="文本框 2">
            <a:extLst>
              <a:ext uri="{FF2B5EF4-FFF2-40B4-BE49-F238E27FC236}">
                <a16:creationId xmlns:a16="http://schemas.microsoft.com/office/drawing/2014/main" id="{E2DBB76F-61AF-9604-F173-37C593C4A212}"/>
              </a:ext>
            </a:extLst>
          </p:cNvPr>
          <p:cNvSpPr txBox="1"/>
          <p:nvPr/>
        </p:nvSpPr>
        <p:spPr>
          <a:xfrm>
            <a:off x="623673" y="981370"/>
            <a:ext cx="10661148" cy="2599686"/>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uplink and downlink bandwidth are made asymmetric.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Uplink refers from the user to the ISP, while downlink refers from the ISP to the user.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ADSL installs an ADSL modem at each end of the subscriber line (copper wire).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In our country, the modulation technique is Discrete Multi-Tone (DMT).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Here "multi-tone" means "multi-carrier" or "multi-subchannel".</a:t>
            </a:r>
          </a:p>
        </p:txBody>
      </p:sp>
    </p:spTree>
    <p:extLst>
      <p:ext uri="{BB962C8B-B14F-4D97-AF65-F5344CB8AC3E}">
        <p14:creationId xmlns:p14="http://schemas.microsoft.com/office/powerpoint/2010/main" val="138611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DMT</a:t>
            </a:r>
          </a:p>
        </p:txBody>
      </p:sp>
      <p:sp>
        <p:nvSpPr>
          <p:cNvPr id="3" name="文本框 2">
            <a:extLst>
              <a:ext uri="{FF2B5EF4-FFF2-40B4-BE49-F238E27FC236}">
                <a16:creationId xmlns:a16="http://schemas.microsoft.com/office/drawing/2014/main" id="{E2DBB76F-61AF-9604-F173-37C593C4A212}"/>
              </a:ext>
            </a:extLst>
          </p:cNvPr>
          <p:cNvSpPr txBox="1"/>
          <p:nvPr/>
        </p:nvSpPr>
        <p:spPr>
          <a:xfrm>
            <a:off x="623673" y="981370"/>
            <a:ext cx="10661148" cy="2879763"/>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DMT modulation technique uses </a:t>
            </a:r>
            <a:r>
              <a:rPr lang="en" altLang="zh-CN" sz="2400" dirty="0">
                <a:solidFill>
                  <a:srgbClr val="0013A3"/>
                </a:solidFill>
                <a:latin typeface="Calibri" panose="020F0502020204030204" pitchFamily="34" charset="0"/>
                <a:cs typeface="Calibri" panose="020F0502020204030204" pitchFamily="34" charset="0"/>
              </a:rPr>
              <a:t>frequency division multiplexing </a:t>
            </a:r>
            <a:r>
              <a:rPr lang="en" altLang="zh-CN" sz="2400" dirty="0">
                <a:latin typeface="Calibri" panose="020F0502020204030204" pitchFamily="34" charset="0"/>
                <a:cs typeface="Calibri" panose="020F0502020204030204" pitchFamily="34" charset="0"/>
              </a:rPr>
              <a:t>(FDM) method to divide the high end spectrum from 40 kHz to 1.1 MHz into many sub-channels, of which 25 sub-channels are used for the uplink channel and 249 sub-channels are used for the downlink channel.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Each subchannel occupies 4 kHz bandwidth (strictly speaking, 4.3125 kHz) and is digitally modulated using a different carrier (i.e., a different tone). This is equivalent to using many small modems on a pair of subscriber lines to transmit data in </a:t>
            </a:r>
            <a:r>
              <a:rPr lang="en" altLang="zh-CN" sz="2400" dirty="0">
                <a:solidFill>
                  <a:srgbClr val="0013A3"/>
                </a:solidFill>
                <a:latin typeface="Calibri" panose="020F0502020204030204" pitchFamily="34" charset="0"/>
                <a:cs typeface="Calibri" panose="020F0502020204030204" pitchFamily="34" charset="0"/>
              </a:rPr>
              <a:t>parallel</a:t>
            </a:r>
            <a:r>
              <a:rPr lang="en" altLang="zh-CN" sz="2400" dirty="0">
                <a:latin typeface="Calibri" panose="020F0502020204030204" pitchFamily="34" charset="0"/>
                <a:cs typeface="Calibri" panose="020F0502020204030204" pitchFamily="34" charset="0"/>
              </a:rPr>
              <a:t>.</a:t>
            </a:r>
          </a:p>
        </p:txBody>
      </p:sp>
      <p:sp>
        <p:nvSpPr>
          <p:cNvPr id="5" name="Rectangle 194">
            <a:extLst>
              <a:ext uri="{FF2B5EF4-FFF2-40B4-BE49-F238E27FC236}">
                <a16:creationId xmlns:a16="http://schemas.microsoft.com/office/drawing/2014/main" id="{C27A63D7-D393-2B4C-6A6A-E03DDF1E14A4}"/>
              </a:ext>
            </a:extLst>
          </p:cNvPr>
          <p:cNvSpPr>
            <a:spLocks noChangeArrowheads="1"/>
          </p:cNvSpPr>
          <p:nvPr/>
        </p:nvSpPr>
        <p:spPr bwMode="auto">
          <a:xfrm>
            <a:off x="4172368" y="4864953"/>
            <a:ext cx="1131058" cy="1515497"/>
          </a:xfrm>
          <a:prstGeom prst="rect">
            <a:avLst/>
          </a:prstGeom>
          <a:solidFill>
            <a:srgbClr val="00FFFF"/>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 name="Line 196">
            <a:extLst>
              <a:ext uri="{FF2B5EF4-FFF2-40B4-BE49-F238E27FC236}">
                <a16:creationId xmlns:a16="http://schemas.microsoft.com/office/drawing/2014/main" id="{990E0B8F-95C5-F11E-58C0-9FABA22B6E6B}"/>
              </a:ext>
            </a:extLst>
          </p:cNvPr>
          <p:cNvSpPr>
            <a:spLocks noChangeShapeType="1"/>
          </p:cNvSpPr>
          <p:nvPr/>
        </p:nvSpPr>
        <p:spPr bwMode="auto">
          <a:xfrm>
            <a:off x="4172368" y="4063406"/>
            <a:ext cx="3847262" cy="0"/>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C00000"/>
              </a:solidFill>
              <a:latin typeface="微软雅黑" pitchFamily="34" charset="-122"/>
              <a:ea typeface="微软雅黑" pitchFamily="34" charset="-122"/>
            </a:endParaRPr>
          </a:p>
        </p:txBody>
      </p:sp>
      <p:sp>
        <p:nvSpPr>
          <p:cNvPr id="7" name="Rectangle 194">
            <a:extLst>
              <a:ext uri="{FF2B5EF4-FFF2-40B4-BE49-F238E27FC236}">
                <a16:creationId xmlns:a16="http://schemas.microsoft.com/office/drawing/2014/main" id="{664442D3-1C1B-CE64-8EF9-794F35BDD9F5}"/>
              </a:ext>
            </a:extLst>
          </p:cNvPr>
          <p:cNvSpPr>
            <a:spLocks noChangeArrowheads="1"/>
          </p:cNvSpPr>
          <p:nvPr/>
        </p:nvSpPr>
        <p:spPr bwMode="auto">
          <a:xfrm>
            <a:off x="5303426" y="4863308"/>
            <a:ext cx="2777746" cy="1515497"/>
          </a:xfrm>
          <a:prstGeom prst="rect">
            <a:avLst/>
          </a:prstGeom>
          <a:solidFill>
            <a:srgbClr val="FF66FF"/>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Text Box 80">
            <a:extLst>
              <a:ext uri="{FF2B5EF4-FFF2-40B4-BE49-F238E27FC236}">
                <a16:creationId xmlns:a16="http://schemas.microsoft.com/office/drawing/2014/main" id="{041C7EBA-58AB-A6B6-66A8-E4E57B1749F2}"/>
              </a:ext>
            </a:extLst>
          </p:cNvPr>
          <p:cNvSpPr txBox="1">
            <a:spLocks noChangeArrowheads="1"/>
          </p:cNvSpPr>
          <p:nvPr/>
        </p:nvSpPr>
        <p:spPr bwMode="auto">
          <a:xfrm>
            <a:off x="4532973" y="5105502"/>
            <a:ext cx="357790" cy="307777"/>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a:t>
            </a:r>
          </a:p>
        </p:txBody>
      </p:sp>
      <p:sp>
        <p:nvSpPr>
          <p:cNvPr id="9" name="Text Box 83">
            <a:extLst>
              <a:ext uri="{FF2B5EF4-FFF2-40B4-BE49-F238E27FC236}">
                <a16:creationId xmlns:a16="http://schemas.microsoft.com/office/drawing/2014/main" id="{297E6582-4A1D-0990-E269-FDCE41B098AB}"/>
              </a:ext>
            </a:extLst>
          </p:cNvPr>
          <p:cNvSpPr txBox="1">
            <a:spLocks noChangeArrowheads="1"/>
          </p:cNvSpPr>
          <p:nvPr/>
        </p:nvSpPr>
        <p:spPr bwMode="auto">
          <a:xfrm>
            <a:off x="2269678" y="4240013"/>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频谱</a:t>
            </a:r>
          </a:p>
        </p:txBody>
      </p:sp>
      <p:sp>
        <p:nvSpPr>
          <p:cNvPr id="10" name="Line 84">
            <a:extLst>
              <a:ext uri="{FF2B5EF4-FFF2-40B4-BE49-F238E27FC236}">
                <a16:creationId xmlns:a16="http://schemas.microsoft.com/office/drawing/2014/main" id="{6FB5CE23-208A-EF74-7BD3-C0D3CFE9590F}"/>
              </a:ext>
            </a:extLst>
          </p:cNvPr>
          <p:cNvSpPr>
            <a:spLocks noChangeShapeType="1"/>
          </p:cNvSpPr>
          <p:nvPr/>
        </p:nvSpPr>
        <p:spPr bwMode="auto">
          <a:xfrm rot="16200000">
            <a:off x="1762805" y="5350368"/>
            <a:ext cx="2124546" cy="0"/>
          </a:xfrm>
          <a:prstGeom prst="line">
            <a:avLst/>
          </a:prstGeom>
          <a:noFill/>
          <a:ln w="28575">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Text Box 86">
            <a:extLst>
              <a:ext uri="{FF2B5EF4-FFF2-40B4-BE49-F238E27FC236}">
                <a16:creationId xmlns:a16="http://schemas.microsoft.com/office/drawing/2014/main" id="{6A5B88A0-E579-6C77-AC36-EF77B6E8C555}"/>
              </a:ext>
            </a:extLst>
          </p:cNvPr>
          <p:cNvSpPr txBox="1">
            <a:spLocks noChangeArrowheads="1"/>
          </p:cNvSpPr>
          <p:nvPr/>
        </p:nvSpPr>
        <p:spPr bwMode="auto">
          <a:xfrm>
            <a:off x="5287124" y="3934494"/>
            <a:ext cx="1617751" cy="3077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CC00CC"/>
                </a:solidFill>
                <a:latin typeface="微软雅黑" pitchFamily="34" charset="-122"/>
                <a:ea typeface="微软雅黑" pitchFamily="34" charset="-122"/>
              </a:rPr>
              <a:t>ADSL </a:t>
            </a:r>
            <a:r>
              <a:rPr lang="zh-CN" altLang="en-US" sz="1400" b="1" dirty="0">
                <a:solidFill>
                  <a:srgbClr val="CC00CC"/>
                </a:solidFill>
                <a:latin typeface="微软雅黑" pitchFamily="34" charset="-122"/>
                <a:ea typeface="微软雅黑" pitchFamily="34" charset="-122"/>
              </a:rPr>
              <a:t>的数字业务</a:t>
            </a:r>
          </a:p>
        </p:txBody>
      </p:sp>
      <p:sp>
        <p:nvSpPr>
          <p:cNvPr id="12" name="Freeform 87">
            <a:extLst>
              <a:ext uri="{FF2B5EF4-FFF2-40B4-BE49-F238E27FC236}">
                <a16:creationId xmlns:a16="http://schemas.microsoft.com/office/drawing/2014/main" id="{16E939E4-83C1-58D1-5299-C1F3EC681FCD}"/>
              </a:ext>
            </a:extLst>
          </p:cNvPr>
          <p:cNvSpPr>
            <a:spLocks/>
          </p:cNvSpPr>
          <p:nvPr/>
        </p:nvSpPr>
        <p:spPr bwMode="auto">
          <a:xfrm>
            <a:off x="2825078" y="4834814"/>
            <a:ext cx="291082" cy="1556456"/>
          </a:xfrm>
          <a:custGeom>
            <a:avLst/>
            <a:gdLst>
              <a:gd name="T0" fmla="*/ 0 w 208"/>
              <a:gd name="T1" fmla="*/ 0 h 1248"/>
              <a:gd name="T2" fmla="*/ 112 w 208"/>
              <a:gd name="T3" fmla="*/ 144 h 1248"/>
              <a:gd name="T4" fmla="*/ 192 w 208"/>
              <a:gd name="T5" fmla="*/ 680 h 1248"/>
              <a:gd name="T6" fmla="*/ 208 w 208"/>
              <a:gd name="T7" fmla="*/ 1248 h 1248"/>
            </a:gdLst>
            <a:ahLst/>
            <a:cxnLst>
              <a:cxn ang="0">
                <a:pos x="T0" y="T1"/>
              </a:cxn>
              <a:cxn ang="0">
                <a:pos x="T2" y="T3"/>
              </a:cxn>
              <a:cxn ang="0">
                <a:pos x="T4" y="T5"/>
              </a:cxn>
              <a:cxn ang="0">
                <a:pos x="T6" y="T7"/>
              </a:cxn>
            </a:cxnLst>
            <a:rect l="0" t="0" r="r" b="b"/>
            <a:pathLst>
              <a:path w="208" h="1248">
                <a:moveTo>
                  <a:pt x="0" y="0"/>
                </a:moveTo>
                <a:cubicBezTo>
                  <a:pt x="19" y="24"/>
                  <a:pt x="80" y="31"/>
                  <a:pt x="112" y="144"/>
                </a:cubicBezTo>
                <a:cubicBezTo>
                  <a:pt x="144" y="257"/>
                  <a:pt x="176" y="496"/>
                  <a:pt x="192" y="680"/>
                </a:cubicBezTo>
                <a:cubicBezTo>
                  <a:pt x="208" y="864"/>
                  <a:pt x="205" y="1130"/>
                  <a:pt x="208" y="1248"/>
                </a:cubicBez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Text Box 89">
            <a:extLst>
              <a:ext uri="{FF2B5EF4-FFF2-40B4-BE49-F238E27FC236}">
                <a16:creationId xmlns:a16="http://schemas.microsoft.com/office/drawing/2014/main" id="{EB43C3E1-3F1F-B9FC-730B-BB726B448330}"/>
              </a:ext>
            </a:extLst>
          </p:cNvPr>
          <p:cNvSpPr txBox="1">
            <a:spLocks noChangeArrowheads="1"/>
          </p:cNvSpPr>
          <p:nvPr/>
        </p:nvSpPr>
        <p:spPr bwMode="auto">
          <a:xfrm>
            <a:off x="4241920" y="42918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solidFill>
                  <a:srgbClr val="0000FF"/>
                </a:solidFill>
                <a:latin typeface="微软雅黑" pitchFamily="34" charset="-122"/>
                <a:ea typeface="微软雅黑" pitchFamily="34" charset="-122"/>
              </a:rPr>
              <a:t>上行信道</a:t>
            </a:r>
          </a:p>
        </p:txBody>
      </p:sp>
      <p:sp>
        <p:nvSpPr>
          <p:cNvPr id="14" name="Text Box 90">
            <a:extLst>
              <a:ext uri="{FF2B5EF4-FFF2-40B4-BE49-F238E27FC236}">
                <a16:creationId xmlns:a16="http://schemas.microsoft.com/office/drawing/2014/main" id="{BD28846A-6423-AD88-3B57-5D65841A6EA1}"/>
              </a:ext>
            </a:extLst>
          </p:cNvPr>
          <p:cNvSpPr txBox="1">
            <a:spLocks noChangeArrowheads="1"/>
          </p:cNvSpPr>
          <p:nvPr/>
        </p:nvSpPr>
        <p:spPr bwMode="auto">
          <a:xfrm>
            <a:off x="2914726" y="4439293"/>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传统电话</a:t>
            </a:r>
          </a:p>
        </p:txBody>
      </p:sp>
      <p:sp>
        <p:nvSpPr>
          <p:cNvPr id="15" name="Line 91">
            <a:extLst>
              <a:ext uri="{FF2B5EF4-FFF2-40B4-BE49-F238E27FC236}">
                <a16:creationId xmlns:a16="http://schemas.microsoft.com/office/drawing/2014/main" id="{FE2F34B1-93AC-136B-ED03-5A627A607978}"/>
              </a:ext>
            </a:extLst>
          </p:cNvPr>
          <p:cNvSpPr>
            <a:spLocks noChangeShapeType="1"/>
          </p:cNvSpPr>
          <p:nvPr/>
        </p:nvSpPr>
        <p:spPr bwMode="auto">
          <a:xfrm flipH="1">
            <a:off x="3013034" y="4713717"/>
            <a:ext cx="307714" cy="354387"/>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92">
            <a:extLst>
              <a:ext uri="{FF2B5EF4-FFF2-40B4-BE49-F238E27FC236}">
                <a16:creationId xmlns:a16="http://schemas.microsoft.com/office/drawing/2014/main" id="{200EB1DD-2AD8-0C30-4BF9-A57839D807A9}"/>
              </a:ext>
            </a:extLst>
          </p:cNvPr>
          <p:cNvSpPr>
            <a:spLocks noChangeShapeType="1"/>
          </p:cNvSpPr>
          <p:nvPr/>
        </p:nvSpPr>
        <p:spPr bwMode="auto">
          <a:xfrm flipV="1">
            <a:off x="2825077" y="6396613"/>
            <a:ext cx="6044960" cy="0"/>
          </a:xfrm>
          <a:prstGeom prst="line">
            <a:avLst/>
          </a:prstGeom>
          <a:noFill/>
          <a:ln w="28575">
            <a:solidFill>
              <a:srgbClr val="0000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93">
            <a:extLst>
              <a:ext uri="{FF2B5EF4-FFF2-40B4-BE49-F238E27FC236}">
                <a16:creationId xmlns:a16="http://schemas.microsoft.com/office/drawing/2014/main" id="{AFEF0122-7F0F-065C-659E-3BF84D95CB9F}"/>
              </a:ext>
            </a:extLst>
          </p:cNvPr>
          <p:cNvSpPr txBox="1">
            <a:spLocks noChangeArrowheads="1"/>
          </p:cNvSpPr>
          <p:nvPr/>
        </p:nvSpPr>
        <p:spPr bwMode="auto">
          <a:xfrm>
            <a:off x="2587224" y="640195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0</a:t>
            </a:r>
          </a:p>
        </p:txBody>
      </p:sp>
      <p:sp>
        <p:nvSpPr>
          <p:cNvPr id="18" name="Text Box 94">
            <a:extLst>
              <a:ext uri="{FF2B5EF4-FFF2-40B4-BE49-F238E27FC236}">
                <a16:creationId xmlns:a16="http://schemas.microsoft.com/office/drawing/2014/main" id="{E91B44C2-7059-8199-ACDB-162E4A6DE82E}"/>
              </a:ext>
            </a:extLst>
          </p:cNvPr>
          <p:cNvSpPr txBox="1">
            <a:spLocks noChangeArrowheads="1"/>
          </p:cNvSpPr>
          <p:nvPr/>
        </p:nvSpPr>
        <p:spPr bwMode="auto">
          <a:xfrm>
            <a:off x="2968124" y="640195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4</a:t>
            </a:r>
          </a:p>
        </p:txBody>
      </p:sp>
      <p:sp>
        <p:nvSpPr>
          <p:cNvPr id="19" name="AutoShape 110">
            <a:extLst>
              <a:ext uri="{FF2B5EF4-FFF2-40B4-BE49-F238E27FC236}">
                <a16:creationId xmlns:a16="http://schemas.microsoft.com/office/drawing/2014/main" id="{BBF3B082-2128-227F-10A8-5D6F82EC082A}"/>
              </a:ext>
            </a:extLst>
          </p:cNvPr>
          <p:cNvSpPr>
            <a:spLocks/>
          </p:cNvSpPr>
          <p:nvPr/>
        </p:nvSpPr>
        <p:spPr bwMode="auto">
          <a:xfrm rot="5400000" flipV="1">
            <a:off x="4579376" y="4179501"/>
            <a:ext cx="242194" cy="1056209"/>
          </a:xfrm>
          <a:prstGeom prst="leftBrace">
            <a:avLst>
              <a:gd name="adj1" fmla="val 389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AutoShape 113">
            <a:extLst>
              <a:ext uri="{FF2B5EF4-FFF2-40B4-BE49-F238E27FC236}">
                <a16:creationId xmlns:a16="http://schemas.microsoft.com/office/drawing/2014/main" id="{2B874035-2849-9913-3C87-DDCECCDE7E64}"/>
              </a:ext>
            </a:extLst>
          </p:cNvPr>
          <p:cNvSpPr>
            <a:spLocks/>
          </p:cNvSpPr>
          <p:nvPr/>
        </p:nvSpPr>
        <p:spPr bwMode="auto">
          <a:xfrm rot="5400000" flipV="1">
            <a:off x="6579519" y="3386929"/>
            <a:ext cx="242194" cy="2641353"/>
          </a:xfrm>
          <a:prstGeom prst="leftBrace">
            <a:avLst>
              <a:gd name="adj1" fmla="val 9730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Text Box 114">
            <a:extLst>
              <a:ext uri="{FF2B5EF4-FFF2-40B4-BE49-F238E27FC236}">
                <a16:creationId xmlns:a16="http://schemas.microsoft.com/office/drawing/2014/main" id="{B7101C0B-1C28-6AF5-04D0-324C12CE5B8A}"/>
              </a:ext>
            </a:extLst>
          </p:cNvPr>
          <p:cNvSpPr txBox="1">
            <a:spLocks noChangeArrowheads="1"/>
          </p:cNvSpPr>
          <p:nvPr/>
        </p:nvSpPr>
        <p:spPr bwMode="auto">
          <a:xfrm>
            <a:off x="6236010" y="42918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solidFill>
                  <a:srgbClr val="0000FF"/>
                </a:solidFill>
                <a:latin typeface="微软雅黑" pitchFamily="34" charset="-122"/>
                <a:ea typeface="微软雅黑" pitchFamily="34" charset="-122"/>
              </a:rPr>
              <a:t>下行信道</a:t>
            </a:r>
          </a:p>
        </p:txBody>
      </p:sp>
      <p:sp>
        <p:nvSpPr>
          <p:cNvPr id="22" name="Text Box 143">
            <a:extLst>
              <a:ext uri="{FF2B5EF4-FFF2-40B4-BE49-F238E27FC236}">
                <a16:creationId xmlns:a16="http://schemas.microsoft.com/office/drawing/2014/main" id="{6D896918-D352-660F-1FBA-402B2E196F9B}"/>
              </a:ext>
            </a:extLst>
          </p:cNvPr>
          <p:cNvSpPr txBox="1">
            <a:spLocks noChangeArrowheads="1"/>
          </p:cNvSpPr>
          <p:nvPr/>
        </p:nvSpPr>
        <p:spPr bwMode="auto">
          <a:xfrm>
            <a:off x="6463266" y="5105502"/>
            <a:ext cx="357790" cy="307777"/>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a:t>
            </a:r>
          </a:p>
        </p:txBody>
      </p:sp>
      <p:sp>
        <p:nvSpPr>
          <p:cNvPr id="23" name="Freeform 168">
            <a:extLst>
              <a:ext uri="{FF2B5EF4-FFF2-40B4-BE49-F238E27FC236}">
                <a16:creationId xmlns:a16="http://schemas.microsoft.com/office/drawing/2014/main" id="{610FE093-7DCA-C3D9-6690-3D60DD988787}"/>
              </a:ext>
            </a:extLst>
          </p:cNvPr>
          <p:cNvSpPr>
            <a:spLocks/>
          </p:cNvSpPr>
          <p:nvPr/>
        </p:nvSpPr>
        <p:spPr bwMode="auto">
          <a:xfrm>
            <a:off x="7868267" y="4861527"/>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Freeform 169">
            <a:extLst>
              <a:ext uri="{FF2B5EF4-FFF2-40B4-BE49-F238E27FC236}">
                <a16:creationId xmlns:a16="http://schemas.microsoft.com/office/drawing/2014/main" id="{D804187A-3381-9BCA-0DC3-078ECFCE37E1}"/>
              </a:ext>
            </a:extLst>
          </p:cNvPr>
          <p:cNvSpPr>
            <a:spLocks/>
          </p:cNvSpPr>
          <p:nvPr/>
        </p:nvSpPr>
        <p:spPr bwMode="auto">
          <a:xfrm>
            <a:off x="7718568" y="4863308"/>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Freeform 170">
            <a:extLst>
              <a:ext uri="{FF2B5EF4-FFF2-40B4-BE49-F238E27FC236}">
                <a16:creationId xmlns:a16="http://schemas.microsoft.com/office/drawing/2014/main" id="{7970884E-E0E0-7E4E-937B-4C20C9DC2EFF}"/>
              </a:ext>
            </a:extLst>
          </p:cNvPr>
          <p:cNvSpPr>
            <a:spLocks/>
          </p:cNvSpPr>
          <p:nvPr/>
        </p:nvSpPr>
        <p:spPr bwMode="auto">
          <a:xfrm>
            <a:off x="7568869" y="4865088"/>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Freeform 171">
            <a:extLst>
              <a:ext uri="{FF2B5EF4-FFF2-40B4-BE49-F238E27FC236}">
                <a16:creationId xmlns:a16="http://schemas.microsoft.com/office/drawing/2014/main" id="{D1B61F32-7F42-FE6F-2B1B-759E3E05026D}"/>
              </a:ext>
            </a:extLst>
          </p:cNvPr>
          <p:cNvSpPr>
            <a:spLocks/>
          </p:cNvSpPr>
          <p:nvPr/>
        </p:nvSpPr>
        <p:spPr bwMode="auto">
          <a:xfrm>
            <a:off x="7419171" y="4866869"/>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7" name="Freeform 172">
            <a:extLst>
              <a:ext uri="{FF2B5EF4-FFF2-40B4-BE49-F238E27FC236}">
                <a16:creationId xmlns:a16="http://schemas.microsoft.com/office/drawing/2014/main" id="{083426CD-A37F-5834-A2AF-899E22F60DE0}"/>
              </a:ext>
            </a:extLst>
          </p:cNvPr>
          <p:cNvSpPr>
            <a:spLocks/>
          </p:cNvSpPr>
          <p:nvPr/>
        </p:nvSpPr>
        <p:spPr bwMode="auto">
          <a:xfrm>
            <a:off x="7269472" y="4868650"/>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Freeform 173">
            <a:extLst>
              <a:ext uri="{FF2B5EF4-FFF2-40B4-BE49-F238E27FC236}">
                <a16:creationId xmlns:a16="http://schemas.microsoft.com/office/drawing/2014/main" id="{0271FF5C-9462-E159-7A25-F89E452C677C}"/>
              </a:ext>
            </a:extLst>
          </p:cNvPr>
          <p:cNvSpPr>
            <a:spLocks/>
          </p:cNvSpPr>
          <p:nvPr/>
        </p:nvSpPr>
        <p:spPr bwMode="auto">
          <a:xfrm>
            <a:off x="7119773" y="4870431"/>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Freeform 174">
            <a:extLst>
              <a:ext uri="{FF2B5EF4-FFF2-40B4-BE49-F238E27FC236}">
                <a16:creationId xmlns:a16="http://schemas.microsoft.com/office/drawing/2014/main" id="{8CAFF4A4-3E82-7577-E565-7B5E8B47D586}"/>
              </a:ext>
            </a:extLst>
          </p:cNvPr>
          <p:cNvSpPr>
            <a:spLocks/>
          </p:cNvSpPr>
          <p:nvPr/>
        </p:nvSpPr>
        <p:spPr bwMode="auto">
          <a:xfrm>
            <a:off x="6970074" y="4872211"/>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Freeform 175">
            <a:extLst>
              <a:ext uri="{FF2B5EF4-FFF2-40B4-BE49-F238E27FC236}">
                <a16:creationId xmlns:a16="http://schemas.microsoft.com/office/drawing/2014/main" id="{DB344FBD-D5BB-9DD6-D5DA-371D6743BA5D}"/>
              </a:ext>
            </a:extLst>
          </p:cNvPr>
          <p:cNvSpPr>
            <a:spLocks/>
          </p:cNvSpPr>
          <p:nvPr/>
        </p:nvSpPr>
        <p:spPr bwMode="auto">
          <a:xfrm>
            <a:off x="6820375" y="4873993"/>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176">
            <a:extLst>
              <a:ext uri="{FF2B5EF4-FFF2-40B4-BE49-F238E27FC236}">
                <a16:creationId xmlns:a16="http://schemas.microsoft.com/office/drawing/2014/main" id="{34DD07C8-22F4-B135-7978-84BE3F705D20}"/>
              </a:ext>
            </a:extLst>
          </p:cNvPr>
          <p:cNvSpPr>
            <a:spLocks/>
          </p:cNvSpPr>
          <p:nvPr/>
        </p:nvSpPr>
        <p:spPr bwMode="auto">
          <a:xfrm>
            <a:off x="6284786" y="4863308"/>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177">
            <a:extLst>
              <a:ext uri="{FF2B5EF4-FFF2-40B4-BE49-F238E27FC236}">
                <a16:creationId xmlns:a16="http://schemas.microsoft.com/office/drawing/2014/main" id="{ECDB0086-8A40-22EF-A7A7-F2D7695D6230}"/>
              </a:ext>
            </a:extLst>
          </p:cNvPr>
          <p:cNvSpPr>
            <a:spLocks/>
          </p:cNvSpPr>
          <p:nvPr/>
        </p:nvSpPr>
        <p:spPr bwMode="auto">
          <a:xfrm>
            <a:off x="6138414" y="4865088"/>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Freeform 178">
            <a:extLst>
              <a:ext uri="{FF2B5EF4-FFF2-40B4-BE49-F238E27FC236}">
                <a16:creationId xmlns:a16="http://schemas.microsoft.com/office/drawing/2014/main" id="{003879DD-E90C-7E4D-894F-5DC5ED9A0D87}"/>
              </a:ext>
            </a:extLst>
          </p:cNvPr>
          <p:cNvSpPr>
            <a:spLocks/>
          </p:cNvSpPr>
          <p:nvPr/>
        </p:nvSpPr>
        <p:spPr bwMode="auto">
          <a:xfrm>
            <a:off x="5992041" y="4866869"/>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Freeform 179">
            <a:extLst>
              <a:ext uri="{FF2B5EF4-FFF2-40B4-BE49-F238E27FC236}">
                <a16:creationId xmlns:a16="http://schemas.microsoft.com/office/drawing/2014/main" id="{1AC01AFB-61E0-78B2-0F15-0B4731E78AB7}"/>
              </a:ext>
            </a:extLst>
          </p:cNvPr>
          <p:cNvSpPr>
            <a:spLocks/>
          </p:cNvSpPr>
          <p:nvPr/>
        </p:nvSpPr>
        <p:spPr bwMode="auto">
          <a:xfrm>
            <a:off x="5845669" y="4868650"/>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Freeform 180">
            <a:extLst>
              <a:ext uri="{FF2B5EF4-FFF2-40B4-BE49-F238E27FC236}">
                <a16:creationId xmlns:a16="http://schemas.microsoft.com/office/drawing/2014/main" id="{C4D44897-DBA2-778B-E8C1-AEA0E4F5DBED}"/>
              </a:ext>
            </a:extLst>
          </p:cNvPr>
          <p:cNvSpPr>
            <a:spLocks/>
          </p:cNvSpPr>
          <p:nvPr/>
        </p:nvSpPr>
        <p:spPr bwMode="auto">
          <a:xfrm>
            <a:off x="5699297" y="4870431"/>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181">
            <a:extLst>
              <a:ext uri="{FF2B5EF4-FFF2-40B4-BE49-F238E27FC236}">
                <a16:creationId xmlns:a16="http://schemas.microsoft.com/office/drawing/2014/main" id="{3B32773C-16CB-9A3A-3F87-693A9B4A0190}"/>
              </a:ext>
            </a:extLst>
          </p:cNvPr>
          <p:cNvSpPr>
            <a:spLocks/>
          </p:cNvSpPr>
          <p:nvPr/>
        </p:nvSpPr>
        <p:spPr bwMode="auto">
          <a:xfrm>
            <a:off x="5552925" y="4872211"/>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182">
            <a:extLst>
              <a:ext uri="{FF2B5EF4-FFF2-40B4-BE49-F238E27FC236}">
                <a16:creationId xmlns:a16="http://schemas.microsoft.com/office/drawing/2014/main" id="{E73DB09D-074E-95C0-3678-2F53C1798D1D}"/>
              </a:ext>
            </a:extLst>
          </p:cNvPr>
          <p:cNvSpPr>
            <a:spLocks/>
          </p:cNvSpPr>
          <p:nvPr/>
        </p:nvSpPr>
        <p:spPr bwMode="auto">
          <a:xfrm>
            <a:off x="5406552" y="4873993"/>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Freeform 184">
            <a:extLst>
              <a:ext uri="{FF2B5EF4-FFF2-40B4-BE49-F238E27FC236}">
                <a16:creationId xmlns:a16="http://schemas.microsoft.com/office/drawing/2014/main" id="{392CA278-B38C-04E9-AAD4-488B8B30C518}"/>
              </a:ext>
            </a:extLst>
          </p:cNvPr>
          <p:cNvSpPr>
            <a:spLocks/>
          </p:cNvSpPr>
          <p:nvPr/>
        </p:nvSpPr>
        <p:spPr bwMode="auto">
          <a:xfrm>
            <a:off x="5113808" y="4877554"/>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Freeform 185">
            <a:extLst>
              <a:ext uri="{FF2B5EF4-FFF2-40B4-BE49-F238E27FC236}">
                <a16:creationId xmlns:a16="http://schemas.microsoft.com/office/drawing/2014/main" id="{4F8C2E3F-B0BD-7003-BC0F-77E50E4B7588}"/>
              </a:ext>
            </a:extLst>
          </p:cNvPr>
          <p:cNvSpPr>
            <a:spLocks/>
          </p:cNvSpPr>
          <p:nvPr/>
        </p:nvSpPr>
        <p:spPr bwMode="auto">
          <a:xfrm>
            <a:off x="4967436" y="4879334"/>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Freeform 186">
            <a:extLst>
              <a:ext uri="{FF2B5EF4-FFF2-40B4-BE49-F238E27FC236}">
                <a16:creationId xmlns:a16="http://schemas.microsoft.com/office/drawing/2014/main" id="{783D03DF-6CA6-8535-0AF0-208D1DB150EA}"/>
              </a:ext>
            </a:extLst>
          </p:cNvPr>
          <p:cNvSpPr>
            <a:spLocks/>
          </p:cNvSpPr>
          <p:nvPr/>
        </p:nvSpPr>
        <p:spPr bwMode="auto">
          <a:xfrm>
            <a:off x="4821063" y="4881116"/>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1" name="Freeform 188">
            <a:extLst>
              <a:ext uri="{FF2B5EF4-FFF2-40B4-BE49-F238E27FC236}">
                <a16:creationId xmlns:a16="http://schemas.microsoft.com/office/drawing/2014/main" id="{DE1A88D1-70FB-022C-1305-A1DEAC2FFB5A}"/>
              </a:ext>
            </a:extLst>
          </p:cNvPr>
          <p:cNvSpPr>
            <a:spLocks/>
          </p:cNvSpPr>
          <p:nvPr/>
        </p:nvSpPr>
        <p:spPr bwMode="auto">
          <a:xfrm>
            <a:off x="4465112" y="4884678"/>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Freeform 189">
            <a:extLst>
              <a:ext uri="{FF2B5EF4-FFF2-40B4-BE49-F238E27FC236}">
                <a16:creationId xmlns:a16="http://schemas.microsoft.com/office/drawing/2014/main" id="{D9893F5A-21EA-6EE5-205D-4F69486C9EC7}"/>
              </a:ext>
            </a:extLst>
          </p:cNvPr>
          <p:cNvSpPr>
            <a:spLocks/>
          </p:cNvSpPr>
          <p:nvPr/>
        </p:nvSpPr>
        <p:spPr bwMode="auto">
          <a:xfrm>
            <a:off x="4318740" y="4886458"/>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Freeform 190">
            <a:extLst>
              <a:ext uri="{FF2B5EF4-FFF2-40B4-BE49-F238E27FC236}">
                <a16:creationId xmlns:a16="http://schemas.microsoft.com/office/drawing/2014/main" id="{7F769064-AD90-B3A2-3F79-3471455879EE}"/>
              </a:ext>
            </a:extLst>
          </p:cNvPr>
          <p:cNvSpPr>
            <a:spLocks/>
          </p:cNvSpPr>
          <p:nvPr/>
        </p:nvSpPr>
        <p:spPr bwMode="auto">
          <a:xfrm>
            <a:off x="4172368" y="4888240"/>
            <a:ext cx="146373" cy="1535086"/>
          </a:xfrm>
          <a:custGeom>
            <a:avLst/>
            <a:gdLst>
              <a:gd name="T0" fmla="*/ 0 w 190"/>
              <a:gd name="T1" fmla="*/ 858 h 862"/>
              <a:gd name="T2" fmla="*/ 7 w 190"/>
              <a:gd name="T3" fmla="*/ 721 h 862"/>
              <a:gd name="T4" fmla="*/ 19 w 190"/>
              <a:gd name="T5" fmla="*/ 559 h 862"/>
              <a:gd name="T6" fmla="*/ 37 w 190"/>
              <a:gd name="T7" fmla="*/ 355 h 862"/>
              <a:gd name="T8" fmla="*/ 70 w 190"/>
              <a:gd name="T9" fmla="*/ 88 h 862"/>
              <a:gd name="T10" fmla="*/ 101 w 190"/>
              <a:gd name="T11" fmla="*/ 0 h 862"/>
              <a:gd name="T12" fmla="*/ 127 w 190"/>
              <a:gd name="T13" fmla="*/ 88 h 862"/>
              <a:gd name="T14" fmla="*/ 154 w 190"/>
              <a:gd name="T15" fmla="*/ 352 h 862"/>
              <a:gd name="T16" fmla="*/ 172 w 190"/>
              <a:gd name="T17" fmla="*/ 565 h 862"/>
              <a:gd name="T18" fmla="*/ 184 w 190"/>
              <a:gd name="T19" fmla="*/ 712 h 862"/>
              <a:gd name="T20" fmla="*/ 190 w 190"/>
              <a:gd name="T21" fmla="*/ 862 h 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0" h="862">
                <a:moveTo>
                  <a:pt x="0" y="858"/>
                </a:moveTo>
                <a:cubicBezTo>
                  <a:pt x="1" y="835"/>
                  <a:pt x="4" y="771"/>
                  <a:pt x="7" y="721"/>
                </a:cubicBezTo>
                <a:cubicBezTo>
                  <a:pt x="10" y="671"/>
                  <a:pt x="14" y="620"/>
                  <a:pt x="19" y="559"/>
                </a:cubicBezTo>
                <a:cubicBezTo>
                  <a:pt x="24" y="498"/>
                  <a:pt x="29" y="433"/>
                  <a:pt x="37" y="355"/>
                </a:cubicBezTo>
                <a:cubicBezTo>
                  <a:pt x="45" y="277"/>
                  <a:pt x="59" y="147"/>
                  <a:pt x="70" y="88"/>
                </a:cubicBezTo>
                <a:cubicBezTo>
                  <a:pt x="81" y="29"/>
                  <a:pt x="92" y="0"/>
                  <a:pt x="101" y="0"/>
                </a:cubicBezTo>
                <a:cubicBezTo>
                  <a:pt x="110" y="0"/>
                  <a:pt x="118" y="29"/>
                  <a:pt x="127" y="88"/>
                </a:cubicBezTo>
                <a:cubicBezTo>
                  <a:pt x="136" y="147"/>
                  <a:pt x="147" y="273"/>
                  <a:pt x="154" y="352"/>
                </a:cubicBezTo>
                <a:cubicBezTo>
                  <a:pt x="161" y="431"/>
                  <a:pt x="167" y="505"/>
                  <a:pt x="172" y="565"/>
                </a:cubicBezTo>
                <a:cubicBezTo>
                  <a:pt x="177" y="625"/>
                  <a:pt x="181" y="663"/>
                  <a:pt x="184" y="712"/>
                </a:cubicBezTo>
                <a:cubicBezTo>
                  <a:pt x="187" y="761"/>
                  <a:pt x="189" y="831"/>
                  <a:pt x="190" y="862"/>
                </a:cubicBezTo>
              </a:path>
            </a:pathLst>
          </a:custGeom>
          <a:noFill/>
          <a:ln w="19050">
            <a:solidFill>
              <a:schemeClr val="tx1"/>
            </a:solidFill>
            <a:round/>
            <a:headEnd/>
            <a:tailEnd/>
          </a:ln>
          <a:effectLst/>
          <a:extLst>
            <a:ext uri="{909E8E84-426E-40DD-AFC4-6F175D3DCCD1}">
              <a14:hiddenFill xmlns:a14="http://schemas.microsoft.com/office/drawing/2010/main">
                <a:solidFill>
                  <a:srgbClr val="EAEAE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4" name="Text Box 192">
            <a:extLst>
              <a:ext uri="{FF2B5EF4-FFF2-40B4-BE49-F238E27FC236}">
                <a16:creationId xmlns:a16="http://schemas.microsoft.com/office/drawing/2014/main" id="{C2F79E0B-AC42-9655-D994-AD71D7EBCEA8}"/>
              </a:ext>
            </a:extLst>
          </p:cNvPr>
          <p:cNvSpPr txBox="1">
            <a:spLocks noChangeArrowheads="1"/>
          </p:cNvSpPr>
          <p:nvPr/>
        </p:nvSpPr>
        <p:spPr bwMode="auto">
          <a:xfrm>
            <a:off x="3877961" y="6423326"/>
            <a:ext cx="5421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~40</a:t>
            </a:r>
          </a:p>
        </p:txBody>
      </p:sp>
      <p:sp>
        <p:nvSpPr>
          <p:cNvPr id="45" name="Text Box 193">
            <a:extLst>
              <a:ext uri="{FF2B5EF4-FFF2-40B4-BE49-F238E27FC236}">
                <a16:creationId xmlns:a16="http://schemas.microsoft.com/office/drawing/2014/main" id="{F3D11706-28A3-9637-BA70-EEBB8527BED4}"/>
              </a:ext>
            </a:extLst>
          </p:cNvPr>
          <p:cNvSpPr txBox="1">
            <a:spLocks noChangeArrowheads="1"/>
          </p:cNvSpPr>
          <p:nvPr/>
        </p:nvSpPr>
        <p:spPr bwMode="auto">
          <a:xfrm>
            <a:off x="5002366" y="6423326"/>
            <a:ext cx="65274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~138</a:t>
            </a:r>
          </a:p>
        </p:txBody>
      </p:sp>
      <p:sp>
        <p:nvSpPr>
          <p:cNvPr id="46" name="Text Box 195">
            <a:extLst>
              <a:ext uri="{FF2B5EF4-FFF2-40B4-BE49-F238E27FC236}">
                <a16:creationId xmlns:a16="http://schemas.microsoft.com/office/drawing/2014/main" id="{0483F273-54F0-66EE-D239-79ED1993A0BC}"/>
              </a:ext>
            </a:extLst>
          </p:cNvPr>
          <p:cNvSpPr txBox="1">
            <a:spLocks noChangeArrowheads="1"/>
          </p:cNvSpPr>
          <p:nvPr/>
        </p:nvSpPr>
        <p:spPr bwMode="auto">
          <a:xfrm>
            <a:off x="7629892" y="6423326"/>
            <a:ext cx="7633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~1100</a:t>
            </a:r>
          </a:p>
        </p:txBody>
      </p:sp>
    </p:spTree>
    <p:extLst>
      <p:ext uri="{BB962C8B-B14F-4D97-AF65-F5344CB8AC3E}">
        <p14:creationId xmlns:p14="http://schemas.microsoft.com/office/powerpoint/2010/main" val="255113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animBg="1"/>
      <p:bldP spid="11" grpId="0" animBg="1"/>
      <p:bldP spid="12" grpId="0" animBg="1"/>
      <p:bldP spid="13" grpId="0"/>
      <p:bldP spid="14" grpId="0"/>
      <p:bldP spid="15" grpId="0" animBg="1"/>
      <p:bldP spid="16" grpId="0" animBg="1"/>
      <p:bldP spid="17" grpId="0"/>
      <p:bldP spid="18" grpId="0"/>
      <p:bldP spid="19" grpId="0" animBg="1"/>
      <p:bldP spid="20" grpId="0" animBg="1"/>
      <p:bldP spid="21" grpId="0"/>
      <p:bldP spid="22" grpId="0"/>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p:bldP spid="45" grpId="0"/>
      <p:bldP spid="4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Data rate of ADSL</a:t>
            </a:r>
          </a:p>
        </p:txBody>
      </p:sp>
      <p:sp>
        <p:nvSpPr>
          <p:cNvPr id="3" name="文本框 2">
            <a:extLst>
              <a:ext uri="{FF2B5EF4-FFF2-40B4-BE49-F238E27FC236}">
                <a16:creationId xmlns:a16="http://schemas.microsoft.com/office/drawing/2014/main" id="{E2DBB76F-61AF-9604-F173-37C593C4A212}"/>
              </a:ext>
            </a:extLst>
          </p:cNvPr>
          <p:cNvSpPr txBox="1"/>
          <p:nvPr/>
        </p:nvSpPr>
        <p:spPr>
          <a:xfrm>
            <a:off x="623673" y="981370"/>
            <a:ext cx="10661148" cy="4133439"/>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Because the specific conditions of subscriber lines are often very different (distance, wire diameter, interference from adjacent subscriber lines, etc.), </a:t>
            </a:r>
            <a:r>
              <a:rPr lang="en" altLang="zh-CN" sz="2400" dirty="0">
                <a:solidFill>
                  <a:srgbClr val="0013A3"/>
                </a:solidFill>
                <a:latin typeface="Calibri" panose="020F0502020204030204" pitchFamily="34" charset="0"/>
                <a:cs typeface="Calibri" panose="020F0502020204030204" pitchFamily="34" charset="0"/>
              </a:rPr>
              <a:t>ADSL uses adaptive modulation technology to enable subscriber lines to transmit the highest possible data rate.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When ADSL is started, the ADSL modems at both ends of the subscriber line test the available frequencies, the interference in each subchannel, and the quality of the signal transmission at each frequency.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ADSL does not guarantee a fixed data rate</a:t>
            </a:r>
            <a:r>
              <a:rPr lang="en" altLang="zh-CN" sz="2400" dirty="0">
                <a:latin typeface="Calibri" panose="020F0502020204030204" pitchFamily="34" charset="0"/>
                <a:cs typeface="Calibri" panose="020F0502020204030204" pitchFamily="34" charset="0"/>
              </a:rPr>
              <a:t>. For poor quality subscriber lines can not even open ADSL.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Typically downlink data rates range from 32 kbit/s to 6.4 Mbit/s, while uplink data rates range from 32 kbit/s to 640 kbit/s.</a:t>
            </a:r>
          </a:p>
        </p:txBody>
      </p:sp>
    </p:spTree>
    <p:extLst>
      <p:ext uri="{BB962C8B-B14F-4D97-AF65-F5344CB8AC3E}">
        <p14:creationId xmlns:p14="http://schemas.microsoft.com/office/powerpoint/2010/main" val="1677477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The composition of ADSL</a:t>
            </a:r>
          </a:p>
        </p:txBody>
      </p:sp>
      <p:sp>
        <p:nvSpPr>
          <p:cNvPr id="5" name="AutoShape 3">
            <a:extLst>
              <a:ext uri="{FF2B5EF4-FFF2-40B4-BE49-F238E27FC236}">
                <a16:creationId xmlns:a16="http://schemas.microsoft.com/office/drawing/2014/main" id="{290E342E-E0D7-A65F-765B-E3544BCA2D8C}"/>
              </a:ext>
            </a:extLst>
          </p:cNvPr>
          <p:cNvSpPr>
            <a:spLocks noChangeArrowheads="1"/>
          </p:cNvSpPr>
          <p:nvPr/>
        </p:nvSpPr>
        <p:spPr bwMode="auto">
          <a:xfrm>
            <a:off x="4924486" y="2359562"/>
            <a:ext cx="1454608" cy="1811386"/>
          </a:xfrm>
          <a:prstGeom prst="roundRect">
            <a:avLst>
              <a:gd name="adj" fmla="val 16667"/>
            </a:avLst>
          </a:prstGeom>
          <a:solidFill>
            <a:srgbClr val="00FFCC"/>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 name="Line 5">
            <a:extLst>
              <a:ext uri="{FF2B5EF4-FFF2-40B4-BE49-F238E27FC236}">
                <a16:creationId xmlns:a16="http://schemas.microsoft.com/office/drawing/2014/main" id="{EF604F94-D32F-2550-9E2C-B433B2A72111}"/>
              </a:ext>
            </a:extLst>
          </p:cNvPr>
          <p:cNvSpPr>
            <a:spLocks noChangeShapeType="1"/>
          </p:cNvSpPr>
          <p:nvPr/>
        </p:nvSpPr>
        <p:spPr bwMode="auto">
          <a:xfrm rot="16200000">
            <a:off x="5001918" y="2983098"/>
            <a:ext cx="0" cy="46016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pic>
        <p:nvPicPr>
          <p:cNvPr id="7" name="图片 6">
            <a:extLst>
              <a:ext uri="{FF2B5EF4-FFF2-40B4-BE49-F238E27FC236}">
                <a16:creationId xmlns:a16="http://schemas.microsoft.com/office/drawing/2014/main" id="{8F4F84D6-916C-4D41-4DD6-156D13B349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1429" y="2401473"/>
            <a:ext cx="946882" cy="1325636"/>
          </a:xfrm>
          <a:prstGeom prst="rect">
            <a:avLst/>
          </a:prstGeom>
        </p:spPr>
      </p:pic>
      <p:sp>
        <p:nvSpPr>
          <p:cNvPr id="8" name="矩形 7">
            <a:extLst>
              <a:ext uri="{FF2B5EF4-FFF2-40B4-BE49-F238E27FC236}">
                <a16:creationId xmlns:a16="http://schemas.microsoft.com/office/drawing/2014/main" id="{413C4801-4D7D-B973-179A-EA59EFDF275C}"/>
              </a:ext>
            </a:extLst>
          </p:cNvPr>
          <p:cNvSpPr/>
          <p:nvPr/>
        </p:nvSpPr>
        <p:spPr>
          <a:xfrm>
            <a:off x="4850293" y="4241835"/>
            <a:ext cx="5071371" cy="830997"/>
          </a:xfrm>
          <a:prstGeom prst="rect">
            <a:avLst/>
          </a:prstGeom>
        </p:spPr>
        <p:txBody>
          <a:bodyPr wrap="square">
            <a:spAutoFit/>
          </a:bodyPr>
          <a:lstStyle/>
          <a:p>
            <a:r>
              <a:rPr lang="en-US" altLang="zh-CN" sz="1200" b="1" dirty="0">
                <a:latin typeface="微软雅黑" pitchFamily="34" charset="-122"/>
                <a:ea typeface="微软雅黑" pitchFamily="34" charset="-122"/>
              </a:rPr>
              <a:t>DSLAM (DSL Access Multiplexer) </a:t>
            </a:r>
            <a:r>
              <a:rPr lang="zh-CN" altLang="en-US" sz="1200" b="1" dirty="0">
                <a:latin typeface="微软雅黑" pitchFamily="34" charset="-122"/>
                <a:ea typeface="微软雅黑" pitchFamily="34" charset="-122"/>
              </a:rPr>
              <a:t>：数字用户线接入复用器 </a:t>
            </a:r>
            <a:endParaRPr lang="en-US" altLang="zh-CN" sz="1200" b="1" dirty="0">
              <a:latin typeface="微软雅黑" pitchFamily="34" charset="-122"/>
              <a:ea typeface="微软雅黑" pitchFamily="34" charset="-122"/>
            </a:endParaRPr>
          </a:p>
          <a:p>
            <a:r>
              <a:rPr lang="en-US" altLang="zh-CN" sz="1200" b="1" dirty="0">
                <a:latin typeface="微软雅黑" pitchFamily="34" charset="-122"/>
                <a:ea typeface="微软雅黑" pitchFamily="34" charset="-122"/>
              </a:rPr>
              <a:t>ATU (Access Termination Unit) </a:t>
            </a:r>
            <a:r>
              <a:rPr lang="zh-CN" altLang="en-US" sz="1200" b="1" dirty="0">
                <a:latin typeface="微软雅黑" pitchFamily="34" charset="-122"/>
                <a:ea typeface="微软雅黑" pitchFamily="34" charset="-122"/>
              </a:rPr>
              <a:t>：接入端接单元</a:t>
            </a:r>
            <a:endParaRPr lang="en-US" altLang="zh-CN" sz="1200" b="1" dirty="0">
              <a:latin typeface="微软雅黑" pitchFamily="34" charset="-122"/>
              <a:ea typeface="微软雅黑" pitchFamily="34" charset="-122"/>
            </a:endParaRPr>
          </a:p>
          <a:p>
            <a:r>
              <a:rPr lang="en-US" altLang="zh-CN" sz="1200" b="1" dirty="0">
                <a:latin typeface="微软雅黑" pitchFamily="34" charset="-122"/>
                <a:ea typeface="微软雅黑" pitchFamily="34" charset="-122"/>
              </a:rPr>
              <a:t>ATU-C (C </a:t>
            </a:r>
            <a:r>
              <a:rPr lang="zh-CN" altLang="en-US" sz="1200" b="1" dirty="0">
                <a:latin typeface="微软雅黑" pitchFamily="34" charset="-122"/>
                <a:ea typeface="微软雅黑" pitchFamily="34" charset="-122"/>
              </a:rPr>
              <a:t>代表端局 </a:t>
            </a:r>
            <a:r>
              <a:rPr lang="en-US" altLang="zh-CN" sz="1200" b="1" dirty="0">
                <a:latin typeface="微软雅黑" pitchFamily="34" charset="-122"/>
                <a:ea typeface="微软雅黑" pitchFamily="34" charset="-122"/>
              </a:rPr>
              <a:t>Central Office)</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ATU-R (R </a:t>
            </a:r>
            <a:r>
              <a:rPr lang="zh-CN" altLang="en-US" sz="1200" b="1" dirty="0">
                <a:latin typeface="微软雅黑" pitchFamily="34" charset="-122"/>
                <a:ea typeface="微软雅黑" pitchFamily="34" charset="-122"/>
              </a:rPr>
              <a:t>代表远端 </a:t>
            </a:r>
            <a:r>
              <a:rPr lang="en-US" altLang="zh-CN" sz="1200" b="1" dirty="0">
                <a:latin typeface="微软雅黑" pitchFamily="34" charset="-122"/>
                <a:ea typeface="微软雅黑" pitchFamily="34" charset="-122"/>
              </a:rPr>
              <a:t>Remote)</a:t>
            </a:r>
          </a:p>
          <a:p>
            <a:r>
              <a:rPr lang="en-US" altLang="zh-CN" sz="1200" b="1" dirty="0">
                <a:latin typeface="微软雅黑" pitchFamily="34" charset="-122"/>
                <a:ea typeface="微软雅黑" pitchFamily="34" charset="-122"/>
              </a:rPr>
              <a:t>PS (POTS Splitter) </a:t>
            </a:r>
            <a:r>
              <a:rPr lang="zh-CN" altLang="en-US" sz="1200" b="1" dirty="0">
                <a:latin typeface="微软雅黑" pitchFamily="34" charset="-122"/>
                <a:ea typeface="微软雅黑" pitchFamily="34" charset="-122"/>
              </a:rPr>
              <a:t>：电话分离器</a:t>
            </a:r>
          </a:p>
        </p:txBody>
      </p:sp>
      <p:sp>
        <p:nvSpPr>
          <p:cNvPr id="9" name="矩形 8">
            <a:extLst>
              <a:ext uri="{FF2B5EF4-FFF2-40B4-BE49-F238E27FC236}">
                <a16:creationId xmlns:a16="http://schemas.microsoft.com/office/drawing/2014/main" id="{1909CA84-CBB4-3B12-2758-F692CA8FD99A}"/>
              </a:ext>
            </a:extLst>
          </p:cNvPr>
          <p:cNvSpPr/>
          <p:nvPr/>
        </p:nvSpPr>
        <p:spPr>
          <a:xfrm>
            <a:off x="2405976" y="2122873"/>
            <a:ext cx="430887" cy="2612254"/>
          </a:xfrm>
          <a:prstGeom prst="rect">
            <a:avLst/>
          </a:prstGeom>
        </p:spPr>
        <p:txBody>
          <a:bodyPr vert="eaVert" wrap="none">
            <a:spAutoFit/>
          </a:bodyPr>
          <a:lstStyle/>
          <a:p>
            <a:pPr algn="ctr"/>
            <a:r>
              <a:rPr lang="zh-CN" altLang="zh-CN" sz="1600" b="1" dirty="0">
                <a:latin typeface="微软雅黑" pitchFamily="34" charset="-122"/>
                <a:ea typeface="微软雅黑" pitchFamily="34" charset="-122"/>
              </a:rPr>
              <a:t>基于</a:t>
            </a:r>
            <a:r>
              <a:rPr lang="en-US" altLang="zh-CN" sz="1600" b="1" dirty="0">
                <a:latin typeface="微软雅黑" pitchFamily="34" charset="-122"/>
                <a:ea typeface="微软雅黑" pitchFamily="34" charset="-122"/>
              </a:rPr>
              <a:t> ADSL </a:t>
            </a:r>
            <a:r>
              <a:rPr lang="zh-CN" altLang="zh-CN" sz="1600" b="1" dirty="0">
                <a:latin typeface="微软雅黑" pitchFamily="34" charset="-122"/>
                <a:ea typeface="微软雅黑" pitchFamily="34" charset="-122"/>
              </a:rPr>
              <a:t>的接入网的组成</a:t>
            </a:r>
            <a:endParaRPr lang="zh-CN" altLang="en-US" sz="1600" b="1" dirty="0">
              <a:latin typeface="微软雅黑" pitchFamily="34" charset="-122"/>
              <a:ea typeface="微软雅黑" pitchFamily="34" charset="-122"/>
            </a:endParaRPr>
          </a:p>
        </p:txBody>
      </p:sp>
      <p:sp>
        <p:nvSpPr>
          <p:cNvPr id="10" name="Freeform 4">
            <a:extLst>
              <a:ext uri="{FF2B5EF4-FFF2-40B4-BE49-F238E27FC236}">
                <a16:creationId xmlns:a16="http://schemas.microsoft.com/office/drawing/2014/main" id="{5D38F95D-46D9-2CAE-EC20-E3A61D5220A9}"/>
              </a:ext>
            </a:extLst>
          </p:cNvPr>
          <p:cNvSpPr>
            <a:spLocks/>
          </p:cNvSpPr>
          <p:nvPr/>
        </p:nvSpPr>
        <p:spPr bwMode="auto">
          <a:xfrm>
            <a:off x="3725088" y="2241277"/>
            <a:ext cx="298664" cy="574704"/>
          </a:xfrm>
          <a:custGeom>
            <a:avLst/>
            <a:gdLst>
              <a:gd name="T0" fmla="*/ 280 w 280"/>
              <a:gd name="T1" fmla="*/ 600 h 600"/>
              <a:gd name="T2" fmla="*/ 144 w 280"/>
              <a:gd name="T3" fmla="*/ 200 h 600"/>
              <a:gd name="T4" fmla="*/ 112 w 280"/>
              <a:gd name="T5" fmla="*/ 280 h 600"/>
              <a:gd name="T6" fmla="*/ 0 w 280"/>
              <a:gd name="T7" fmla="*/ 0 h 600"/>
            </a:gdLst>
            <a:ahLst/>
            <a:cxnLst>
              <a:cxn ang="0">
                <a:pos x="T0" y="T1"/>
              </a:cxn>
              <a:cxn ang="0">
                <a:pos x="T2" y="T3"/>
              </a:cxn>
              <a:cxn ang="0">
                <a:pos x="T4" y="T5"/>
              </a:cxn>
              <a:cxn ang="0">
                <a:pos x="T6" y="T7"/>
              </a:cxn>
            </a:cxnLst>
            <a:rect l="0" t="0" r="r" b="b"/>
            <a:pathLst>
              <a:path w="280" h="600">
                <a:moveTo>
                  <a:pt x="280" y="600"/>
                </a:moveTo>
                <a:lnTo>
                  <a:pt x="144" y="200"/>
                </a:lnTo>
                <a:lnTo>
                  <a:pt x="112" y="280"/>
                </a:lnTo>
                <a:lnTo>
                  <a:pt x="0" y="0"/>
                </a:lnTo>
              </a:path>
            </a:pathLst>
          </a:custGeom>
          <a:noFill/>
          <a:ln w="28575" cmpd="sng">
            <a:solidFill>
              <a:srgbClr val="333399"/>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1" name="Freeform 6">
            <a:extLst>
              <a:ext uri="{FF2B5EF4-FFF2-40B4-BE49-F238E27FC236}">
                <a16:creationId xmlns:a16="http://schemas.microsoft.com/office/drawing/2014/main" id="{7B4653E5-FEF1-8A4F-DCA2-BE3B5619A8B0}"/>
              </a:ext>
            </a:extLst>
          </p:cNvPr>
          <p:cNvSpPr>
            <a:spLocks/>
          </p:cNvSpPr>
          <p:nvPr/>
        </p:nvSpPr>
        <p:spPr bwMode="auto">
          <a:xfrm rot="20610381">
            <a:off x="6573780" y="3058998"/>
            <a:ext cx="390476" cy="892419"/>
          </a:xfrm>
          <a:custGeom>
            <a:avLst/>
            <a:gdLst>
              <a:gd name="T0" fmla="*/ 0 w 366"/>
              <a:gd name="T1" fmla="*/ 0 h 702"/>
              <a:gd name="T2" fmla="*/ 138 w 366"/>
              <a:gd name="T3" fmla="*/ 343 h 702"/>
              <a:gd name="T4" fmla="*/ 168 w 366"/>
              <a:gd name="T5" fmla="*/ 252 h 702"/>
              <a:gd name="T6" fmla="*/ 366 w 366"/>
              <a:gd name="T7" fmla="*/ 702 h 702"/>
            </a:gdLst>
            <a:ahLst/>
            <a:cxnLst>
              <a:cxn ang="0">
                <a:pos x="T0" y="T1"/>
              </a:cxn>
              <a:cxn ang="0">
                <a:pos x="T2" y="T3"/>
              </a:cxn>
              <a:cxn ang="0">
                <a:pos x="T4" y="T5"/>
              </a:cxn>
              <a:cxn ang="0">
                <a:pos x="T6" y="T7"/>
              </a:cxn>
            </a:cxnLst>
            <a:rect l="0" t="0" r="r" b="b"/>
            <a:pathLst>
              <a:path w="366" h="702">
                <a:moveTo>
                  <a:pt x="0" y="0"/>
                </a:moveTo>
                <a:lnTo>
                  <a:pt x="138" y="343"/>
                </a:lnTo>
                <a:lnTo>
                  <a:pt x="168" y="252"/>
                </a:lnTo>
                <a:lnTo>
                  <a:pt x="366" y="702"/>
                </a:lnTo>
              </a:path>
            </a:pathLst>
          </a:custGeom>
          <a:noFill/>
          <a:ln w="28575" cmpd="sng">
            <a:solidFill>
              <a:srgbClr val="333399"/>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2" name="AutoShape 8">
            <a:extLst>
              <a:ext uri="{FF2B5EF4-FFF2-40B4-BE49-F238E27FC236}">
                <a16:creationId xmlns:a16="http://schemas.microsoft.com/office/drawing/2014/main" id="{6A35C4DF-CABC-23C7-CE80-399EC231F8C3}"/>
              </a:ext>
            </a:extLst>
          </p:cNvPr>
          <p:cNvSpPr>
            <a:spLocks noChangeArrowheads="1"/>
          </p:cNvSpPr>
          <p:nvPr/>
        </p:nvSpPr>
        <p:spPr bwMode="auto">
          <a:xfrm>
            <a:off x="5634645" y="3191738"/>
            <a:ext cx="662594" cy="366566"/>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 name="Text Box 9">
            <a:extLst>
              <a:ext uri="{FF2B5EF4-FFF2-40B4-BE49-F238E27FC236}">
                <a16:creationId xmlns:a16="http://schemas.microsoft.com/office/drawing/2014/main" id="{8A0DB09C-2074-BB6A-1792-35E1D688E1EB}"/>
              </a:ext>
            </a:extLst>
          </p:cNvPr>
          <p:cNvSpPr txBox="1">
            <a:spLocks noChangeArrowheads="1"/>
          </p:cNvSpPr>
          <p:nvPr/>
        </p:nvSpPr>
        <p:spPr bwMode="auto">
          <a:xfrm>
            <a:off x="5594823" y="3283634"/>
            <a:ext cx="6763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ATU-C</a:t>
            </a:r>
          </a:p>
        </p:txBody>
      </p:sp>
      <p:sp>
        <p:nvSpPr>
          <p:cNvPr id="14" name="AutoShape 10">
            <a:extLst>
              <a:ext uri="{FF2B5EF4-FFF2-40B4-BE49-F238E27FC236}">
                <a16:creationId xmlns:a16="http://schemas.microsoft.com/office/drawing/2014/main" id="{3D5AE5F6-8D2D-A016-BDD7-8E3F33331FFB}"/>
              </a:ext>
            </a:extLst>
          </p:cNvPr>
          <p:cNvSpPr>
            <a:spLocks noChangeArrowheads="1"/>
          </p:cNvSpPr>
          <p:nvPr/>
        </p:nvSpPr>
        <p:spPr bwMode="auto">
          <a:xfrm>
            <a:off x="5634645" y="2868057"/>
            <a:ext cx="662594" cy="367587"/>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 name="Text Box 11">
            <a:extLst>
              <a:ext uri="{FF2B5EF4-FFF2-40B4-BE49-F238E27FC236}">
                <a16:creationId xmlns:a16="http://schemas.microsoft.com/office/drawing/2014/main" id="{59403F49-D49D-9620-6BDE-29E60E733331}"/>
              </a:ext>
            </a:extLst>
          </p:cNvPr>
          <p:cNvSpPr txBox="1">
            <a:spLocks noChangeArrowheads="1"/>
          </p:cNvSpPr>
          <p:nvPr/>
        </p:nvSpPr>
        <p:spPr bwMode="auto">
          <a:xfrm>
            <a:off x="5594823" y="2948721"/>
            <a:ext cx="676340" cy="27699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ATU-C</a:t>
            </a:r>
          </a:p>
        </p:txBody>
      </p:sp>
      <p:pic>
        <p:nvPicPr>
          <p:cNvPr id="16" name="Picture 12">
            <a:extLst>
              <a:ext uri="{FF2B5EF4-FFF2-40B4-BE49-F238E27FC236}">
                <a16:creationId xmlns:a16="http://schemas.microsoft.com/office/drawing/2014/main" id="{43B14F04-DA7E-C6A2-EF3C-3DE9DC7E7A58}"/>
              </a:ext>
            </a:extLst>
          </p:cNvPr>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75749" y="2114504"/>
            <a:ext cx="1991098" cy="1580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7" name="Line 13">
            <a:extLst>
              <a:ext uri="{FF2B5EF4-FFF2-40B4-BE49-F238E27FC236}">
                <a16:creationId xmlns:a16="http://schemas.microsoft.com/office/drawing/2014/main" id="{117A8881-8844-3E6A-8E5D-B96390755949}"/>
              </a:ext>
            </a:extLst>
          </p:cNvPr>
          <p:cNvSpPr>
            <a:spLocks noChangeShapeType="1"/>
          </p:cNvSpPr>
          <p:nvPr/>
        </p:nvSpPr>
        <p:spPr bwMode="auto">
          <a:xfrm>
            <a:off x="7734147" y="3090652"/>
            <a:ext cx="0" cy="36554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 name="AutoShape 15">
            <a:extLst>
              <a:ext uri="{FF2B5EF4-FFF2-40B4-BE49-F238E27FC236}">
                <a16:creationId xmlns:a16="http://schemas.microsoft.com/office/drawing/2014/main" id="{AACC6889-F93E-BBB8-7ADD-ADB6821C5FC9}"/>
              </a:ext>
            </a:extLst>
          </p:cNvPr>
          <p:cNvSpPr>
            <a:spLocks noChangeArrowheads="1"/>
          </p:cNvSpPr>
          <p:nvPr/>
        </p:nvSpPr>
        <p:spPr bwMode="auto">
          <a:xfrm>
            <a:off x="7952062" y="2900731"/>
            <a:ext cx="662593" cy="366565"/>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Text Box 16">
            <a:extLst>
              <a:ext uri="{FF2B5EF4-FFF2-40B4-BE49-F238E27FC236}">
                <a16:creationId xmlns:a16="http://schemas.microsoft.com/office/drawing/2014/main" id="{C29031AD-9E13-7F13-7029-49315585B0F1}"/>
              </a:ext>
            </a:extLst>
          </p:cNvPr>
          <p:cNvSpPr txBox="1">
            <a:spLocks noChangeArrowheads="1"/>
          </p:cNvSpPr>
          <p:nvPr/>
        </p:nvSpPr>
        <p:spPr bwMode="auto">
          <a:xfrm>
            <a:off x="7904496" y="2990586"/>
            <a:ext cx="67954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latin typeface="微软雅黑" pitchFamily="34" charset="-122"/>
                <a:ea typeface="微软雅黑" pitchFamily="34" charset="-122"/>
              </a:rPr>
              <a:t>ATU-R</a:t>
            </a:r>
          </a:p>
        </p:txBody>
      </p:sp>
      <p:sp>
        <p:nvSpPr>
          <p:cNvPr id="20" name="Freeform 18">
            <a:extLst>
              <a:ext uri="{FF2B5EF4-FFF2-40B4-BE49-F238E27FC236}">
                <a16:creationId xmlns:a16="http://schemas.microsoft.com/office/drawing/2014/main" id="{E2387E1E-7737-CD2F-422D-FDBBFB4D3C61}"/>
              </a:ext>
            </a:extLst>
          </p:cNvPr>
          <p:cNvSpPr>
            <a:spLocks/>
          </p:cNvSpPr>
          <p:nvPr/>
        </p:nvSpPr>
        <p:spPr bwMode="auto">
          <a:xfrm>
            <a:off x="6246355" y="3058997"/>
            <a:ext cx="1710132" cy="62286"/>
          </a:xfrm>
          <a:custGeom>
            <a:avLst/>
            <a:gdLst>
              <a:gd name="T0" fmla="*/ 1608 w 1608"/>
              <a:gd name="T1" fmla="*/ 48 h 48"/>
              <a:gd name="T2" fmla="*/ 790 w 1608"/>
              <a:gd name="T3" fmla="*/ 48 h 48"/>
              <a:gd name="T4" fmla="*/ 844 w 1608"/>
              <a:gd name="T5" fmla="*/ 1 h 48"/>
              <a:gd name="T6" fmla="*/ 0 w 1608"/>
              <a:gd name="T7" fmla="*/ 0 h 48"/>
            </a:gdLst>
            <a:ahLst/>
            <a:cxnLst>
              <a:cxn ang="0">
                <a:pos x="T0" y="T1"/>
              </a:cxn>
              <a:cxn ang="0">
                <a:pos x="T2" y="T3"/>
              </a:cxn>
              <a:cxn ang="0">
                <a:pos x="T4" y="T5"/>
              </a:cxn>
              <a:cxn ang="0">
                <a:pos x="T6" y="T7"/>
              </a:cxn>
            </a:cxnLst>
            <a:rect l="0" t="0" r="r" b="b"/>
            <a:pathLst>
              <a:path w="1608" h="48">
                <a:moveTo>
                  <a:pt x="1608" y="48"/>
                </a:moveTo>
                <a:lnTo>
                  <a:pt x="790" y="48"/>
                </a:lnTo>
                <a:lnTo>
                  <a:pt x="844" y="1"/>
                </a:lnTo>
                <a:lnTo>
                  <a:pt x="0" y="0"/>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1" name="AutoShape 19">
            <a:extLst>
              <a:ext uri="{FF2B5EF4-FFF2-40B4-BE49-F238E27FC236}">
                <a16:creationId xmlns:a16="http://schemas.microsoft.com/office/drawing/2014/main" id="{99D85055-29D6-45E5-61B5-AF4E269ADE5E}"/>
              </a:ext>
            </a:extLst>
          </p:cNvPr>
          <p:cNvSpPr>
            <a:spLocks noChangeArrowheads="1"/>
          </p:cNvSpPr>
          <p:nvPr/>
        </p:nvSpPr>
        <p:spPr bwMode="auto">
          <a:xfrm>
            <a:off x="7682158" y="3017134"/>
            <a:ext cx="152651" cy="182772"/>
          </a:xfrm>
          <a:prstGeom prst="cube">
            <a:avLst>
              <a:gd name="adj" fmla="val 25000"/>
            </a:avLst>
          </a:prstGeom>
          <a:solidFill>
            <a:srgbClr val="CC00CC"/>
          </a:solidFill>
          <a:ln w="9525">
            <a:solidFill>
              <a:srgbClr val="333333"/>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2" name="AutoShape 20">
            <a:extLst>
              <a:ext uri="{FF2B5EF4-FFF2-40B4-BE49-F238E27FC236}">
                <a16:creationId xmlns:a16="http://schemas.microsoft.com/office/drawing/2014/main" id="{06D7C6E9-5140-BE51-13AA-ED05E5DB59D4}"/>
              </a:ext>
            </a:extLst>
          </p:cNvPr>
          <p:cNvSpPr>
            <a:spLocks noChangeArrowheads="1"/>
          </p:cNvSpPr>
          <p:nvPr/>
        </p:nvSpPr>
        <p:spPr bwMode="auto">
          <a:xfrm>
            <a:off x="6405642" y="2969143"/>
            <a:ext cx="153757" cy="181751"/>
          </a:xfrm>
          <a:prstGeom prst="cube">
            <a:avLst>
              <a:gd name="adj" fmla="val 25000"/>
            </a:avLst>
          </a:prstGeom>
          <a:solidFill>
            <a:srgbClr val="CC00CC"/>
          </a:solidFill>
          <a:ln w="9525">
            <a:solidFill>
              <a:srgbClr val="333333"/>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3" name="AutoShape 21">
            <a:extLst>
              <a:ext uri="{FF2B5EF4-FFF2-40B4-BE49-F238E27FC236}">
                <a16:creationId xmlns:a16="http://schemas.microsoft.com/office/drawing/2014/main" id="{577AD5FC-1067-1824-8872-6A0333B64BA3}"/>
              </a:ext>
            </a:extLst>
          </p:cNvPr>
          <p:cNvSpPr>
            <a:spLocks noChangeArrowheads="1"/>
          </p:cNvSpPr>
          <p:nvPr/>
        </p:nvSpPr>
        <p:spPr bwMode="auto">
          <a:xfrm>
            <a:off x="5634645" y="2553566"/>
            <a:ext cx="662594" cy="366565"/>
          </a:xfrm>
          <a:prstGeom prst="cube">
            <a:avLst>
              <a:gd name="adj" fmla="val 25000"/>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4" name="Text Box 22">
            <a:extLst>
              <a:ext uri="{FF2B5EF4-FFF2-40B4-BE49-F238E27FC236}">
                <a16:creationId xmlns:a16="http://schemas.microsoft.com/office/drawing/2014/main" id="{EDBA586E-1900-BEC9-3EDC-E38F06778D72}"/>
              </a:ext>
            </a:extLst>
          </p:cNvPr>
          <p:cNvSpPr txBox="1">
            <a:spLocks noChangeArrowheads="1"/>
          </p:cNvSpPr>
          <p:nvPr/>
        </p:nvSpPr>
        <p:spPr bwMode="auto">
          <a:xfrm>
            <a:off x="5594823" y="2661800"/>
            <a:ext cx="676340" cy="27699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a:latin typeface="微软雅黑" pitchFamily="34" charset="-122"/>
                <a:ea typeface="微软雅黑" pitchFamily="34" charset="-122"/>
              </a:rPr>
              <a:t>ATU-C</a:t>
            </a:r>
          </a:p>
        </p:txBody>
      </p:sp>
      <p:sp>
        <p:nvSpPr>
          <p:cNvPr id="25" name="Freeform 23">
            <a:extLst>
              <a:ext uri="{FF2B5EF4-FFF2-40B4-BE49-F238E27FC236}">
                <a16:creationId xmlns:a16="http://schemas.microsoft.com/office/drawing/2014/main" id="{2AB0CDBD-2C4E-170F-7E09-47459A5EA0C8}"/>
              </a:ext>
            </a:extLst>
          </p:cNvPr>
          <p:cNvSpPr>
            <a:spLocks/>
          </p:cNvSpPr>
          <p:nvPr/>
        </p:nvSpPr>
        <p:spPr bwMode="auto">
          <a:xfrm>
            <a:off x="8575939" y="3090652"/>
            <a:ext cx="203535" cy="198088"/>
          </a:xfrm>
          <a:custGeom>
            <a:avLst/>
            <a:gdLst>
              <a:gd name="T0" fmla="*/ 0 w 192"/>
              <a:gd name="T1" fmla="*/ 6 h 156"/>
              <a:gd name="T2" fmla="*/ 192 w 192"/>
              <a:gd name="T3" fmla="*/ 0 h 156"/>
              <a:gd name="T4" fmla="*/ 192 w 192"/>
              <a:gd name="T5" fmla="*/ 156 h 156"/>
            </a:gdLst>
            <a:ahLst/>
            <a:cxnLst>
              <a:cxn ang="0">
                <a:pos x="T0" y="T1"/>
              </a:cxn>
              <a:cxn ang="0">
                <a:pos x="T2" y="T3"/>
              </a:cxn>
              <a:cxn ang="0">
                <a:pos x="T4" y="T5"/>
              </a:cxn>
            </a:cxnLst>
            <a:rect l="0" t="0" r="r" b="b"/>
            <a:pathLst>
              <a:path w="192" h="156">
                <a:moveTo>
                  <a:pt x="0" y="6"/>
                </a:moveTo>
                <a:lnTo>
                  <a:pt x="192" y="0"/>
                </a:lnTo>
                <a:lnTo>
                  <a:pt x="192" y="156"/>
                </a:lnTo>
              </a:path>
            </a:pathLst>
          </a:custGeom>
          <a:noFill/>
          <a:ln w="381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6" name="Text Box 25">
            <a:extLst>
              <a:ext uri="{FF2B5EF4-FFF2-40B4-BE49-F238E27FC236}">
                <a16:creationId xmlns:a16="http://schemas.microsoft.com/office/drawing/2014/main" id="{59919CE1-0C69-20F8-4B6B-5EAE0A788B13}"/>
              </a:ext>
            </a:extLst>
          </p:cNvPr>
          <p:cNvSpPr txBox="1">
            <a:spLocks noChangeArrowheads="1"/>
          </p:cNvSpPr>
          <p:nvPr/>
        </p:nvSpPr>
        <p:spPr bwMode="auto">
          <a:xfrm>
            <a:off x="6747447" y="2803729"/>
            <a:ext cx="6463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用户线</a:t>
            </a:r>
          </a:p>
        </p:txBody>
      </p:sp>
      <p:sp>
        <p:nvSpPr>
          <p:cNvPr id="27" name="Text Box 26">
            <a:extLst>
              <a:ext uri="{FF2B5EF4-FFF2-40B4-BE49-F238E27FC236}">
                <a16:creationId xmlns:a16="http://schemas.microsoft.com/office/drawing/2014/main" id="{4CFD9F44-CBDD-3814-A722-390071E79791}"/>
              </a:ext>
            </a:extLst>
          </p:cNvPr>
          <p:cNvSpPr txBox="1">
            <a:spLocks noChangeArrowheads="1"/>
          </p:cNvSpPr>
          <p:nvPr/>
        </p:nvSpPr>
        <p:spPr bwMode="auto">
          <a:xfrm>
            <a:off x="6779527" y="2204359"/>
            <a:ext cx="646332"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电话</a:t>
            </a:r>
          </a:p>
          <a:p>
            <a:pPr algn="l">
              <a:lnSpc>
                <a:spcPct val="85000"/>
              </a:lnSpc>
            </a:pPr>
            <a:r>
              <a:rPr kumimoji="1" lang="zh-CN" altLang="en-US" sz="1200" b="1" dirty="0">
                <a:solidFill>
                  <a:srgbClr val="0000FF"/>
                </a:solidFill>
                <a:latin typeface="微软雅黑" pitchFamily="34" charset="-122"/>
                <a:ea typeface="微软雅黑" pitchFamily="34" charset="-122"/>
              </a:rPr>
              <a:t>分离器</a:t>
            </a:r>
          </a:p>
        </p:txBody>
      </p:sp>
      <p:sp>
        <p:nvSpPr>
          <p:cNvPr id="28" name="Line 27">
            <a:extLst>
              <a:ext uri="{FF2B5EF4-FFF2-40B4-BE49-F238E27FC236}">
                <a16:creationId xmlns:a16="http://schemas.microsoft.com/office/drawing/2014/main" id="{D2ECE1D8-B6AB-0A32-FE8F-B7790999FC42}"/>
              </a:ext>
            </a:extLst>
          </p:cNvPr>
          <p:cNvSpPr>
            <a:spLocks noChangeShapeType="1"/>
          </p:cNvSpPr>
          <p:nvPr/>
        </p:nvSpPr>
        <p:spPr bwMode="auto">
          <a:xfrm flipH="1">
            <a:off x="6559399" y="2601556"/>
            <a:ext cx="305301" cy="377797"/>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9" name="Line 28">
            <a:extLst>
              <a:ext uri="{FF2B5EF4-FFF2-40B4-BE49-F238E27FC236}">
                <a16:creationId xmlns:a16="http://schemas.microsoft.com/office/drawing/2014/main" id="{C8405955-7FEA-2251-83E2-55FCB86B82F7}"/>
              </a:ext>
            </a:extLst>
          </p:cNvPr>
          <p:cNvSpPr>
            <a:spLocks noChangeShapeType="1"/>
          </p:cNvSpPr>
          <p:nvPr/>
        </p:nvSpPr>
        <p:spPr bwMode="auto">
          <a:xfrm rot="16200000" flipH="1">
            <a:off x="7263644" y="2611894"/>
            <a:ext cx="428851" cy="408176"/>
          </a:xfrm>
          <a:prstGeom prst="line">
            <a:avLst/>
          </a:prstGeom>
          <a:noFill/>
          <a:ln w="28575">
            <a:solidFill>
              <a:srgbClr val="333399"/>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30" name="Text Box 30">
            <a:extLst>
              <a:ext uri="{FF2B5EF4-FFF2-40B4-BE49-F238E27FC236}">
                <a16:creationId xmlns:a16="http://schemas.microsoft.com/office/drawing/2014/main" id="{BEEE78B0-D296-A404-EC72-E657FD88DCAD}"/>
              </a:ext>
            </a:extLst>
          </p:cNvPr>
          <p:cNvSpPr txBox="1">
            <a:spLocks noChangeArrowheads="1"/>
          </p:cNvSpPr>
          <p:nvPr/>
        </p:nvSpPr>
        <p:spPr bwMode="auto">
          <a:xfrm>
            <a:off x="3312653" y="1982582"/>
            <a:ext cx="63030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至 </a:t>
            </a:r>
            <a:r>
              <a:rPr kumimoji="1" lang="en-US" altLang="zh-CN" sz="1200" b="1" dirty="0">
                <a:solidFill>
                  <a:srgbClr val="0000FF"/>
                </a:solidFill>
                <a:latin typeface="微软雅黑" pitchFamily="34" charset="-122"/>
                <a:ea typeface="微软雅黑" pitchFamily="34" charset="-122"/>
              </a:rPr>
              <a:t>ISP</a:t>
            </a:r>
          </a:p>
        </p:txBody>
      </p:sp>
      <p:sp>
        <p:nvSpPr>
          <p:cNvPr id="31" name="Text Box 31">
            <a:extLst>
              <a:ext uri="{FF2B5EF4-FFF2-40B4-BE49-F238E27FC236}">
                <a16:creationId xmlns:a16="http://schemas.microsoft.com/office/drawing/2014/main" id="{5912CAFB-6064-B616-2E68-C904F8452CFE}"/>
              </a:ext>
            </a:extLst>
          </p:cNvPr>
          <p:cNvSpPr txBox="1">
            <a:spLocks noChangeArrowheads="1"/>
          </p:cNvSpPr>
          <p:nvPr/>
        </p:nvSpPr>
        <p:spPr bwMode="auto">
          <a:xfrm>
            <a:off x="7988564" y="3649178"/>
            <a:ext cx="8002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居民家庭</a:t>
            </a:r>
          </a:p>
        </p:txBody>
      </p:sp>
      <p:sp>
        <p:nvSpPr>
          <p:cNvPr id="32" name="Line 32">
            <a:extLst>
              <a:ext uri="{FF2B5EF4-FFF2-40B4-BE49-F238E27FC236}">
                <a16:creationId xmlns:a16="http://schemas.microsoft.com/office/drawing/2014/main" id="{1E091F5C-1360-F7E5-17CA-95A40C317B83}"/>
              </a:ext>
            </a:extLst>
          </p:cNvPr>
          <p:cNvSpPr>
            <a:spLocks noChangeShapeType="1"/>
          </p:cNvSpPr>
          <p:nvPr/>
        </p:nvSpPr>
        <p:spPr bwMode="auto">
          <a:xfrm>
            <a:off x="4899045" y="1961225"/>
            <a:ext cx="4134846" cy="0"/>
          </a:xfrm>
          <a:prstGeom prst="line">
            <a:avLst/>
          </a:prstGeom>
          <a:noFill/>
          <a:ln w="28575">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33" name="Text Box 33">
            <a:extLst>
              <a:ext uri="{FF2B5EF4-FFF2-40B4-BE49-F238E27FC236}">
                <a16:creationId xmlns:a16="http://schemas.microsoft.com/office/drawing/2014/main" id="{7A2442A4-1F2C-55A1-6993-2E023EA48F5A}"/>
              </a:ext>
            </a:extLst>
          </p:cNvPr>
          <p:cNvSpPr txBox="1">
            <a:spLocks noChangeArrowheads="1"/>
          </p:cNvSpPr>
          <p:nvPr/>
        </p:nvSpPr>
        <p:spPr bwMode="auto">
          <a:xfrm>
            <a:off x="6194518" y="1834612"/>
            <a:ext cx="1616150" cy="27699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CC00CC"/>
                </a:solidFill>
                <a:latin typeface="微软雅黑" pitchFamily="34" charset="-122"/>
                <a:ea typeface="微软雅黑" pitchFamily="34" charset="-122"/>
              </a:rPr>
              <a:t>基于 </a:t>
            </a:r>
            <a:r>
              <a:rPr kumimoji="1" lang="en-US" altLang="zh-CN" sz="1200" b="1" dirty="0">
                <a:solidFill>
                  <a:srgbClr val="CC00CC"/>
                </a:solidFill>
                <a:latin typeface="微软雅黑" pitchFamily="34" charset="-122"/>
                <a:ea typeface="微软雅黑" pitchFamily="34" charset="-122"/>
              </a:rPr>
              <a:t>ADSL </a:t>
            </a:r>
            <a:r>
              <a:rPr kumimoji="1" lang="zh-CN" altLang="en-US" sz="1200" b="1" dirty="0">
                <a:solidFill>
                  <a:srgbClr val="CC00CC"/>
                </a:solidFill>
                <a:latin typeface="微软雅黑" pitchFamily="34" charset="-122"/>
                <a:ea typeface="微软雅黑" pitchFamily="34" charset="-122"/>
              </a:rPr>
              <a:t>的接入网</a:t>
            </a:r>
          </a:p>
        </p:txBody>
      </p:sp>
      <p:sp>
        <p:nvSpPr>
          <p:cNvPr id="34" name="Text Box 34">
            <a:extLst>
              <a:ext uri="{FF2B5EF4-FFF2-40B4-BE49-F238E27FC236}">
                <a16:creationId xmlns:a16="http://schemas.microsoft.com/office/drawing/2014/main" id="{F1327F6A-4E0E-E037-8EC4-E9FAA5B9D76D}"/>
              </a:ext>
            </a:extLst>
          </p:cNvPr>
          <p:cNvSpPr txBox="1">
            <a:spLocks noChangeArrowheads="1"/>
          </p:cNvSpPr>
          <p:nvPr/>
        </p:nvSpPr>
        <p:spPr bwMode="auto">
          <a:xfrm>
            <a:off x="5151590" y="2102919"/>
            <a:ext cx="110799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端局或远端站</a:t>
            </a:r>
          </a:p>
        </p:txBody>
      </p:sp>
      <p:sp>
        <p:nvSpPr>
          <p:cNvPr id="35" name="Line 35">
            <a:extLst>
              <a:ext uri="{FF2B5EF4-FFF2-40B4-BE49-F238E27FC236}">
                <a16:creationId xmlns:a16="http://schemas.microsoft.com/office/drawing/2014/main" id="{F5385E2D-0738-35B8-70EA-28333AE8F37E}"/>
              </a:ext>
            </a:extLst>
          </p:cNvPr>
          <p:cNvSpPr>
            <a:spLocks noChangeShapeType="1"/>
          </p:cNvSpPr>
          <p:nvPr/>
        </p:nvSpPr>
        <p:spPr bwMode="auto">
          <a:xfrm>
            <a:off x="4925593" y="3975923"/>
            <a:ext cx="1444652" cy="10211"/>
          </a:xfrm>
          <a:prstGeom prst="line">
            <a:avLst/>
          </a:prstGeom>
          <a:noFill/>
          <a:ln w="9525">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36" name="Text Box 36">
            <a:extLst>
              <a:ext uri="{FF2B5EF4-FFF2-40B4-BE49-F238E27FC236}">
                <a16:creationId xmlns:a16="http://schemas.microsoft.com/office/drawing/2014/main" id="{4C6A3988-33F3-8BBC-0D95-5A9B3B82C570}"/>
              </a:ext>
            </a:extLst>
          </p:cNvPr>
          <p:cNvSpPr txBox="1">
            <a:spLocks noChangeArrowheads="1"/>
          </p:cNvSpPr>
          <p:nvPr/>
        </p:nvSpPr>
        <p:spPr bwMode="auto">
          <a:xfrm>
            <a:off x="5295922" y="3878685"/>
            <a:ext cx="762389" cy="249299"/>
          </a:xfrm>
          <a:prstGeom prst="rect">
            <a:avLst/>
          </a:prstGeom>
          <a:solidFill>
            <a:srgbClr val="00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lnSpc>
                <a:spcPct val="85000"/>
              </a:lnSpc>
            </a:pPr>
            <a:r>
              <a:rPr kumimoji="1" lang="en-US" altLang="zh-CN" sz="1200" b="1" dirty="0">
                <a:solidFill>
                  <a:srgbClr val="0000FF"/>
                </a:solidFill>
                <a:latin typeface="微软雅黑" pitchFamily="34" charset="-122"/>
                <a:ea typeface="微软雅黑" pitchFamily="34" charset="-122"/>
              </a:rPr>
              <a:t>DSLAM</a:t>
            </a:r>
          </a:p>
        </p:txBody>
      </p:sp>
      <p:sp>
        <p:nvSpPr>
          <p:cNvPr id="37" name="Text Box 37">
            <a:extLst>
              <a:ext uri="{FF2B5EF4-FFF2-40B4-BE49-F238E27FC236}">
                <a16:creationId xmlns:a16="http://schemas.microsoft.com/office/drawing/2014/main" id="{B5999779-038B-F4CA-6DB1-748910FB1D77}"/>
              </a:ext>
            </a:extLst>
          </p:cNvPr>
          <p:cNvSpPr txBox="1">
            <a:spLocks noChangeArrowheads="1"/>
          </p:cNvSpPr>
          <p:nvPr/>
        </p:nvSpPr>
        <p:spPr bwMode="auto">
          <a:xfrm>
            <a:off x="6590372" y="3822761"/>
            <a:ext cx="110799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0000FF"/>
                </a:solidFill>
                <a:latin typeface="微软雅黑" pitchFamily="34" charset="-122"/>
                <a:ea typeface="微软雅黑" pitchFamily="34" charset="-122"/>
              </a:rPr>
              <a:t>至本地电话局</a:t>
            </a:r>
          </a:p>
        </p:txBody>
      </p:sp>
      <p:sp>
        <p:nvSpPr>
          <p:cNvPr id="38" name="Text Box 38">
            <a:extLst>
              <a:ext uri="{FF2B5EF4-FFF2-40B4-BE49-F238E27FC236}">
                <a16:creationId xmlns:a16="http://schemas.microsoft.com/office/drawing/2014/main" id="{5571DD97-B3DD-ABE6-FD83-D626243BA5EC}"/>
              </a:ext>
            </a:extLst>
          </p:cNvPr>
          <p:cNvSpPr txBox="1">
            <a:spLocks noChangeArrowheads="1"/>
          </p:cNvSpPr>
          <p:nvPr/>
        </p:nvSpPr>
        <p:spPr bwMode="auto">
          <a:xfrm>
            <a:off x="6345909" y="2503534"/>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PS</a:t>
            </a:r>
          </a:p>
        </p:txBody>
      </p:sp>
      <p:sp>
        <p:nvSpPr>
          <p:cNvPr id="39" name="Text Box 39">
            <a:extLst>
              <a:ext uri="{FF2B5EF4-FFF2-40B4-BE49-F238E27FC236}">
                <a16:creationId xmlns:a16="http://schemas.microsoft.com/office/drawing/2014/main" id="{D3F78026-D203-CE6F-C105-70D9987D2AF1}"/>
              </a:ext>
            </a:extLst>
          </p:cNvPr>
          <p:cNvSpPr txBox="1">
            <a:spLocks noChangeArrowheads="1"/>
          </p:cNvSpPr>
          <p:nvPr/>
        </p:nvSpPr>
        <p:spPr bwMode="auto">
          <a:xfrm>
            <a:off x="7660035" y="2803729"/>
            <a:ext cx="3786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PS</a:t>
            </a:r>
          </a:p>
        </p:txBody>
      </p:sp>
      <p:sp>
        <p:nvSpPr>
          <p:cNvPr id="40" name="Freeform 40">
            <a:extLst>
              <a:ext uri="{FF2B5EF4-FFF2-40B4-BE49-F238E27FC236}">
                <a16:creationId xmlns:a16="http://schemas.microsoft.com/office/drawing/2014/main" id="{3B7B2F01-6F10-3D52-8C04-2428B436945A}"/>
              </a:ext>
            </a:extLst>
          </p:cNvPr>
          <p:cNvSpPr>
            <a:spLocks/>
          </p:cNvSpPr>
          <p:nvPr/>
        </p:nvSpPr>
        <p:spPr bwMode="auto">
          <a:xfrm>
            <a:off x="6260734" y="3365320"/>
            <a:ext cx="207959" cy="1021"/>
          </a:xfrm>
          <a:custGeom>
            <a:avLst/>
            <a:gdLst>
              <a:gd name="T0" fmla="*/ 0 w 196"/>
              <a:gd name="T1" fmla="*/ 0 h 1"/>
              <a:gd name="T2" fmla="*/ 196 w 196"/>
              <a:gd name="T3" fmla="*/ 0 h 1"/>
            </a:gdLst>
            <a:ahLst/>
            <a:cxnLst>
              <a:cxn ang="0">
                <a:pos x="T0" y="T1"/>
              </a:cxn>
              <a:cxn ang="0">
                <a:pos x="T2" y="T3"/>
              </a:cxn>
            </a:cxnLst>
            <a:rect l="0" t="0" r="r" b="b"/>
            <a:pathLst>
              <a:path w="196" h="1">
                <a:moveTo>
                  <a:pt x="0" y="0"/>
                </a:moveTo>
                <a:lnTo>
                  <a:pt x="196" y="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41" name="Freeform 41">
            <a:extLst>
              <a:ext uri="{FF2B5EF4-FFF2-40B4-BE49-F238E27FC236}">
                <a16:creationId xmlns:a16="http://schemas.microsoft.com/office/drawing/2014/main" id="{02EA0A3B-7DF6-B74F-DCFF-8BEDF23DF438}"/>
              </a:ext>
            </a:extLst>
          </p:cNvPr>
          <p:cNvSpPr>
            <a:spLocks/>
          </p:cNvSpPr>
          <p:nvPr/>
        </p:nvSpPr>
        <p:spPr bwMode="auto">
          <a:xfrm>
            <a:off x="6260734" y="2724085"/>
            <a:ext cx="207959" cy="0"/>
          </a:xfrm>
          <a:custGeom>
            <a:avLst/>
            <a:gdLst>
              <a:gd name="T0" fmla="*/ 0 w 196"/>
              <a:gd name="T1" fmla="*/ 0 h 1"/>
              <a:gd name="T2" fmla="*/ 196 w 196"/>
              <a:gd name="T3" fmla="*/ 0 h 1"/>
            </a:gdLst>
            <a:ahLst/>
            <a:cxnLst>
              <a:cxn ang="0">
                <a:pos x="T0" y="T1"/>
              </a:cxn>
              <a:cxn ang="0">
                <a:pos x="T2" y="T3"/>
              </a:cxn>
            </a:cxnLst>
            <a:rect l="0" t="0" r="r" b="b"/>
            <a:pathLst>
              <a:path w="196" h="1">
                <a:moveTo>
                  <a:pt x="0" y="0"/>
                </a:moveTo>
                <a:lnTo>
                  <a:pt x="196" y="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nvGrpSpPr>
          <p:cNvPr id="42" name="Group 1356">
            <a:extLst>
              <a:ext uri="{FF2B5EF4-FFF2-40B4-BE49-F238E27FC236}">
                <a16:creationId xmlns:a16="http://schemas.microsoft.com/office/drawing/2014/main" id="{71A9C384-B443-265E-F27D-0F8493A27DBD}"/>
              </a:ext>
            </a:extLst>
          </p:cNvPr>
          <p:cNvGrpSpPr>
            <a:grpSpLocks/>
          </p:cNvGrpSpPr>
          <p:nvPr/>
        </p:nvGrpSpPr>
        <p:grpSpPr bwMode="auto">
          <a:xfrm>
            <a:off x="3360497" y="2712471"/>
            <a:ext cx="1457371" cy="1002695"/>
            <a:chOff x="2949" y="196"/>
            <a:chExt cx="941" cy="598"/>
          </a:xfrm>
          <a:solidFill>
            <a:srgbClr val="99FFCC"/>
          </a:solidFill>
        </p:grpSpPr>
        <p:sp>
          <p:nvSpPr>
            <p:cNvPr id="43" name="Oval 1357">
              <a:extLst>
                <a:ext uri="{FF2B5EF4-FFF2-40B4-BE49-F238E27FC236}">
                  <a16:creationId xmlns:a16="http://schemas.microsoft.com/office/drawing/2014/main" id="{207787A5-B657-310F-8E8B-B3018A6D48A4}"/>
                </a:ext>
              </a:extLst>
            </p:cNvPr>
            <p:cNvSpPr>
              <a:spLocks noChangeArrowheads="1"/>
            </p:cNvSpPr>
            <p:nvPr/>
          </p:nvSpPr>
          <p:spPr bwMode="auto">
            <a:xfrm>
              <a:off x="3168" y="196"/>
              <a:ext cx="407" cy="162"/>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44" name="Oval 1358">
              <a:extLst>
                <a:ext uri="{FF2B5EF4-FFF2-40B4-BE49-F238E27FC236}">
                  <a16:creationId xmlns:a16="http://schemas.microsoft.com/office/drawing/2014/main" id="{6A300930-5BBC-8590-64B0-358145635A02}"/>
                </a:ext>
              </a:extLst>
            </p:cNvPr>
            <p:cNvSpPr>
              <a:spLocks noChangeArrowheads="1"/>
            </p:cNvSpPr>
            <p:nvPr/>
          </p:nvSpPr>
          <p:spPr bwMode="auto">
            <a:xfrm rot="900000">
              <a:off x="3512" y="252"/>
              <a:ext cx="275" cy="131"/>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45" name="Oval 1359">
              <a:extLst>
                <a:ext uri="{FF2B5EF4-FFF2-40B4-BE49-F238E27FC236}">
                  <a16:creationId xmlns:a16="http://schemas.microsoft.com/office/drawing/2014/main" id="{47AD3DA2-8545-F8A6-3A18-506813D46567}"/>
                </a:ext>
              </a:extLst>
            </p:cNvPr>
            <p:cNvSpPr>
              <a:spLocks noChangeArrowheads="1"/>
            </p:cNvSpPr>
            <p:nvPr/>
          </p:nvSpPr>
          <p:spPr bwMode="auto">
            <a:xfrm rot="1500000">
              <a:off x="3650" y="385"/>
              <a:ext cx="240" cy="153"/>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46" name="Oval 1360">
              <a:extLst>
                <a:ext uri="{FF2B5EF4-FFF2-40B4-BE49-F238E27FC236}">
                  <a16:creationId xmlns:a16="http://schemas.microsoft.com/office/drawing/2014/main" id="{E7F70FF5-DFC3-7FCA-B477-3DD9AFE850CB}"/>
                </a:ext>
              </a:extLst>
            </p:cNvPr>
            <p:cNvSpPr>
              <a:spLocks noChangeArrowheads="1"/>
            </p:cNvSpPr>
            <p:nvPr/>
          </p:nvSpPr>
          <p:spPr bwMode="auto">
            <a:xfrm rot="-1560000">
              <a:off x="3573" y="537"/>
              <a:ext cx="291" cy="189"/>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47" name="Oval 1361">
              <a:extLst>
                <a:ext uri="{FF2B5EF4-FFF2-40B4-BE49-F238E27FC236}">
                  <a16:creationId xmlns:a16="http://schemas.microsoft.com/office/drawing/2014/main" id="{88D48457-7AC2-415D-1987-FB64C70957F7}"/>
                </a:ext>
              </a:extLst>
            </p:cNvPr>
            <p:cNvSpPr>
              <a:spLocks noChangeArrowheads="1"/>
            </p:cNvSpPr>
            <p:nvPr/>
          </p:nvSpPr>
          <p:spPr bwMode="auto">
            <a:xfrm>
              <a:off x="3216" y="555"/>
              <a:ext cx="471" cy="239"/>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48" name="Oval 1362">
              <a:extLst>
                <a:ext uri="{FF2B5EF4-FFF2-40B4-BE49-F238E27FC236}">
                  <a16:creationId xmlns:a16="http://schemas.microsoft.com/office/drawing/2014/main" id="{DE2BD340-B043-A4DD-7745-AAF4E62D206B}"/>
                </a:ext>
              </a:extLst>
            </p:cNvPr>
            <p:cNvSpPr>
              <a:spLocks noChangeArrowheads="1"/>
            </p:cNvSpPr>
            <p:nvPr/>
          </p:nvSpPr>
          <p:spPr bwMode="auto">
            <a:xfrm rot="1080000">
              <a:off x="3023" y="555"/>
              <a:ext cx="265" cy="156"/>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49" name="Oval 1363">
              <a:extLst>
                <a:ext uri="{FF2B5EF4-FFF2-40B4-BE49-F238E27FC236}">
                  <a16:creationId xmlns:a16="http://schemas.microsoft.com/office/drawing/2014/main" id="{573C0FF1-E90B-09D7-A61D-55D35B5B2B4D}"/>
                </a:ext>
              </a:extLst>
            </p:cNvPr>
            <p:cNvSpPr>
              <a:spLocks noChangeArrowheads="1"/>
            </p:cNvSpPr>
            <p:nvPr/>
          </p:nvSpPr>
          <p:spPr bwMode="auto">
            <a:xfrm>
              <a:off x="2949" y="432"/>
              <a:ext cx="217" cy="156"/>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50" name="Oval 1364">
              <a:extLst>
                <a:ext uri="{FF2B5EF4-FFF2-40B4-BE49-F238E27FC236}">
                  <a16:creationId xmlns:a16="http://schemas.microsoft.com/office/drawing/2014/main" id="{E6F9DBE5-E665-7D19-CB45-50EEA6247E65}"/>
                </a:ext>
              </a:extLst>
            </p:cNvPr>
            <p:cNvSpPr>
              <a:spLocks noChangeArrowheads="1"/>
            </p:cNvSpPr>
            <p:nvPr/>
          </p:nvSpPr>
          <p:spPr bwMode="auto">
            <a:xfrm rot="-1860000">
              <a:off x="2984" y="310"/>
              <a:ext cx="295" cy="156"/>
            </a:xfrm>
            <a:prstGeom prst="ellipse">
              <a:avLst/>
            </a:prstGeom>
            <a:grpFill/>
            <a:ln w="6350">
              <a:solidFill>
                <a:srgbClr val="000000"/>
              </a:solidFill>
              <a:round/>
              <a:headEnd/>
              <a:tailEnd/>
            </a:ln>
          </p:spPr>
          <p:txBody>
            <a:bodyPr wrap="none" anchor="ctr"/>
            <a:lstStyle/>
            <a:p>
              <a:endParaRPr lang="zh-CN" altLang="en-US" sz="2000" b="1">
                <a:solidFill>
                  <a:srgbClr val="000000"/>
                </a:solidFill>
              </a:endParaRPr>
            </a:p>
          </p:txBody>
        </p:sp>
        <p:sp>
          <p:nvSpPr>
            <p:cNvPr id="51" name="Freeform 1365">
              <a:extLst>
                <a:ext uri="{FF2B5EF4-FFF2-40B4-BE49-F238E27FC236}">
                  <a16:creationId xmlns:a16="http://schemas.microsoft.com/office/drawing/2014/main" id="{72A53E8B-E41A-14B0-1252-C9CBE2C1983B}"/>
                </a:ext>
              </a:extLst>
            </p:cNvPr>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66">
              <a:extLst>
                <a:ext uri="{FF2B5EF4-FFF2-40B4-BE49-F238E27FC236}">
                  <a16:creationId xmlns:a16="http://schemas.microsoft.com/office/drawing/2014/main" id="{11F2625A-3443-FE72-B031-A633B208CE4B}"/>
                </a:ext>
              </a:extLst>
            </p:cNvPr>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367">
              <a:extLst>
                <a:ext uri="{FF2B5EF4-FFF2-40B4-BE49-F238E27FC236}">
                  <a16:creationId xmlns:a16="http://schemas.microsoft.com/office/drawing/2014/main" id="{19A9E250-B667-D26A-743B-97A9C16034EC}"/>
                </a:ext>
              </a:extLst>
            </p:cNvPr>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4" name="Text Box 29">
            <a:extLst>
              <a:ext uri="{FF2B5EF4-FFF2-40B4-BE49-F238E27FC236}">
                <a16:creationId xmlns:a16="http://schemas.microsoft.com/office/drawing/2014/main" id="{2E21DAF2-5191-2EAB-5542-8432358B680E}"/>
              </a:ext>
            </a:extLst>
          </p:cNvPr>
          <p:cNvSpPr txBox="1">
            <a:spLocks noChangeArrowheads="1"/>
          </p:cNvSpPr>
          <p:nvPr/>
        </p:nvSpPr>
        <p:spPr bwMode="auto">
          <a:xfrm>
            <a:off x="3591558" y="3096007"/>
            <a:ext cx="1000596"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200" b="1" dirty="0">
                <a:solidFill>
                  <a:srgbClr val="0000FF"/>
                </a:solidFill>
                <a:latin typeface="微软雅黑" pitchFamily="34" charset="-122"/>
                <a:ea typeface="微软雅黑" pitchFamily="34" charset="-122"/>
              </a:rPr>
              <a:t> </a:t>
            </a:r>
            <a:r>
              <a:rPr kumimoji="1" lang="zh-CN" altLang="en-US" sz="1200" b="1" dirty="0">
                <a:solidFill>
                  <a:srgbClr val="0000FF"/>
                </a:solidFill>
                <a:latin typeface="微软雅黑" pitchFamily="34" charset="-122"/>
                <a:ea typeface="微软雅黑" pitchFamily="34" charset="-122"/>
              </a:rPr>
              <a:t>区域宽带网</a:t>
            </a:r>
          </a:p>
        </p:txBody>
      </p:sp>
      <p:pic>
        <p:nvPicPr>
          <p:cNvPr id="55" name="Picture 246" descr="jisuanji">
            <a:extLst>
              <a:ext uri="{FF2B5EF4-FFF2-40B4-BE49-F238E27FC236}">
                <a16:creationId xmlns:a16="http://schemas.microsoft.com/office/drawing/2014/main" id="{7E083E22-E452-E0DD-91FD-0390F5B06BB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69260" y="3251660"/>
            <a:ext cx="400399" cy="400399"/>
          </a:xfrm>
          <a:prstGeom prst="rect">
            <a:avLst/>
          </a:prstGeom>
          <a:noFill/>
          <a:extLst>
            <a:ext uri="{909E8E84-426E-40DD-AFC4-6F175D3DCCD1}">
              <a14:hiddenFill xmlns:a14="http://schemas.microsoft.com/office/drawing/2010/main">
                <a:solidFill>
                  <a:srgbClr val="FFFFFF"/>
                </a:solidFill>
              </a14:hiddenFill>
            </a:ext>
          </a:extLst>
        </p:spPr>
      </p:pic>
      <p:pic>
        <p:nvPicPr>
          <p:cNvPr id="56" name="图片 55">
            <a:extLst>
              <a:ext uri="{FF2B5EF4-FFF2-40B4-BE49-F238E27FC236}">
                <a16:creationId xmlns:a16="http://schemas.microsoft.com/office/drawing/2014/main" id="{A571E08D-D831-EC59-8F7D-F1B5A9EEE8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536936" y="3275537"/>
            <a:ext cx="484642" cy="426484"/>
          </a:xfrm>
          <a:prstGeom prst="rect">
            <a:avLst/>
          </a:prstGeom>
        </p:spPr>
      </p:pic>
    </p:spTree>
    <p:extLst>
      <p:ext uri="{BB962C8B-B14F-4D97-AF65-F5344CB8AC3E}">
        <p14:creationId xmlns:p14="http://schemas.microsoft.com/office/powerpoint/2010/main" val="171284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a:bodyPr>
          <a:lstStyle/>
          <a:p>
            <a:r>
              <a:rPr lang="en-US" altLang="en-US" b="1" dirty="0">
                <a:solidFill>
                  <a:srgbClr val="000099"/>
                </a:solidFill>
              </a:rPr>
              <a:t>Second generation ADSL</a:t>
            </a:r>
          </a:p>
        </p:txBody>
      </p:sp>
      <p:sp>
        <p:nvSpPr>
          <p:cNvPr id="3" name="文本框 2">
            <a:extLst>
              <a:ext uri="{FF2B5EF4-FFF2-40B4-BE49-F238E27FC236}">
                <a16:creationId xmlns:a16="http://schemas.microsoft.com/office/drawing/2014/main" id="{E3D71301-B3C0-F138-7E3D-DFA51299FCA3}"/>
              </a:ext>
            </a:extLst>
          </p:cNvPr>
          <p:cNvSpPr txBox="1"/>
          <p:nvPr/>
        </p:nvSpPr>
        <p:spPr>
          <a:xfrm>
            <a:off x="623673" y="981370"/>
            <a:ext cx="10661148" cy="3929281"/>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This includes ADSL2 (G.992.3 and G.992.4) and ADSL2+ (G.992.5).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A </a:t>
            </a:r>
            <a:r>
              <a:rPr lang="en" altLang="zh-CN" sz="2400" dirty="0">
                <a:solidFill>
                  <a:srgbClr val="0013A3"/>
                </a:solidFill>
                <a:latin typeface="Calibri" panose="020F0502020204030204" pitchFamily="34" charset="0"/>
                <a:cs typeface="Calibri" panose="020F0502020204030204" pitchFamily="34" charset="0"/>
              </a:rPr>
              <a:t>higher data rate </a:t>
            </a:r>
            <a:r>
              <a:rPr lang="en" altLang="zh-CN" sz="2400" dirty="0">
                <a:latin typeface="Calibri" panose="020F0502020204030204" pitchFamily="34" charset="0"/>
                <a:cs typeface="Calibri" panose="020F0502020204030204" pitchFamily="34" charset="0"/>
              </a:rPr>
              <a:t>is obtained by improving the modulation efficiency.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ADSL2 requires a minimum of 8 MBPS downlink and 800 kbit/s uplink.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ADSL2+ extends the spectrum range from 1.1 MHz to 2.2 MHz, achieving 16 Mbit/s downlink (maximum transmission rate of 25 Mbit/s) and 800 kbit/s uplink. </a:t>
            </a:r>
          </a:p>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Seamless Rate Adaptation</a:t>
            </a:r>
            <a:r>
              <a:rPr lang="en" altLang="zh-CN" sz="2400" dirty="0">
                <a:latin typeface="Calibri" panose="020F0502020204030204" pitchFamily="34" charset="0"/>
                <a:cs typeface="Calibri" panose="020F0502020204030204" pitchFamily="34" charset="0"/>
              </a:rPr>
              <a:t> (SRA) technology is adopted to adjust the data rate adaptively without interrupting communication and generating bit error.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It improves the line quality evaluation and fault location function, which is of great significance to improve the operation and maintenance level of the network.</a:t>
            </a:r>
          </a:p>
        </p:txBody>
      </p:sp>
    </p:spTree>
    <p:extLst>
      <p:ext uri="{BB962C8B-B14F-4D97-AF65-F5344CB8AC3E}">
        <p14:creationId xmlns:p14="http://schemas.microsoft.com/office/powerpoint/2010/main" val="27431592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1044913" cy="894622"/>
          </a:xfrm>
        </p:spPr>
        <p:txBody>
          <a:bodyPr>
            <a:normAutofit fontScale="90000"/>
          </a:bodyPr>
          <a:lstStyle/>
          <a:p>
            <a:r>
              <a:rPr lang="en-US" altLang="en-US" b="1" dirty="0">
                <a:solidFill>
                  <a:srgbClr val="000099"/>
                </a:solidFill>
              </a:rPr>
              <a:t>Hybrid Fiber Coaxial Network </a:t>
            </a:r>
            <a:r>
              <a:rPr lang="zh-CN" altLang="en-US" b="1" dirty="0">
                <a:solidFill>
                  <a:srgbClr val="000099"/>
                </a:solidFill>
              </a:rPr>
              <a:t>混合光纤同轴网络</a:t>
            </a:r>
            <a:endParaRPr lang="en-US" altLang="en-US" b="1" dirty="0">
              <a:solidFill>
                <a:srgbClr val="000099"/>
              </a:solidFill>
            </a:endParaRPr>
          </a:p>
        </p:txBody>
      </p:sp>
      <p:sp>
        <p:nvSpPr>
          <p:cNvPr id="3" name="文本框 2">
            <a:extLst>
              <a:ext uri="{FF2B5EF4-FFF2-40B4-BE49-F238E27FC236}">
                <a16:creationId xmlns:a16="http://schemas.microsoft.com/office/drawing/2014/main" id="{E3D71301-B3C0-F138-7E3D-DFA51299FCA3}"/>
              </a:ext>
            </a:extLst>
          </p:cNvPr>
          <p:cNvSpPr txBox="1"/>
          <p:nvPr/>
        </p:nvSpPr>
        <p:spPr>
          <a:xfrm>
            <a:off x="623673" y="981370"/>
            <a:ext cx="10661148" cy="267560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HFC (Hybrid Fiber Coax) network is a residential broadband access network developed on the basis of CATV, which has a wide coverage at present.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In addition to CATV, HFC network can provide telephone, data and other broadband interactive services.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existing CATV network is a coaxial cable network with tree topology. It uses frequency division multiplexing of analog technology to transmit TV programs in one direction. </a:t>
            </a:r>
          </a:p>
        </p:txBody>
      </p:sp>
    </p:spTree>
    <p:extLst>
      <p:ext uri="{BB962C8B-B14F-4D97-AF65-F5344CB8AC3E}">
        <p14:creationId xmlns:p14="http://schemas.microsoft.com/office/powerpoint/2010/main" val="15434640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126897"/>
            <a:ext cx="10854829" cy="894622"/>
          </a:xfrm>
        </p:spPr>
        <p:txBody>
          <a:bodyPr>
            <a:normAutofit fontScale="90000"/>
          </a:bodyPr>
          <a:lstStyle/>
          <a:p>
            <a:r>
              <a:rPr lang="en-US" altLang="en-US" b="1" dirty="0">
                <a:solidFill>
                  <a:srgbClr val="000099"/>
                </a:solidFill>
              </a:rPr>
              <a:t>The backbone of the HFC network uses optical fiber</a:t>
            </a:r>
          </a:p>
        </p:txBody>
      </p:sp>
      <p:sp>
        <p:nvSpPr>
          <p:cNvPr id="3" name="文本框 2">
            <a:extLst>
              <a:ext uri="{FF2B5EF4-FFF2-40B4-BE49-F238E27FC236}">
                <a16:creationId xmlns:a16="http://schemas.microsoft.com/office/drawing/2014/main" id="{E3D71301-B3C0-F138-7E3D-DFA51299FCA3}"/>
              </a:ext>
            </a:extLst>
          </p:cNvPr>
          <p:cNvSpPr txBox="1"/>
          <p:nvPr/>
        </p:nvSpPr>
        <p:spPr>
          <a:xfrm>
            <a:off x="713498" y="1286170"/>
            <a:ext cx="10661148" cy="267560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HFC network replaces the coaxial cable backbone of the original CATV network with </a:t>
            </a:r>
            <a:r>
              <a:rPr lang="en" altLang="zh-CN" sz="2400" dirty="0">
                <a:solidFill>
                  <a:srgbClr val="0013A3"/>
                </a:solidFill>
                <a:latin typeface="Calibri" panose="020F0502020204030204" pitchFamily="34" charset="0"/>
                <a:cs typeface="Calibri" panose="020F0502020204030204" pitchFamily="34" charset="0"/>
              </a:rPr>
              <a:t>fiber</a:t>
            </a:r>
            <a:r>
              <a:rPr lang="en" altLang="zh-CN" sz="2400" dirty="0">
                <a:latin typeface="Calibri" panose="020F0502020204030204" pitchFamily="34" charset="0"/>
                <a:cs typeface="Calibri" panose="020F0502020204030204" pitchFamily="34" charset="0"/>
              </a:rPr>
              <a:t>, and uses </a:t>
            </a:r>
            <a:r>
              <a:rPr lang="en" altLang="zh-CN" sz="2400" dirty="0">
                <a:solidFill>
                  <a:srgbClr val="0013A3"/>
                </a:solidFill>
                <a:latin typeface="Calibri" panose="020F0502020204030204" pitchFamily="34" charset="0"/>
                <a:cs typeface="Calibri" panose="020F0502020204030204" pitchFamily="34" charset="0"/>
              </a:rPr>
              <a:t>analog fiber technology</a:t>
            </a:r>
            <a:r>
              <a:rPr lang="en" altLang="zh-CN" sz="2400" dirty="0">
                <a:latin typeface="Calibri" panose="020F0502020204030204" pitchFamily="34" charset="0"/>
                <a:cs typeface="Calibri" panose="020F0502020204030204" pitchFamily="34" charset="0"/>
              </a:rPr>
              <a:t>.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a:t>
            </a:r>
            <a:r>
              <a:rPr lang="en" altLang="zh-CN" sz="2400" dirty="0">
                <a:solidFill>
                  <a:srgbClr val="0013A3"/>
                </a:solidFill>
                <a:latin typeface="Calibri" panose="020F0502020204030204" pitchFamily="34" charset="0"/>
                <a:cs typeface="Calibri" panose="020F0502020204030204" pitchFamily="34" charset="0"/>
              </a:rPr>
              <a:t>amplitude modulation AM of light </a:t>
            </a:r>
            <a:r>
              <a:rPr lang="en" altLang="zh-CN" sz="2400" dirty="0">
                <a:latin typeface="Calibri" panose="020F0502020204030204" pitchFamily="34" charset="0"/>
                <a:cs typeface="Calibri" panose="020F0502020204030204" pitchFamily="34" charset="0"/>
              </a:rPr>
              <a:t>is used in analog fiber, which is more economical than using digital fiber.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simulated fiber is connected from the </a:t>
            </a:r>
            <a:r>
              <a:rPr lang="en" altLang="zh-CN" sz="2400" dirty="0">
                <a:solidFill>
                  <a:srgbClr val="0013A3"/>
                </a:solidFill>
                <a:latin typeface="Calibri" panose="020F0502020204030204" pitchFamily="34" charset="0"/>
                <a:cs typeface="Calibri" panose="020F0502020204030204" pitchFamily="34" charset="0"/>
              </a:rPr>
              <a:t>head</a:t>
            </a:r>
            <a:r>
              <a:rPr lang="en" altLang="zh-CN" sz="2400" dirty="0">
                <a:latin typeface="Calibri" panose="020F0502020204030204" pitchFamily="34" charset="0"/>
                <a:cs typeface="Calibri" panose="020F0502020204030204" pitchFamily="34" charset="0"/>
              </a:rPr>
              <a:t> to the </a:t>
            </a:r>
            <a:r>
              <a:rPr lang="en" altLang="zh-CN" sz="2400" dirty="0">
                <a:solidFill>
                  <a:srgbClr val="0013A3"/>
                </a:solidFill>
                <a:latin typeface="Calibri" panose="020F0502020204030204" pitchFamily="34" charset="0"/>
                <a:cs typeface="Calibri" panose="020F0502020204030204" pitchFamily="34" charset="0"/>
              </a:rPr>
              <a:t>fiber node</a:t>
            </a:r>
            <a:r>
              <a:rPr lang="en" altLang="zh-CN" sz="2400" dirty="0">
                <a:latin typeface="Calibri" panose="020F0502020204030204" pitchFamily="34" charset="0"/>
                <a:cs typeface="Calibri" panose="020F0502020204030204" pitchFamily="34" charset="0"/>
              </a:rPr>
              <a:t>, which is the </a:t>
            </a:r>
            <a:r>
              <a:rPr lang="en" altLang="zh-CN" sz="2400" dirty="0">
                <a:solidFill>
                  <a:srgbClr val="0013A3"/>
                </a:solidFill>
                <a:latin typeface="Calibri" panose="020F0502020204030204" pitchFamily="34" charset="0"/>
                <a:cs typeface="Calibri" panose="020F0502020204030204" pitchFamily="34" charset="0"/>
              </a:rPr>
              <a:t>Optical Distribution Node </a:t>
            </a:r>
            <a:r>
              <a:rPr lang="en" altLang="zh-CN" sz="2400" dirty="0">
                <a:latin typeface="Calibri" panose="020F0502020204030204" pitchFamily="34" charset="0"/>
                <a:cs typeface="Calibri" panose="020F0502020204030204" pitchFamily="34" charset="0"/>
              </a:rPr>
              <a:t>(ODN). Optical signals are converted into electrical signals at the fiber nodes. Below the fiber node is the coaxial cable.</a:t>
            </a:r>
            <a:endParaRPr lang="en" altLang="zh-CN" sz="2400" dirty="0">
              <a:solidFill>
                <a:srgbClr val="0013A3"/>
              </a:solidFill>
              <a:latin typeface="Calibri" panose="020F0502020204030204" pitchFamily="34" charset="0"/>
              <a:cs typeface="Calibri" panose="020F0502020204030204" pitchFamily="34" charset="0"/>
            </a:endParaRPr>
          </a:p>
        </p:txBody>
      </p:sp>
      <p:sp>
        <p:nvSpPr>
          <p:cNvPr id="4" name="Freeform 173">
            <a:extLst>
              <a:ext uri="{FF2B5EF4-FFF2-40B4-BE49-F238E27FC236}">
                <a16:creationId xmlns:a16="http://schemas.microsoft.com/office/drawing/2014/main" id="{ACFE8407-8B1B-F24B-2EE9-773345639A4A}"/>
              </a:ext>
            </a:extLst>
          </p:cNvPr>
          <p:cNvSpPr>
            <a:spLocks/>
          </p:cNvSpPr>
          <p:nvPr/>
        </p:nvSpPr>
        <p:spPr bwMode="auto">
          <a:xfrm>
            <a:off x="6624206" y="5706538"/>
            <a:ext cx="64731"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5" name="Freeform 175">
            <a:extLst>
              <a:ext uri="{FF2B5EF4-FFF2-40B4-BE49-F238E27FC236}">
                <a16:creationId xmlns:a16="http://schemas.microsoft.com/office/drawing/2014/main" id="{368ADC22-7A08-DE58-1630-5C940BED035E}"/>
              </a:ext>
            </a:extLst>
          </p:cNvPr>
          <p:cNvSpPr>
            <a:spLocks/>
          </p:cNvSpPr>
          <p:nvPr/>
        </p:nvSpPr>
        <p:spPr bwMode="auto">
          <a:xfrm>
            <a:off x="7094153" y="5706538"/>
            <a:ext cx="63437"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6" name="Freeform 237">
            <a:extLst>
              <a:ext uri="{FF2B5EF4-FFF2-40B4-BE49-F238E27FC236}">
                <a16:creationId xmlns:a16="http://schemas.microsoft.com/office/drawing/2014/main" id="{4E479396-FD48-EA98-DE19-7AFDC5BCBD3C}"/>
              </a:ext>
            </a:extLst>
          </p:cNvPr>
          <p:cNvSpPr>
            <a:spLocks/>
          </p:cNvSpPr>
          <p:nvPr/>
        </p:nvSpPr>
        <p:spPr bwMode="auto">
          <a:xfrm>
            <a:off x="6624206" y="4216558"/>
            <a:ext cx="64731"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7" name="Freeform 238">
            <a:extLst>
              <a:ext uri="{FF2B5EF4-FFF2-40B4-BE49-F238E27FC236}">
                <a16:creationId xmlns:a16="http://schemas.microsoft.com/office/drawing/2014/main" id="{B876E20A-F903-C2D8-DBB5-F9B2100C1898}"/>
              </a:ext>
            </a:extLst>
          </p:cNvPr>
          <p:cNvSpPr>
            <a:spLocks/>
          </p:cNvSpPr>
          <p:nvPr/>
        </p:nvSpPr>
        <p:spPr bwMode="auto">
          <a:xfrm>
            <a:off x="7564103" y="4216558"/>
            <a:ext cx="63436"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8" name="Freeform 239">
            <a:extLst>
              <a:ext uri="{FF2B5EF4-FFF2-40B4-BE49-F238E27FC236}">
                <a16:creationId xmlns:a16="http://schemas.microsoft.com/office/drawing/2014/main" id="{CF20D1CE-0F9E-054D-2336-FF8332C14CA7}"/>
              </a:ext>
            </a:extLst>
          </p:cNvPr>
          <p:cNvSpPr>
            <a:spLocks/>
          </p:cNvSpPr>
          <p:nvPr/>
        </p:nvSpPr>
        <p:spPr bwMode="auto">
          <a:xfrm>
            <a:off x="7094153" y="4216558"/>
            <a:ext cx="63437"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9" name="Freeform 174">
            <a:extLst>
              <a:ext uri="{FF2B5EF4-FFF2-40B4-BE49-F238E27FC236}">
                <a16:creationId xmlns:a16="http://schemas.microsoft.com/office/drawing/2014/main" id="{6EC38CD1-152B-DAF7-4A1B-17AC96A1390A}"/>
              </a:ext>
            </a:extLst>
          </p:cNvPr>
          <p:cNvSpPr>
            <a:spLocks/>
          </p:cNvSpPr>
          <p:nvPr/>
        </p:nvSpPr>
        <p:spPr bwMode="auto">
          <a:xfrm>
            <a:off x="8057353" y="4995980"/>
            <a:ext cx="63437"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 name="Freeform 244">
            <a:extLst>
              <a:ext uri="{FF2B5EF4-FFF2-40B4-BE49-F238E27FC236}">
                <a16:creationId xmlns:a16="http://schemas.microsoft.com/office/drawing/2014/main" id="{59581972-ABD4-1409-B537-EB3974AF1631}"/>
              </a:ext>
            </a:extLst>
          </p:cNvPr>
          <p:cNvSpPr>
            <a:spLocks/>
          </p:cNvSpPr>
          <p:nvPr/>
        </p:nvSpPr>
        <p:spPr bwMode="auto">
          <a:xfrm>
            <a:off x="6624206" y="4997546"/>
            <a:ext cx="64731"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1" name="Freeform 245">
            <a:extLst>
              <a:ext uri="{FF2B5EF4-FFF2-40B4-BE49-F238E27FC236}">
                <a16:creationId xmlns:a16="http://schemas.microsoft.com/office/drawing/2014/main" id="{F2464836-7908-528C-A404-F876761133B0}"/>
              </a:ext>
            </a:extLst>
          </p:cNvPr>
          <p:cNvSpPr>
            <a:spLocks/>
          </p:cNvSpPr>
          <p:nvPr/>
        </p:nvSpPr>
        <p:spPr bwMode="auto">
          <a:xfrm>
            <a:off x="7564103" y="4997546"/>
            <a:ext cx="63436"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2" name="Freeform 246">
            <a:extLst>
              <a:ext uri="{FF2B5EF4-FFF2-40B4-BE49-F238E27FC236}">
                <a16:creationId xmlns:a16="http://schemas.microsoft.com/office/drawing/2014/main" id="{5C4D4475-97B3-2318-1560-92866F0DAD06}"/>
              </a:ext>
            </a:extLst>
          </p:cNvPr>
          <p:cNvSpPr>
            <a:spLocks/>
          </p:cNvSpPr>
          <p:nvPr/>
        </p:nvSpPr>
        <p:spPr bwMode="auto">
          <a:xfrm>
            <a:off x="7094153" y="4997546"/>
            <a:ext cx="63437"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3" name="Freeform 249">
            <a:extLst>
              <a:ext uri="{FF2B5EF4-FFF2-40B4-BE49-F238E27FC236}">
                <a16:creationId xmlns:a16="http://schemas.microsoft.com/office/drawing/2014/main" id="{8D06DC13-102D-C1B8-E06B-DBDB6B60B6BB}"/>
              </a:ext>
            </a:extLst>
          </p:cNvPr>
          <p:cNvSpPr>
            <a:spLocks/>
          </p:cNvSpPr>
          <p:nvPr/>
        </p:nvSpPr>
        <p:spPr bwMode="auto">
          <a:xfrm>
            <a:off x="8527302" y="4995980"/>
            <a:ext cx="63436" cy="272328"/>
          </a:xfrm>
          <a:custGeom>
            <a:avLst/>
            <a:gdLst>
              <a:gd name="T0" fmla="*/ 30 w 56"/>
              <a:gd name="T1" fmla="*/ 0 h 357"/>
              <a:gd name="T2" fmla="*/ 3 w 56"/>
              <a:gd name="T3" fmla="*/ 51 h 357"/>
              <a:gd name="T4" fmla="*/ 9 w 56"/>
              <a:gd name="T5" fmla="*/ 123 h 357"/>
              <a:gd name="T6" fmla="*/ 33 w 56"/>
              <a:gd name="T7" fmla="*/ 189 h 357"/>
              <a:gd name="T8" fmla="*/ 54 w 56"/>
              <a:gd name="T9" fmla="*/ 246 h 357"/>
              <a:gd name="T10" fmla="*/ 48 w 56"/>
              <a:gd name="T11" fmla="*/ 300 h 357"/>
              <a:gd name="T12" fmla="*/ 30 w 56"/>
              <a:gd name="T13" fmla="*/ 357 h 357"/>
            </a:gdLst>
            <a:ahLst/>
            <a:cxnLst>
              <a:cxn ang="0">
                <a:pos x="T0" y="T1"/>
              </a:cxn>
              <a:cxn ang="0">
                <a:pos x="T2" y="T3"/>
              </a:cxn>
              <a:cxn ang="0">
                <a:pos x="T4" y="T5"/>
              </a:cxn>
              <a:cxn ang="0">
                <a:pos x="T6" y="T7"/>
              </a:cxn>
              <a:cxn ang="0">
                <a:pos x="T8" y="T9"/>
              </a:cxn>
              <a:cxn ang="0">
                <a:pos x="T10" y="T11"/>
              </a:cxn>
              <a:cxn ang="0">
                <a:pos x="T12" y="T13"/>
              </a:cxn>
            </a:cxnLst>
            <a:rect l="0" t="0" r="r" b="b"/>
            <a:pathLst>
              <a:path w="56" h="357">
                <a:moveTo>
                  <a:pt x="30" y="0"/>
                </a:moveTo>
                <a:cubicBezTo>
                  <a:pt x="26" y="8"/>
                  <a:pt x="6" y="30"/>
                  <a:pt x="3" y="51"/>
                </a:cubicBezTo>
                <a:cubicBezTo>
                  <a:pt x="0" y="72"/>
                  <a:pt x="4" y="100"/>
                  <a:pt x="9" y="123"/>
                </a:cubicBezTo>
                <a:cubicBezTo>
                  <a:pt x="14" y="146"/>
                  <a:pt x="26" y="169"/>
                  <a:pt x="33" y="189"/>
                </a:cubicBezTo>
                <a:cubicBezTo>
                  <a:pt x="40" y="209"/>
                  <a:pt x="52" y="228"/>
                  <a:pt x="54" y="246"/>
                </a:cubicBezTo>
                <a:cubicBezTo>
                  <a:pt x="56" y="264"/>
                  <a:pt x="52" y="282"/>
                  <a:pt x="48" y="300"/>
                </a:cubicBezTo>
                <a:cubicBezTo>
                  <a:pt x="44" y="318"/>
                  <a:pt x="34" y="345"/>
                  <a:pt x="30" y="357"/>
                </a:cubicBezTo>
              </a:path>
            </a:pathLst>
          </a:custGeom>
          <a:noFill/>
          <a:ln w="1905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4" name="Line 155">
            <a:extLst>
              <a:ext uri="{FF2B5EF4-FFF2-40B4-BE49-F238E27FC236}">
                <a16:creationId xmlns:a16="http://schemas.microsoft.com/office/drawing/2014/main" id="{A6EAA8A6-51F4-DF7E-7F90-9C6919E2D82F}"/>
              </a:ext>
            </a:extLst>
          </p:cNvPr>
          <p:cNvSpPr>
            <a:spLocks noChangeShapeType="1"/>
          </p:cNvSpPr>
          <p:nvPr/>
        </p:nvSpPr>
        <p:spPr bwMode="auto">
          <a:xfrm>
            <a:off x="4863518" y="5351259"/>
            <a:ext cx="1232482" cy="638563"/>
          </a:xfrm>
          <a:prstGeom prst="line">
            <a:avLst/>
          </a:prstGeom>
          <a:noFill/>
          <a:ln w="38100" cmpd="dbl">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5" name="Line 156">
            <a:extLst>
              <a:ext uri="{FF2B5EF4-FFF2-40B4-BE49-F238E27FC236}">
                <a16:creationId xmlns:a16="http://schemas.microsoft.com/office/drawing/2014/main" id="{3E4B04BA-316E-AFB9-5628-AE2BE974D0E5}"/>
              </a:ext>
            </a:extLst>
          </p:cNvPr>
          <p:cNvSpPr>
            <a:spLocks noChangeShapeType="1"/>
          </p:cNvSpPr>
          <p:nvPr/>
        </p:nvSpPr>
        <p:spPr bwMode="auto">
          <a:xfrm>
            <a:off x="4921776" y="5280829"/>
            <a:ext cx="1174224" cy="0"/>
          </a:xfrm>
          <a:prstGeom prst="line">
            <a:avLst/>
          </a:prstGeom>
          <a:noFill/>
          <a:ln w="38100" cmpd="dbl">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6" name="Line 157">
            <a:extLst>
              <a:ext uri="{FF2B5EF4-FFF2-40B4-BE49-F238E27FC236}">
                <a16:creationId xmlns:a16="http://schemas.microsoft.com/office/drawing/2014/main" id="{36B26A6B-CC64-9ECB-A17A-D06838127738}"/>
              </a:ext>
            </a:extLst>
          </p:cNvPr>
          <p:cNvSpPr>
            <a:spLocks noChangeShapeType="1"/>
          </p:cNvSpPr>
          <p:nvPr/>
        </p:nvSpPr>
        <p:spPr bwMode="auto">
          <a:xfrm flipV="1">
            <a:off x="4921776" y="4499842"/>
            <a:ext cx="1174224" cy="708993"/>
          </a:xfrm>
          <a:prstGeom prst="line">
            <a:avLst/>
          </a:prstGeom>
          <a:noFill/>
          <a:ln w="38100" cmpd="dbl">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7" name="Line 158">
            <a:extLst>
              <a:ext uri="{FF2B5EF4-FFF2-40B4-BE49-F238E27FC236}">
                <a16:creationId xmlns:a16="http://schemas.microsoft.com/office/drawing/2014/main" id="{099853FB-68A9-2ECA-0277-1311BB18AC81}"/>
              </a:ext>
            </a:extLst>
          </p:cNvPr>
          <p:cNvSpPr>
            <a:spLocks noChangeShapeType="1"/>
          </p:cNvSpPr>
          <p:nvPr/>
        </p:nvSpPr>
        <p:spPr bwMode="auto">
          <a:xfrm flipH="1" flipV="1">
            <a:off x="3805810" y="5351259"/>
            <a:ext cx="528206" cy="638563"/>
          </a:xfrm>
          <a:prstGeom prst="line">
            <a:avLst/>
          </a:prstGeom>
          <a:noFill/>
          <a:ln w="76200" cmpd="tri">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8" name="Line 159">
            <a:extLst>
              <a:ext uri="{FF2B5EF4-FFF2-40B4-BE49-F238E27FC236}">
                <a16:creationId xmlns:a16="http://schemas.microsoft.com/office/drawing/2014/main" id="{1D7DDB00-E38D-38BB-055E-C72306E01B21}"/>
              </a:ext>
            </a:extLst>
          </p:cNvPr>
          <p:cNvSpPr>
            <a:spLocks noChangeShapeType="1"/>
          </p:cNvSpPr>
          <p:nvPr/>
        </p:nvSpPr>
        <p:spPr bwMode="auto">
          <a:xfrm flipV="1">
            <a:off x="3923622" y="4499841"/>
            <a:ext cx="528206" cy="568133"/>
          </a:xfrm>
          <a:prstGeom prst="line">
            <a:avLst/>
          </a:prstGeom>
          <a:noFill/>
          <a:ln w="76200" cmpd="tri">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9" name="Line 160">
            <a:extLst>
              <a:ext uri="{FF2B5EF4-FFF2-40B4-BE49-F238E27FC236}">
                <a16:creationId xmlns:a16="http://schemas.microsoft.com/office/drawing/2014/main" id="{1F4B8249-F817-2453-A1BE-58E05E3C07DD}"/>
              </a:ext>
            </a:extLst>
          </p:cNvPr>
          <p:cNvSpPr>
            <a:spLocks noChangeShapeType="1"/>
          </p:cNvSpPr>
          <p:nvPr/>
        </p:nvSpPr>
        <p:spPr bwMode="auto">
          <a:xfrm flipV="1">
            <a:off x="3923622" y="5280829"/>
            <a:ext cx="880343" cy="0"/>
          </a:xfrm>
          <a:prstGeom prst="line">
            <a:avLst/>
          </a:prstGeom>
          <a:noFill/>
          <a:ln w="76200" cmpd="tri">
            <a:solidFill>
              <a:srgbClr val="0066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20" name="AutoShape 161">
            <a:extLst>
              <a:ext uri="{FF2B5EF4-FFF2-40B4-BE49-F238E27FC236}">
                <a16:creationId xmlns:a16="http://schemas.microsoft.com/office/drawing/2014/main" id="{04F299CD-4192-29A1-C9DC-C79F5B875C5B}"/>
              </a:ext>
            </a:extLst>
          </p:cNvPr>
          <p:cNvSpPr>
            <a:spLocks noChangeArrowheads="1"/>
          </p:cNvSpPr>
          <p:nvPr/>
        </p:nvSpPr>
        <p:spPr bwMode="auto">
          <a:xfrm>
            <a:off x="6037741" y="5138404"/>
            <a:ext cx="218791" cy="236331"/>
          </a:xfrm>
          <a:prstGeom prst="cube">
            <a:avLst>
              <a:gd name="adj" fmla="val 25000"/>
            </a:avLst>
          </a:prstGeom>
          <a:solidFill>
            <a:srgbClr val="FF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1" name="AutoShape 162">
            <a:extLst>
              <a:ext uri="{FF2B5EF4-FFF2-40B4-BE49-F238E27FC236}">
                <a16:creationId xmlns:a16="http://schemas.microsoft.com/office/drawing/2014/main" id="{82EFAFED-68CD-347B-CAD0-F4A1F70124FD}"/>
              </a:ext>
            </a:extLst>
          </p:cNvPr>
          <p:cNvSpPr>
            <a:spLocks noChangeArrowheads="1"/>
          </p:cNvSpPr>
          <p:nvPr/>
        </p:nvSpPr>
        <p:spPr bwMode="auto">
          <a:xfrm>
            <a:off x="6037741" y="5848964"/>
            <a:ext cx="218791" cy="247287"/>
          </a:xfrm>
          <a:prstGeom prst="cube">
            <a:avLst>
              <a:gd name="adj" fmla="val 25000"/>
            </a:avLst>
          </a:prstGeom>
          <a:solidFill>
            <a:srgbClr val="FF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22" name="Text Box 163">
            <a:extLst>
              <a:ext uri="{FF2B5EF4-FFF2-40B4-BE49-F238E27FC236}">
                <a16:creationId xmlns:a16="http://schemas.microsoft.com/office/drawing/2014/main" id="{E78E8C42-9C2F-3277-184E-D56F47D97323}"/>
              </a:ext>
            </a:extLst>
          </p:cNvPr>
          <p:cNvSpPr txBox="1">
            <a:spLocks noChangeArrowheads="1"/>
          </p:cNvSpPr>
          <p:nvPr/>
        </p:nvSpPr>
        <p:spPr bwMode="auto">
          <a:xfrm>
            <a:off x="8386187" y="3900188"/>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同轴电缆</a:t>
            </a:r>
          </a:p>
        </p:txBody>
      </p:sp>
      <p:sp>
        <p:nvSpPr>
          <p:cNvPr id="23" name="AutoShape 164">
            <a:extLst>
              <a:ext uri="{FF2B5EF4-FFF2-40B4-BE49-F238E27FC236}">
                <a16:creationId xmlns:a16="http://schemas.microsoft.com/office/drawing/2014/main" id="{C0D8482A-6D2F-2648-FAE6-3E1A08D5E3D8}"/>
              </a:ext>
            </a:extLst>
          </p:cNvPr>
          <p:cNvSpPr>
            <a:spLocks noChangeArrowheads="1"/>
          </p:cNvSpPr>
          <p:nvPr/>
        </p:nvSpPr>
        <p:spPr bwMode="auto">
          <a:xfrm>
            <a:off x="6037741" y="4357416"/>
            <a:ext cx="218791" cy="237896"/>
          </a:xfrm>
          <a:prstGeom prst="cube">
            <a:avLst>
              <a:gd name="adj" fmla="val 25000"/>
            </a:avLst>
          </a:prstGeom>
          <a:solidFill>
            <a:srgbClr val="FF00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4" name="Line 165">
            <a:extLst>
              <a:ext uri="{FF2B5EF4-FFF2-40B4-BE49-F238E27FC236}">
                <a16:creationId xmlns:a16="http://schemas.microsoft.com/office/drawing/2014/main" id="{078E0B20-68D5-4BE7-4859-05ECE8DAEAF7}"/>
              </a:ext>
            </a:extLst>
          </p:cNvPr>
          <p:cNvSpPr>
            <a:spLocks noChangeShapeType="1"/>
          </p:cNvSpPr>
          <p:nvPr/>
        </p:nvSpPr>
        <p:spPr bwMode="auto">
          <a:xfrm>
            <a:off x="6272069" y="5989822"/>
            <a:ext cx="26423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pic>
        <p:nvPicPr>
          <p:cNvPr id="25" name="Picture 166">
            <a:extLst>
              <a:ext uri="{FF2B5EF4-FFF2-40B4-BE49-F238E27FC236}">
                <a16:creationId xmlns:a16="http://schemas.microsoft.com/office/drawing/2014/main" id="{064F77C9-397E-232F-9BC1-0E54F44D6812}"/>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7690" y="5493684"/>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6" name="Picture 167">
            <a:extLst>
              <a:ext uri="{FF2B5EF4-FFF2-40B4-BE49-F238E27FC236}">
                <a16:creationId xmlns:a16="http://schemas.microsoft.com/office/drawing/2014/main" id="{031BE765-CBDA-D89E-C4B7-448E02F7BAC4}"/>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39543" y="4783126"/>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7" name="Line 168">
            <a:extLst>
              <a:ext uri="{FF2B5EF4-FFF2-40B4-BE49-F238E27FC236}">
                <a16:creationId xmlns:a16="http://schemas.microsoft.com/office/drawing/2014/main" id="{9CD949F7-92BE-636A-EDF0-B6EF75E7FADB}"/>
              </a:ext>
            </a:extLst>
          </p:cNvPr>
          <p:cNvSpPr>
            <a:spLocks noChangeShapeType="1"/>
          </p:cNvSpPr>
          <p:nvPr/>
        </p:nvSpPr>
        <p:spPr bwMode="auto">
          <a:xfrm flipH="1">
            <a:off x="8503998" y="4144563"/>
            <a:ext cx="234327" cy="35528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8" name="Line 169">
            <a:extLst>
              <a:ext uri="{FF2B5EF4-FFF2-40B4-BE49-F238E27FC236}">
                <a16:creationId xmlns:a16="http://schemas.microsoft.com/office/drawing/2014/main" id="{96F42982-525C-4A05-9157-2DAE664EEA66}"/>
              </a:ext>
            </a:extLst>
          </p:cNvPr>
          <p:cNvSpPr>
            <a:spLocks noChangeShapeType="1"/>
          </p:cNvSpPr>
          <p:nvPr/>
        </p:nvSpPr>
        <p:spPr bwMode="auto">
          <a:xfrm>
            <a:off x="3923622" y="4285422"/>
            <a:ext cx="234327" cy="497704"/>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29" name="Text Box 170">
            <a:extLst>
              <a:ext uri="{FF2B5EF4-FFF2-40B4-BE49-F238E27FC236}">
                <a16:creationId xmlns:a16="http://schemas.microsoft.com/office/drawing/2014/main" id="{33E9C9A2-E37C-40F4-FDBC-DF2FA89A0D85}"/>
              </a:ext>
            </a:extLst>
          </p:cNvPr>
          <p:cNvSpPr txBox="1">
            <a:spLocks noChangeArrowheads="1"/>
          </p:cNvSpPr>
          <p:nvPr/>
        </p:nvSpPr>
        <p:spPr bwMode="auto">
          <a:xfrm>
            <a:off x="4980034" y="425390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a:solidFill>
                  <a:srgbClr val="CC00CC"/>
                </a:solidFill>
                <a:latin typeface="微软雅黑" pitchFamily="34" charset="-122"/>
                <a:ea typeface="微软雅黑" pitchFamily="34" charset="-122"/>
              </a:rPr>
              <a:t>光纤</a:t>
            </a:r>
          </a:p>
        </p:txBody>
      </p:sp>
      <p:sp>
        <p:nvSpPr>
          <p:cNvPr id="30" name="Line 171">
            <a:extLst>
              <a:ext uri="{FF2B5EF4-FFF2-40B4-BE49-F238E27FC236}">
                <a16:creationId xmlns:a16="http://schemas.microsoft.com/office/drawing/2014/main" id="{F5F69379-60E4-1062-F919-981AD5949134}"/>
              </a:ext>
            </a:extLst>
          </p:cNvPr>
          <p:cNvSpPr>
            <a:spLocks noChangeShapeType="1"/>
          </p:cNvSpPr>
          <p:nvPr/>
        </p:nvSpPr>
        <p:spPr bwMode="auto">
          <a:xfrm>
            <a:off x="5743862" y="4144562"/>
            <a:ext cx="352137" cy="212854"/>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1" name="Text Box 172">
            <a:extLst>
              <a:ext uri="{FF2B5EF4-FFF2-40B4-BE49-F238E27FC236}">
                <a16:creationId xmlns:a16="http://schemas.microsoft.com/office/drawing/2014/main" id="{E3ACEBD0-8B7D-2091-FAB4-C98CA30139EF}"/>
              </a:ext>
            </a:extLst>
          </p:cNvPr>
          <p:cNvSpPr txBox="1">
            <a:spLocks noChangeArrowheads="1"/>
          </p:cNvSpPr>
          <p:nvPr/>
        </p:nvSpPr>
        <p:spPr bwMode="auto">
          <a:xfrm>
            <a:off x="5332171" y="3900188"/>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CC00CC"/>
                </a:solidFill>
                <a:latin typeface="微软雅黑" pitchFamily="34" charset="-122"/>
                <a:ea typeface="微软雅黑" pitchFamily="34" charset="-122"/>
              </a:rPr>
              <a:t>光纤结点</a:t>
            </a:r>
          </a:p>
        </p:txBody>
      </p:sp>
      <p:pic>
        <p:nvPicPr>
          <p:cNvPr id="32" name="Picture 176">
            <a:extLst>
              <a:ext uri="{FF2B5EF4-FFF2-40B4-BE49-F238E27FC236}">
                <a16:creationId xmlns:a16="http://schemas.microsoft.com/office/drawing/2014/main" id="{8FE3411D-88CF-2A0A-DD61-E08FDC858A90}"/>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6343" y="5493684"/>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3" name="AutoShape 178">
            <a:extLst>
              <a:ext uri="{FF2B5EF4-FFF2-40B4-BE49-F238E27FC236}">
                <a16:creationId xmlns:a16="http://schemas.microsoft.com/office/drawing/2014/main" id="{26C76285-3BF9-91FC-B56E-C7DA86BF77D5}"/>
              </a:ext>
            </a:extLst>
          </p:cNvPr>
          <p:cNvSpPr>
            <a:spLocks noChangeArrowheads="1"/>
          </p:cNvSpPr>
          <p:nvPr/>
        </p:nvSpPr>
        <p:spPr bwMode="auto">
          <a:xfrm>
            <a:off x="3462737" y="4983459"/>
            <a:ext cx="547625" cy="475792"/>
          </a:xfrm>
          <a:prstGeom prst="cube">
            <a:avLst>
              <a:gd name="adj" fmla="val 25000"/>
            </a:avLst>
          </a:prstGeom>
          <a:solidFill>
            <a:srgbClr val="0066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34" name="Text Box 179">
            <a:extLst>
              <a:ext uri="{FF2B5EF4-FFF2-40B4-BE49-F238E27FC236}">
                <a16:creationId xmlns:a16="http://schemas.microsoft.com/office/drawing/2014/main" id="{6E0D7D88-1AA4-172D-AFAE-1D4CD3D2309F}"/>
              </a:ext>
            </a:extLst>
          </p:cNvPr>
          <p:cNvSpPr txBox="1">
            <a:spLocks noChangeArrowheads="1"/>
          </p:cNvSpPr>
          <p:nvPr/>
        </p:nvSpPr>
        <p:spPr bwMode="auto">
          <a:xfrm>
            <a:off x="3403184" y="5111798"/>
            <a:ext cx="543741" cy="308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solidFill>
                  <a:schemeClr val="bg1"/>
                </a:solidFill>
                <a:latin typeface="微软雅黑" pitchFamily="34" charset="-122"/>
                <a:ea typeface="微软雅黑" pitchFamily="34" charset="-122"/>
              </a:rPr>
              <a:t>头端</a:t>
            </a:r>
          </a:p>
        </p:txBody>
      </p:sp>
      <p:grpSp>
        <p:nvGrpSpPr>
          <p:cNvPr id="35" name="Group 180">
            <a:extLst>
              <a:ext uri="{FF2B5EF4-FFF2-40B4-BE49-F238E27FC236}">
                <a16:creationId xmlns:a16="http://schemas.microsoft.com/office/drawing/2014/main" id="{7AE3F3F1-D8B8-2332-1296-62E2A86641A6}"/>
              </a:ext>
            </a:extLst>
          </p:cNvPr>
          <p:cNvGrpSpPr>
            <a:grpSpLocks noChangeAspect="1"/>
          </p:cNvGrpSpPr>
          <p:nvPr/>
        </p:nvGrpSpPr>
        <p:grpSpPr bwMode="auto">
          <a:xfrm>
            <a:off x="3505467" y="4387619"/>
            <a:ext cx="427362" cy="668876"/>
            <a:chOff x="2248" y="723"/>
            <a:chExt cx="224" cy="290"/>
          </a:xfrm>
          <a:solidFill>
            <a:srgbClr val="00FFCC"/>
          </a:solidFill>
        </p:grpSpPr>
        <p:grpSp>
          <p:nvGrpSpPr>
            <p:cNvPr id="36" name="Group 182">
              <a:extLst>
                <a:ext uri="{FF2B5EF4-FFF2-40B4-BE49-F238E27FC236}">
                  <a16:creationId xmlns:a16="http://schemas.microsoft.com/office/drawing/2014/main" id="{642FC68C-B7E6-E915-C85C-94166ADC6FA2}"/>
                </a:ext>
              </a:extLst>
            </p:cNvPr>
            <p:cNvGrpSpPr>
              <a:grpSpLocks/>
            </p:cNvGrpSpPr>
            <p:nvPr/>
          </p:nvGrpSpPr>
          <p:grpSpPr bwMode="auto">
            <a:xfrm>
              <a:off x="2248" y="734"/>
              <a:ext cx="224" cy="279"/>
              <a:chOff x="2248" y="734"/>
              <a:chExt cx="224" cy="279"/>
            </a:xfrm>
            <a:grpFill/>
          </p:grpSpPr>
          <p:grpSp>
            <p:nvGrpSpPr>
              <p:cNvPr id="52" name="Group 183">
                <a:extLst>
                  <a:ext uri="{FF2B5EF4-FFF2-40B4-BE49-F238E27FC236}">
                    <a16:creationId xmlns:a16="http://schemas.microsoft.com/office/drawing/2014/main" id="{21C4EA7C-2793-1DDA-AFA1-DB4B815E1B80}"/>
                  </a:ext>
                </a:extLst>
              </p:cNvPr>
              <p:cNvGrpSpPr>
                <a:grpSpLocks/>
              </p:cNvGrpSpPr>
              <p:nvPr/>
            </p:nvGrpSpPr>
            <p:grpSpPr bwMode="auto">
              <a:xfrm>
                <a:off x="2328" y="898"/>
                <a:ext cx="9" cy="37"/>
                <a:chOff x="2328" y="898"/>
                <a:chExt cx="9" cy="37"/>
              </a:xfrm>
              <a:grpFill/>
            </p:grpSpPr>
            <p:sp>
              <p:nvSpPr>
                <p:cNvPr id="86" name="Rectangle 184">
                  <a:extLst>
                    <a:ext uri="{FF2B5EF4-FFF2-40B4-BE49-F238E27FC236}">
                      <a16:creationId xmlns:a16="http://schemas.microsoft.com/office/drawing/2014/main" id="{23D77723-17A4-E56D-D727-A5A0CF810336}"/>
                    </a:ext>
                  </a:extLst>
                </p:cNvPr>
                <p:cNvSpPr>
                  <a:spLocks noChangeArrowheads="1"/>
                </p:cNvSpPr>
                <p:nvPr/>
              </p:nvSpPr>
              <p:spPr bwMode="auto">
                <a:xfrm>
                  <a:off x="2328" y="898"/>
                  <a:ext cx="9" cy="37"/>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7" name="Line 185">
                  <a:extLst>
                    <a:ext uri="{FF2B5EF4-FFF2-40B4-BE49-F238E27FC236}">
                      <a16:creationId xmlns:a16="http://schemas.microsoft.com/office/drawing/2014/main" id="{F0F0C59A-42BF-8BED-0822-70B55184D854}"/>
                    </a:ext>
                  </a:extLst>
                </p:cNvPr>
                <p:cNvSpPr>
                  <a:spLocks noChangeShapeType="1"/>
                </p:cNvSpPr>
                <p:nvPr/>
              </p:nvSpPr>
              <p:spPr bwMode="auto">
                <a:xfrm>
                  <a:off x="2332" y="898"/>
                  <a:ext cx="1" cy="33"/>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sp>
            <p:nvSpPr>
              <p:cNvPr id="53" name="Rectangle 186">
                <a:extLst>
                  <a:ext uri="{FF2B5EF4-FFF2-40B4-BE49-F238E27FC236}">
                    <a16:creationId xmlns:a16="http://schemas.microsoft.com/office/drawing/2014/main" id="{6113067D-C8B2-8CA6-F0BE-C31F853F025B}"/>
                  </a:ext>
                </a:extLst>
              </p:cNvPr>
              <p:cNvSpPr>
                <a:spLocks noChangeArrowheads="1"/>
              </p:cNvSpPr>
              <p:nvPr/>
            </p:nvSpPr>
            <p:spPr bwMode="auto">
              <a:xfrm>
                <a:off x="2295" y="876"/>
                <a:ext cx="25" cy="57"/>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4" name="Freeform 187">
                <a:extLst>
                  <a:ext uri="{FF2B5EF4-FFF2-40B4-BE49-F238E27FC236}">
                    <a16:creationId xmlns:a16="http://schemas.microsoft.com/office/drawing/2014/main" id="{42296BAA-3994-1D27-CF8D-8AF4A7594992}"/>
                  </a:ext>
                </a:extLst>
              </p:cNvPr>
              <p:cNvSpPr>
                <a:spLocks/>
              </p:cNvSpPr>
              <p:nvPr/>
            </p:nvSpPr>
            <p:spPr bwMode="auto">
              <a:xfrm>
                <a:off x="2385" y="888"/>
                <a:ext cx="16" cy="12"/>
              </a:xfrm>
              <a:custGeom>
                <a:avLst/>
                <a:gdLst>
                  <a:gd name="T0" fmla="*/ 0 w 112"/>
                  <a:gd name="T1" fmla="*/ 0 h 84"/>
                  <a:gd name="T2" fmla="*/ 0 w 112"/>
                  <a:gd name="T3" fmla="*/ 84 h 84"/>
                  <a:gd name="T4" fmla="*/ 112 w 112"/>
                  <a:gd name="T5" fmla="*/ 84 h 84"/>
                  <a:gd name="T6" fmla="*/ 112 w 112"/>
                  <a:gd name="T7" fmla="*/ 17 h 84"/>
                  <a:gd name="T8" fmla="*/ 0 w 112"/>
                  <a:gd name="T9" fmla="*/ 0 h 84"/>
                </a:gdLst>
                <a:ahLst/>
                <a:cxnLst>
                  <a:cxn ang="0">
                    <a:pos x="T0" y="T1"/>
                  </a:cxn>
                  <a:cxn ang="0">
                    <a:pos x="T2" y="T3"/>
                  </a:cxn>
                  <a:cxn ang="0">
                    <a:pos x="T4" y="T5"/>
                  </a:cxn>
                  <a:cxn ang="0">
                    <a:pos x="T6" y="T7"/>
                  </a:cxn>
                  <a:cxn ang="0">
                    <a:pos x="T8" y="T9"/>
                  </a:cxn>
                </a:cxnLst>
                <a:rect l="0" t="0" r="r" b="b"/>
                <a:pathLst>
                  <a:path w="112" h="84">
                    <a:moveTo>
                      <a:pt x="0" y="0"/>
                    </a:moveTo>
                    <a:lnTo>
                      <a:pt x="0" y="84"/>
                    </a:lnTo>
                    <a:lnTo>
                      <a:pt x="112" y="84"/>
                    </a:lnTo>
                    <a:lnTo>
                      <a:pt x="112" y="17"/>
                    </a:lnTo>
                    <a:lnTo>
                      <a:pt x="0" y="0"/>
                    </a:lnTo>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5" name="Freeform 188">
                <a:extLst>
                  <a:ext uri="{FF2B5EF4-FFF2-40B4-BE49-F238E27FC236}">
                    <a16:creationId xmlns:a16="http://schemas.microsoft.com/office/drawing/2014/main" id="{B4BF7194-D727-9FC3-C504-215FD7E6823B}"/>
                  </a:ext>
                </a:extLst>
              </p:cNvPr>
              <p:cNvSpPr>
                <a:spLocks/>
              </p:cNvSpPr>
              <p:nvPr/>
            </p:nvSpPr>
            <p:spPr bwMode="auto">
              <a:xfrm>
                <a:off x="2352" y="866"/>
                <a:ext cx="11" cy="11"/>
              </a:xfrm>
              <a:custGeom>
                <a:avLst/>
                <a:gdLst>
                  <a:gd name="T0" fmla="*/ 42 w 77"/>
                  <a:gd name="T1" fmla="*/ 0 h 76"/>
                  <a:gd name="T2" fmla="*/ 0 w 77"/>
                  <a:gd name="T3" fmla="*/ 76 h 76"/>
                  <a:gd name="T4" fmla="*/ 56 w 77"/>
                  <a:gd name="T5" fmla="*/ 70 h 76"/>
                  <a:gd name="T6" fmla="*/ 77 w 77"/>
                  <a:gd name="T7" fmla="*/ 19 h 76"/>
                  <a:gd name="T8" fmla="*/ 42 w 77"/>
                  <a:gd name="T9" fmla="*/ 0 h 76"/>
                </a:gdLst>
                <a:ahLst/>
                <a:cxnLst>
                  <a:cxn ang="0">
                    <a:pos x="T0" y="T1"/>
                  </a:cxn>
                  <a:cxn ang="0">
                    <a:pos x="T2" y="T3"/>
                  </a:cxn>
                  <a:cxn ang="0">
                    <a:pos x="T4" y="T5"/>
                  </a:cxn>
                  <a:cxn ang="0">
                    <a:pos x="T6" y="T7"/>
                  </a:cxn>
                  <a:cxn ang="0">
                    <a:pos x="T8" y="T9"/>
                  </a:cxn>
                </a:cxnLst>
                <a:rect l="0" t="0" r="r" b="b"/>
                <a:pathLst>
                  <a:path w="77" h="76">
                    <a:moveTo>
                      <a:pt x="42" y="0"/>
                    </a:moveTo>
                    <a:lnTo>
                      <a:pt x="0" y="76"/>
                    </a:lnTo>
                    <a:lnTo>
                      <a:pt x="56" y="70"/>
                    </a:lnTo>
                    <a:lnTo>
                      <a:pt x="77" y="19"/>
                    </a:lnTo>
                    <a:lnTo>
                      <a:pt x="42"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6" name="Freeform 189">
                <a:extLst>
                  <a:ext uri="{FF2B5EF4-FFF2-40B4-BE49-F238E27FC236}">
                    <a16:creationId xmlns:a16="http://schemas.microsoft.com/office/drawing/2014/main" id="{930E4DF6-5537-27EC-2266-73185DDCC9AE}"/>
                  </a:ext>
                </a:extLst>
              </p:cNvPr>
              <p:cNvSpPr>
                <a:spLocks/>
              </p:cNvSpPr>
              <p:nvPr/>
            </p:nvSpPr>
            <p:spPr bwMode="auto">
              <a:xfrm>
                <a:off x="2333" y="938"/>
                <a:ext cx="51" cy="4"/>
              </a:xfrm>
              <a:custGeom>
                <a:avLst/>
                <a:gdLst>
                  <a:gd name="T0" fmla="*/ 0 w 356"/>
                  <a:gd name="T1" fmla="*/ 0 h 26"/>
                  <a:gd name="T2" fmla="*/ 356 w 356"/>
                  <a:gd name="T3" fmla="*/ 0 h 26"/>
                  <a:gd name="T4" fmla="*/ 356 w 356"/>
                  <a:gd name="T5" fmla="*/ 26 h 26"/>
                  <a:gd name="T6" fmla="*/ 5 w 356"/>
                  <a:gd name="T7" fmla="*/ 26 h 26"/>
                  <a:gd name="T8" fmla="*/ 0 w 356"/>
                  <a:gd name="T9" fmla="*/ 0 h 26"/>
                </a:gdLst>
                <a:ahLst/>
                <a:cxnLst>
                  <a:cxn ang="0">
                    <a:pos x="T0" y="T1"/>
                  </a:cxn>
                  <a:cxn ang="0">
                    <a:pos x="T2" y="T3"/>
                  </a:cxn>
                  <a:cxn ang="0">
                    <a:pos x="T4" y="T5"/>
                  </a:cxn>
                  <a:cxn ang="0">
                    <a:pos x="T6" y="T7"/>
                  </a:cxn>
                  <a:cxn ang="0">
                    <a:pos x="T8" y="T9"/>
                  </a:cxn>
                </a:cxnLst>
                <a:rect l="0" t="0" r="r" b="b"/>
                <a:pathLst>
                  <a:path w="356" h="26">
                    <a:moveTo>
                      <a:pt x="0" y="0"/>
                    </a:moveTo>
                    <a:lnTo>
                      <a:pt x="356" y="0"/>
                    </a:lnTo>
                    <a:lnTo>
                      <a:pt x="356" y="26"/>
                    </a:lnTo>
                    <a:lnTo>
                      <a:pt x="5" y="26"/>
                    </a:lnTo>
                    <a:lnTo>
                      <a:pt x="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7" name="Freeform 190">
                <a:extLst>
                  <a:ext uri="{FF2B5EF4-FFF2-40B4-BE49-F238E27FC236}">
                    <a16:creationId xmlns:a16="http://schemas.microsoft.com/office/drawing/2014/main" id="{5881C78C-7957-7616-37DB-0624EE7EFF8F}"/>
                  </a:ext>
                </a:extLst>
              </p:cNvPr>
              <p:cNvSpPr>
                <a:spLocks/>
              </p:cNvSpPr>
              <p:nvPr/>
            </p:nvSpPr>
            <p:spPr bwMode="auto">
              <a:xfrm>
                <a:off x="2294" y="795"/>
                <a:ext cx="22" cy="24"/>
              </a:xfrm>
              <a:custGeom>
                <a:avLst/>
                <a:gdLst>
                  <a:gd name="T0" fmla="*/ 140 w 149"/>
                  <a:gd name="T1" fmla="*/ 0 h 163"/>
                  <a:gd name="T2" fmla="*/ 2 w 149"/>
                  <a:gd name="T3" fmla="*/ 117 h 163"/>
                  <a:gd name="T4" fmla="*/ 0 w 149"/>
                  <a:gd name="T5" fmla="*/ 163 h 163"/>
                  <a:gd name="T6" fmla="*/ 149 w 149"/>
                  <a:gd name="T7" fmla="*/ 54 h 163"/>
                  <a:gd name="T8" fmla="*/ 140 w 149"/>
                  <a:gd name="T9" fmla="*/ 0 h 163"/>
                </a:gdLst>
                <a:ahLst/>
                <a:cxnLst>
                  <a:cxn ang="0">
                    <a:pos x="T0" y="T1"/>
                  </a:cxn>
                  <a:cxn ang="0">
                    <a:pos x="T2" y="T3"/>
                  </a:cxn>
                  <a:cxn ang="0">
                    <a:pos x="T4" y="T5"/>
                  </a:cxn>
                  <a:cxn ang="0">
                    <a:pos x="T6" y="T7"/>
                  </a:cxn>
                  <a:cxn ang="0">
                    <a:pos x="T8" y="T9"/>
                  </a:cxn>
                </a:cxnLst>
                <a:rect l="0" t="0" r="r" b="b"/>
                <a:pathLst>
                  <a:path w="149" h="163">
                    <a:moveTo>
                      <a:pt x="140" y="0"/>
                    </a:moveTo>
                    <a:lnTo>
                      <a:pt x="2" y="117"/>
                    </a:lnTo>
                    <a:lnTo>
                      <a:pt x="0" y="163"/>
                    </a:lnTo>
                    <a:lnTo>
                      <a:pt x="149" y="54"/>
                    </a:lnTo>
                    <a:lnTo>
                      <a:pt x="14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8" name="Freeform 191">
                <a:extLst>
                  <a:ext uri="{FF2B5EF4-FFF2-40B4-BE49-F238E27FC236}">
                    <a16:creationId xmlns:a16="http://schemas.microsoft.com/office/drawing/2014/main" id="{48158ABF-1B44-EB5F-A5FF-7E6ED8FE9C14}"/>
                  </a:ext>
                </a:extLst>
              </p:cNvPr>
              <p:cNvSpPr>
                <a:spLocks/>
              </p:cNvSpPr>
              <p:nvPr/>
            </p:nvSpPr>
            <p:spPr bwMode="auto">
              <a:xfrm>
                <a:off x="2289" y="734"/>
                <a:ext cx="32" cy="199"/>
              </a:xfrm>
              <a:custGeom>
                <a:avLst/>
                <a:gdLst>
                  <a:gd name="T0" fmla="*/ 225 w 225"/>
                  <a:gd name="T1" fmla="*/ 0 h 1395"/>
                  <a:gd name="T2" fmla="*/ 0 w 225"/>
                  <a:gd name="T3" fmla="*/ 82 h 1395"/>
                  <a:gd name="T4" fmla="*/ 0 w 225"/>
                  <a:gd name="T5" fmla="*/ 1395 h 1395"/>
                  <a:gd name="T6" fmla="*/ 42 w 225"/>
                  <a:gd name="T7" fmla="*/ 1395 h 1395"/>
                  <a:gd name="T8" fmla="*/ 42 w 225"/>
                  <a:gd name="T9" fmla="*/ 202 h 1395"/>
                  <a:gd name="T10" fmla="*/ 225 w 225"/>
                  <a:gd name="T11" fmla="*/ 133 h 1395"/>
                  <a:gd name="T12" fmla="*/ 225 w 225"/>
                  <a:gd name="T13" fmla="*/ 0 h 1395"/>
                </a:gdLst>
                <a:ahLst/>
                <a:cxnLst>
                  <a:cxn ang="0">
                    <a:pos x="T0" y="T1"/>
                  </a:cxn>
                  <a:cxn ang="0">
                    <a:pos x="T2" y="T3"/>
                  </a:cxn>
                  <a:cxn ang="0">
                    <a:pos x="T4" y="T5"/>
                  </a:cxn>
                  <a:cxn ang="0">
                    <a:pos x="T6" y="T7"/>
                  </a:cxn>
                  <a:cxn ang="0">
                    <a:pos x="T8" y="T9"/>
                  </a:cxn>
                  <a:cxn ang="0">
                    <a:pos x="T10" y="T11"/>
                  </a:cxn>
                  <a:cxn ang="0">
                    <a:pos x="T12" y="T13"/>
                  </a:cxn>
                </a:cxnLst>
                <a:rect l="0" t="0" r="r" b="b"/>
                <a:pathLst>
                  <a:path w="225" h="1395">
                    <a:moveTo>
                      <a:pt x="225" y="0"/>
                    </a:moveTo>
                    <a:lnTo>
                      <a:pt x="0" y="82"/>
                    </a:lnTo>
                    <a:lnTo>
                      <a:pt x="0" y="1395"/>
                    </a:lnTo>
                    <a:lnTo>
                      <a:pt x="42" y="1395"/>
                    </a:lnTo>
                    <a:lnTo>
                      <a:pt x="42" y="202"/>
                    </a:lnTo>
                    <a:lnTo>
                      <a:pt x="225" y="133"/>
                    </a:lnTo>
                    <a:lnTo>
                      <a:pt x="225"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9" name="Freeform 192">
                <a:extLst>
                  <a:ext uri="{FF2B5EF4-FFF2-40B4-BE49-F238E27FC236}">
                    <a16:creationId xmlns:a16="http://schemas.microsoft.com/office/drawing/2014/main" id="{5EBB6E47-5A33-023C-F39C-789D71AFCD9B}"/>
                  </a:ext>
                </a:extLst>
              </p:cNvPr>
              <p:cNvSpPr>
                <a:spLocks/>
              </p:cNvSpPr>
              <p:nvPr/>
            </p:nvSpPr>
            <p:spPr bwMode="auto">
              <a:xfrm>
                <a:off x="2288" y="933"/>
                <a:ext cx="184" cy="44"/>
              </a:xfrm>
              <a:custGeom>
                <a:avLst/>
                <a:gdLst>
                  <a:gd name="T0" fmla="*/ 0 w 1290"/>
                  <a:gd name="T1" fmla="*/ 304 h 304"/>
                  <a:gd name="T2" fmla="*/ 0 w 1290"/>
                  <a:gd name="T3" fmla="*/ 0 h 304"/>
                  <a:gd name="T4" fmla="*/ 281 w 1290"/>
                  <a:gd name="T5" fmla="*/ 0 h 304"/>
                  <a:gd name="T6" fmla="*/ 337 w 1290"/>
                  <a:gd name="T7" fmla="*/ 51 h 304"/>
                  <a:gd name="T8" fmla="*/ 505 w 1290"/>
                  <a:gd name="T9" fmla="*/ 51 h 304"/>
                  <a:gd name="T10" fmla="*/ 561 w 1290"/>
                  <a:gd name="T11" fmla="*/ 102 h 304"/>
                  <a:gd name="T12" fmla="*/ 1122 w 1290"/>
                  <a:gd name="T13" fmla="*/ 102 h 304"/>
                  <a:gd name="T14" fmla="*/ 1122 w 1290"/>
                  <a:gd name="T15" fmla="*/ 203 h 304"/>
                  <a:gd name="T16" fmla="*/ 1290 w 1290"/>
                  <a:gd name="T17" fmla="*/ 203 h 304"/>
                  <a:gd name="T18" fmla="*/ 1290 w 1290"/>
                  <a:gd name="T19" fmla="*/ 304 h 304"/>
                  <a:gd name="T20" fmla="*/ 0 w 1290"/>
                  <a:gd name="T21" fmla="*/ 3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0" h="304">
                    <a:moveTo>
                      <a:pt x="0" y="304"/>
                    </a:moveTo>
                    <a:lnTo>
                      <a:pt x="0" y="0"/>
                    </a:lnTo>
                    <a:lnTo>
                      <a:pt x="281" y="0"/>
                    </a:lnTo>
                    <a:lnTo>
                      <a:pt x="337" y="51"/>
                    </a:lnTo>
                    <a:lnTo>
                      <a:pt x="505" y="51"/>
                    </a:lnTo>
                    <a:lnTo>
                      <a:pt x="561" y="102"/>
                    </a:lnTo>
                    <a:lnTo>
                      <a:pt x="1122" y="102"/>
                    </a:lnTo>
                    <a:lnTo>
                      <a:pt x="1122" y="203"/>
                    </a:lnTo>
                    <a:lnTo>
                      <a:pt x="1290" y="203"/>
                    </a:lnTo>
                    <a:lnTo>
                      <a:pt x="1290" y="304"/>
                    </a:lnTo>
                    <a:lnTo>
                      <a:pt x="0" y="304"/>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0" name="Rectangle 193">
                <a:extLst>
                  <a:ext uri="{FF2B5EF4-FFF2-40B4-BE49-F238E27FC236}">
                    <a16:creationId xmlns:a16="http://schemas.microsoft.com/office/drawing/2014/main" id="{1E5FA38B-03ED-126A-8B5F-63A6D64D337C}"/>
                  </a:ext>
                </a:extLst>
              </p:cNvPr>
              <p:cNvSpPr>
                <a:spLocks noChangeArrowheads="1"/>
              </p:cNvSpPr>
              <p:nvPr/>
            </p:nvSpPr>
            <p:spPr bwMode="auto">
              <a:xfrm>
                <a:off x="2288" y="962"/>
                <a:ext cx="136" cy="15"/>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1" name="Line 194">
                <a:extLst>
                  <a:ext uri="{FF2B5EF4-FFF2-40B4-BE49-F238E27FC236}">
                    <a16:creationId xmlns:a16="http://schemas.microsoft.com/office/drawing/2014/main" id="{FEE1EEBA-A392-3C03-06CF-8A4B1B004D2B}"/>
                  </a:ext>
                </a:extLst>
              </p:cNvPr>
              <p:cNvSpPr>
                <a:spLocks noChangeShapeType="1"/>
              </p:cNvSpPr>
              <p:nvPr/>
            </p:nvSpPr>
            <p:spPr bwMode="auto">
              <a:xfrm>
                <a:off x="2282" y="873"/>
                <a:ext cx="1" cy="25"/>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2" name="Freeform 195">
                <a:extLst>
                  <a:ext uri="{FF2B5EF4-FFF2-40B4-BE49-F238E27FC236}">
                    <a16:creationId xmlns:a16="http://schemas.microsoft.com/office/drawing/2014/main" id="{6A3DE796-FBA4-F429-1D7F-A13321954537}"/>
                  </a:ext>
                </a:extLst>
              </p:cNvPr>
              <p:cNvSpPr>
                <a:spLocks/>
              </p:cNvSpPr>
              <p:nvPr/>
            </p:nvSpPr>
            <p:spPr bwMode="auto">
              <a:xfrm>
                <a:off x="2277" y="898"/>
                <a:ext cx="12" cy="13"/>
              </a:xfrm>
              <a:custGeom>
                <a:avLst/>
                <a:gdLst>
                  <a:gd name="T0" fmla="*/ 0 w 84"/>
                  <a:gd name="T1" fmla="*/ 89 h 89"/>
                  <a:gd name="T2" fmla="*/ 0 w 84"/>
                  <a:gd name="T3" fmla="*/ 0 h 89"/>
                  <a:gd name="T4" fmla="*/ 84 w 84"/>
                  <a:gd name="T5" fmla="*/ 0 h 89"/>
                  <a:gd name="T6" fmla="*/ 84 w 84"/>
                  <a:gd name="T7" fmla="*/ 32 h 89"/>
                  <a:gd name="T8" fmla="*/ 28 w 84"/>
                  <a:gd name="T9" fmla="*/ 32 h 89"/>
                  <a:gd name="T10" fmla="*/ 28 w 84"/>
                  <a:gd name="T11" fmla="*/ 89 h 89"/>
                  <a:gd name="T12" fmla="*/ 0 w 84"/>
                  <a:gd name="T13" fmla="*/ 89 h 89"/>
                </a:gdLst>
                <a:ahLst/>
                <a:cxnLst>
                  <a:cxn ang="0">
                    <a:pos x="T0" y="T1"/>
                  </a:cxn>
                  <a:cxn ang="0">
                    <a:pos x="T2" y="T3"/>
                  </a:cxn>
                  <a:cxn ang="0">
                    <a:pos x="T4" y="T5"/>
                  </a:cxn>
                  <a:cxn ang="0">
                    <a:pos x="T6" y="T7"/>
                  </a:cxn>
                  <a:cxn ang="0">
                    <a:pos x="T8" y="T9"/>
                  </a:cxn>
                  <a:cxn ang="0">
                    <a:pos x="T10" y="T11"/>
                  </a:cxn>
                  <a:cxn ang="0">
                    <a:pos x="T12" y="T13"/>
                  </a:cxn>
                </a:cxnLst>
                <a:rect l="0" t="0" r="r" b="b"/>
                <a:pathLst>
                  <a:path w="84" h="89">
                    <a:moveTo>
                      <a:pt x="0" y="89"/>
                    </a:moveTo>
                    <a:lnTo>
                      <a:pt x="0" y="0"/>
                    </a:lnTo>
                    <a:lnTo>
                      <a:pt x="84" y="0"/>
                    </a:lnTo>
                    <a:lnTo>
                      <a:pt x="84" y="32"/>
                    </a:lnTo>
                    <a:lnTo>
                      <a:pt x="28" y="32"/>
                    </a:lnTo>
                    <a:lnTo>
                      <a:pt x="28" y="89"/>
                    </a:lnTo>
                    <a:lnTo>
                      <a:pt x="0" y="89"/>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3" name="Freeform 196">
                <a:extLst>
                  <a:ext uri="{FF2B5EF4-FFF2-40B4-BE49-F238E27FC236}">
                    <a16:creationId xmlns:a16="http://schemas.microsoft.com/office/drawing/2014/main" id="{BA1D4472-3D42-52B0-0FFC-4F87FB4C0E39}"/>
                  </a:ext>
                </a:extLst>
              </p:cNvPr>
              <p:cNvSpPr>
                <a:spLocks/>
              </p:cNvSpPr>
              <p:nvPr/>
            </p:nvSpPr>
            <p:spPr bwMode="auto">
              <a:xfrm>
                <a:off x="2344" y="889"/>
                <a:ext cx="41" cy="53"/>
              </a:xfrm>
              <a:custGeom>
                <a:avLst/>
                <a:gdLst>
                  <a:gd name="T0" fmla="*/ 0 w 287"/>
                  <a:gd name="T1" fmla="*/ 0 h 367"/>
                  <a:gd name="T2" fmla="*/ 287 w 287"/>
                  <a:gd name="T3" fmla="*/ 367 h 367"/>
                  <a:gd name="T4" fmla="*/ 245 w 287"/>
                  <a:gd name="T5" fmla="*/ 360 h 367"/>
                  <a:gd name="T6" fmla="*/ 0 w 287"/>
                  <a:gd name="T7" fmla="*/ 51 h 367"/>
                  <a:gd name="T8" fmla="*/ 0 w 287"/>
                  <a:gd name="T9" fmla="*/ 0 h 367"/>
                </a:gdLst>
                <a:ahLst/>
                <a:cxnLst>
                  <a:cxn ang="0">
                    <a:pos x="T0" y="T1"/>
                  </a:cxn>
                  <a:cxn ang="0">
                    <a:pos x="T2" y="T3"/>
                  </a:cxn>
                  <a:cxn ang="0">
                    <a:pos x="T4" y="T5"/>
                  </a:cxn>
                  <a:cxn ang="0">
                    <a:pos x="T6" y="T7"/>
                  </a:cxn>
                  <a:cxn ang="0">
                    <a:pos x="T8" y="T9"/>
                  </a:cxn>
                </a:cxnLst>
                <a:rect l="0" t="0" r="r" b="b"/>
                <a:pathLst>
                  <a:path w="287" h="367">
                    <a:moveTo>
                      <a:pt x="0" y="0"/>
                    </a:moveTo>
                    <a:lnTo>
                      <a:pt x="287" y="367"/>
                    </a:lnTo>
                    <a:lnTo>
                      <a:pt x="245" y="360"/>
                    </a:lnTo>
                    <a:lnTo>
                      <a:pt x="0" y="51"/>
                    </a:lnTo>
                    <a:lnTo>
                      <a:pt x="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4" name="Freeform 197">
                <a:extLst>
                  <a:ext uri="{FF2B5EF4-FFF2-40B4-BE49-F238E27FC236}">
                    <a16:creationId xmlns:a16="http://schemas.microsoft.com/office/drawing/2014/main" id="{8E8F2AA7-0D40-B58D-AC37-C5A9DE51A7BB}"/>
                  </a:ext>
                </a:extLst>
              </p:cNvPr>
              <p:cNvSpPr>
                <a:spLocks/>
              </p:cNvSpPr>
              <p:nvPr/>
            </p:nvSpPr>
            <p:spPr bwMode="auto">
              <a:xfrm>
                <a:off x="2256" y="919"/>
                <a:ext cx="32" cy="58"/>
              </a:xfrm>
              <a:custGeom>
                <a:avLst/>
                <a:gdLst>
                  <a:gd name="T0" fmla="*/ 168 w 224"/>
                  <a:gd name="T1" fmla="*/ 0 h 405"/>
                  <a:gd name="T2" fmla="*/ 0 w 224"/>
                  <a:gd name="T3" fmla="*/ 152 h 405"/>
                  <a:gd name="T4" fmla="*/ 0 w 224"/>
                  <a:gd name="T5" fmla="*/ 405 h 405"/>
                  <a:gd name="T6" fmla="*/ 224 w 224"/>
                  <a:gd name="T7" fmla="*/ 405 h 405"/>
                  <a:gd name="T8" fmla="*/ 224 w 224"/>
                  <a:gd name="T9" fmla="*/ 101 h 405"/>
                  <a:gd name="T10" fmla="*/ 168 w 224"/>
                  <a:gd name="T11" fmla="*/ 0 h 405"/>
                </a:gdLst>
                <a:ahLst/>
                <a:cxnLst>
                  <a:cxn ang="0">
                    <a:pos x="T0" y="T1"/>
                  </a:cxn>
                  <a:cxn ang="0">
                    <a:pos x="T2" y="T3"/>
                  </a:cxn>
                  <a:cxn ang="0">
                    <a:pos x="T4" y="T5"/>
                  </a:cxn>
                  <a:cxn ang="0">
                    <a:pos x="T6" y="T7"/>
                  </a:cxn>
                  <a:cxn ang="0">
                    <a:pos x="T8" y="T9"/>
                  </a:cxn>
                  <a:cxn ang="0">
                    <a:pos x="T10" y="T11"/>
                  </a:cxn>
                </a:cxnLst>
                <a:rect l="0" t="0" r="r" b="b"/>
                <a:pathLst>
                  <a:path w="224" h="405">
                    <a:moveTo>
                      <a:pt x="168" y="0"/>
                    </a:moveTo>
                    <a:lnTo>
                      <a:pt x="0" y="152"/>
                    </a:lnTo>
                    <a:lnTo>
                      <a:pt x="0" y="405"/>
                    </a:lnTo>
                    <a:lnTo>
                      <a:pt x="224" y="405"/>
                    </a:lnTo>
                    <a:lnTo>
                      <a:pt x="224" y="101"/>
                    </a:lnTo>
                    <a:lnTo>
                      <a:pt x="168"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5" name="Rectangle 198">
                <a:extLst>
                  <a:ext uri="{FF2B5EF4-FFF2-40B4-BE49-F238E27FC236}">
                    <a16:creationId xmlns:a16="http://schemas.microsoft.com/office/drawing/2014/main" id="{24B10ABD-A43A-1486-ADCB-1D379925D547}"/>
                  </a:ext>
                </a:extLst>
              </p:cNvPr>
              <p:cNvSpPr>
                <a:spLocks noChangeArrowheads="1"/>
              </p:cNvSpPr>
              <p:nvPr/>
            </p:nvSpPr>
            <p:spPr bwMode="auto">
              <a:xfrm>
                <a:off x="2248" y="1004"/>
                <a:ext cx="224" cy="9"/>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6" name="Rectangle 199">
                <a:extLst>
                  <a:ext uri="{FF2B5EF4-FFF2-40B4-BE49-F238E27FC236}">
                    <a16:creationId xmlns:a16="http://schemas.microsoft.com/office/drawing/2014/main" id="{8B816F81-6B44-3F4D-8166-26041B3856B5}"/>
                  </a:ext>
                </a:extLst>
              </p:cNvPr>
              <p:cNvSpPr>
                <a:spLocks noChangeArrowheads="1"/>
              </p:cNvSpPr>
              <p:nvPr/>
            </p:nvSpPr>
            <p:spPr bwMode="auto">
              <a:xfrm>
                <a:off x="2248" y="991"/>
                <a:ext cx="224" cy="13"/>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7" name="Rectangle 200">
                <a:extLst>
                  <a:ext uri="{FF2B5EF4-FFF2-40B4-BE49-F238E27FC236}">
                    <a16:creationId xmlns:a16="http://schemas.microsoft.com/office/drawing/2014/main" id="{6990F38C-BB66-93FE-4D5A-2E547DF2FA38}"/>
                  </a:ext>
                </a:extLst>
              </p:cNvPr>
              <p:cNvSpPr>
                <a:spLocks noChangeArrowheads="1"/>
              </p:cNvSpPr>
              <p:nvPr/>
            </p:nvSpPr>
            <p:spPr bwMode="auto">
              <a:xfrm>
                <a:off x="2248" y="977"/>
                <a:ext cx="224" cy="14"/>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8" name="Rectangle 201">
                <a:extLst>
                  <a:ext uri="{FF2B5EF4-FFF2-40B4-BE49-F238E27FC236}">
                    <a16:creationId xmlns:a16="http://schemas.microsoft.com/office/drawing/2014/main" id="{B52CC297-99F5-11EA-7EAC-8C3F99ADEA60}"/>
                  </a:ext>
                </a:extLst>
              </p:cNvPr>
              <p:cNvSpPr>
                <a:spLocks noChangeArrowheads="1"/>
              </p:cNvSpPr>
              <p:nvPr/>
            </p:nvSpPr>
            <p:spPr bwMode="auto">
              <a:xfrm>
                <a:off x="2442" y="966"/>
                <a:ext cx="24" cy="7"/>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69" name="Oval 202">
                <a:extLst>
                  <a:ext uri="{FF2B5EF4-FFF2-40B4-BE49-F238E27FC236}">
                    <a16:creationId xmlns:a16="http://schemas.microsoft.com/office/drawing/2014/main" id="{285F9946-9389-1286-5156-58185375B517}"/>
                  </a:ext>
                </a:extLst>
              </p:cNvPr>
              <p:cNvSpPr>
                <a:spLocks noChangeArrowheads="1"/>
              </p:cNvSpPr>
              <p:nvPr/>
            </p:nvSpPr>
            <p:spPr bwMode="auto">
              <a:xfrm>
                <a:off x="2271" y="911"/>
                <a:ext cx="18" cy="16"/>
              </a:xfrm>
              <a:prstGeom prst="ellips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0" name="Rectangle 203">
                <a:extLst>
                  <a:ext uri="{FF2B5EF4-FFF2-40B4-BE49-F238E27FC236}">
                    <a16:creationId xmlns:a16="http://schemas.microsoft.com/office/drawing/2014/main" id="{4C193193-0AF0-DC9F-976C-35A4083011AF}"/>
                  </a:ext>
                </a:extLst>
              </p:cNvPr>
              <p:cNvSpPr>
                <a:spLocks noChangeArrowheads="1"/>
              </p:cNvSpPr>
              <p:nvPr/>
            </p:nvSpPr>
            <p:spPr bwMode="auto">
              <a:xfrm>
                <a:off x="2328" y="883"/>
                <a:ext cx="16" cy="14"/>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1" name="Freeform 204">
                <a:extLst>
                  <a:ext uri="{FF2B5EF4-FFF2-40B4-BE49-F238E27FC236}">
                    <a16:creationId xmlns:a16="http://schemas.microsoft.com/office/drawing/2014/main" id="{5C991EA7-F592-7BEF-4EED-24C0C8177E32}"/>
                  </a:ext>
                </a:extLst>
              </p:cNvPr>
              <p:cNvSpPr>
                <a:spLocks/>
              </p:cNvSpPr>
              <p:nvPr/>
            </p:nvSpPr>
            <p:spPr bwMode="auto">
              <a:xfrm>
                <a:off x="2320" y="876"/>
                <a:ext cx="64" cy="57"/>
              </a:xfrm>
              <a:custGeom>
                <a:avLst/>
                <a:gdLst>
                  <a:gd name="T0" fmla="*/ 56 w 448"/>
                  <a:gd name="T1" fmla="*/ 403 h 403"/>
                  <a:gd name="T2" fmla="*/ 56 w 448"/>
                  <a:gd name="T3" fmla="*/ 50 h 403"/>
                  <a:gd name="T4" fmla="*/ 448 w 448"/>
                  <a:gd name="T5" fmla="*/ 50 h 403"/>
                  <a:gd name="T6" fmla="*/ 448 w 448"/>
                  <a:gd name="T7" fmla="*/ 0 h 403"/>
                  <a:gd name="T8" fmla="*/ 0 w 448"/>
                  <a:gd name="T9" fmla="*/ 0 h 403"/>
                  <a:gd name="T10" fmla="*/ 0 w 448"/>
                  <a:gd name="T11" fmla="*/ 403 h 403"/>
                  <a:gd name="T12" fmla="*/ 56 w 448"/>
                  <a:gd name="T13" fmla="*/ 403 h 403"/>
                </a:gdLst>
                <a:ahLst/>
                <a:cxnLst>
                  <a:cxn ang="0">
                    <a:pos x="T0" y="T1"/>
                  </a:cxn>
                  <a:cxn ang="0">
                    <a:pos x="T2" y="T3"/>
                  </a:cxn>
                  <a:cxn ang="0">
                    <a:pos x="T4" y="T5"/>
                  </a:cxn>
                  <a:cxn ang="0">
                    <a:pos x="T6" y="T7"/>
                  </a:cxn>
                  <a:cxn ang="0">
                    <a:pos x="T8" y="T9"/>
                  </a:cxn>
                  <a:cxn ang="0">
                    <a:pos x="T10" y="T11"/>
                  </a:cxn>
                  <a:cxn ang="0">
                    <a:pos x="T12" y="T13"/>
                  </a:cxn>
                </a:cxnLst>
                <a:rect l="0" t="0" r="r" b="b"/>
                <a:pathLst>
                  <a:path w="448" h="403">
                    <a:moveTo>
                      <a:pt x="56" y="403"/>
                    </a:moveTo>
                    <a:lnTo>
                      <a:pt x="56" y="50"/>
                    </a:lnTo>
                    <a:lnTo>
                      <a:pt x="448" y="50"/>
                    </a:lnTo>
                    <a:lnTo>
                      <a:pt x="448" y="0"/>
                    </a:lnTo>
                    <a:lnTo>
                      <a:pt x="0" y="0"/>
                    </a:lnTo>
                    <a:lnTo>
                      <a:pt x="0" y="403"/>
                    </a:lnTo>
                    <a:lnTo>
                      <a:pt x="56" y="403"/>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nvGrpSpPr>
              <p:cNvPr id="72" name="Group 205">
                <a:extLst>
                  <a:ext uri="{FF2B5EF4-FFF2-40B4-BE49-F238E27FC236}">
                    <a16:creationId xmlns:a16="http://schemas.microsoft.com/office/drawing/2014/main" id="{EE39B47F-F858-CD2A-1CF1-EADA730D542E}"/>
                  </a:ext>
                </a:extLst>
              </p:cNvPr>
              <p:cNvGrpSpPr>
                <a:grpSpLocks/>
              </p:cNvGrpSpPr>
              <p:nvPr/>
            </p:nvGrpSpPr>
            <p:grpSpPr bwMode="auto">
              <a:xfrm>
                <a:off x="2267" y="821"/>
                <a:ext cx="73" cy="59"/>
                <a:chOff x="2267" y="821"/>
                <a:chExt cx="73" cy="59"/>
              </a:xfrm>
              <a:grpFill/>
            </p:grpSpPr>
            <p:sp>
              <p:nvSpPr>
                <p:cNvPr id="84" name="Oval 206">
                  <a:extLst>
                    <a:ext uri="{FF2B5EF4-FFF2-40B4-BE49-F238E27FC236}">
                      <a16:creationId xmlns:a16="http://schemas.microsoft.com/office/drawing/2014/main" id="{E425D786-5B76-ECCD-0EE2-C219E80F3567}"/>
                    </a:ext>
                  </a:extLst>
                </p:cNvPr>
                <p:cNvSpPr>
                  <a:spLocks noChangeArrowheads="1"/>
                </p:cNvSpPr>
                <p:nvPr/>
              </p:nvSpPr>
              <p:spPr bwMode="auto">
                <a:xfrm>
                  <a:off x="2273" y="821"/>
                  <a:ext cx="67" cy="59"/>
                </a:xfrm>
                <a:prstGeom prst="ellips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5" name="Oval 207">
                  <a:extLst>
                    <a:ext uri="{FF2B5EF4-FFF2-40B4-BE49-F238E27FC236}">
                      <a16:creationId xmlns:a16="http://schemas.microsoft.com/office/drawing/2014/main" id="{77071BC6-73CC-07A5-AE5F-B4EC6C3CD950}"/>
                    </a:ext>
                  </a:extLst>
                </p:cNvPr>
                <p:cNvSpPr>
                  <a:spLocks noChangeArrowheads="1"/>
                </p:cNvSpPr>
                <p:nvPr/>
              </p:nvSpPr>
              <p:spPr bwMode="auto">
                <a:xfrm>
                  <a:off x="2267" y="821"/>
                  <a:ext cx="66" cy="59"/>
                </a:xfrm>
                <a:prstGeom prst="ellips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73" name="Group 208">
                <a:extLst>
                  <a:ext uri="{FF2B5EF4-FFF2-40B4-BE49-F238E27FC236}">
                    <a16:creationId xmlns:a16="http://schemas.microsoft.com/office/drawing/2014/main" id="{09655E5F-AB36-4F1E-80B0-55AA2CC40F2F}"/>
                  </a:ext>
                </a:extLst>
              </p:cNvPr>
              <p:cNvGrpSpPr>
                <a:grpSpLocks/>
              </p:cNvGrpSpPr>
              <p:nvPr/>
            </p:nvGrpSpPr>
            <p:grpSpPr bwMode="auto">
              <a:xfrm>
                <a:off x="2296" y="933"/>
                <a:ext cx="24" cy="58"/>
                <a:chOff x="2296" y="933"/>
                <a:chExt cx="24" cy="58"/>
              </a:xfrm>
              <a:grpFill/>
            </p:grpSpPr>
            <p:sp>
              <p:nvSpPr>
                <p:cNvPr id="75" name="Rectangle 209">
                  <a:extLst>
                    <a:ext uri="{FF2B5EF4-FFF2-40B4-BE49-F238E27FC236}">
                      <a16:creationId xmlns:a16="http://schemas.microsoft.com/office/drawing/2014/main" id="{8013BC21-31E6-AB5C-184B-A86501D42270}"/>
                    </a:ext>
                  </a:extLst>
                </p:cNvPr>
                <p:cNvSpPr>
                  <a:spLocks noChangeArrowheads="1"/>
                </p:cNvSpPr>
                <p:nvPr/>
              </p:nvSpPr>
              <p:spPr bwMode="auto">
                <a:xfrm>
                  <a:off x="2296" y="933"/>
                  <a:ext cx="24" cy="58"/>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nvGrpSpPr>
                <p:cNvPr id="76" name="Group 210">
                  <a:extLst>
                    <a:ext uri="{FF2B5EF4-FFF2-40B4-BE49-F238E27FC236}">
                      <a16:creationId xmlns:a16="http://schemas.microsoft.com/office/drawing/2014/main" id="{BF4901E8-DE34-51F8-2358-E88F2F5879AC}"/>
                    </a:ext>
                  </a:extLst>
                </p:cNvPr>
                <p:cNvGrpSpPr>
                  <a:grpSpLocks/>
                </p:cNvGrpSpPr>
                <p:nvPr/>
              </p:nvGrpSpPr>
              <p:grpSpPr bwMode="auto">
                <a:xfrm>
                  <a:off x="2296" y="941"/>
                  <a:ext cx="24" cy="44"/>
                  <a:chOff x="2296" y="941"/>
                  <a:chExt cx="24" cy="44"/>
                </a:xfrm>
                <a:grpFill/>
              </p:grpSpPr>
              <p:sp>
                <p:nvSpPr>
                  <p:cNvPr id="77" name="Line 211">
                    <a:extLst>
                      <a:ext uri="{FF2B5EF4-FFF2-40B4-BE49-F238E27FC236}">
                        <a16:creationId xmlns:a16="http://schemas.microsoft.com/office/drawing/2014/main" id="{CFA2E08F-3A94-C864-6DF1-DF704258244E}"/>
                      </a:ext>
                    </a:extLst>
                  </p:cNvPr>
                  <p:cNvSpPr>
                    <a:spLocks noChangeShapeType="1"/>
                  </p:cNvSpPr>
                  <p:nvPr/>
                </p:nvSpPr>
                <p:spPr bwMode="auto">
                  <a:xfrm>
                    <a:off x="2296" y="948"/>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8" name="Line 212">
                    <a:extLst>
                      <a:ext uri="{FF2B5EF4-FFF2-40B4-BE49-F238E27FC236}">
                        <a16:creationId xmlns:a16="http://schemas.microsoft.com/office/drawing/2014/main" id="{B59FF137-441F-9C9D-F86D-441059B2EA1C}"/>
                      </a:ext>
                    </a:extLst>
                  </p:cNvPr>
                  <p:cNvSpPr>
                    <a:spLocks noChangeShapeType="1"/>
                  </p:cNvSpPr>
                  <p:nvPr/>
                </p:nvSpPr>
                <p:spPr bwMode="auto">
                  <a:xfrm>
                    <a:off x="2296" y="970"/>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79" name="Line 213">
                    <a:extLst>
                      <a:ext uri="{FF2B5EF4-FFF2-40B4-BE49-F238E27FC236}">
                        <a16:creationId xmlns:a16="http://schemas.microsoft.com/office/drawing/2014/main" id="{5A6A4C6C-645F-D3A0-B858-B518427A5249}"/>
                      </a:ext>
                    </a:extLst>
                  </p:cNvPr>
                  <p:cNvSpPr>
                    <a:spLocks noChangeShapeType="1"/>
                  </p:cNvSpPr>
                  <p:nvPr/>
                </p:nvSpPr>
                <p:spPr bwMode="auto">
                  <a:xfrm>
                    <a:off x="2296" y="962"/>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0" name="Line 214">
                    <a:extLst>
                      <a:ext uri="{FF2B5EF4-FFF2-40B4-BE49-F238E27FC236}">
                        <a16:creationId xmlns:a16="http://schemas.microsoft.com/office/drawing/2014/main" id="{5032CE58-1439-35D6-EE55-2464F4571606}"/>
                      </a:ext>
                    </a:extLst>
                  </p:cNvPr>
                  <p:cNvSpPr>
                    <a:spLocks noChangeShapeType="1"/>
                  </p:cNvSpPr>
                  <p:nvPr/>
                </p:nvSpPr>
                <p:spPr bwMode="auto">
                  <a:xfrm>
                    <a:off x="2296" y="955"/>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1" name="Line 215">
                    <a:extLst>
                      <a:ext uri="{FF2B5EF4-FFF2-40B4-BE49-F238E27FC236}">
                        <a16:creationId xmlns:a16="http://schemas.microsoft.com/office/drawing/2014/main" id="{035B8FAC-AE23-7A75-A0E1-9BF1FC27A3C7}"/>
                      </a:ext>
                    </a:extLst>
                  </p:cNvPr>
                  <p:cNvSpPr>
                    <a:spLocks noChangeShapeType="1"/>
                  </p:cNvSpPr>
                  <p:nvPr/>
                </p:nvSpPr>
                <p:spPr bwMode="auto">
                  <a:xfrm>
                    <a:off x="2296" y="941"/>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2" name="Line 216">
                    <a:extLst>
                      <a:ext uri="{FF2B5EF4-FFF2-40B4-BE49-F238E27FC236}">
                        <a16:creationId xmlns:a16="http://schemas.microsoft.com/office/drawing/2014/main" id="{4F99E5DA-8728-E2BF-9D12-DB48BFF85370}"/>
                      </a:ext>
                    </a:extLst>
                  </p:cNvPr>
                  <p:cNvSpPr>
                    <a:spLocks noChangeShapeType="1"/>
                  </p:cNvSpPr>
                  <p:nvPr/>
                </p:nvSpPr>
                <p:spPr bwMode="auto">
                  <a:xfrm>
                    <a:off x="2296" y="977"/>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83" name="Line 217">
                    <a:extLst>
                      <a:ext uri="{FF2B5EF4-FFF2-40B4-BE49-F238E27FC236}">
                        <a16:creationId xmlns:a16="http://schemas.microsoft.com/office/drawing/2014/main" id="{10FC1BE1-1951-D092-F2D9-584017AC5782}"/>
                      </a:ext>
                    </a:extLst>
                  </p:cNvPr>
                  <p:cNvSpPr>
                    <a:spLocks noChangeShapeType="1"/>
                  </p:cNvSpPr>
                  <p:nvPr/>
                </p:nvSpPr>
                <p:spPr bwMode="auto">
                  <a:xfrm>
                    <a:off x="2296" y="984"/>
                    <a:ext cx="24" cy="1"/>
                  </a:xfrm>
                  <a:prstGeom prst="line">
                    <a:avLst/>
                  </a:prstGeom>
                  <a:grpFill/>
                  <a:ln w="1588">
                    <a:solidFill>
                      <a:srgbClr val="000000"/>
                    </a:solidFill>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sp>
            <p:nvSpPr>
              <p:cNvPr id="74" name="Rectangle 218">
                <a:extLst>
                  <a:ext uri="{FF2B5EF4-FFF2-40B4-BE49-F238E27FC236}">
                    <a16:creationId xmlns:a16="http://schemas.microsoft.com/office/drawing/2014/main" id="{E10783CF-B8C1-B28B-1096-3557F85D73F6}"/>
                  </a:ext>
                </a:extLst>
              </p:cNvPr>
              <p:cNvSpPr>
                <a:spLocks noChangeArrowheads="1"/>
              </p:cNvSpPr>
              <p:nvPr/>
            </p:nvSpPr>
            <p:spPr bwMode="auto">
              <a:xfrm>
                <a:off x="2448" y="948"/>
                <a:ext cx="8" cy="14"/>
              </a:xfrm>
              <a:prstGeom prst="rect">
                <a:avLst/>
              </a:prstGeom>
              <a:grpFill/>
              <a:ln w="1588">
                <a:solidFill>
                  <a:srgbClr val="000000"/>
                </a:solidFill>
                <a:miter lim="800000"/>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37" name="Group 219">
              <a:extLst>
                <a:ext uri="{FF2B5EF4-FFF2-40B4-BE49-F238E27FC236}">
                  <a16:creationId xmlns:a16="http://schemas.microsoft.com/office/drawing/2014/main" id="{9076D2CD-5967-BFA3-5431-A259140E525D}"/>
                </a:ext>
              </a:extLst>
            </p:cNvPr>
            <p:cNvGrpSpPr>
              <a:grpSpLocks/>
            </p:cNvGrpSpPr>
            <p:nvPr/>
          </p:nvGrpSpPr>
          <p:grpSpPr bwMode="auto">
            <a:xfrm>
              <a:off x="2382" y="788"/>
              <a:ext cx="40" cy="40"/>
              <a:chOff x="2382" y="788"/>
              <a:chExt cx="40" cy="40"/>
            </a:xfrm>
            <a:grpFill/>
          </p:grpSpPr>
          <p:sp>
            <p:nvSpPr>
              <p:cNvPr id="50" name="Freeform 220">
                <a:extLst>
                  <a:ext uri="{FF2B5EF4-FFF2-40B4-BE49-F238E27FC236}">
                    <a16:creationId xmlns:a16="http://schemas.microsoft.com/office/drawing/2014/main" id="{1E6D2B95-78E6-807B-047E-4B0EC3E75771}"/>
                  </a:ext>
                </a:extLst>
              </p:cNvPr>
              <p:cNvSpPr>
                <a:spLocks/>
              </p:cNvSpPr>
              <p:nvPr/>
            </p:nvSpPr>
            <p:spPr bwMode="auto">
              <a:xfrm>
                <a:off x="2404" y="800"/>
                <a:ext cx="18" cy="28"/>
              </a:xfrm>
              <a:custGeom>
                <a:avLst/>
                <a:gdLst>
                  <a:gd name="T0" fmla="*/ 106 w 127"/>
                  <a:gd name="T1" fmla="*/ 0 h 195"/>
                  <a:gd name="T2" fmla="*/ 0 w 127"/>
                  <a:gd name="T3" fmla="*/ 164 h 195"/>
                  <a:gd name="T4" fmla="*/ 21 w 127"/>
                  <a:gd name="T5" fmla="*/ 195 h 195"/>
                  <a:gd name="T6" fmla="*/ 127 w 127"/>
                  <a:gd name="T7" fmla="*/ 6 h 195"/>
                  <a:gd name="T8" fmla="*/ 106 w 127"/>
                  <a:gd name="T9" fmla="*/ 0 h 195"/>
                </a:gdLst>
                <a:ahLst/>
                <a:cxnLst>
                  <a:cxn ang="0">
                    <a:pos x="T0" y="T1"/>
                  </a:cxn>
                  <a:cxn ang="0">
                    <a:pos x="T2" y="T3"/>
                  </a:cxn>
                  <a:cxn ang="0">
                    <a:pos x="T4" y="T5"/>
                  </a:cxn>
                  <a:cxn ang="0">
                    <a:pos x="T6" y="T7"/>
                  </a:cxn>
                  <a:cxn ang="0">
                    <a:pos x="T8" y="T9"/>
                  </a:cxn>
                </a:cxnLst>
                <a:rect l="0" t="0" r="r" b="b"/>
                <a:pathLst>
                  <a:path w="127" h="195">
                    <a:moveTo>
                      <a:pt x="106" y="0"/>
                    </a:moveTo>
                    <a:lnTo>
                      <a:pt x="0" y="164"/>
                    </a:lnTo>
                    <a:lnTo>
                      <a:pt x="21" y="195"/>
                    </a:lnTo>
                    <a:lnTo>
                      <a:pt x="127" y="6"/>
                    </a:lnTo>
                    <a:lnTo>
                      <a:pt x="106"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51" name="Freeform 221">
                <a:extLst>
                  <a:ext uri="{FF2B5EF4-FFF2-40B4-BE49-F238E27FC236}">
                    <a16:creationId xmlns:a16="http://schemas.microsoft.com/office/drawing/2014/main" id="{80161CB9-F889-EA29-5C9E-123DBF5921AC}"/>
                  </a:ext>
                </a:extLst>
              </p:cNvPr>
              <p:cNvSpPr>
                <a:spLocks/>
              </p:cNvSpPr>
              <p:nvPr/>
            </p:nvSpPr>
            <p:spPr bwMode="auto">
              <a:xfrm>
                <a:off x="2382" y="788"/>
                <a:ext cx="35" cy="8"/>
              </a:xfrm>
              <a:custGeom>
                <a:avLst/>
                <a:gdLst>
                  <a:gd name="T0" fmla="*/ 238 w 246"/>
                  <a:gd name="T1" fmla="*/ 0 h 57"/>
                  <a:gd name="T2" fmla="*/ 0 w 246"/>
                  <a:gd name="T3" fmla="*/ 31 h 57"/>
                  <a:gd name="T4" fmla="*/ 35 w 246"/>
                  <a:gd name="T5" fmla="*/ 57 h 57"/>
                  <a:gd name="T6" fmla="*/ 246 w 246"/>
                  <a:gd name="T7" fmla="*/ 19 h 57"/>
                  <a:gd name="T8" fmla="*/ 238 w 246"/>
                  <a:gd name="T9" fmla="*/ 0 h 57"/>
                </a:gdLst>
                <a:ahLst/>
                <a:cxnLst>
                  <a:cxn ang="0">
                    <a:pos x="T0" y="T1"/>
                  </a:cxn>
                  <a:cxn ang="0">
                    <a:pos x="T2" y="T3"/>
                  </a:cxn>
                  <a:cxn ang="0">
                    <a:pos x="T4" y="T5"/>
                  </a:cxn>
                  <a:cxn ang="0">
                    <a:pos x="T6" y="T7"/>
                  </a:cxn>
                  <a:cxn ang="0">
                    <a:pos x="T8" y="T9"/>
                  </a:cxn>
                </a:cxnLst>
                <a:rect l="0" t="0" r="r" b="b"/>
                <a:pathLst>
                  <a:path w="246" h="57">
                    <a:moveTo>
                      <a:pt x="238" y="0"/>
                    </a:moveTo>
                    <a:lnTo>
                      <a:pt x="0" y="31"/>
                    </a:lnTo>
                    <a:lnTo>
                      <a:pt x="35" y="57"/>
                    </a:lnTo>
                    <a:lnTo>
                      <a:pt x="246" y="19"/>
                    </a:lnTo>
                    <a:lnTo>
                      <a:pt x="238"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38" name="Group 222">
              <a:extLst>
                <a:ext uri="{FF2B5EF4-FFF2-40B4-BE49-F238E27FC236}">
                  <a16:creationId xmlns:a16="http://schemas.microsoft.com/office/drawing/2014/main" id="{074F22AC-7ACE-3074-2B67-C12748C4C2F7}"/>
                </a:ext>
              </a:extLst>
            </p:cNvPr>
            <p:cNvGrpSpPr>
              <a:grpSpLocks/>
            </p:cNvGrpSpPr>
            <p:nvPr/>
          </p:nvGrpSpPr>
          <p:grpSpPr bwMode="auto">
            <a:xfrm>
              <a:off x="2302" y="723"/>
              <a:ext cx="132" cy="186"/>
              <a:chOff x="2302" y="723"/>
              <a:chExt cx="132" cy="186"/>
            </a:xfrm>
            <a:grpFill/>
          </p:grpSpPr>
          <p:sp>
            <p:nvSpPr>
              <p:cNvPr id="48" name="Freeform 223">
                <a:extLst>
                  <a:ext uri="{FF2B5EF4-FFF2-40B4-BE49-F238E27FC236}">
                    <a16:creationId xmlns:a16="http://schemas.microsoft.com/office/drawing/2014/main" id="{FA386665-C0D0-F48A-3155-E82531DC8B35}"/>
                  </a:ext>
                </a:extLst>
              </p:cNvPr>
              <p:cNvSpPr>
                <a:spLocks/>
              </p:cNvSpPr>
              <p:nvPr/>
            </p:nvSpPr>
            <p:spPr bwMode="auto">
              <a:xfrm>
                <a:off x="2302" y="724"/>
                <a:ext cx="132" cy="185"/>
              </a:xfrm>
              <a:custGeom>
                <a:avLst/>
                <a:gdLst>
                  <a:gd name="T0" fmla="*/ 30 w 920"/>
                  <a:gd name="T1" fmla="*/ 47 h 1300"/>
                  <a:gd name="T2" fmla="*/ 16 w 920"/>
                  <a:gd name="T3" fmla="*/ 85 h 1300"/>
                  <a:gd name="T4" fmla="*/ 4 w 920"/>
                  <a:gd name="T5" fmla="*/ 132 h 1300"/>
                  <a:gd name="T6" fmla="*/ 0 w 920"/>
                  <a:gd name="T7" fmla="*/ 183 h 1300"/>
                  <a:gd name="T8" fmla="*/ 0 w 920"/>
                  <a:gd name="T9" fmla="*/ 233 h 1300"/>
                  <a:gd name="T10" fmla="*/ 12 w 920"/>
                  <a:gd name="T11" fmla="*/ 299 h 1300"/>
                  <a:gd name="T12" fmla="*/ 23 w 920"/>
                  <a:gd name="T13" fmla="*/ 381 h 1300"/>
                  <a:gd name="T14" fmla="*/ 44 w 920"/>
                  <a:gd name="T15" fmla="*/ 473 h 1300"/>
                  <a:gd name="T16" fmla="*/ 79 w 920"/>
                  <a:gd name="T17" fmla="*/ 578 h 1300"/>
                  <a:gd name="T18" fmla="*/ 131 w 920"/>
                  <a:gd name="T19" fmla="*/ 679 h 1300"/>
                  <a:gd name="T20" fmla="*/ 215 w 920"/>
                  <a:gd name="T21" fmla="*/ 799 h 1300"/>
                  <a:gd name="T22" fmla="*/ 299 w 920"/>
                  <a:gd name="T23" fmla="*/ 912 h 1300"/>
                  <a:gd name="T24" fmla="*/ 369 w 920"/>
                  <a:gd name="T25" fmla="*/ 988 h 1300"/>
                  <a:gd name="T26" fmla="*/ 467 w 920"/>
                  <a:gd name="T27" fmla="*/ 1079 h 1300"/>
                  <a:gd name="T28" fmla="*/ 569 w 920"/>
                  <a:gd name="T29" fmla="*/ 1155 h 1300"/>
                  <a:gd name="T30" fmla="*/ 660 w 920"/>
                  <a:gd name="T31" fmla="*/ 1215 h 1300"/>
                  <a:gd name="T32" fmla="*/ 726 w 920"/>
                  <a:gd name="T33" fmla="*/ 1253 h 1300"/>
                  <a:gd name="T34" fmla="*/ 793 w 920"/>
                  <a:gd name="T35" fmla="*/ 1281 h 1300"/>
                  <a:gd name="T36" fmla="*/ 846 w 920"/>
                  <a:gd name="T37" fmla="*/ 1300 h 1300"/>
                  <a:gd name="T38" fmla="*/ 888 w 920"/>
                  <a:gd name="T39" fmla="*/ 1300 h 1300"/>
                  <a:gd name="T40" fmla="*/ 920 w 920"/>
                  <a:gd name="T41" fmla="*/ 1284 h 1300"/>
                  <a:gd name="T42" fmla="*/ 61 w 920"/>
                  <a:gd name="T43" fmla="*/ 0 h 1300"/>
                  <a:gd name="T44" fmla="*/ 30 w 920"/>
                  <a:gd name="T45" fmla="*/ 47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20" h="1300">
                    <a:moveTo>
                      <a:pt x="30" y="47"/>
                    </a:moveTo>
                    <a:lnTo>
                      <a:pt x="16" y="85"/>
                    </a:lnTo>
                    <a:lnTo>
                      <a:pt x="4" y="132"/>
                    </a:lnTo>
                    <a:lnTo>
                      <a:pt x="0" y="183"/>
                    </a:lnTo>
                    <a:lnTo>
                      <a:pt x="0" y="233"/>
                    </a:lnTo>
                    <a:lnTo>
                      <a:pt x="12" y="299"/>
                    </a:lnTo>
                    <a:lnTo>
                      <a:pt x="23" y="381"/>
                    </a:lnTo>
                    <a:lnTo>
                      <a:pt x="44" y="473"/>
                    </a:lnTo>
                    <a:lnTo>
                      <a:pt x="79" y="578"/>
                    </a:lnTo>
                    <a:lnTo>
                      <a:pt x="131" y="679"/>
                    </a:lnTo>
                    <a:lnTo>
                      <a:pt x="215" y="799"/>
                    </a:lnTo>
                    <a:lnTo>
                      <a:pt x="299" y="912"/>
                    </a:lnTo>
                    <a:lnTo>
                      <a:pt x="369" y="988"/>
                    </a:lnTo>
                    <a:lnTo>
                      <a:pt x="467" y="1079"/>
                    </a:lnTo>
                    <a:lnTo>
                      <a:pt x="569" y="1155"/>
                    </a:lnTo>
                    <a:lnTo>
                      <a:pt x="660" y="1215"/>
                    </a:lnTo>
                    <a:lnTo>
                      <a:pt x="726" y="1253"/>
                    </a:lnTo>
                    <a:lnTo>
                      <a:pt x="793" y="1281"/>
                    </a:lnTo>
                    <a:lnTo>
                      <a:pt x="846" y="1300"/>
                    </a:lnTo>
                    <a:lnTo>
                      <a:pt x="888" y="1300"/>
                    </a:lnTo>
                    <a:lnTo>
                      <a:pt x="920" y="1284"/>
                    </a:lnTo>
                    <a:lnTo>
                      <a:pt x="61" y="0"/>
                    </a:lnTo>
                    <a:lnTo>
                      <a:pt x="30" y="47"/>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9" name="Freeform 224">
                <a:extLst>
                  <a:ext uri="{FF2B5EF4-FFF2-40B4-BE49-F238E27FC236}">
                    <a16:creationId xmlns:a16="http://schemas.microsoft.com/office/drawing/2014/main" id="{99009047-5F99-C527-75D6-6D7A2446F4CB}"/>
                  </a:ext>
                </a:extLst>
              </p:cNvPr>
              <p:cNvSpPr>
                <a:spLocks/>
              </p:cNvSpPr>
              <p:nvPr/>
            </p:nvSpPr>
            <p:spPr bwMode="auto">
              <a:xfrm>
                <a:off x="2310" y="723"/>
                <a:ext cx="124" cy="184"/>
              </a:xfrm>
              <a:custGeom>
                <a:avLst/>
                <a:gdLst>
                  <a:gd name="T0" fmla="*/ 7 w 866"/>
                  <a:gd name="T1" fmla="*/ 0 h 1288"/>
                  <a:gd name="T2" fmla="*/ 0 w 866"/>
                  <a:gd name="T3" fmla="*/ 26 h 1288"/>
                  <a:gd name="T4" fmla="*/ 0 w 866"/>
                  <a:gd name="T5" fmla="*/ 82 h 1288"/>
                  <a:gd name="T6" fmla="*/ 4 w 866"/>
                  <a:gd name="T7" fmla="*/ 149 h 1288"/>
                  <a:gd name="T8" fmla="*/ 11 w 866"/>
                  <a:gd name="T9" fmla="*/ 202 h 1288"/>
                  <a:gd name="T10" fmla="*/ 21 w 866"/>
                  <a:gd name="T11" fmla="*/ 272 h 1288"/>
                  <a:gd name="T12" fmla="*/ 35 w 866"/>
                  <a:gd name="T13" fmla="*/ 354 h 1288"/>
                  <a:gd name="T14" fmla="*/ 56 w 866"/>
                  <a:gd name="T15" fmla="*/ 439 h 1288"/>
                  <a:gd name="T16" fmla="*/ 98 w 866"/>
                  <a:gd name="T17" fmla="*/ 547 h 1288"/>
                  <a:gd name="T18" fmla="*/ 161 w 866"/>
                  <a:gd name="T19" fmla="*/ 670 h 1288"/>
                  <a:gd name="T20" fmla="*/ 231 w 866"/>
                  <a:gd name="T21" fmla="*/ 771 h 1288"/>
                  <a:gd name="T22" fmla="*/ 315 w 866"/>
                  <a:gd name="T23" fmla="*/ 878 h 1288"/>
                  <a:gd name="T24" fmla="*/ 392 w 866"/>
                  <a:gd name="T25" fmla="*/ 960 h 1288"/>
                  <a:gd name="T26" fmla="*/ 452 w 866"/>
                  <a:gd name="T27" fmla="*/ 1016 h 1288"/>
                  <a:gd name="T28" fmla="*/ 508 w 866"/>
                  <a:gd name="T29" fmla="*/ 1068 h 1288"/>
                  <a:gd name="T30" fmla="*/ 567 w 866"/>
                  <a:gd name="T31" fmla="*/ 1118 h 1288"/>
                  <a:gd name="T32" fmla="*/ 634 w 866"/>
                  <a:gd name="T33" fmla="*/ 1168 h 1288"/>
                  <a:gd name="T34" fmla="*/ 679 w 866"/>
                  <a:gd name="T35" fmla="*/ 1200 h 1288"/>
                  <a:gd name="T36" fmla="*/ 728 w 866"/>
                  <a:gd name="T37" fmla="*/ 1228 h 1288"/>
                  <a:gd name="T38" fmla="*/ 782 w 866"/>
                  <a:gd name="T39" fmla="*/ 1256 h 1288"/>
                  <a:gd name="T40" fmla="*/ 827 w 866"/>
                  <a:gd name="T41" fmla="*/ 1282 h 1288"/>
                  <a:gd name="T42" fmla="*/ 855 w 866"/>
                  <a:gd name="T43" fmla="*/ 1288 h 1288"/>
                  <a:gd name="T44" fmla="*/ 866 w 866"/>
                  <a:gd name="T45" fmla="*/ 1270 h 1288"/>
                  <a:gd name="T46" fmla="*/ 863 w 866"/>
                  <a:gd name="T47" fmla="*/ 1243 h 1288"/>
                  <a:gd name="T48" fmla="*/ 856 w 866"/>
                  <a:gd name="T49" fmla="*/ 1213 h 1288"/>
                  <a:gd name="T50" fmla="*/ 845 w 866"/>
                  <a:gd name="T51" fmla="*/ 1159 h 1288"/>
                  <a:gd name="T52" fmla="*/ 831 w 866"/>
                  <a:gd name="T53" fmla="*/ 1089 h 1288"/>
                  <a:gd name="T54" fmla="*/ 813 w 866"/>
                  <a:gd name="T55" fmla="*/ 1023 h 1288"/>
                  <a:gd name="T56" fmla="*/ 792 w 866"/>
                  <a:gd name="T57" fmla="*/ 947 h 1288"/>
                  <a:gd name="T58" fmla="*/ 764 w 866"/>
                  <a:gd name="T59" fmla="*/ 866 h 1288"/>
                  <a:gd name="T60" fmla="*/ 733 w 866"/>
                  <a:gd name="T61" fmla="*/ 802 h 1288"/>
                  <a:gd name="T62" fmla="*/ 707 w 866"/>
                  <a:gd name="T63" fmla="*/ 746 h 1288"/>
                  <a:gd name="T64" fmla="*/ 666 w 866"/>
                  <a:gd name="T65" fmla="*/ 672 h 1288"/>
                  <a:gd name="T66" fmla="*/ 627 w 866"/>
                  <a:gd name="T67" fmla="*/ 607 h 1288"/>
                  <a:gd name="T68" fmla="*/ 579 w 866"/>
                  <a:gd name="T69" fmla="*/ 537 h 1288"/>
                  <a:gd name="T70" fmla="*/ 504 w 866"/>
                  <a:gd name="T71" fmla="*/ 448 h 1288"/>
                  <a:gd name="T72" fmla="*/ 452 w 866"/>
                  <a:gd name="T73" fmla="*/ 385 h 1288"/>
                  <a:gd name="T74" fmla="*/ 376 w 866"/>
                  <a:gd name="T75" fmla="*/ 299 h 1288"/>
                  <a:gd name="T76" fmla="*/ 305 w 866"/>
                  <a:gd name="T77" fmla="*/ 237 h 1288"/>
                  <a:gd name="T78" fmla="*/ 235 w 866"/>
                  <a:gd name="T79" fmla="*/ 173 h 1288"/>
                  <a:gd name="T80" fmla="*/ 182 w 866"/>
                  <a:gd name="T81" fmla="*/ 127 h 1288"/>
                  <a:gd name="T82" fmla="*/ 126 w 866"/>
                  <a:gd name="T83" fmla="*/ 78 h 1288"/>
                  <a:gd name="T84" fmla="*/ 84 w 866"/>
                  <a:gd name="T85" fmla="*/ 45 h 1288"/>
                  <a:gd name="T86" fmla="*/ 42 w 866"/>
                  <a:gd name="T87" fmla="*/ 13 h 1288"/>
                  <a:gd name="T88" fmla="*/ 7 w 866"/>
                  <a:gd name="T89" fmla="*/ 0 h 1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6" h="1288">
                    <a:moveTo>
                      <a:pt x="7" y="0"/>
                    </a:moveTo>
                    <a:lnTo>
                      <a:pt x="0" y="26"/>
                    </a:lnTo>
                    <a:lnTo>
                      <a:pt x="0" y="82"/>
                    </a:lnTo>
                    <a:lnTo>
                      <a:pt x="4" y="149"/>
                    </a:lnTo>
                    <a:lnTo>
                      <a:pt x="11" y="202"/>
                    </a:lnTo>
                    <a:lnTo>
                      <a:pt x="21" y="272"/>
                    </a:lnTo>
                    <a:lnTo>
                      <a:pt x="35" y="354"/>
                    </a:lnTo>
                    <a:lnTo>
                      <a:pt x="56" y="439"/>
                    </a:lnTo>
                    <a:lnTo>
                      <a:pt x="98" y="547"/>
                    </a:lnTo>
                    <a:lnTo>
                      <a:pt x="161" y="670"/>
                    </a:lnTo>
                    <a:lnTo>
                      <a:pt x="231" y="771"/>
                    </a:lnTo>
                    <a:lnTo>
                      <a:pt x="315" y="878"/>
                    </a:lnTo>
                    <a:lnTo>
                      <a:pt x="392" y="960"/>
                    </a:lnTo>
                    <a:lnTo>
                      <a:pt x="452" y="1016"/>
                    </a:lnTo>
                    <a:lnTo>
                      <a:pt x="508" y="1068"/>
                    </a:lnTo>
                    <a:lnTo>
                      <a:pt x="567" y="1118"/>
                    </a:lnTo>
                    <a:lnTo>
                      <a:pt x="634" y="1168"/>
                    </a:lnTo>
                    <a:lnTo>
                      <a:pt x="679" y="1200"/>
                    </a:lnTo>
                    <a:lnTo>
                      <a:pt x="728" y="1228"/>
                    </a:lnTo>
                    <a:lnTo>
                      <a:pt x="782" y="1256"/>
                    </a:lnTo>
                    <a:lnTo>
                      <a:pt x="827" y="1282"/>
                    </a:lnTo>
                    <a:lnTo>
                      <a:pt x="855" y="1288"/>
                    </a:lnTo>
                    <a:lnTo>
                      <a:pt x="866" y="1270"/>
                    </a:lnTo>
                    <a:lnTo>
                      <a:pt x="863" y="1243"/>
                    </a:lnTo>
                    <a:lnTo>
                      <a:pt x="856" y="1213"/>
                    </a:lnTo>
                    <a:lnTo>
                      <a:pt x="845" y="1159"/>
                    </a:lnTo>
                    <a:lnTo>
                      <a:pt x="831" y="1089"/>
                    </a:lnTo>
                    <a:lnTo>
                      <a:pt x="813" y="1023"/>
                    </a:lnTo>
                    <a:lnTo>
                      <a:pt x="792" y="947"/>
                    </a:lnTo>
                    <a:lnTo>
                      <a:pt x="764" y="866"/>
                    </a:lnTo>
                    <a:lnTo>
                      <a:pt x="733" y="802"/>
                    </a:lnTo>
                    <a:lnTo>
                      <a:pt x="707" y="746"/>
                    </a:lnTo>
                    <a:lnTo>
                      <a:pt x="666" y="672"/>
                    </a:lnTo>
                    <a:lnTo>
                      <a:pt x="627" y="607"/>
                    </a:lnTo>
                    <a:lnTo>
                      <a:pt x="579" y="537"/>
                    </a:lnTo>
                    <a:lnTo>
                      <a:pt x="504" y="448"/>
                    </a:lnTo>
                    <a:lnTo>
                      <a:pt x="452" y="385"/>
                    </a:lnTo>
                    <a:lnTo>
                      <a:pt x="376" y="299"/>
                    </a:lnTo>
                    <a:lnTo>
                      <a:pt x="305" y="237"/>
                    </a:lnTo>
                    <a:lnTo>
                      <a:pt x="235" y="173"/>
                    </a:lnTo>
                    <a:lnTo>
                      <a:pt x="182" y="127"/>
                    </a:lnTo>
                    <a:lnTo>
                      <a:pt x="126" y="78"/>
                    </a:lnTo>
                    <a:lnTo>
                      <a:pt x="84" y="45"/>
                    </a:lnTo>
                    <a:lnTo>
                      <a:pt x="42" y="13"/>
                    </a:lnTo>
                    <a:lnTo>
                      <a:pt x="7"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39" name="Group 225">
              <a:extLst>
                <a:ext uri="{FF2B5EF4-FFF2-40B4-BE49-F238E27FC236}">
                  <a16:creationId xmlns:a16="http://schemas.microsoft.com/office/drawing/2014/main" id="{85EBAD59-12F7-0537-C9F4-749141BA0150}"/>
                </a:ext>
              </a:extLst>
            </p:cNvPr>
            <p:cNvGrpSpPr>
              <a:grpSpLocks/>
            </p:cNvGrpSpPr>
            <p:nvPr/>
          </p:nvGrpSpPr>
          <p:grpSpPr bwMode="auto">
            <a:xfrm>
              <a:off x="2315" y="770"/>
              <a:ext cx="126" cy="121"/>
              <a:chOff x="2315" y="770"/>
              <a:chExt cx="126" cy="121"/>
            </a:xfrm>
            <a:grpFill/>
          </p:grpSpPr>
          <p:sp>
            <p:nvSpPr>
              <p:cNvPr id="46" name="Freeform 226">
                <a:extLst>
                  <a:ext uri="{FF2B5EF4-FFF2-40B4-BE49-F238E27FC236}">
                    <a16:creationId xmlns:a16="http://schemas.microsoft.com/office/drawing/2014/main" id="{B697D6F2-E16F-EF00-7E53-2E778B0C8DBB}"/>
                  </a:ext>
                </a:extLst>
              </p:cNvPr>
              <p:cNvSpPr>
                <a:spLocks/>
              </p:cNvSpPr>
              <p:nvPr/>
            </p:nvSpPr>
            <p:spPr bwMode="auto">
              <a:xfrm>
                <a:off x="2315" y="770"/>
                <a:ext cx="121" cy="8"/>
              </a:xfrm>
              <a:custGeom>
                <a:avLst/>
                <a:gdLst>
                  <a:gd name="T0" fmla="*/ 0 w 851"/>
                  <a:gd name="T1" fmla="*/ 0 h 57"/>
                  <a:gd name="T2" fmla="*/ 851 w 851"/>
                  <a:gd name="T3" fmla="*/ 32 h 57"/>
                  <a:gd name="T4" fmla="*/ 844 w 851"/>
                  <a:gd name="T5" fmla="*/ 57 h 57"/>
                  <a:gd name="T6" fmla="*/ 3 w 851"/>
                  <a:gd name="T7" fmla="*/ 26 h 57"/>
                  <a:gd name="T8" fmla="*/ 0 w 851"/>
                  <a:gd name="T9" fmla="*/ 0 h 57"/>
                </a:gdLst>
                <a:ahLst/>
                <a:cxnLst>
                  <a:cxn ang="0">
                    <a:pos x="T0" y="T1"/>
                  </a:cxn>
                  <a:cxn ang="0">
                    <a:pos x="T2" y="T3"/>
                  </a:cxn>
                  <a:cxn ang="0">
                    <a:pos x="T4" y="T5"/>
                  </a:cxn>
                  <a:cxn ang="0">
                    <a:pos x="T6" y="T7"/>
                  </a:cxn>
                  <a:cxn ang="0">
                    <a:pos x="T8" y="T9"/>
                  </a:cxn>
                </a:cxnLst>
                <a:rect l="0" t="0" r="r" b="b"/>
                <a:pathLst>
                  <a:path w="851" h="57">
                    <a:moveTo>
                      <a:pt x="0" y="0"/>
                    </a:moveTo>
                    <a:lnTo>
                      <a:pt x="851" y="32"/>
                    </a:lnTo>
                    <a:lnTo>
                      <a:pt x="844" y="57"/>
                    </a:lnTo>
                    <a:lnTo>
                      <a:pt x="3" y="26"/>
                    </a:lnTo>
                    <a:lnTo>
                      <a:pt x="0"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7" name="Freeform 227">
                <a:extLst>
                  <a:ext uri="{FF2B5EF4-FFF2-40B4-BE49-F238E27FC236}">
                    <a16:creationId xmlns:a16="http://schemas.microsoft.com/office/drawing/2014/main" id="{9537528D-3492-74CC-8120-6F71382C4EA9}"/>
                  </a:ext>
                </a:extLst>
              </p:cNvPr>
              <p:cNvSpPr>
                <a:spLocks/>
              </p:cNvSpPr>
              <p:nvPr/>
            </p:nvSpPr>
            <p:spPr bwMode="auto">
              <a:xfrm>
                <a:off x="2398" y="794"/>
                <a:ext cx="43" cy="97"/>
              </a:xfrm>
              <a:custGeom>
                <a:avLst/>
                <a:gdLst>
                  <a:gd name="T0" fmla="*/ 267 w 302"/>
                  <a:gd name="T1" fmla="*/ 13 h 673"/>
                  <a:gd name="T2" fmla="*/ 0 w 302"/>
                  <a:gd name="T3" fmla="*/ 657 h 673"/>
                  <a:gd name="T4" fmla="*/ 25 w 302"/>
                  <a:gd name="T5" fmla="*/ 673 h 673"/>
                  <a:gd name="T6" fmla="*/ 302 w 302"/>
                  <a:gd name="T7" fmla="*/ 0 h 673"/>
                  <a:gd name="T8" fmla="*/ 267 w 302"/>
                  <a:gd name="T9" fmla="*/ 13 h 673"/>
                </a:gdLst>
                <a:ahLst/>
                <a:cxnLst>
                  <a:cxn ang="0">
                    <a:pos x="T0" y="T1"/>
                  </a:cxn>
                  <a:cxn ang="0">
                    <a:pos x="T2" y="T3"/>
                  </a:cxn>
                  <a:cxn ang="0">
                    <a:pos x="T4" y="T5"/>
                  </a:cxn>
                  <a:cxn ang="0">
                    <a:pos x="T6" y="T7"/>
                  </a:cxn>
                  <a:cxn ang="0">
                    <a:pos x="T8" y="T9"/>
                  </a:cxn>
                </a:cxnLst>
                <a:rect l="0" t="0" r="r" b="b"/>
                <a:pathLst>
                  <a:path w="302" h="673">
                    <a:moveTo>
                      <a:pt x="267" y="13"/>
                    </a:moveTo>
                    <a:lnTo>
                      <a:pt x="0" y="657"/>
                    </a:lnTo>
                    <a:lnTo>
                      <a:pt x="25" y="673"/>
                    </a:lnTo>
                    <a:lnTo>
                      <a:pt x="302" y="0"/>
                    </a:lnTo>
                    <a:lnTo>
                      <a:pt x="267" y="13"/>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nvGrpSpPr>
            <p:cNvPr id="40" name="Group 228">
              <a:extLst>
                <a:ext uri="{FF2B5EF4-FFF2-40B4-BE49-F238E27FC236}">
                  <a16:creationId xmlns:a16="http://schemas.microsoft.com/office/drawing/2014/main" id="{7CF755B9-DED8-3007-94D9-77B73E0DB3DE}"/>
                </a:ext>
              </a:extLst>
            </p:cNvPr>
            <p:cNvGrpSpPr>
              <a:grpSpLocks/>
            </p:cNvGrpSpPr>
            <p:nvPr/>
          </p:nvGrpSpPr>
          <p:grpSpPr bwMode="auto">
            <a:xfrm>
              <a:off x="2413" y="772"/>
              <a:ext cx="51" cy="30"/>
              <a:chOff x="2413" y="772"/>
              <a:chExt cx="51" cy="30"/>
            </a:xfrm>
            <a:grpFill/>
          </p:grpSpPr>
          <p:sp>
            <p:nvSpPr>
              <p:cNvPr id="41" name="Freeform 229">
                <a:extLst>
                  <a:ext uri="{FF2B5EF4-FFF2-40B4-BE49-F238E27FC236}">
                    <a16:creationId xmlns:a16="http://schemas.microsoft.com/office/drawing/2014/main" id="{128E9954-1492-8385-912E-0DBA5B0F4DC1}"/>
                  </a:ext>
                </a:extLst>
              </p:cNvPr>
              <p:cNvSpPr>
                <a:spLocks/>
              </p:cNvSpPr>
              <p:nvPr/>
            </p:nvSpPr>
            <p:spPr bwMode="auto">
              <a:xfrm>
                <a:off x="2413" y="776"/>
                <a:ext cx="36" cy="26"/>
              </a:xfrm>
              <a:custGeom>
                <a:avLst/>
                <a:gdLst>
                  <a:gd name="T0" fmla="*/ 187 w 250"/>
                  <a:gd name="T1" fmla="*/ 0 h 184"/>
                  <a:gd name="T2" fmla="*/ 11 w 250"/>
                  <a:gd name="T3" fmla="*/ 57 h 184"/>
                  <a:gd name="T4" fmla="*/ 4 w 250"/>
                  <a:gd name="T5" fmla="*/ 67 h 184"/>
                  <a:gd name="T6" fmla="*/ 0 w 250"/>
                  <a:gd name="T7" fmla="*/ 86 h 184"/>
                  <a:gd name="T8" fmla="*/ 2 w 250"/>
                  <a:gd name="T9" fmla="*/ 112 h 184"/>
                  <a:gd name="T10" fmla="*/ 5 w 250"/>
                  <a:gd name="T11" fmla="*/ 128 h 184"/>
                  <a:gd name="T12" fmla="*/ 15 w 250"/>
                  <a:gd name="T13" fmla="*/ 151 h 184"/>
                  <a:gd name="T14" fmla="*/ 33 w 250"/>
                  <a:gd name="T15" fmla="*/ 169 h 184"/>
                  <a:gd name="T16" fmla="*/ 57 w 250"/>
                  <a:gd name="T17" fmla="*/ 181 h 184"/>
                  <a:gd name="T18" fmla="*/ 71 w 250"/>
                  <a:gd name="T19" fmla="*/ 184 h 184"/>
                  <a:gd name="T20" fmla="*/ 85 w 250"/>
                  <a:gd name="T21" fmla="*/ 184 h 184"/>
                  <a:gd name="T22" fmla="*/ 250 w 250"/>
                  <a:gd name="T23" fmla="*/ 114 h 184"/>
                  <a:gd name="T24" fmla="*/ 218 w 250"/>
                  <a:gd name="T25" fmla="*/ 92 h 184"/>
                  <a:gd name="T26" fmla="*/ 201 w 250"/>
                  <a:gd name="T27" fmla="*/ 70 h 184"/>
                  <a:gd name="T28" fmla="*/ 187 w 250"/>
                  <a:gd name="T29"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0" h="184">
                    <a:moveTo>
                      <a:pt x="187" y="0"/>
                    </a:moveTo>
                    <a:lnTo>
                      <a:pt x="11" y="57"/>
                    </a:lnTo>
                    <a:lnTo>
                      <a:pt x="4" y="67"/>
                    </a:lnTo>
                    <a:lnTo>
                      <a:pt x="0" y="86"/>
                    </a:lnTo>
                    <a:lnTo>
                      <a:pt x="2" y="112"/>
                    </a:lnTo>
                    <a:lnTo>
                      <a:pt x="5" y="128"/>
                    </a:lnTo>
                    <a:lnTo>
                      <a:pt x="15" y="151"/>
                    </a:lnTo>
                    <a:lnTo>
                      <a:pt x="33" y="169"/>
                    </a:lnTo>
                    <a:lnTo>
                      <a:pt x="57" y="181"/>
                    </a:lnTo>
                    <a:lnTo>
                      <a:pt x="71" y="184"/>
                    </a:lnTo>
                    <a:lnTo>
                      <a:pt x="85" y="184"/>
                    </a:lnTo>
                    <a:lnTo>
                      <a:pt x="250" y="114"/>
                    </a:lnTo>
                    <a:lnTo>
                      <a:pt x="218" y="92"/>
                    </a:lnTo>
                    <a:lnTo>
                      <a:pt x="201" y="70"/>
                    </a:lnTo>
                    <a:lnTo>
                      <a:pt x="187" y="0"/>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2" name="Freeform 230">
                <a:extLst>
                  <a:ext uri="{FF2B5EF4-FFF2-40B4-BE49-F238E27FC236}">
                    <a16:creationId xmlns:a16="http://schemas.microsoft.com/office/drawing/2014/main" id="{4FA7D9FE-981E-AFF8-5328-2A557B3DE1C8}"/>
                  </a:ext>
                </a:extLst>
              </p:cNvPr>
              <p:cNvSpPr>
                <a:spLocks/>
              </p:cNvSpPr>
              <p:nvPr/>
            </p:nvSpPr>
            <p:spPr bwMode="auto">
              <a:xfrm>
                <a:off x="2434" y="772"/>
                <a:ext cx="20" cy="25"/>
              </a:xfrm>
              <a:custGeom>
                <a:avLst/>
                <a:gdLst>
                  <a:gd name="T0" fmla="*/ 81 w 139"/>
                  <a:gd name="T1" fmla="*/ 25 h 173"/>
                  <a:gd name="T2" fmla="*/ 74 w 139"/>
                  <a:gd name="T3" fmla="*/ 15 h 173"/>
                  <a:gd name="T4" fmla="*/ 60 w 139"/>
                  <a:gd name="T5" fmla="*/ 5 h 173"/>
                  <a:gd name="T6" fmla="*/ 36 w 139"/>
                  <a:gd name="T7" fmla="*/ 0 h 173"/>
                  <a:gd name="T8" fmla="*/ 22 w 139"/>
                  <a:gd name="T9" fmla="*/ 2 h 173"/>
                  <a:gd name="T10" fmla="*/ 13 w 139"/>
                  <a:gd name="T11" fmla="*/ 12 h 173"/>
                  <a:gd name="T12" fmla="*/ 4 w 139"/>
                  <a:gd name="T13" fmla="*/ 25 h 173"/>
                  <a:gd name="T14" fmla="*/ 0 w 139"/>
                  <a:gd name="T15" fmla="*/ 46 h 173"/>
                  <a:gd name="T16" fmla="*/ 1 w 139"/>
                  <a:gd name="T17" fmla="*/ 58 h 173"/>
                  <a:gd name="T18" fmla="*/ 3 w 139"/>
                  <a:gd name="T19" fmla="*/ 74 h 173"/>
                  <a:gd name="T20" fmla="*/ 9 w 139"/>
                  <a:gd name="T21" fmla="*/ 97 h 173"/>
                  <a:gd name="T22" fmla="*/ 20 w 139"/>
                  <a:gd name="T23" fmla="*/ 116 h 173"/>
                  <a:gd name="T24" fmla="*/ 31 w 139"/>
                  <a:gd name="T25" fmla="*/ 133 h 173"/>
                  <a:gd name="T26" fmla="*/ 44 w 139"/>
                  <a:gd name="T27" fmla="*/ 147 h 173"/>
                  <a:gd name="T28" fmla="*/ 58 w 139"/>
                  <a:gd name="T29" fmla="*/ 160 h 173"/>
                  <a:gd name="T30" fmla="*/ 76 w 139"/>
                  <a:gd name="T31" fmla="*/ 167 h 173"/>
                  <a:gd name="T32" fmla="*/ 97 w 139"/>
                  <a:gd name="T33" fmla="*/ 173 h 173"/>
                  <a:gd name="T34" fmla="*/ 114 w 139"/>
                  <a:gd name="T35" fmla="*/ 173 h 173"/>
                  <a:gd name="T36" fmla="*/ 130 w 139"/>
                  <a:gd name="T37" fmla="*/ 164 h 173"/>
                  <a:gd name="T38" fmla="*/ 137 w 139"/>
                  <a:gd name="T39" fmla="*/ 151 h 173"/>
                  <a:gd name="T40" fmla="*/ 139 w 139"/>
                  <a:gd name="T41" fmla="*/ 132 h 173"/>
                  <a:gd name="T42" fmla="*/ 134 w 139"/>
                  <a:gd name="T43" fmla="*/ 111 h 173"/>
                  <a:gd name="T44" fmla="*/ 123 w 139"/>
                  <a:gd name="T45" fmla="*/ 82 h 173"/>
                  <a:gd name="T46" fmla="*/ 99 w 139"/>
                  <a:gd name="T47" fmla="*/ 46 h 173"/>
                  <a:gd name="T48" fmla="*/ 81 w 139"/>
                  <a:gd name="T49" fmla="*/ 25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9" h="173">
                    <a:moveTo>
                      <a:pt x="81" y="25"/>
                    </a:moveTo>
                    <a:lnTo>
                      <a:pt x="74" y="15"/>
                    </a:lnTo>
                    <a:lnTo>
                      <a:pt x="60" y="5"/>
                    </a:lnTo>
                    <a:lnTo>
                      <a:pt x="36" y="0"/>
                    </a:lnTo>
                    <a:lnTo>
                      <a:pt x="22" y="2"/>
                    </a:lnTo>
                    <a:lnTo>
                      <a:pt x="13" y="12"/>
                    </a:lnTo>
                    <a:lnTo>
                      <a:pt x="4" y="25"/>
                    </a:lnTo>
                    <a:lnTo>
                      <a:pt x="0" y="46"/>
                    </a:lnTo>
                    <a:lnTo>
                      <a:pt x="1" y="58"/>
                    </a:lnTo>
                    <a:lnTo>
                      <a:pt x="3" y="74"/>
                    </a:lnTo>
                    <a:lnTo>
                      <a:pt x="9" y="97"/>
                    </a:lnTo>
                    <a:lnTo>
                      <a:pt x="20" y="116"/>
                    </a:lnTo>
                    <a:lnTo>
                      <a:pt x="31" y="133"/>
                    </a:lnTo>
                    <a:lnTo>
                      <a:pt x="44" y="147"/>
                    </a:lnTo>
                    <a:lnTo>
                      <a:pt x="58" y="160"/>
                    </a:lnTo>
                    <a:lnTo>
                      <a:pt x="76" y="167"/>
                    </a:lnTo>
                    <a:lnTo>
                      <a:pt x="97" y="173"/>
                    </a:lnTo>
                    <a:lnTo>
                      <a:pt x="114" y="173"/>
                    </a:lnTo>
                    <a:lnTo>
                      <a:pt x="130" y="164"/>
                    </a:lnTo>
                    <a:lnTo>
                      <a:pt x="137" y="151"/>
                    </a:lnTo>
                    <a:lnTo>
                      <a:pt x="139" y="132"/>
                    </a:lnTo>
                    <a:lnTo>
                      <a:pt x="134" y="111"/>
                    </a:lnTo>
                    <a:lnTo>
                      <a:pt x="123" y="82"/>
                    </a:lnTo>
                    <a:lnTo>
                      <a:pt x="99" y="46"/>
                    </a:lnTo>
                    <a:lnTo>
                      <a:pt x="81" y="25"/>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3" name="Freeform 231">
                <a:extLst>
                  <a:ext uri="{FF2B5EF4-FFF2-40B4-BE49-F238E27FC236}">
                    <a16:creationId xmlns:a16="http://schemas.microsoft.com/office/drawing/2014/main" id="{EEB4C1CD-36BB-9245-A833-DFFE02343A63}"/>
                  </a:ext>
                </a:extLst>
              </p:cNvPr>
              <p:cNvSpPr>
                <a:spLocks/>
              </p:cNvSpPr>
              <p:nvPr/>
            </p:nvSpPr>
            <p:spPr bwMode="auto">
              <a:xfrm>
                <a:off x="2439" y="774"/>
                <a:ext cx="25" cy="17"/>
              </a:xfrm>
              <a:custGeom>
                <a:avLst/>
                <a:gdLst>
                  <a:gd name="T0" fmla="*/ 13 w 171"/>
                  <a:gd name="T1" fmla="*/ 27 h 123"/>
                  <a:gd name="T2" fmla="*/ 120 w 171"/>
                  <a:gd name="T3" fmla="*/ 3 h 123"/>
                  <a:gd name="T4" fmla="*/ 146 w 171"/>
                  <a:gd name="T5" fmla="*/ 0 h 123"/>
                  <a:gd name="T6" fmla="*/ 164 w 171"/>
                  <a:gd name="T7" fmla="*/ 3 h 123"/>
                  <a:gd name="T8" fmla="*/ 169 w 171"/>
                  <a:gd name="T9" fmla="*/ 9 h 123"/>
                  <a:gd name="T10" fmla="*/ 171 w 171"/>
                  <a:gd name="T11" fmla="*/ 22 h 123"/>
                  <a:gd name="T12" fmla="*/ 164 w 171"/>
                  <a:gd name="T13" fmla="*/ 41 h 123"/>
                  <a:gd name="T14" fmla="*/ 64 w 171"/>
                  <a:gd name="T15" fmla="*/ 123 h 123"/>
                  <a:gd name="T16" fmla="*/ 50 w 171"/>
                  <a:gd name="T17" fmla="*/ 122 h 123"/>
                  <a:gd name="T18" fmla="*/ 34 w 171"/>
                  <a:gd name="T19" fmla="*/ 116 h 123"/>
                  <a:gd name="T20" fmla="*/ 22 w 171"/>
                  <a:gd name="T21" fmla="*/ 106 h 123"/>
                  <a:gd name="T22" fmla="*/ 8 w 171"/>
                  <a:gd name="T23" fmla="*/ 90 h 123"/>
                  <a:gd name="T24" fmla="*/ 1 w 171"/>
                  <a:gd name="T25" fmla="*/ 74 h 123"/>
                  <a:gd name="T26" fmla="*/ 0 w 171"/>
                  <a:gd name="T27" fmla="*/ 56 h 123"/>
                  <a:gd name="T28" fmla="*/ 5 w 171"/>
                  <a:gd name="T29" fmla="*/ 40 h 123"/>
                  <a:gd name="T30" fmla="*/ 13 w 171"/>
                  <a:gd name="T31" fmla="*/ 2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1" h="123">
                    <a:moveTo>
                      <a:pt x="13" y="27"/>
                    </a:moveTo>
                    <a:lnTo>
                      <a:pt x="120" y="3"/>
                    </a:lnTo>
                    <a:lnTo>
                      <a:pt x="146" y="0"/>
                    </a:lnTo>
                    <a:lnTo>
                      <a:pt x="164" y="3"/>
                    </a:lnTo>
                    <a:lnTo>
                      <a:pt x="169" y="9"/>
                    </a:lnTo>
                    <a:lnTo>
                      <a:pt x="171" y="22"/>
                    </a:lnTo>
                    <a:lnTo>
                      <a:pt x="164" y="41"/>
                    </a:lnTo>
                    <a:lnTo>
                      <a:pt x="64" y="123"/>
                    </a:lnTo>
                    <a:lnTo>
                      <a:pt x="50" y="122"/>
                    </a:lnTo>
                    <a:lnTo>
                      <a:pt x="34" y="116"/>
                    </a:lnTo>
                    <a:lnTo>
                      <a:pt x="22" y="106"/>
                    </a:lnTo>
                    <a:lnTo>
                      <a:pt x="8" y="90"/>
                    </a:lnTo>
                    <a:lnTo>
                      <a:pt x="1" y="74"/>
                    </a:lnTo>
                    <a:lnTo>
                      <a:pt x="0" y="56"/>
                    </a:lnTo>
                    <a:lnTo>
                      <a:pt x="5" y="40"/>
                    </a:lnTo>
                    <a:lnTo>
                      <a:pt x="13" y="27"/>
                    </a:lnTo>
                    <a:close/>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4" name="Freeform 232">
                <a:extLst>
                  <a:ext uri="{FF2B5EF4-FFF2-40B4-BE49-F238E27FC236}">
                    <a16:creationId xmlns:a16="http://schemas.microsoft.com/office/drawing/2014/main" id="{C08B0C6F-680B-02D6-F7D7-D285652265C2}"/>
                  </a:ext>
                </a:extLst>
              </p:cNvPr>
              <p:cNvSpPr>
                <a:spLocks/>
              </p:cNvSpPr>
              <p:nvPr/>
            </p:nvSpPr>
            <p:spPr bwMode="auto">
              <a:xfrm>
                <a:off x="2421" y="782"/>
                <a:ext cx="10" cy="18"/>
              </a:xfrm>
              <a:custGeom>
                <a:avLst/>
                <a:gdLst>
                  <a:gd name="T0" fmla="*/ 4 w 73"/>
                  <a:gd name="T1" fmla="*/ 0 h 124"/>
                  <a:gd name="T2" fmla="*/ 0 w 73"/>
                  <a:gd name="T3" fmla="*/ 20 h 124"/>
                  <a:gd name="T4" fmla="*/ 0 w 73"/>
                  <a:gd name="T5" fmla="*/ 37 h 124"/>
                  <a:gd name="T6" fmla="*/ 5 w 73"/>
                  <a:gd name="T7" fmla="*/ 60 h 124"/>
                  <a:gd name="T8" fmla="*/ 11 w 73"/>
                  <a:gd name="T9" fmla="*/ 78 h 124"/>
                  <a:gd name="T10" fmla="*/ 26 w 73"/>
                  <a:gd name="T11" fmla="*/ 96 h 124"/>
                  <a:gd name="T12" fmla="*/ 40 w 73"/>
                  <a:gd name="T13" fmla="*/ 108 h 124"/>
                  <a:gd name="T14" fmla="*/ 51 w 73"/>
                  <a:gd name="T15" fmla="*/ 114 h 124"/>
                  <a:gd name="T16" fmla="*/ 61 w 73"/>
                  <a:gd name="T17" fmla="*/ 118 h 124"/>
                  <a:gd name="T18" fmla="*/ 73 w 73"/>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 h="124">
                    <a:moveTo>
                      <a:pt x="4" y="0"/>
                    </a:moveTo>
                    <a:lnTo>
                      <a:pt x="0" y="20"/>
                    </a:lnTo>
                    <a:lnTo>
                      <a:pt x="0" y="37"/>
                    </a:lnTo>
                    <a:lnTo>
                      <a:pt x="5" y="60"/>
                    </a:lnTo>
                    <a:lnTo>
                      <a:pt x="11" y="78"/>
                    </a:lnTo>
                    <a:lnTo>
                      <a:pt x="26" y="96"/>
                    </a:lnTo>
                    <a:lnTo>
                      <a:pt x="40" y="108"/>
                    </a:lnTo>
                    <a:lnTo>
                      <a:pt x="51" y="114"/>
                    </a:lnTo>
                    <a:lnTo>
                      <a:pt x="61" y="118"/>
                    </a:lnTo>
                    <a:lnTo>
                      <a:pt x="73" y="124"/>
                    </a:lnTo>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sp>
            <p:nvSpPr>
              <p:cNvPr id="45" name="Freeform 233">
                <a:extLst>
                  <a:ext uri="{FF2B5EF4-FFF2-40B4-BE49-F238E27FC236}">
                    <a16:creationId xmlns:a16="http://schemas.microsoft.com/office/drawing/2014/main" id="{286D5AC0-32A9-6AFD-5283-364C43D92B53}"/>
                  </a:ext>
                </a:extLst>
              </p:cNvPr>
              <p:cNvSpPr>
                <a:spLocks/>
              </p:cNvSpPr>
              <p:nvPr/>
            </p:nvSpPr>
            <p:spPr bwMode="auto">
              <a:xfrm>
                <a:off x="2427" y="780"/>
                <a:ext cx="11" cy="18"/>
              </a:xfrm>
              <a:custGeom>
                <a:avLst/>
                <a:gdLst>
                  <a:gd name="T0" fmla="*/ 5 w 74"/>
                  <a:gd name="T1" fmla="*/ 0 h 124"/>
                  <a:gd name="T2" fmla="*/ 0 w 74"/>
                  <a:gd name="T3" fmla="*/ 20 h 124"/>
                  <a:gd name="T4" fmla="*/ 0 w 74"/>
                  <a:gd name="T5" fmla="*/ 38 h 124"/>
                  <a:gd name="T6" fmla="*/ 6 w 74"/>
                  <a:gd name="T7" fmla="*/ 60 h 124"/>
                  <a:gd name="T8" fmla="*/ 12 w 74"/>
                  <a:gd name="T9" fmla="*/ 79 h 124"/>
                  <a:gd name="T10" fmla="*/ 27 w 74"/>
                  <a:gd name="T11" fmla="*/ 95 h 124"/>
                  <a:gd name="T12" fmla="*/ 41 w 74"/>
                  <a:gd name="T13" fmla="*/ 108 h 124"/>
                  <a:gd name="T14" fmla="*/ 51 w 74"/>
                  <a:gd name="T15" fmla="*/ 114 h 124"/>
                  <a:gd name="T16" fmla="*/ 62 w 74"/>
                  <a:gd name="T17" fmla="*/ 119 h 124"/>
                  <a:gd name="T18" fmla="*/ 74 w 74"/>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24">
                    <a:moveTo>
                      <a:pt x="5" y="0"/>
                    </a:moveTo>
                    <a:lnTo>
                      <a:pt x="0" y="20"/>
                    </a:lnTo>
                    <a:lnTo>
                      <a:pt x="0" y="38"/>
                    </a:lnTo>
                    <a:lnTo>
                      <a:pt x="6" y="60"/>
                    </a:lnTo>
                    <a:lnTo>
                      <a:pt x="12" y="79"/>
                    </a:lnTo>
                    <a:lnTo>
                      <a:pt x="27" y="95"/>
                    </a:lnTo>
                    <a:lnTo>
                      <a:pt x="41" y="108"/>
                    </a:lnTo>
                    <a:lnTo>
                      <a:pt x="51" y="114"/>
                    </a:lnTo>
                    <a:lnTo>
                      <a:pt x="62" y="119"/>
                    </a:lnTo>
                    <a:lnTo>
                      <a:pt x="74" y="124"/>
                    </a:lnTo>
                  </a:path>
                </a:pathLst>
              </a:custGeom>
              <a:grpFill/>
              <a:ln w="1588">
                <a:solidFill>
                  <a:srgbClr val="000000"/>
                </a:solidFill>
                <a:prstDash val="solid"/>
                <a:round/>
                <a:headEnd/>
                <a:tailEnd/>
              </a:ln>
            </p:spPr>
            <p:txBody>
              <a:bodyPr/>
              <a:lstStyle/>
              <a:p>
                <a:endParaRPr lang="zh-CN" altLang="en-US" sz="1400" b="1">
                  <a:solidFill>
                    <a:srgbClr val="0000FF"/>
                  </a:solidFill>
                  <a:latin typeface="微软雅黑" pitchFamily="34" charset="-122"/>
                  <a:ea typeface="微软雅黑" pitchFamily="34" charset="-122"/>
                </a:endParaRPr>
              </a:p>
            </p:txBody>
          </p:sp>
        </p:grpSp>
      </p:grpSp>
      <p:sp>
        <p:nvSpPr>
          <p:cNvPr id="88" name="Line 234">
            <a:extLst>
              <a:ext uri="{FF2B5EF4-FFF2-40B4-BE49-F238E27FC236}">
                <a16:creationId xmlns:a16="http://schemas.microsoft.com/office/drawing/2014/main" id="{D86CFD30-E5FB-9A8B-E7F3-AF6E5042C4EB}"/>
              </a:ext>
            </a:extLst>
          </p:cNvPr>
          <p:cNvSpPr>
            <a:spLocks noChangeShapeType="1"/>
          </p:cNvSpPr>
          <p:nvPr/>
        </p:nvSpPr>
        <p:spPr bwMode="auto">
          <a:xfrm>
            <a:off x="6272069" y="4499841"/>
            <a:ext cx="26423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pic>
        <p:nvPicPr>
          <p:cNvPr id="89" name="Picture 235">
            <a:extLst>
              <a:ext uri="{FF2B5EF4-FFF2-40B4-BE49-F238E27FC236}">
                <a16:creationId xmlns:a16="http://schemas.microsoft.com/office/drawing/2014/main" id="{1B34D319-249E-7E00-A88A-58EA8D800E3A}"/>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7690" y="4003703"/>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0" name="Picture 236">
            <a:extLst>
              <a:ext uri="{FF2B5EF4-FFF2-40B4-BE49-F238E27FC236}">
                <a16:creationId xmlns:a16="http://schemas.microsoft.com/office/drawing/2014/main" id="{7678D2E4-115D-0D23-1C8F-506AE3C94508}"/>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6291" y="4003703"/>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1" name="Picture 240">
            <a:extLst>
              <a:ext uri="{FF2B5EF4-FFF2-40B4-BE49-F238E27FC236}">
                <a16:creationId xmlns:a16="http://schemas.microsoft.com/office/drawing/2014/main" id="{322726D7-047A-4493-E041-94E1061545C3}"/>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6343" y="4003703"/>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2" name="Line 241">
            <a:extLst>
              <a:ext uri="{FF2B5EF4-FFF2-40B4-BE49-F238E27FC236}">
                <a16:creationId xmlns:a16="http://schemas.microsoft.com/office/drawing/2014/main" id="{EBDD652B-034A-4E10-E6D5-EFC808775B82}"/>
              </a:ext>
            </a:extLst>
          </p:cNvPr>
          <p:cNvSpPr>
            <a:spLocks noChangeShapeType="1"/>
          </p:cNvSpPr>
          <p:nvPr/>
        </p:nvSpPr>
        <p:spPr bwMode="auto">
          <a:xfrm>
            <a:off x="6272069" y="5280829"/>
            <a:ext cx="2642325"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pic>
        <p:nvPicPr>
          <p:cNvPr id="93" name="Picture 242">
            <a:extLst>
              <a:ext uri="{FF2B5EF4-FFF2-40B4-BE49-F238E27FC236}">
                <a16:creationId xmlns:a16="http://schemas.microsoft.com/office/drawing/2014/main" id="{1BFC1518-6306-B2A4-1C60-42E90B6472F4}"/>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7690" y="4784691"/>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4" name="Picture 243">
            <a:extLst>
              <a:ext uri="{FF2B5EF4-FFF2-40B4-BE49-F238E27FC236}">
                <a16:creationId xmlns:a16="http://schemas.microsoft.com/office/drawing/2014/main" id="{12A4245F-1EBD-FECE-BF2A-6D7E8EB1F254}"/>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6291" y="4784691"/>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5" name="Picture 247">
            <a:extLst>
              <a:ext uri="{FF2B5EF4-FFF2-40B4-BE49-F238E27FC236}">
                <a16:creationId xmlns:a16="http://schemas.microsoft.com/office/drawing/2014/main" id="{EF5759C8-68D9-BABC-266C-9CE63E8C5D27}"/>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6343" y="4784691"/>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96" name="Picture 248">
            <a:extLst>
              <a:ext uri="{FF2B5EF4-FFF2-40B4-BE49-F238E27FC236}">
                <a16:creationId xmlns:a16="http://schemas.microsoft.com/office/drawing/2014/main" id="{E725E0F3-24F9-A662-2D90-DC09B2756E30}"/>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09491" y="4783126"/>
            <a:ext cx="328834" cy="23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97" name="AutoShape 250">
            <a:extLst>
              <a:ext uri="{FF2B5EF4-FFF2-40B4-BE49-F238E27FC236}">
                <a16:creationId xmlns:a16="http://schemas.microsoft.com/office/drawing/2014/main" id="{92FD410A-755D-E3BF-7890-20FB67B66EED}"/>
              </a:ext>
            </a:extLst>
          </p:cNvPr>
          <p:cNvSpPr>
            <a:spLocks noChangeArrowheads="1"/>
          </p:cNvSpPr>
          <p:nvPr/>
        </p:nvSpPr>
        <p:spPr bwMode="auto">
          <a:xfrm>
            <a:off x="4686155" y="5067974"/>
            <a:ext cx="335308" cy="383451"/>
          </a:xfrm>
          <a:prstGeom prst="cube">
            <a:avLst>
              <a:gd name="adj" fmla="val 25000"/>
            </a:avLst>
          </a:prstGeom>
          <a:solidFill>
            <a:srgbClr val="00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98" name="AutoShape 251">
            <a:extLst>
              <a:ext uri="{FF2B5EF4-FFF2-40B4-BE49-F238E27FC236}">
                <a16:creationId xmlns:a16="http://schemas.microsoft.com/office/drawing/2014/main" id="{8FD37BDB-84D9-F00A-15A6-83271CF65043}"/>
              </a:ext>
            </a:extLst>
          </p:cNvPr>
          <p:cNvSpPr>
            <a:spLocks noChangeArrowheads="1"/>
          </p:cNvSpPr>
          <p:nvPr/>
        </p:nvSpPr>
        <p:spPr bwMode="auto">
          <a:xfrm>
            <a:off x="4275759" y="5776969"/>
            <a:ext cx="335307" cy="383450"/>
          </a:xfrm>
          <a:prstGeom prst="cube">
            <a:avLst>
              <a:gd name="adj" fmla="val 25000"/>
            </a:avLst>
          </a:prstGeom>
          <a:solidFill>
            <a:srgbClr val="00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99" name="AutoShape 252">
            <a:extLst>
              <a:ext uri="{FF2B5EF4-FFF2-40B4-BE49-F238E27FC236}">
                <a16:creationId xmlns:a16="http://schemas.microsoft.com/office/drawing/2014/main" id="{176BD263-73B9-B611-4F03-5511509D43C2}"/>
              </a:ext>
            </a:extLst>
          </p:cNvPr>
          <p:cNvSpPr>
            <a:spLocks noChangeArrowheads="1"/>
          </p:cNvSpPr>
          <p:nvPr/>
        </p:nvSpPr>
        <p:spPr bwMode="auto">
          <a:xfrm>
            <a:off x="4334017" y="4214993"/>
            <a:ext cx="335308" cy="383450"/>
          </a:xfrm>
          <a:prstGeom prst="cube">
            <a:avLst>
              <a:gd name="adj" fmla="val 25000"/>
            </a:avLst>
          </a:prstGeom>
          <a:solidFill>
            <a:srgbClr val="00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a:p>
            <a:endParaRPr kumimoji="1" lang="en-US" altLang="zh-CN" sz="1400" b="1">
              <a:solidFill>
                <a:srgbClr val="0000FF"/>
              </a:solidFill>
              <a:latin typeface="微软雅黑" pitchFamily="34" charset="-122"/>
              <a:ea typeface="微软雅黑" pitchFamily="34" charset="-122"/>
            </a:endParaRPr>
          </a:p>
        </p:txBody>
      </p:sp>
      <p:sp>
        <p:nvSpPr>
          <p:cNvPr id="100" name="Text Box 253">
            <a:extLst>
              <a:ext uri="{FF2B5EF4-FFF2-40B4-BE49-F238E27FC236}">
                <a16:creationId xmlns:a16="http://schemas.microsoft.com/office/drawing/2014/main" id="{9A9D87AE-A4D0-2B56-A553-0318791A1063}"/>
              </a:ext>
            </a:extLst>
          </p:cNvPr>
          <p:cNvSpPr txBox="1">
            <a:spLocks noChangeArrowheads="1"/>
          </p:cNvSpPr>
          <p:nvPr/>
        </p:nvSpPr>
        <p:spPr bwMode="auto">
          <a:xfrm>
            <a:off x="3318991" y="4014491"/>
            <a:ext cx="9541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CC00CC"/>
                </a:solidFill>
                <a:latin typeface="微软雅黑" pitchFamily="34" charset="-122"/>
                <a:ea typeface="微软雅黑" pitchFamily="34" charset="-122"/>
              </a:rPr>
              <a:t>高带宽光纤</a:t>
            </a:r>
          </a:p>
        </p:txBody>
      </p:sp>
      <p:sp>
        <p:nvSpPr>
          <p:cNvPr id="101" name="Line 254">
            <a:extLst>
              <a:ext uri="{FF2B5EF4-FFF2-40B4-BE49-F238E27FC236}">
                <a16:creationId xmlns:a16="http://schemas.microsoft.com/office/drawing/2014/main" id="{6FC33BD5-6AA1-2FD2-2BCF-5BEA0C73E755}"/>
              </a:ext>
            </a:extLst>
          </p:cNvPr>
          <p:cNvSpPr>
            <a:spLocks noChangeShapeType="1"/>
          </p:cNvSpPr>
          <p:nvPr/>
        </p:nvSpPr>
        <p:spPr bwMode="auto">
          <a:xfrm>
            <a:off x="5273913" y="4499841"/>
            <a:ext cx="264104" cy="338063"/>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FF"/>
              </a:solidFill>
              <a:latin typeface="微软雅黑" pitchFamily="34" charset="-122"/>
              <a:ea typeface="微软雅黑" pitchFamily="34" charset="-122"/>
            </a:endParaRPr>
          </a:p>
        </p:txBody>
      </p:sp>
      <p:sp>
        <p:nvSpPr>
          <p:cNvPr id="102" name="Line 255">
            <a:extLst>
              <a:ext uri="{FF2B5EF4-FFF2-40B4-BE49-F238E27FC236}">
                <a16:creationId xmlns:a16="http://schemas.microsoft.com/office/drawing/2014/main" id="{85BC15D7-1536-4945-60A9-6FE44B16945A}"/>
              </a:ext>
            </a:extLst>
          </p:cNvPr>
          <p:cNvSpPr>
            <a:spLocks noChangeShapeType="1"/>
          </p:cNvSpPr>
          <p:nvPr/>
        </p:nvSpPr>
        <p:spPr bwMode="auto">
          <a:xfrm>
            <a:off x="3760499" y="6565098"/>
            <a:ext cx="2335501" cy="0"/>
          </a:xfrm>
          <a:prstGeom prst="line">
            <a:avLst/>
          </a:prstGeom>
          <a:noFill/>
          <a:ln w="19050">
            <a:solidFill>
              <a:srgbClr val="CC00C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03" name="Line 256">
            <a:extLst>
              <a:ext uri="{FF2B5EF4-FFF2-40B4-BE49-F238E27FC236}">
                <a16:creationId xmlns:a16="http://schemas.microsoft.com/office/drawing/2014/main" id="{D40D4525-843C-EAFC-7F4C-364894268010}"/>
              </a:ext>
            </a:extLst>
          </p:cNvPr>
          <p:cNvSpPr>
            <a:spLocks noChangeShapeType="1"/>
          </p:cNvSpPr>
          <p:nvPr/>
        </p:nvSpPr>
        <p:spPr bwMode="auto">
          <a:xfrm>
            <a:off x="6095999" y="6565098"/>
            <a:ext cx="3112274" cy="0"/>
          </a:xfrm>
          <a:prstGeom prst="line">
            <a:avLst/>
          </a:prstGeom>
          <a:noFill/>
          <a:ln w="1905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04" name="Text Box 257">
            <a:extLst>
              <a:ext uri="{FF2B5EF4-FFF2-40B4-BE49-F238E27FC236}">
                <a16:creationId xmlns:a16="http://schemas.microsoft.com/office/drawing/2014/main" id="{980C42AE-17E2-FC34-C2B5-73F1C78DE7B2}"/>
              </a:ext>
            </a:extLst>
          </p:cNvPr>
          <p:cNvSpPr txBox="1">
            <a:spLocks noChangeArrowheads="1"/>
          </p:cNvSpPr>
          <p:nvPr/>
        </p:nvSpPr>
        <p:spPr bwMode="auto">
          <a:xfrm>
            <a:off x="7270222" y="6300612"/>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0000FF"/>
                </a:solidFill>
                <a:latin typeface="微软雅黑" pitchFamily="34" charset="-122"/>
                <a:ea typeface="微软雅黑" pitchFamily="34" charset="-122"/>
              </a:rPr>
              <a:t>同轴电缆</a:t>
            </a:r>
          </a:p>
        </p:txBody>
      </p:sp>
      <p:sp>
        <p:nvSpPr>
          <p:cNvPr id="105" name="Text Box 258">
            <a:extLst>
              <a:ext uri="{FF2B5EF4-FFF2-40B4-BE49-F238E27FC236}">
                <a16:creationId xmlns:a16="http://schemas.microsoft.com/office/drawing/2014/main" id="{5479B5B3-BE46-00B3-128F-ED1BB020E7C2}"/>
              </a:ext>
            </a:extLst>
          </p:cNvPr>
          <p:cNvSpPr txBox="1">
            <a:spLocks noChangeArrowheads="1"/>
          </p:cNvSpPr>
          <p:nvPr/>
        </p:nvSpPr>
        <p:spPr bwMode="auto">
          <a:xfrm>
            <a:off x="4615900" y="630061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200" b="1" dirty="0">
                <a:solidFill>
                  <a:srgbClr val="CC00CC"/>
                </a:solidFill>
                <a:latin typeface="微软雅黑" pitchFamily="34" charset="-122"/>
                <a:ea typeface="微软雅黑" pitchFamily="34" charset="-122"/>
              </a:rPr>
              <a:t>光纤</a:t>
            </a:r>
          </a:p>
        </p:txBody>
      </p:sp>
      <p:sp>
        <p:nvSpPr>
          <p:cNvPr id="106" name="Line 259">
            <a:extLst>
              <a:ext uri="{FF2B5EF4-FFF2-40B4-BE49-F238E27FC236}">
                <a16:creationId xmlns:a16="http://schemas.microsoft.com/office/drawing/2014/main" id="{C687E225-FD81-7D24-2EC3-78270B403F01}"/>
              </a:ext>
            </a:extLst>
          </p:cNvPr>
          <p:cNvSpPr>
            <a:spLocks noChangeShapeType="1"/>
          </p:cNvSpPr>
          <p:nvPr/>
        </p:nvSpPr>
        <p:spPr bwMode="auto">
          <a:xfrm>
            <a:off x="6095999" y="6422676"/>
            <a:ext cx="0" cy="2848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FF"/>
              </a:solidFill>
              <a:latin typeface="微软雅黑" pitchFamily="34" charset="-122"/>
              <a:ea typeface="微软雅黑" pitchFamily="34" charset="-122"/>
            </a:endParaRPr>
          </a:p>
        </p:txBody>
      </p:sp>
      <p:sp>
        <p:nvSpPr>
          <p:cNvPr id="107" name="矩形 106">
            <a:extLst>
              <a:ext uri="{FF2B5EF4-FFF2-40B4-BE49-F238E27FC236}">
                <a16:creationId xmlns:a16="http://schemas.microsoft.com/office/drawing/2014/main" id="{5935698F-9DDB-F6F5-B4AB-F7F62FFDC69D}"/>
              </a:ext>
            </a:extLst>
          </p:cNvPr>
          <p:cNvSpPr/>
          <p:nvPr/>
        </p:nvSpPr>
        <p:spPr>
          <a:xfrm>
            <a:off x="2116762" y="4486680"/>
            <a:ext cx="430887" cy="1599156"/>
          </a:xfrm>
          <a:prstGeom prst="rect">
            <a:avLst/>
          </a:prstGeom>
        </p:spPr>
        <p:txBody>
          <a:bodyPr vert="eaVert" wrap="none">
            <a:spAutoFit/>
          </a:bodyPr>
          <a:lstStyle/>
          <a:p>
            <a:pPr algn="ctr"/>
            <a:r>
              <a:rPr lang="en-US" altLang="zh-CN" sz="1600" b="1" dirty="0">
                <a:latin typeface="微软雅黑" pitchFamily="34" charset="-122"/>
                <a:ea typeface="微软雅黑" pitchFamily="34" charset="-122"/>
              </a:rPr>
              <a:t>HFC </a:t>
            </a:r>
            <a:r>
              <a:rPr lang="zh-CN" altLang="en-US" sz="1600" b="1" dirty="0">
                <a:latin typeface="微软雅黑" pitchFamily="34" charset="-122"/>
                <a:ea typeface="微软雅黑" pitchFamily="34" charset="-122"/>
              </a:rPr>
              <a:t>网的结构图</a:t>
            </a:r>
          </a:p>
        </p:txBody>
      </p:sp>
    </p:spTree>
    <p:extLst>
      <p:ext uri="{BB962C8B-B14F-4D97-AF65-F5344CB8AC3E}">
        <p14:creationId xmlns:p14="http://schemas.microsoft.com/office/powerpoint/2010/main" val="85267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5"/>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9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0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0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0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0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7" grpId="0" animBg="1"/>
      <p:bldP spid="28" grpId="0" animBg="1"/>
      <p:bldP spid="29" grpId="0"/>
      <p:bldP spid="30" grpId="0" animBg="1"/>
      <p:bldP spid="31" grpId="0"/>
      <p:bldP spid="33" grpId="0" animBg="1"/>
      <p:bldP spid="34" grpId="0"/>
      <p:bldP spid="88" grpId="0" animBg="1"/>
      <p:bldP spid="92" grpId="0" animBg="1"/>
      <p:bldP spid="97" grpId="0" animBg="1"/>
      <p:bldP spid="98" grpId="0" animBg="1"/>
      <p:bldP spid="99" grpId="0" animBg="1"/>
      <p:bldP spid="100" grpId="0"/>
      <p:bldP spid="101" grpId="0" animBg="1"/>
      <p:bldP spid="102" grpId="0" animBg="1"/>
      <p:bldP spid="103" grpId="0" animBg="1"/>
      <p:bldP spid="104" grpId="0"/>
      <p:bldP spid="105" grpId="0"/>
      <p:bldP spid="106" grpId="0" animBg="1"/>
      <p:bldP spid="10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97512" y="729512"/>
            <a:ext cx="10854829" cy="894622"/>
          </a:xfrm>
        </p:spPr>
        <p:txBody>
          <a:bodyPr>
            <a:normAutofit fontScale="90000"/>
          </a:bodyPr>
          <a:lstStyle/>
          <a:p>
            <a:r>
              <a:rPr lang="en-US" altLang="en-US" b="1" dirty="0">
                <a:solidFill>
                  <a:srgbClr val="000099"/>
                </a:solidFill>
              </a:rPr>
              <a:t>HFC network has bidirectional transmission function and extends the transmission frequency band</a:t>
            </a:r>
          </a:p>
        </p:txBody>
      </p:sp>
      <p:sp>
        <p:nvSpPr>
          <p:cNvPr id="108" name="Line 16">
            <a:extLst>
              <a:ext uri="{FF2B5EF4-FFF2-40B4-BE49-F238E27FC236}">
                <a16:creationId xmlns:a16="http://schemas.microsoft.com/office/drawing/2014/main" id="{444D6A29-BB38-C349-4F12-A08E7E8932A3}"/>
              </a:ext>
            </a:extLst>
          </p:cNvPr>
          <p:cNvSpPr>
            <a:spLocks noChangeShapeType="1"/>
          </p:cNvSpPr>
          <p:nvPr/>
        </p:nvSpPr>
        <p:spPr bwMode="auto">
          <a:xfrm>
            <a:off x="3897563" y="3013421"/>
            <a:ext cx="4454728" cy="0"/>
          </a:xfrm>
          <a:prstGeom prst="line">
            <a:avLst/>
          </a:prstGeom>
          <a:noFill/>
          <a:ln w="19050">
            <a:solidFill>
              <a:srgbClr val="0000FF"/>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9" name="Text Box 17">
            <a:extLst>
              <a:ext uri="{FF2B5EF4-FFF2-40B4-BE49-F238E27FC236}">
                <a16:creationId xmlns:a16="http://schemas.microsoft.com/office/drawing/2014/main" id="{4A694352-546B-2B86-CD14-604840749042}"/>
              </a:ext>
            </a:extLst>
          </p:cNvPr>
          <p:cNvSpPr txBox="1">
            <a:spLocks noChangeArrowheads="1"/>
          </p:cNvSpPr>
          <p:nvPr/>
        </p:nvSpPr>
        <p:spPr bwMode="auto">
          <a:xfrm>
            <a:off x="5427675" y="2675535"/>
            <a:ext cx="1107997" cy="369332"/>
          </a:xfrm>
          <a:prstGeom prst="rect">
            <a:avLst/>
          </a:prstGeom>
          <a:no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600" b="1" dirty="0">
                <a:solidFill>
                  <a:srgbClr val="CC00CC"/>
                </a:solidFill>
              </a:rPr>
              <a:t>下行信道</a:t>
            </a:r>
          </a:p>
        </p:txBody>
      </p:sp>
      <p:sp>
        <p:nvSpPr>
          <p:cNvPr id="110" name="Rectangle 18">
            <a:extLst>
              <a:ext uri="{FF2B5EF4-FFF2-40B4-BE49-F238E27FC236}">
                <a16:creationId xmlns:a16="http://schemas.microsoft.com/office/drawing/2014/main" id="{85DFCAFC-9832-93D2-4965-008B06434A7F}"/>
              </a:ext>
            </a:extLst>
          </p:cNvPr>
          <p:cNvSpPr>
            <a:spLocks noChangeArrowheads="1"/>
          </p:cNvSpPr>
          <p:nvPr/>
        </p:nvSpPr>
        <p:spPr bwMode="auto">
          <a:xfrm>
            <a:off x="2793927" y="3224059"/>
            <a:ext cx="727624" cy="997544"/>
          </a:xfrm>
          <a:prstGeom prst="rect">
            <a:avLst/>
          </a:prstGeom>
          <a:solidFill>
            <a:srgbClr val="FFFF66"/>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1" name="Text Box 19">
            <a:extLst>
              <a:ext uri="{FF2B5EF4-FFF2-40B4-BE49-F238E27FC236}">
                <a16:creationId xmlns:a16="http://schemas.microsoft.com/office/drawing/2014/main" id="{EF33E33E-F432-51E9-3CA2-074B37964A12}"/>
              </a:ext>
            </a:extLst>
          </p:cNvPr>
          <p:cNvSpPr txBox="1">
            <a:spLocks noChangeArrowheads="1"/>
          </p:cNvSpPr>
          <p:nvPr/>
        </p:nvSpPr>
        <p:spPr bwMode="auto">
          <a:xfrm>
            <a:off x="2866802" y="3410849"/>
            <a:ext cx="690297" cy="535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90000"/>
              </a:lnSpc>
            </a:pPr>
            <a:r>
              <a:rPr kumimoji="1" lang="zh-CN" altLang="en-US" sz="1600" b="1" dirty="0">
                <a:latin typeface="微软雅黑" pitchFamily="34" charset="-122"/>
                <a:ea typeface="微软雅黑" pitchFamily="34" charset="-122"/>
              </a:rPr>
              <a:t>上行</a:t>
            </a:r>
          </a:p>
          <a:p>
            <a:pPr algn="l">
              <a:lnSpc>
                <a:spcPct val="90000"/>
              </a:lnSpc>
            </a:pPr>
            <a:r>
              <a:rPr kumimoji="1" lang="zh-CN" altLang="en-US" sz="1600" b="1" dirty="0">
                <a:latin typeface="微软雅黑" pitchFamily="34" charset="-122"/>
                <a:ea typeface="微软雅黑" pitchFamily="34" charset="-122"/>
              </a:rPr>
              <a:t>信道</a:t>
            </a:r>
          </a:p>
        </p:txBody>
      </p:sp>
      <p:sp>
        <p:nvSpPr>
          <p:cNvPr id="112" name="Text Box 20">
            <a:extLst>
              <a:ext uri="{FF2B5EF4-FFF2-40B4-BE49-F238E27FC236}">
                <a16:creationId xmlns:a16="http://schemas.microsoft.com/office/drawing/2014/main" id="{D4185606-790C-CE00-9FA0-E67E7A5B3F4F}"/>
              </a:ext>
            </a:extLst>
          </p:cNvPr>
          <p:cNvSpPr txBox="1">
            <a:spLocks noChangeArrowheads="1"/>
          </p:cNvSpPr>
          <p:nvPr/>
        </p:nvSpPr>
        <p:spPr bwMode="auto">
          <a:xfrm>
            <a:off x="2649619" y="4240504"/>
            <a:ext cx="62055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en-US" altLang="zh-CN" sz="1400" b="1" dirty="0">
                <a:latin typeface="微软雅黑" pitchFamily="34" charset="-122"/>
                <a:ea typeface="微软雅黑" pitchFamily="34" charset="-122"/>
              </a:rPr>
              <a:t>5          65    87                                                                                 1000</a:t>
            </a:r>
          </a:p>
        </p:txBody>
      </p:sp>
      <p:sp>
        <p:nvSpPr>
          <p:cNvPr id="113" name="Rectangle 21">
            <a:extLst>
              <a:ext uri="{FF2B5EF4-FFF2-40B4-BE49-F238E27FC236}">
                <a16:creationId xmlns:a16="http://schemas.microsoft.com/office/drawing/2014/main" id="{05F13076-2386-B74A-D810-D6A7B4E630D1}"/>
              </a:ext>
            </a:extLst>
          </p:cNvPr>
          <p:cNvSpPr>
            <a:spLocks noChangeArrowheads="1"/>
          </p:cNvSpPr>
          <p:nvPr/>
        </p:nvSpPr>
        <p:spPr bwMode="auto">
          <a:xfrm>
            <a:off x="3886082" y="3224059"/>
            <a:ext cx="4411674" cy="997544"/>
          </a:xfrm>
          <a:prstGeom prst="rect">
            <a:avLst/>
          </a:prstGeom>
          <a:solidFill>
            <a:srgbClr val="00FFFF"/>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4" name="Text Box 22">
            <a:extLst>
              <a:ext uri="{FF2B5EF4-FFF2-40B4-BE49-F238E27FC236}">
                <a16:creationId xmlns:a16="http://schemas.microsoft.com/office/drawing/2014/main" id="{0EB8BEDE-001E-6D23-A730-AF87ECDC67B8}"/>
              </a:ext>
            </a:extLst>
          </p:cNvPr>
          <p:cNvSpPr txBox="1">
            <a:spLocks noChangeArrowheads="1"/>
          </p:cNvSpPr>
          <p:nvPr/>
        </p:nvSpPr>
        <p:spPr bwMode="auto">
          <a:xfrm>
            <a:off x="4272430" y="3584394"/>
            <a:ext cx="367279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600" b="1" dirty="0">
                <a:latin typeface="微软雅黑" pitchFamily="34" charset="-122"/>
                <a:ea typeface="微软雅黑" pitchFamily="34" charset="-122"/>
              </a:rPr>
              <a:t>调频广播、模拟和数字电视、数据业务</a:t>
            </a:r>
          </a:p>
        </p:txBody>
      </p:sp>
      <p:sp>
        <p:nvSpPr>
          <p:cNvPr id="115" name="Text Box 23">
            <a:extLst>
              <a:ext uri="{FF2B5EF4-FFF2-40B4-BE49-F238E27FC236}">
                <a16:creationId xmlns:a16="http://schemas.microsoft.com/office/drawing/2014/main" id="{21BA4675-E00A-B6C0-3F8B-69E036DABC0C}"/>
              </a:ext>
            </a:extLst>
          </p:cNvPr>
          <p:cNvSpPr txBox="1">
            <a:spLocks noChangeArrowheads="1"/>
          </p:cNvSpPr>
          <p:nvPr/>
        </p:nvSpPr>
        <p:spPr bwMode="auto">
          <a:xfrm>
            <a:off x="8952754" y="4241055"/>
            <a:ext cx="11095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1" lang="zh-CN" altLang="en-US" sz="1400" b="1" dirty="0">
                <a:latin typeface="微软雅黑" pitchFamily="34" charset="-122"/>
                <a:ea typeface="微软雅黑" pitchFamily="34" charset="-122"/>
              </a:rPr>
              <a:t>频率</a:t>
            </a:r>
            <a:r>
              <a:rPr kumimoji="1" lang="en-US" altLang="zh-CN" sz="1400" b="1" dirty="0">
                <a:latin typeface="微软雅黑" pitchFamily="34" charset="-122"/>
                <a:ea typeface="微软雅黑" pitchFamily="34" charset="-122"/>
              </a:rPr>
              <a:t>(MHz)</a:t>
            </a:r>
          </a:p>
        </p:txBody>
      </p:sp>
      <p:sp>
        <p:nvSpPr>
          <p:cNvPr id="116" name="Line 24">
            <a:extLst>
              <a:ext uri="{FF2B5EF4-FFF2-40B4-BE49-F238E27FC236}">
                <a16:creationId xmlns:a16="http://schemas.microsoft.com/office/drawing/2014/main" id="{98B0963F-E9F4-17BC-401B-AE2F47F1E1EF}"/>
              </a:ext>
            </a:extLst>
          </p:cNvPr>
          <p:cNvSpPr>
            <a:spLocks noChangeShapeType="1"/>
          </p:cNvSpPr>
          <p:nvPr/>
        </p:nvSpPr>
        <p:spPr bwMode="auto">
          <a:xfrm>
            <a:off x="2430832" y="4221602"/>
            <a:ext cx="6729453" cy="0"/>
          </a:xfrm>
          <a:prstGeom prst="line">
            <a:avLst/>
          </a:prstGeom>
          <a:noFill/>
          <a:ln w="1905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7" name="矩形 116">
            <a:extLst>
              <a:ext uri="{FF2B5EF4-FFF2-40B4-BE49-F238E27FC236}">
                <a16:creationId xmlns:a16="http://schemas.microsoft.com/office/drawing/2014/main" id="{C35C2BF6-8FC6-3297-0FCE-A4772B7913D0}"/>
              </a:ext>
            </a:extLst>
          </p:cNvPr>
          <p:cNvSpPr/>
          <p:nvPr/>
        </p:nvSpPr>
        <p:spPr>
          <a:xfrm>
            <a:off x="4659549" y="4885148"/>
            <a:ext cx="2872902" cy="369332"/>
          </a:xfrm>
          <a:prstGeom prst="rect">
            <a:avLst/>
          </a:prstGeom>
        </p:spPr>
        <p:txBody>
          <a:bodyPr wrap="none">
            <a:spAutoFit/>
          </a:bodyPr>
          <a:lstStyle/>
          <a:p>
            <a:pPr algn="ctr"/>
            <a:r>
              <a:rPr lang="zh-CN" altLang="en-US" b="1" dirty="0">
                <a:latin typeface="微软雅黑" pitchFamily="34" charset="-122"/>
                <a:ea typeface="微软雅黑" pitchFamily="34" charset="-122"/>
              </a:rPr>
              <a:t>我国的 </a:t>
            </a:r>
            <a:r>
              <a:rPr lang="en-US" altLang="zh-CN" b="1" dirty="0">
                <a:latin typeface="微软雅黑" pitchFamily="34" charset="-122"/>
                <a:ea typeface="微软雅黑" pitchFamily="34" charset="-122"/>
              </a:rPr>
              <a:t>HFC </a:t>
            </a:r>
            <a:r>
              <a:rPr lang="zh-CN" altLang="en-US" b="1" dirty="0">
                <a:latin typeface="微软雅黑" pitchFamily="34" charset="-122"/>
                <a:ea typeface="微软雅黑" pitchFamily="34" charset="-122"/>
              </a:rPr>
              <a:t>网的频谱划分</a:t>
            </a:r>
          </a:p>
        </p:txBody>
      </p:sp>
    </p:spTree>
    <p:extLst>
      <p:ext uri="{BB962C8B-B14F-4D97-AF65-F5344CB8AC3E}">
        <p14:creationId xmlns:p14="http://schemas.microsoft.com/office/powerpoint/2010/main" val="18851825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411377"/>
            <a:ext cx="10854829" cy="894622"/>
          </a:xfrm>
        </p:spPr>
        <p:txBody>
          <a:bodyPr>
            <a:normAutofit/>
          </a:bodyPr>
          <a:lstStyle/>
          <a:p>
            <a:r>
              <a:rPr lang="en-US" altLang="en-US" b="1" dirty="0">
                <a:solidFill>
                  <a:srgbClr val="000099"/>
                </a:solidFill>
              </a:rPr>
              <a:t>Cable Modem </a:t>
            </a:r>
            <a:r>
              <a:rPr lang="en-US" altLang="en-US" b="1" dirty="0" err="1">
                <a:solidFill>
                  <a:srgbClr val="000099"/>
                </a:solidFill>
              </a:rPr>
              <a:t>调制解调器</a:t>
            </a:r>
            <a:endParaRPr lang="en-US" altLang="en-US" b="1" dirty="0">
              <a:solidFill>
                <a:srgbClr val="000099"/>
              </a:solidFill>
            </a:endParaRPr>
          </a:p>
        </p:txBody>
      </p:sp>
      <p:sp>
        <p:nvSpPr>
          <p:cNvPr id="3" name="文本框 2">
            <a:extLst>
              <a:ext uri="{FF2B5EF4-FFF2-40B4-BE49-F238E27FC236}">
                <a16:creationId xmlns:a16="http://schemas.microsoft.com/office/drawing/2014/main" id="{3B73AA51-8FDD-937D-4399-2157AAC1AC68}"/>
              </a:ext>
            </a:extLst>
          </p:cNvPr>
          <p:cNvSpPr txBox="1"/>
          <p:nvPr/>
        </p:nvSpPr>
        <p:spPr>
          <a:xfrm>
            <a:off x="713498" y="1286170"/>
            <a:ext cx="10661148" cy="280384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a:solidFill>
                  <a:srgbClr val="0013A3"/>
                </a:solidFill>
                <a:latin typeface="Calibri" panose="020F0502020204030204" pitchFamily="34" charset="0"/>
                <a:cs typeface="Calibri" panose="020F0502020204030204" pitchFamily="34" charset="0"/>
              </a:rPr>
              <a:t>Cable modems </a:t>
            </a:r>
            <a:r>
              <a:rPr lang="en" altLang="zh-CN" sz="2400" dirty="0">
                <a:latin typeface="Calibri" panose="020F0502020204030204" pitchFamily="34" charset="0"/>
                <a:cs typeface="Calibri" panose="020F0502020204030204" pitchFamily="34" charset="0"/>
              </a:rPr>
              <a:t>are modems used for HFC networks.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The most important feature of cable modem is the high transmission rate.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Downlink rate typically ranges from 3 to 10 Mbit/s, with a maximum of 30 Mbit/s. </a:t>
            </a:r>
          </a:p>
          <a:p>
            <a:pPr marL="695325" lvl="1" indent="-231775">
              <a:lnSpc>
                <a:spcPct val="90000"/>
              </a:lnSpc>
              <a:spcBef>
                <a:spcPts val="500"/>
              </a:spcBef>
              <a:buClr>
                <a:srgbClr val="0000A8"/>
              </a:buClr>
              <a:buFont typeface="Arial"/>
              <a:buChar char="•"/>
              <a:defRPr/>
            </a:pPr>
            <a:r>
              <a:rPr lang="en" altLang="zh-CN" sz="2400" dirty="0">
                <a:latin typeface="Calibri" panose="020F0502020204030204" pitchFamily="34" charset="0"/>
                <a:cs typeface="Calibri" panose="020F0502020204030204" pitchFamily="34" charset="0"/>
              </a:rPr>
              <a:t>Uplink rate is generally 0.2 to 2 Mbit/s and can reach up to 10 Mbit/s. </a:t>
            </a:r>
          </a:p>
          <a:p>
            <a:pPr marL="352425" indent="-222250">
              <a:lnSpc>
                <a:spcPct val="90000"/>
              </a:lnSpc>
              <a:spcBef>
                <a:spcPts val="1000"/>
              </a:spcBef>
              <a:buClr>
                <a:srgbClr val="0000A3"/>
              </a:buClr>
              <a:buFont typeface="Wingdings" charset="2"/>
              <a:buChar char="§"/>
              <a:defRPr/>
            </a:pPr>
            <a:r>
              <a:rPr lang="en" altLang="zh-CN" sz="2400" dirty="0">
                <a:latin typeface="Calibri" panose="020F0502020204030204" pitchFamily="34" charset="0"/>
                <a:cs typeface="Calibri" panose="020F0502020204030204" pitchFamily="34" charset="0"/>
              </a:rPr>
              <a:t>Cable modems are much more complex than those used on regular telephone lines, and are not used in pairs but installed only at the user side.</a:t>
            </a:r>
          </a:p>
        </p:txBody>
      </p:sp>
    </p:spTree>
    <p:extLst>
      <p:ext uri="{BB962C8B-B14F-4D97-AF65-F5344CB8AC3E}">
        <p14:creationId xmlns:p14="http://schemas.microsoft.com/office/powerpoint/2010/main" val="2123662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13498" y="411377"/>
            <a:ext cx="10854829" cy="894622"/>
          </a:xfrm>
        </p:spPr>
        <p:txBody>
          <a:bodyPr>
            <a:normAutofit/>
          </a:bodyPr>
          <a:lstStyle/>
          <a:p>
            <a:r>
              <a:rPr lang="en-US" altLang="en-US" b="1" dirty="0" err="1">
                <a:solidFill>
                  <a:srgbClr val="000099"/>
                </a:solidFill>
              </a:rPr>
              <a:t>FTTx</a:t>
            </a:r>
            <a:endParaRPr lang="en-US" altLang="en-US" b="1" dirty="0">
              <a:solidFill>
                <a:srgbClr val="000099"/>
              </a:solidFill>
            </a:endParaRPr>
          </a:p>
        </p:txBody>
      </p:sp>
      <p:sp>
        <p:nvSpPr>
          <p:cNvPr id="3" name="文本框 2">
            <a:extLst>
              <a:ext uri="{FF2B5EF4-FFF2-40B4-BE49-F238E27FC236}">
                <a16:creationId xmlns:a16="http://schemas.microsoft.com/office/drawing/2014/main" id="{3B73AA51-8FDD-937D-4399-2157AAC1AC68}"/>
              </a:ext>
            </a:extLst>
          </p:cNvPr>
          <p:cNvSpPr txBox="1"/>
          <p:nvPr/>
        </p:nvSpPr>
        <p:spPr>
          <a:xfrm>
            <a:off x="713498" y="1286170"/>
            <a:ext cx="10661148" cy="2675604"/>
          </a:xfrm>
          <a:prstGeom prst="rect">
            <a:avLst/>
          </a:prstGeom>
          <a:noFill/>
        </p:spPr>
        <p:txBody>
          <a:bodyPr wrap="square">
            <a:spAutoFit/>
          </a:bodyPr>
          <a:lstStyle/>
          <a:p>
            <a:pPr marL="352425" indent="-222250">
              <a:lnSpc>
                <a:spcPct val="90000"/>
              </a:lnSpc>
              <a:spcBef>
                <a:spcPts val="1000"/>
              </a:spcBef>
              <a:buClr>
                <a:srgbClr val="0000A3"/>
              </a:buClr>
              <a:buFont typeface="Wingdings" charset="2"/>
              <a:buChar char="§"/>
              <a:defRPr/>
            </a:pPr>
            <a:r>
              <a:rPr lang="en" altLang="zh-CN" sz="2400" dirty="0" err="1">
                <a:latin typeface="Calibri" panose="020F0502020204030204" pitchFamily="34" charset="0"/>
                <a:cs typeface="Calibri" panose="020F0502020204030204" pitchFamily="34" charset="0"/>
              </a:rPr>
              <a:t>FTTx</a:t>
            </a:r>
            <a:r>
              <a:rPr lang="en" altLang="zh-CN" sz="2400" dirty="0">
                <a:latin typeface="Calibri" panose="020F0502020204030204" pitchFamily="34" charset="0"/>
                <a:cs typeface="Calibri" panose="020F0502020204030204" pitchFamily="34" charset="0"/>
              </a:rPr>
              <a:t> is a solution to realize broadband residential access network, which represents a variety of broadband fiber access methods. </a:t>
            </a:r>
          </a:p>
          <a:p>
            <a:pPr marL="352425" indent="-222250">
              <a:lnSpc>
                <a:spcPct val="90000"/>
              </a:lnSpc>
              <a:spcBef>
                <a:spcPts val="1000"/>
              </a:spcBef>
              <a:buClr>
                <a:srgbClr val="0000A3"/>
              </a:buClr>
              <a:buFont typeface="Wingdings" charset="2"/>
              <a:buChar char="§"/>
              <a:defRPr/>
            </a:pPr>
            <a:r>
              <a:rPr lang="en" altLang="zh-CN" sz="2400" dirty="0" err="1">
                <a:latin typeface="Calibri" panose="020F0502020204030204" pitchFamily="34" charset="0"/>
                <a:cs typeface="Calibri" panose="020F0502020204030204" pitchFamily="34" charset="0"/>
              </a:rPr>
              <a:t>FTTx</a:t>
            </a:r>
            <a:r>
              <a:rPr lang="en" altLang="zh-CN" sz="2400" dirty="0">
                <a:latin typeface="Calibri" panose="020F0502020204030204" pitchFamily="34" charset="0"/>
                <a:cs typeface="Calibri" panose="020F0502020204030204" pitchFamily="34" charset="0"/>
              </a:rPr>
              <a:t> stands for Fiber To The... (optical fiber to...) For example: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FTTH (Fiber To The Home) </a:t>
            </a:r>
            <a:r>
              <a:rPr lang="en" altLang="zh-CN" sz="2400" dirty="0">
                <a:latin typeface="Calibri" panose="020F0502020204030204" pitchFamily="34" charset="0"/>
                <a:cs typeface="Calibri" panose="020F0502020204030204" pitchFamily="34" charset="0"/>
              </a:rPr>
              <a:t>: Optical fiber is laid all the way to the user's home, which may be the last solution to the residential access network. </a:t>
            </a:r>
          </a:p>
          <a:p>
            <a:pPr marL="695325" lvl="1" indent="-231775">
              <a:lnSpc>
                <a:spcPct val="90000"/>
              </a:lnSpc>
              <a:spcBef>
                <a:spcPts val="500"/>
              </a:spcBef>
              <a:buClr>
                <a:srgbClr val="0000A8"/>
              </a:buClr>
              <a:buFont typeface="Arial"/>
              <a:buChar char="•"/>
              <a:defRPr/>
            </a:pPr>
            <a:r>
              <a:rPr lang="en" altLang="zh-CN" sz="2400" dirty="0">
                <a:solidFill>
                  <a:srgbClr val="0013A3"/>
                </a:solidFill>
                <a:latin typeface="Calibri" panose="020F0502020204030204" pitchFamily="34" charset="0"/>
                <a:cs typeface="Calibri" panose="020F0502020204030204" pitchFamily="34" charset="0"/>
              </a:rPr>
              <a:t>Fiber To The Building (FTTB) </a:t>
            </a:r>
            <a:r>
              <a:rPr lang="en" altLang="zh-CN" sz="2400" dirty="0">
                <a:latin typeface="Calibri" panose="020F0502020204030204" pitchFamily="34" charset="0"/>
                <a:cs typeface="Calibri" panose="020F0502020204030204" pitchFamily="34" charset="0"/>
              </a:rPr>
              <a:t>: Fiber is converted into electrical signals when it enters the building, and then distributed to users using cables or twisted pairs. </a:t>
            </a:r>
          </a:p>
        </p:txBody>
      </p:sp>
    </p:spTree>
    <p:extLst>
      <p:ext uri="{BB962C8B-B14F-4D97-AF65-F5344CB8AC3E}">
        <p14:creationId xmlns:p14="http://schemas.microsoft.com/office/powerpoint/2010/main" val="177082098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952</TotalTime>
  <Words>5601</Words>
  <Application>Microsoft Macintosh PowerPoint</Application>
  <PresentationFormat>宽屏</PresentationFormat>
  <Paragraphs>938</Paragraphs>
  <Slides>51</Slides>
  <Notes>51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63" baseType="lpstr">
      <vt:lpstr>等线</vt:lpstr>
      <vt:lpstr>等线 Light</vt:lpstr>
      <vt:lpstr>微软雅黑</vt:lpstr>
      <vt:lpstr>ＭＳ Ｐゴシック</vt:lpstr>
      <vt:lpstr>Arial</vt:lpstr>
      <vt:lpstr>Calibri</vt:lpstr>
      <vt:lpstr>Gill Sans MT</vt:lpstr>
      <vt:lpstr>Helvetica Neue</vt:lpstr>
      <vt:lpstr>Times New Roman</vt:lpstr>
      <vt:lpstr>Wingdings</vt:lpstr>
      <vt:lpstr>Office 主题​​</vt:lpstr>
      <vt:lpstr>公式</vt:lpstr>
      <vt:lpstr>PowerPoint 演示文稿</vt:lpstr>
      <vt:lpstr>Physical Layer roadmap</vt:lpstr>
      <vt:lpstr>Basic concepts of the physical layer</vt:lpstr>
      <vt:lpstr>Main tasks of the physical layer</vt:lpstr>
      <vt:lpstr>The model of the data communication system</vt:lpstr>
      <vt:lpstr>Physical Layer roadmap</vt:lpstr>
      <vt:lpstr>Common terms of Physical Layer</vt:lpstr>
      <vt:lpstr>A few basic concepts about channels</vt:lpstr>
      <vt:lpstr>A few basic concepts about channels</vt:lpstr>
      <vt:lpstr>Common encoding methods</vt:lpstr>
      <vt:lpstr>Basic bandpass modulation method</vt:lpstr>
      <vt:lpstr>Quadrature Amplitude Modulation</vt:lpstr>
      <vt:lpstr>Ultimate capacity of channel</vt:lpstr>
      <vt:lpstr>Ultimate capacity of channel</vt:lpstr>
      <vt:lpstr>The range of frequencies through which the channel can pass</vt:lpstr>
      <vt:lpstr>SNR (Signal to Noise Ratio)</vt:lpstr>
      <vt:lpstr>SNR (Signal to Noise Ratio)</vt:lpstr>
      <vt:lpstr>Shannon's formula shows that</vt:lpstr>
      <vt:lpstr>Physical Layer roadmap</vt:lpstr>
      <vt:lpstr>The transmission medium below the physical layer</vt:lpstr>
      <vt:lpstr>The transmission medium below the physical layer</vt:lpstr>
      <vt:lpstr>The transmission medium below the physical layer- Guided transmission media</vt:lpstr>
      <vt:lpstr>The transmission medium below the physical layer- Guided transmission media</vt:lpstr>
      <vt:lpstr>The transmission medium below the physical layer- Guided transmission media</vt:lpstr>
      <vt:lpstr>The transmission medium below the physical layer- Guided transmission media</vt:lpstr>
      <vt:lpstr>The transmission medium below the physical layer- Guided transmission media</vt:lpstr>
      <vt:lpstr>The transmission medium below the physical layer- Unguided transmission media </vt:lpstr>
      <vt:lpstr>The transmission medium below the physical layer- Unguided transmission media </vt:lpstr>
      <vt:lpstr>Physical Layer roadmap</vt:lpstr>
      <vt:lpstr>Frequency division multiplexing, time division multiplexing, and statistical time division multiplexing</vt:lpstr>
      <vt:lpstr>FDM (Frequency Division Multiplexing)</vt:lpstr>
      <vt:lpstr>TDM (Time Division Multiplexing)</vt:lpstr>
      <vt:lpstr>TDM (Time Division Multiplexing)</vt:lpstr>
      <vt:lpstr>CDM  (Code Division Multiplexing)</vt:lpstr>
      <vt:lpstr>CDM  (Code Division Multiplexing)</vt:lpstr>
      <vt:lpstr>CDM  (Code Division Multiplexing)</vt:lpstr>
      <vt:lpstr>Physical Layer roadmap</vt:lpstr>
      <vt:lpstr>Broadband Access Technology</vt:lpstr>
      <vt:lpstr>ADSL 非对称数字用户线路</vt:lpstr>
      <vt:lpstr>Several types of ADSL</vt:lpstr>
      <vt:lpstr>Transmission distance of ADSL</vt:lpstr>
      <vt:lpstr>Features of ADSL</vt:lpstr>
      <vt:lpstr>DMT</vt:lpstr>
      <vt:lpstr>Data rate of ADSL</vt:lpstr>
      <vt:lpstr>The composition of ADSL</vt:lpstr>
      <vt:lpstr>Second generation ADSL</vt:lpstr>
      <vt:lpstr>Hybrid Fiber Coaxial Network 混合光纤同轴网络</vt:lpstr>
      <vt:lpstr>The backbone of the HFC network uses optical fiber</vt:lpstr>
      <vt:lpstr>HFC network has bidirectional transmission function and extends the transmission frequency band</vt:lpstr>
      <vt:lpstr>Cable Modem 调制解调器</vt:lpstr>
      <vt:lpstr>FTTx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 洪博</dc:creator>
  <cp:lastModifiedBy>伟大 陈</cp:lastModifiedBy>
  <cp:revision>8</cp:revision>
  <dcterms:created xsi:type="dcterms:W3CDTF">2024-06-11T10:16:58Z</dcterms:created>
  <dcterms:modified xsi:type="dcterms:W3CDTF">2025-03-13T14:02:18Z</dcterms:modified>
</cp:coreProperties>
</file>